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2.svg" ContentType="image/svg+xml"/>
  <Override PartName="/ppt/media/image24.svg" ContentType="image/svg+xml"/>
  <Override PartName="/ppt/media/image2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1"/>
  </p:sldMasterIdLst>
  <p:notesMasterIdLst>
    <p:notesMasterId r:id="rId12"/>
  </p:notesMasterIdLst>
  <p:handoutMasterIdLst>
    <p:handoutMasterId r:id="rId13"/>
  </p:handoutMasterIdLst>
  <p:sldIdLst>
    <p:sldId id="334" r:id="rId2"/>
    <p:sldId id="340" r:id="rId3"/>
    <p:sldId id="342" r:id="rId19"/>
    <p:sldId id="343" r:id="rId20"/>
    <p:sldId id="344" r:id="rId21"/>
    <p:sldId id="345" r:id="rId22"/>
    <p:sldId id="346" r:id="rId23"/>
    <p:sldId id="347" r:id="rId24"/>
    <p:sldId id="348" r:id="rId25"/>
    <p:sldId id="349" r:id="rId26"/>
    <p:sldId id="350" r:id="rId27"/>
    <p:sldId id="351" r:id="rId28"/>
    <p:sldId id="352" r:id="rId29"/>
    <p:sldId id="353" r:id="rId30"/>
    <p:sldId id="354" r:id="rId31"/>
    <p:sldId id="355" r:id="rId32"/>
    <p:sldId id="356" r:id="rId33"/>
    <p:sldId id="357" r:id="rId34"/>
    <p:sldId id="358" r:id="rId35"/>
    <p:sldId id="359" r:id="rId36"/>
    <p:sldId id="360" r:id="rId37"/>
    <p:sldId id="361" r:id="rId38"/>
    <p:sldId id="362" r:id="rId39"/>
    <p:sldId id="363" r:id="rId40"/>
    <p:sldId id="364" r:id="rId41"/>
    <p:sldId id="365" r:id="rId42"/>
    <p:sldId id="366" r:id="rId43"/>
    <p:sldId id="367" r:id="rId44"/>
    <p:sldId id="368" r:id="rId45"/>
    <p:sldId id="369" r:id="rId46"/>
    <p:sldId id="370" r:id="rId47"/>
    <p:sldId id="371" r:id="rId48"/>
    <p:sldId id="372" r:id="rId49"/>
    <p:sldId id="373" r:id="rId50"/>
    <p:sldId id="374" r:id="rId51"/>
    <p:sldId id="375" r:id="rId52"/>
    <p:sldId id="376" r:id="rId53"/>
    <p:sldId id="377" r:id="rId54"/>
    <p:sldId id="378" r:id="rId55"/>
    <p:sldId id="379" r:id="rId56"/>
    <p:sldId id="380" r:id="rId57"/>
    <p:sldId id="381" r:id="rId58"/>
    <p:sldId id="382" r:id="rId59"/>
    <p:sldId id="383" r:id="rId60"/>
    <p:sldId id="384" r:id="rId61"/>
    <p:sldId id="385" r:id="rId62"/>
    <p:sldId id="386" r:id="rId63"/>
    <p:sldId id="387" r:id="rId64"/>
    <p:sldId id="388" r:id="rId65"/>
    <p:sldId id="389" r:id="rId66"/>
    <p:sldId id="261" r:id="rId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Begrüßung" id="{00000001-0000-4000-8000-000000000001}">
          <p14:sldIdLst>
            <p14:sldId id="334"/>
            <p14:sldId id="340"/>
            <p14:sldId id="342"/>
            <p14:sldId id="343"/>
            <p14:sldId id="344"/>
            <p14:sldId id="345"/>
          </p14:sldIdLst>
        </p14:section>
        <p14:section name="Teil 1: LLM-Workflows" id="{00000002-0000-4000-8000-000000000002}">
          <p14:sldIdLst>
            <p14:sldId id="346"/>
            <p14:sldId id="347"/>
            <p14:sldId id="348"/>
            <p14:sldId id="349"/>
            <p14:sldId id="350"/>
            <p14:sldId id="351"/>
            <p14:sldId id="352"/>
            <p14:sldId id="353"/>
            <p14:sldId id="354"/>
            <p14:sldId id="355"/>
            <p14:sldId id="356"/>
            <p14:sldId id="357"/>
            <p14:sldId id="358"/>
            <p14:sldId id="359"/>
            <p14:sldId id="360"/>
            <p14:sldId id="361"/>
          </p14:sldIdLst>
        </p14:section>
        <p14:section name="Teil 2: Agenten" id="{00000003-0000-4000-8000-000000000003}">
          <p14:sldIdLst>
            <p14:sldId id="362"/>
            <p14:sldId id="363"/>
            <p14:sldId id="364"/>
            <p14:sldId id="365"/>
            <p14:sldId id="366"/>
            <p14:sldId id="367"/>
            <p14:sldId id="368"/>
            <p14:sldId id="369"/>
          </p14:sldIdLst>
        </p14:section>
        <p14:section name="Teil 3: Agentische Workflows" id="{00000004-0000-4000-8000-000000000004}">
          <p14:sldIdLst>
            <p14:sldId id="370"/>
            <p14:sldId id="371"/>
            <p14:sldId id="372"/>
            <p14:sldId id="373"/>
            <p14:sldId id="374"/>
            <p14:sldId id="375"/>
            <p14:sldId id="376"/>
            <p14:sldId id="377"/>
          </p14:sldIdLst>
        </p14:section>
        <p14:section name="Teil 4: Use Cases" id="{00000005-0000-4000-8000-000000000005}">
          <p14:sldIdLst>
            <p14:sldId id="378"/>
            <p14:sldId id="379"/>
            <p14:sldId id="380"/>
            <p14:sldId id="381"/>
            <p14:sldId id="382"/>
            <p14:sldId id="383"/>
            <p14:sldId id="384"/>
            <p14:sldId id="385"/>
          </p14:sldIdLst>
        </p14:section>
        <p14:section name="Abschluss" id="{00000006-0000-4000-8000-000000000006}">
          <p14:sldIdLst>
            <p14:sldId id="386"/>
            <p14:sldId id="387"/>
            <p14:sldId id="388"/>
            <p14:sldId id="389"/>
            <p14:sldId id="26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eller, Hanno" initials="MH" lastIdx="1" clrIdx="0">
    <p:extLst>
      <p:ext uri="{19B8F6BF-5375-455C-9EA6-DF929625EA0E}">
        <p15:presenceInfo xmlns:p15="http://schemas.microsoft.com/office/powerpoint/2012/main" userId="S::Hanno.Mueller@hpi.uni-potsdam.de::559cb073-6f06-4586-87a0-854a9876561d" providerId="AD"/>
      </p:ext>
    </p:extLst>
  </p:cmAuthor>
  <p:cmAuthor id="2" name="Lasse Kohlmeyer" initials="LK"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30B"/>
    <a:srgbClr val="24232E"/>
    <a:srgbClr val="1B1B1B"/>
    <a:srgbClr val="FFFFFF"/>
    <a:srgbClr val="F2F3F3"/>
    <a:srgbClr val="5A6065"/>
    <a:srgbClr val="AF0333"/>
    <a:srgbClr val="DE6103"/>
    <a:srgbClr val="F7A600"/>
    <a:srgbClr val="007A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41"/>
    <p:restoredTop sz="94311" autoAdjust="0"/>
  </p:normalViewPr>
  <p:slideViewPr>
    <p:cSldViewPr snapToGrid="0">
      <p:cViewPr varScale="1">
        <p:scale>
          <a:sx n="114" d="100"/>
          <a:sy n="114" d="100"/>
        </p:scale>
        <p:origin x="1286" y="101"/>
      </p:cViewPr>
      <p:guideLst>
        <p:guide orient="horz" pos="2160"/>
        <p:guide pos="3840"/>
      </p:guideLst>
    </p:cSldViewPr>
  </p:slideViewPr>
  <p:notesTextViewPr>
    <p:cViewPr>
      <p:scale>
        <a:sx n="1" d="1"/>
        <a:sy n="1" d="1"/>
      </p:scale>
      <p:origin x="0" y="0"/>
    </p:cViewPr>
  </p:notesTextViewPr>
  <p:notesViewPr>
    <p:cSldViewPr snapToGrid="0">
      <p:cViewPr varScale="1">
        <p:scale>
          <a:sx n="92" d="100"/>
          <a:sy n="92" d="100"/>
        </p:scale>
        <p:origin x="4114" y="67"/>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FEC12233-42E3-BCF6-904D-3837B15E21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4BBC0507-4319-6E48-86C4-FB29BF2958B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A22D8D-A38A-4E73-8A50-D9155A9F6B37}" type="datetimeFigureOut">
              <a:rPr lang="de-DE" smtClean="0"/>
              <a:t>10.07.2026</a:t>
            </a:fld>
            <a:endParaRPr lang="de-DE"/>
          </a:p>
        </p:txBody>
      </p:sp>
      <p:sp>
        <p:nvSpPr>
          <p:cNvPr id="4" name="Fußzeilenplatzhalter 3">
            <a:extLst>
              <a:ext uri="{FF2B5EF4-FFF2-40B4-BE49-F238E27FC236}">
                <a16:creationId xmlns:a16="http://schemas.microsoft.com/office/drawing/2014/main" id="{3C421255-D7CA-62E5-D227-9FADC5710D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117726FB-131F-52B1-56D6-4DB1DF2D31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4CFDBFB-1AF6-40BB-B54E-A579A4352E23}" type="slidenum">
              <a:rPr lang="de-DE" smtClean="0"/>
              <a:t>‹Nr.›</a:t>
            </a:fld>
            <a:endParaRPr lang="de-DE"/>
          </a:p>
        </p:txBody>
      </p:sp>
    </p:spTree>
    <p:extLst>
      <p:ext uri="{BB962C8B-B14F-4D97-AF65-F5344CB8AC3E}">
        <p14:creationId xmlns:p14="http://schemas.microsoft.com/office/powerpoint/2010/main" val="29599894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Calibri"/>
                <a:ea typeface="Calibri"/>
                <a:cs typeface="Calibri"/>
                <a:sym typeface="Calibri"/>
              </a:rPr>
              <a:t>‹Nr.›</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Kontakt für Rückfragen nach dem Hackathon.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Begrüßung. Kurz vorstellen: wer wir sind (KI-Servicezentrum Berlin-Brandenburg am HPI), wer die Betreuenden sind. Heute geht es darum, mit Langflow eigene KI-Werkzeuge für den Bibliotheksalltag zu bauen, ganz ohne Code.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Das KI-Servicezentrum Berlin-Brandenburg ist eines von vier KI-Servicezentren in Deutschland. Wir bieten Workshops, Rechenressourcen und Beratung an, heute diesen Hackathon.</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beiden Ziele klar benennen. Heute Abend sollen alle wissen, wie solche Systeme funktionieren, und es sich zutrauen, zu Hause allein weiterzubauen. Die Use Cases am Nachmittag sind Übungsfeld: Niemand muss eine fertige Lösung mitnehmen.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Zu Beginn helfen die Betreuenden bei den letzten Installationen. Wer schon fertig ist, öffnet Langflow und probiert Flow 00 aus. Jeder Teil besteht aus kurzer Theorie und einer Praxisphase mit Aufträgen.</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vier Teile bauen aufeinander auf. Jeder Teil nutzt, was ihr im Teil davor gebaut habt: Aus dem Workflow wird ein Agent, aus dem Agenten ein Teil eines agentischen Workflows.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Methode Anticipation Guide: Jede These kurz vorlesen, per Handzeichen abstimmen (stimmt / stimmt nicht) und das Ergebnis notieren. Nicht auflösen. Am Ende des Tages kommen wir auf die Thesen zurück.</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Etwa 20 Minuten Theorie, danach drei Aufträge in Langflow.</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Kernidee: Ein Sprachmodell setzt Text fort, Stück für Stück, nach gelernten Wahrscheinlichkeiten. Es schlägt nichts nach. Deshalb klingt es immer überzeugt, auch wenn es falsch liegt. Das Beispiel: Das Modell kennt die Öffnungszeiten dieser Bibliothek nicht, es kennt nur typische Sätze über Öffnungszeiten.</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Training passiert einmal beim Hersteller und dauert Wochen bis Monate. Danach ist das Modell fest: Es lernt bei der Benutzung nicht dazu. Was nach dem Stichtag erschienen ist oder nie öffentlich war (euer Katalog, interne Regeln), weiß es nicht. Darum holen Workflows diese Informationen in den Prompt.</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Ein guter Prompt hat erkennbare Teile. Am Beispiel, das gleich in Auftrag 1b gebaut wird: Schlagwörter zu einem Abstract. Der Platzhalter in geschweiften Klammern wird in Langflow zu einem Eingang am Baustein Prompt Template. Rolle und Regeln können auch in die System Message des KI-Modells.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Tipps stehen auch in der Anleitung für Teilnehmende, Abschnitt 8. Wichtigster Punkt: Sprachmodelle klingen immer überzeugt, auch wenn sie falsch liegen. Stichproben gegen die Quellen prüfen.</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Kreativität heißt technisch Temperatur. Bei 0 nimmt das Modell fast immer die wahrscheinlichste Fortsetzung, bei 1 streut es mehr. Für Prüfen, Extrahieren und Suchbegriffe: 0. Für Ideen und Werbetexte: höher. Das Kontextfenster begrenzt, wie viel Text auf einmal ins Modell passt. Kleine lokale Modelle verlieren bei zu viel Text die Anweisung aus dem Blick.</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Drei Begriffe, die oft durcheinandergehen. Das Modell sind die trainierten Gewichte. Das Backend ist das Programm, das ein Modell ausführt und Anfragen annimmt: heute der LiteLLM-Cluster oder Ollama auf dem Laptop. Die Schnittstelle ist die Sprache, in der Langflow mit dem Backend spricht; beide verstehen die OpenAI-kompatible API. Der Baustein KI-Modell verpackt das: Quelle und Modell wählen, fertig.</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Standardmäßig läuft die KI über den Cluster. Wer mit sensiblen Daten arbeitet, kann im Baustein KI-Modell auf Lokal umschalten, sofern Ollama eingerichtet ist. Die Abwägung zwischen Qualität und Datenschutz ist eine gute Frage für die Use Cases am Nachmittag.</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Im Chat macht der Mensch alle Schritte selbst: suchen, kopieren, fragen, prüfen. Ein Workflow legt die Schritte einmal fest und führt sie jedes Mal gleich aus. Das Sprachmodell ist dabei ein Baustein unter mehreren. Was sich nachschlagen lässt, schlägt ein Baustein nach, nicht das Modell.</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Diese Fehler werdet ihr heute selbst sehen. Zu jedem gibt es eine Gegenmaßnahme, die sich im Workflow einbauen lässt. Und ein Punkt zum Datenschutz: Alles, was im Prompt steht, geht an das Backend.</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Hier live in Langflow wechseln und die vier Bereiche zeigen. Die Oberfläche ist englisch; die wichtigsten Begriffe stehen in der Anleitung für Teilnehmende. Danach starten die Aufträge.</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Diese drei Dinge vor dem ersten Auftrag zeigen. Besonders die Kopie: Bei jedem Start ersetzt Langflow die Beispiel-Flows durch die Originale, Änderungen darin gehen verloren.</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häufigsten Probleme. Die vollständige Liste steht in der Anleitung für Teilnehmende, Abschnitt 9. Diese Folie kann während der Praxisphasen stehen bleiben.</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Erster Auftrag, angeleitet. Herumgehen und schauen, ob alle den Playground finden. Kurz im Plenum sammeln: Was hat sich bei Kreativität 1 verändert?</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Jetzt von null. Wer Probleme mit dem Verbinden hat: vom Punkt rechts am Baustein zum Punkt links ziehen. Passt der Datentyp nicht, lässt Langflow die Verbindung nicht zu.</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Platzhalter ohne Umlaute schreiben. In der Literatursuche lassen sich Jahre und Open Access filtern. Das ist ein vollständiger Workflow: zwei KI-Schritte und ein Datenbank-Schritt, immer in derselben Reihenfolge. Die Weiterdenken-Frage ist die Brücke zu Teil 2: Der Workflow macht immer dasselbe, egal was kommt.</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Etwa 15 Minuten Theorie, danach zwei Aufträge. Anknüpfen an die Frage aus 1c: Der Workflow macht immer dasselbe. Ein Agent passt seinen Weg an die Anfrage an.</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Der entscheidende Unterschied: Im Workflow legt ihr die Schritte fest. Beim Agenten legt das Modell sie fest, bei jeder Anfrage neu. Das ist flexibler, aber weniger vorhersagbar.</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Wichtig für das Verständnis: Das Modell selbst sucht nicht. Es bekommt eine Liste der Werkzeuge mit Namen und Beschreibung. Wenn es eines braucht, antwortet es mit einem strukturierten Auftrag. Langflow führt das Werkzeug aus und gibt das Ergebnis zurück. Das nennt man Tool Calling; nicht jedes Modell kann das.</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Agentenschleife an einem Beispiel durchgehen. Der Agent plant, ruft ein Werkzeug, schaut sich das Ergebnis an und entscheidet, ob er fertig ist. Bei schwierigen Fragen läuft die Schleife mehrmals. Das Buch gibt es wirklich: Umberto Eco, Wie man eine wissenschaftliche Abschlußarbeit schreibt.</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 sieht ein Agent in Langflow aus. Der Agent-Baustein steht unter Models &amp; Agents. Das Modell kommt über den Ausgang Language Model des KI-Modells. Werkzeuge werden angeschlossen, indem man bei einem Baustein den Tool Mode einschaltet und den Ausgang Toolset mit dem Eingang Tools verbindet. Flow 04 zeigt das fertig.</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Agenten haben eigene Fehlerbilder. Das Wichtigste für Bibliotheken: Ein Agent, der Texte aus dem Netz oder aus Dokumenten liest, kann darin versteckte Anweisungen finden (Prompt Injection). Darum keine Aktionen mit Außenwirkung ohne menschliche Freigabe.</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Unterschied zu 1c sichtbar machen: Bei der DOI-Frage sucht der Agent nicht, bei der Literaturfrage schon. Falls das Verbinden des Modells hakt: in Flow 04 nachsehen, wie es dort angeschlossen ist.</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Hier lernen die Teilnehmenden, wie sehr die Anweisungen die Werkzeugwahl steuern. Flow 04 ist die Musterlösung mit drei Werkzeugen. Die Weiterdenken-Frage leitet zu Teil 3 über.</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Nach der Mittagspause. Kurz wiederholen: Workflow heißt fester Weg, Agent heißt das Modell wählt den Weg. Agentische Workflows verbinden beides.</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Das Spektrum. Links der feste Workflow, rechts der freie Agent. Dazwischen agentische Workflows: Die Struktur ist festgelegt, aber an einzelnen Stellen entscheidet die KI. In der Praxis landen die meisten guten Lösungen in der Mitte.</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Vier Muster, die sich in Langflow mit vorhandenen Bausteinen bauen lassen. Im Auftrag bauen wir das erste, die Weiche, und setzen den Agenten aus Teil 2 als einen Weg ein. Damit ist auch das zweite Muster dabei.</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Das Beispiel für den Auftrag. Eine Anfrage kommt herein. Der Smart Router lässt ein Sprachmodell entscheiden, welche Kategorie passt. Literaturfragen gehen an den Agenten aus Teil 2. Fragen zur Benutzung beantwortet ein Prompt mit dem FAQ-Text der Bibliothek. Alles andere bekommt eine feste Antwort. Am Ende prüft ein Mensch.</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Human in the Loop: Je größer die Folgen eines Fehlers, desto eher braucht es eine Freigabe. Drei Fragen helfen bei der Entscheidung. Beispiele aus der Bibliothek von „darf die KI allein“ bis „nur mit Freigabe“.</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Diese Folie ist das Werkzeug für zu Hause und für den Nachmittag. Erst auf Papier planen, dann bauen. Klein anfangen und jeden Schritt einzeln testen.</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Der Smart Router braucht ein Modell, genau wie der Agent. Wichtig: Die Beschreibungen der Routen gut formulieren, z. B. Benutzung: Öffnungszeiten, Ausleihe, Bibliotheksausweis, Gebühren.</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Wer schnell ist, macht den Bonus: Ein ganzer Flow wird zum Werkzeug. Damit sind alle vier Muster einmal angefasst. Zum Abschluss kurz sammeln: Wo hat der Router falsch sortiert, und warum?</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Gruppen bilden. Jede Gruppe wählt eine Challenge oder eine eigene Idee. Ziel ist nicht die fertige Lösung, sondern das Bauen mit dem, was ihr am Vormittag gelernt habt.</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Der Ablauf für den Nachmittag. Die Gruppen sollen zuerst den Bauplan auf Papier machen, bevor sie Bausteine ziehen. Die Betreuenden fragen beim Herumgehen nach dem Bauplan.</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drei Stufen gelten für jede Challenge, in den Unterlagen als grüner, gelber und roter Punkt markiert. Sie entsprechen grob den drei Teilen vom Vormittag.</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Überblick. Details auf den nächsten Folien und in anleitungen/02_challenges.md. Die Muster-Zeile zeigt, welche Bauweise vom Vormittag am besten passt.</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Details zu allen Stufen stehen in anleitungen/02_challenges.md.</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Details zu allen Stufen stehen in anleitungen/02_challenges.md.</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Details zu allen Stufen stehen in anleitungen/02_challenges.md.</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Anregungen für Gruppen mit eigener Idee. Die Schulungsplanung ist ein echter Use Case einer Hochschulbibliothek (daten/schulungsplanung). Hinweis: Mit kleinen lokalen Modellen waren in den Probeläufen die Wochentage falsch, und es entstanden zu viele Termine.</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Kein Wettbewerb, sondern Show &amp; Tell: Jede Gruppe zeigt, was sie gebaut hat und was sie gelernt hat. Fehlschläge sind ausdrücklich willkommen, daraus lernen alle am meisten.</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Die Thesen vom Morgen noch einmal abstimmen lassen und mit dem Ergebnis vom Morgen vergleichen. Dann die Auflösung zeigen und kurz besprechen.</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Damit alle allein weiterarbeiten können. Die Gruppen-Schlüssel für den Cluster bleiben zehn Tage aktiv, bis zum 17.10.2026. Danach ein lokales Modell mit Ollama oder einen Zugang der eigenen Einrichtung nutzen. Alles steht auch in der Anleitung für Teilnehmende, Abschnitt 10.</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Exit Ticket: Jede Person nennt oder notiert eine Sache, die sie mitnimmt, und eine offene Frage. Die offenen Fragen sammeln und, wenn möglich, nachliefern.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1.wdp"/><Relationship Id="rId4" Type="http://schemas.openxmlformats.org/officeDocument/2006/relationships/image" Target="../media/image6.png"/><Relationship Id="rId5"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microsoft.com/office/2007/relationships/hdphoto" Target="../media/hdphoto1.wdp"/><Relationship Id="rId4" Type="http://schemas.openxmlformats.org/officeDocument/2006/relationships/image" Target="../media/image7.png"/><Relationship Id="rId5" Type="http://schemas.microsoft.com/office/2007/relationships/hdphoto" Target="../media/hdphoto2.wdp"/><Relationship Id="rId6" Type="http://schemas.openxmlformats.org/officeDocument/2006/relationships/image" Target="../media/image8.png"/><Relationship Id="rId7" Type="http://schemas.microsoft.com/office/2007/relationships/hdphoto" Target="../media/hdphoto3.wdp"/><Relationship Id="rId8" Type="http://schemas.openxmlformats.org/officeDocument/2006/relationships/image" Target="../media/image6.png"/><Relationship Id="rId9"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9.png"/><Relationship Id="rId4" Type="http://schemas.openxmlformats.org/officeDocument/2006/relationships/image" Target="../media/image10.png"/><Relationship Id="rId5" Type="http://schemas.microsoft.com/office/2007/relationships/hdphoto" Target="../media/hdphoto4.wdp"/><Relationship Id="rId6"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microsoft.com/office/2007/relationships/hdphoto" Target="../media/hdphoto5.wdp"/><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microsoft.com/office/2007/relationships/hdphoto" Target="../media/hdphoto6.wdp"/><Relationship Id="rId4" Type="http://schemas.openxmlformats.org/officeDocument/2006/relationships/image" Target="../media/image3.png"/><Relationship Id="rId5"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preserve="1">
  <p:cSld name="Titelfolie">
    <p:bg>
      <p:bgPr>
        <a:solidFill>
          <a:schemeClr val="lt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18" name="Google Shape;18;p2"/>
          <p:cNvPicPr preferRelativeResize="0"/>
          <p:nvPr/>
        </p:nvPicPr>
        <p:blipFill rotWithShape="1">
          <a:blip r:embed="rId2">
            <a:alphaModFix/>
          </a:blip>
          <a:srcRect/>
          <a:stretch/>
        </p:blipFill>
        <p:spPr>
          <a:xfrm>
            <a:off x="465589" y="5734050"/>
            <a:ext cx="2229230" cy="828000"/>
          </a:xfrm>
          <a:prstGeom prst="rect">
            <a:avLst/>
          </a:prstGeom>
          <a:noFill/>
          <a:ln>
            <a:noFill/>
          </a:ln>
        </p:spPr>
      </p:pic>
      <p:sp>
        <p:nvSpPr>
          <p:cNvPr id="19" name="Google Shape;19;p2"/>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118181"/>
              </a:lnSpc>
              <a:spcBef>
                <a:spcPts val="0"/>
              </a:spcBef>
              <a:spcAft>
                <a:spcPts val="0"/>
              </a:spcAft>
              <a:buClr>
                <a:schemeClr val="dk1"/>
              </a:buClr>
              <a:buSzPts val="2200"/>
              <a:buNone/>
              <a:defRPr sz="2200"/>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20" name="Google Shape;20;p2"/>
          <p:cNvPicPr preferRelativeResize="0"/>
          <p:nvPr/>
        </p:nvPicPr>
        <p:blipFill rotWithShape="1">
          <a:blip r:embed="rId2">
            <a:alphaModFix/>
          </a:blip>
          <a:srcRect/>
          <a:stretch/>
        </p:blipFill>
        <p:spPr>
          <a:xfrm>
            <a:off x="465589" y="5734050"/>
            <a:ext cx="2229230" cy="828000"/>
          </a:xfrm>
          <a:prstGeom prst="rect">
            <a:avLst/>
          </a:prstGeom>
          <a:noFill/>
          <a:ln>
            <a:noFill/>
          </a:ln>
        </p:spPr>
      </p:pic>
      <p:pic>
        <p:nvPicPr>
          <p:cNvPr id="21" name="Google Shape;21;p2"/>
          <p:cNvPicPr preferRelativeResize="0"/>
          <p:nvPr/>
        </p:nvPicPr>
        <p:blipFill rotWithShape="1">
          <a:blip r:embed="rId3">
            <a:alphaModFix/>
          </a:blip>
          <a:srcRect/>
          <a:stretch/>
        </p:blipFill>
        <p:spPr>
          <a:xfrm>
            <a:off x="5593831" y="3624398"/>
            <a:ext cx="7516383" cy="3483871"/>
          </a:xfrm>
          <a:prstGeom prst="rect">
            <a:avLst/>
          </a:prstGeom>
          <a:noFill/>
          <a:ln>
            <a:noFill/>
          </a:ln>
        </p:spPr>
      </p:pic>
      <p:sp>
        <p:nvSpPr>
          <p:cNvPr id="22" name="Google Shape;22;p2"/>
          <p:cNvSpPr txBox="1">
            <a:spLocks noGrp="1"/>
          </p:cNvSpPr>
          <p:nvPr>
            <p:ph type="dt" idx="10"/>
          </p:nvPr>
        </p:nvSpPr>
        <p:spPr>
          <a:xfrm>
            <a:off x="4186443" y="6416504"/>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3" name="Google Shape;23;p2"/>
          <p:cNvSpPr txBox="1">
            <a:spLocks noGrp="1"/>
          </p:cNvSpPr>
          <p:nvPr>
            <p:ph type="ftr" idx="11"/>
          </p:nvPr>
        </p:nvSpPr>
        <p:spPr>
          <a:xfrm>
            <a:off x="5340107" y="6416504"/>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pic>
        <p:nvPicPr>
          <p:cNvPr id="3" name="Grafik 2" descr="Ein Bild, das Text, Schrift, Screenshot, Grafiken enthält.&#10;&#10;KI-generierte Inhalte können fehlerhaft sein.">
            <a:extLst>
              <a:ext uri="{FF2B5EF4-FFF2-40B4-BE49-F238E27FC236}">
                <a16:creationId xmlns:a16="http://schemas.microsoft.com/office/drawing/2014/main" id="{E81DAFF2-0889-E0F9-8F38-135A72BA98BE}"/>
              </a:ext>
            </a:extLst>
          </p:cNvPr>
          <p:cNvPicPr>
            <a:picLocks noChangeAspect="1"/>
          </p:cNvPicPr>
          <p:nvPr userDrawn="1"/>
        </p:nvPicPr>
        <p:blipFill>
          <a:blip r:embed="rId4"/>
          <a:stretch>
            <a:fillRect/>
          </a:stretch>
        </p:blipFill>
        <p:spPr>
          <a:xfrm>
            <a:off x="10026263" y="453524"/>
            <a:ext cx="1705178" cy="603083"/>
          </a:xfrm>
          <a:prstGeom prst="rect">
            <a:avLst/>
          </a:prstGeom>
        </p:spPr>
      </p:pic>
      <p:pic>
        <p:nvPicPr>
          <p:cNvPr id="8" name="Grafik 7" descr="Ein Bild, das Text, Schrift, Screenshot, Visitenkarte enthält.&#10;&#10;KI-generierte Inhalte können fehlerhaft sein.">
            <a:extLst>
              <a:ext uri="{FF2B5EF4-FFF2-40B4-BE49-F238E27FC236}">
                <a16:creationId xmlns:a16="http://schemas.microsoft.com/office/drawing/2014/main" id="{9ACFAC27-EC97-9C9F-2A5C-709764FCE5CE}"/>
              </a:ext>
            </a:extLst>
          </p:cNvPr>
          <p:cNvPicPr>
            <a:picLocks noChangeAspect="1"/>
          </p:cNvPicPr>
          <p:nvPr userDrawn="1"/>
        </p:nvPicPr>
        <p:blipFill>
          <a:blip r:embed="rId5"/>
          <a:stretch>
            <a:fillRect/>
          </a:stretch>
        </p:blipFill>
        <p:spPr>
          <a:xfrm>
            <a:off x="10026262" y="1152000"/>
            <a:ext cx="1705179" cy="1138122"/>
          </a:xfrm>
          <a:prstGeom prst="rect">
            <a:avLst/>
          </a:prstGeom>
        </p:spPr>
      </p:pic>
    </p:spTree>
    <p:extLst>
      <p:ext uri="{BB962C8B-B14F-4D97-AF65-F5344CB8AC3E}">
        <p14:creationId xmlns:p14="http://schemas.microsoft.com/office/powerpoint/2010/main" val="3597021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gelb">
    <p:bg>
      <p:bgPr>
        <a:solidFill>
          <a:schemeClr val="accent3"/>
        </a:solidFill>
        <a:effectLst/>
      </p:bgPr>
    </p:bg>
    <p:spTree>
      <p:nvGrpSpPr>
        <p:cNvPr id="1" name="Shape 41"/>
        <p:cNvGrpSpPr/>
        <p:nvPr/>
      </p:nvGrpSpPr>
      <p:grpSpPr>
        <a:xfrm>
          <a:off x="0" y="0"/>
          <a:ext cx="0" cy="0"/>
          <a:chOff x="0" y="0"/>
          <a:chExt cx="0" cy="0"/>
        </a:xfrm>
      </p:grpSpPr>
      <p:sp>
        <p:nvSpPr>
          <p:cNvPr id="20" name="Gleichschenkliges Dreieck 19">
            <a:extLst>
              <a:ext uri="{FF2B5EF4-FFF2-40B4-BE49-F238E27FC236}">
                <a16:creationId xmlns:a16="http://schemas.microsoft.com/office/drawing/2014/main" id="{8E1D504C-7261-C5E4-7EBD-1A7982D043E3}"/>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7BFBAE90-8900-9BB4-48E9-700FCC716678}"/>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Text, Schrift, Screenshot, Visitenkarte enthält.&#10;&#10;KI-generierte Inhalte können fehlerhaft sein.">
            <a:extLst>
              <a:ext uri="{FF2B5EF4-FFF2-40B4-BE49-F238E27FC236}">
                <a16:creationId xmlns:a16="http://schemas.microsoft.com/office/drawing/2014/main" id="{12B7169B-042E-9320-EF3E-9BFE1E3CC1D7}"/>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23" name="Grafik 22" descr="Ein Bild, das Text, Schrift, Screenshot, Grafiken enthält.&#10;&#10;KI-generierte Inhalte können fehlerhaft sein.">
            <a:extLst>
              <a:ext uri="{FF2B5EF4-FFF2-40B4-BE49-F238E27FC236}">
                <a16:creationId xmlns:a16="http://schemas.microsoft.com/office/drawing/2014/main" id="{91844E43-ABD8-99BD-8D43-938A562369FE}"/>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24" name="Google Shape;40;p4">
            <a:extLst>
              <a:ext uri="{FF2B5EF4-FFF2-40B4-BE49-F238E27FC236}">
                <a16:creationId xmlns:a16="http://schemas.microsoft.com/office/drawing/2014/main" id="{5C97D799-F131-A707-BD46-381659DB03C4}"/>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39;p16">
            <a:extLst>
              <a:ext uri="{FF2B5EF4-FFF2-40B4-BE49-F238E27FC236}">
                <a16:creationId xmlns:a16="http://schemas.microsoft.com/office/drawing/2014/main" id="{9DCDB812-9260-43E2-88E4-3E6B742172D7}"/>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140;p16">
            <a:extLst>
              <a:ext uri="{FF2B5EF4-FFF2-40B4-BE49-F238E27FC236}">
                <a16:creationId xmlns:a16="http://schemas.microsoft.com/office/drawing/2014/main" id="{73DDD9AF-7970-E711-4EA8-A73F52AAF53E}"/>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4;p2">
            <a:extLst>
              <a:ext uri="{FF2B5EF4-FFF2-40B4-BE49-F238E27FC236}">
                <a16:creationId xmlns:a16="http://schemas.microsoft.com/office/drawing/2014/main" id="{8683B7DC-3CBB-FAD3-D20C-E2FF98A873AF}"/>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28" name="Google Shape;134;p15">
            <a:extLst>
              <a:ext uri="{FF2B5EF4-FFF2-40B4-BE49-F238E27FC236}">
                <a16:creationId xmlns:a16="http://schemas.microsoft.com/office/drawing/2014/main" id="{0ACF7AD3-9DB4-C69C-D082-0A54128494D4}"/>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77513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orange">
    <p:bg>
      <p:bgPr>
        <a:solidFill>
          <a:schemeClr val="accent2"/>
        </a:solidFill>
        <a:effectLst/>
      </p:bgPr>
    </p:bg>
    <p:spTree>
      <p:nvGrpSpPr>
        <p:cNvPr id="1" name="Shape 41"/>
        <p:cNvGrpSpPr/>
        <p:nvPr/>
      </p:nvGrpSpPr>
      <p:grpSpPr>
        <a:xfrm>
          <a:off x="0" y="0"/>
          <a:ext cx="0" cy="0"/>
          <a:chOff x="0" y="0"/>
          <a:chExt cx="0" cy="0"/>
        </a:xfrm>
      </p:grpSpPr>
      <p:sp>
        <p:nvSpPr>
          <p:cNvPr id="20" name="Gleichschenkliges Dreieck 19">
            <a:extLst>
              <a:ext uri="{FF2B5EF4-FFF2-40B4-BE49-F238E27FC236}">
                <a16:creationId xmlns:a16="http://schemas.microsoft.com/office/drawing/2014/main" id="{E0D46E48-9D85-3E62-DCA6-65BA9F253B00}"/>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D3DDA1A6-C532-DBFA-94A2-0D404768807E}"/>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Text, Schrift, Screenshot, Visitenkarte enthält.&#10;&#10;KI-generierte Inhalte können fehlerhaft sein.">
            <a:extLst>
              <a:ext uri="{FF2B5EF4-FFF2-40B4-BE49-F238E27FC236}">
                <a16:creationId xmlns:a16="http://schemas.microsoft.com/office/drawing/2014/main" id="{FD129694-414C-1F6A-02F9-D7A7C90B80C3}"/>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23" name="Grafik 22" descr="Ein Bild, das Text, Schrift, Screenshot, Grafiken enthält.&#10;&#10;KI-generierte Inhalte können fehlerhaft sein.">
            <a:extLst>
              <a:ext uri="{FF2B5EF4-FFF2-40B4-BE49-F238E27FC236}">
                <a16:creationId xmlns:a16="http://schemas.microsoft.com/office/drawing/2014/main" id="{DE17FA21-55EC-5E14-5B65-3BC85F00957E}"/>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24" name="Google Shape;40;p4">
            <a:extLst>
              <a:ext uri="{FF2B5EF4-FFF2-40B4-BE49-F238E27FC236}">
                <a16:creationId xmlns:a16="http://schemas.microsoft.com/office/drawing/2014/main" id="{666013F8-EB3F-34CD-A0C0-AB6FF5EA0CD9}"/>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39;p16">
            <a:extLst>
              <a:ext uri="{FF2B5EF4-FFF2-40B4-BE49-F238E27FC236}">
                <a16:creationId xmlns:a16="http://schemas.microsoft.com/office/drawing/2014/main" id="{ECDD2F77-2346-7C88-D006-4044E6596B02}"/>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140;p16">
            <a:extLst>
              <a:ext uri="{FF2B5EF4-FFF2-40B4-BE49-F238E27FC236}">
                <a16:creationId xmlns:a16="http://schemas.microsoft.com/office/drawing/2014/main" id="{31B79083-A796-67F4-F3F6-6547615AD2FF}"/>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4;p2">
            <a:extLst>
              <a:ext uri="{FF2B5EF4-FFF2-40B4-BE49-F238E27FC236}">
                <a16:creationId xmlns:a16="http://schemas.microsoft.com/office/drawing/2014/main" id="{CF4891B2-3142-1D6E-845E-A9AF613C7A7B}"/>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28" name="Google Shape;134;p15">
            <a:extLst>
              <a:ext uri="{FF2B5EF4-FFF2-40B4-BE49-F238E27FC236}">
                <a16:creationId xmlns:a16="http://schemas.microsoft.com/office/drawing/2014/main" id="{D3399B3A-8CB0-8AAF-1664-4851BF85898B}"/>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98445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rot">
    <p:bg>
      <p:bgPr>
        <a:solidFill>
          <a:schemeClr val="accent1"/>
        </a:solidFill>
        <a:effectLst/>
      </p:bgPr>
    </p:bg>
    <p:spTree>
      <p:nvGrpSpPr>
        <p:cNvPr id="1" name="Shape 41"/>
        <p:cNvGrpSpPr/>
        <p:nvPr/>
      </p:nvGrpSpPr>
      <p:grpSpPr>
        <a:xfrm>
          <a:off x="0" y="0"/>
          <a:ext cx="0" cy="0"/>
          <a:chOff x="0" y="0"/>
          <a:chExt cx="0" cy="0"/>
        </a:xfrm>
      </p:grpSpPr>
      <p:sp>
        <p:nvSpPr>
          <p:cNvPr id="20" name="Gleichschenkliges Dreieck 19">
            <a:extLst>
              <a:ext uri="{FF2B5EF4-FFF2-40B4-BE49-F238E27FC236}">
                <a16:creationId xmlns:a16="http://schemas.microsoft.com/office/drawing/2014/main" id="{AE83EF0F-4E80-2874-1CD9-90B5541996C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D54621-E94C-F5E9-3117-11105BCAB423}"/>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Text, Schrift, Screenshot, Visitenkarte enthält.&#10;&#10;KI-generierte Inhalte können fehlerhaft sein.">
            <a:extLst>
              <a:ext uri="{FF2B5EF4-FFF2-40B4-BE49-F238E27FC236}">
                <a16:creationId xmlns:a16="http://schemas.microsoft.com/office/drawing/2014/main" id="{BA521123-3728-88D1-57EB-A1C0B22E491B}"/>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23" name="Grafik 22" descr="Ein Bild, das Text, Schrift, Screenshot, Grafiken enthält.&#10;&#10;KI-generierte Inhalte können fehlerhaft sein.">
            <a:extLst>
              <a:ext uri="{FF2B5EF4-FFF2-40B4-BE49-F238E27FC236}">
                <a16:creationId xmlns:a16="http://schemas.microsoft.com/office/drawing/2014/main" id="{9637781E-AB70-8D67-2D0B-5426139D2EF3}"/>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24" name="Google Shape;40;p4">
            <a:extLst>
              <a:ext uri="{FF2B5EF4-FFF2-40B4-BE49-F238E27FC236}">
                <a16:creationId xmlns:a16="http://schemas.microsoft.com/office/drawing/2014/main" id="{F826032F-6049-379A-BB46-BD0433F3508C}"/>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39;p16">
            <a:extLst>
              <a:ext uri="{FF2B5EF4-FFF2-40B4-BE49-F238E27FC236}">
                <a16:creationId xmlns:a16="http://schemas.microsoft.com/office/drawing/2014/main" id="{BEFB8D91-9AA4-FBD0-0D16-93879C2383FD}"/>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140;p16">
            <a:extLst>
              <a:ext uri="{FF2B5EF4-FFF2-40B4-BE49-F238E27FC236}">
                <a16:creationId xmlns:a16="http://schemas.microsoft.com/office/drawing/2014/main" id="{E5FB2295-700D-1EF6-9AE1-DF49784C7689}"/>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4;p2">
            <a:extLst>
              <a:ext uri="{FF2B5EF4-FFF2-40B4-BE49-F238E27FC236}">
                <a16:creationId xmlns:a16="http://schemas.microsoft.com/office/drawing/2014/main" id="{BEBB2F6D-8540-780A-A116-360A40E3C0E6}"/>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28" name="Google Shape;134;p15">
            <a:extLst>
              <a:ext uri="{FF2B5EF4-FFF2-40B4-BE49-F238E27FC236}">
                <a16:creationId xmlns:a16="http://schemas.microsoft.com/office/drawing/2014/main" id="{6F7096AB-43F8-371C-955C-DCB8B7B11F35}"/>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260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blau">
    <p:bg>
      <p:bgPr>
        <a:solidFill>
          <a:srgbClr val="007A9E"/>
        </a:solidFill>
        <a:effectLst/>
      </p:bgPr>
    </p:bg>
    <p:spTree>
      <p:nvGrpSpPr>
        <p:cNvPr id="1" name="Shape 41"/>
        <p:cNvGrpSpPr/>
        <p:nvPr/>
      </p:nvGrpSpPr>
      <p:grpSpPr>
        <a:xfrm>
          <a:off x="0" y="0"/>
          <a:ext cx="0" cy="0"/>
          <a:chOff x="0" y="0"/>
          <a:chExt cx="0" cy="0"/>
        </a:xfrm>
      </p:grpSpPr>
      <p:sp>
        <p:nvSpPr>
          <p:cNvPr id="20" name="Gleichschenkliges Dreieck 19">
            <a:extLst>
              <a:ext uri="{FF2B5EF4-FFF2-40B4-BE49-F238E27FC236}">
                <a16:creationId xmlns:a16="http://schemas.microsoft.com/office/drawing/2014/main" id="{F3F0DED4-523B-7B59-C516-99124A5F340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B9B78790-B82C-1692-EF2C-58D5F494FD29}"/>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Text, Schrift, Screenshot, Visitenkarte enthält.&#10;&#10;KI-generierte Inhalte können fehlerhaft sein.">
            <a:extLst>
              <a:ext uri="{FF2B5EF4-FFF2-40B4-BE49-F238E27FC236}">
                <a16:creationId xmlns:a16="http://schemas.microsoft.com/office/drawing/2014/main" id="{7BB6F4AD-CE62-C8DA-13EA-7E6350E5F405}"/>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23" name="Grafik 22" descr="Ein Bild, das Text, Schrift, Screenshot, Grafiken enthält.&#10;&#10;KI-generierte Inhalte können fehlerhaft sein.">
            <a:extLst>
              <a:ext uri="{FF2B5EF4-FFF2-40B4-BE49-F238E27FC236}">
                <a16:creationId xmlns:a16="http://schemas.microsoft.com/office/drawing/2014/main" id="{7A409DB5-B32C-C664-4931-C962A9B6EA37}"/>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24" name="Google Shape;40;p4">
            <a:extLst>
              <a:ext uri="{FF2B5EF4-FFF2-40B4-BE49-F238E27FC236}">
                <a16:creationId xmlns:a16="http://schemas.microsoft.com/office/drawing/2014/main" id="{4B561C56-5E6F-1FA0-E03D-EE7E47FA8B98}"/>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39;p16">
            <a:extLst>
              <a:ext uri="{FF2B5EF4-FFF2-40B4-BE49-F238E27FC236}">
                <a16:creationId xmlns:a16="http://schemas.microsoft.com/office/drawing/2014/main" id="{0EB3FC49-EDEE-8D22-731D-39867830126D}"/>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140;p16">
            <a:extLst>
              <a:ext uri="{FF2B5EF4-FFF2-40B4-BE49-F238E27FC236}">
                <a16:creationId xmlns:a16="http://schemas.microsoft.com/office/drawing/2014/main" id="{FED9DF51-2FEE-5537-761F-C961D2356FDC}"/>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4;p2">
            <a:extLst>
              <a:ext uri="{FF2B5EF4-FFF2-40B4-BE49-F238E27FC236}">
                <a16:creationId xmlns:a16="http://schemas.microsoft.com/office/drawing/2014/main" id="{E21B3247-ACE9-9F8D-C487-1BD7B6E49F61}"/>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28" name="Google Shape;134;p15">
            <a:extLst>
              <a:ext uri="{FF2B5EF4-FFF2-40B4-BE49-F238E27FC236}">
                <a16:creationId xmlns:a16="http://schemas.microsoft.com/office/drawing/2014/main" id="{8D217A6F-A9D2-4796-230F-7AC7B40C1BF5}"/>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544196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Zwischentitel" preserve="1" userDrawn="1">
  <p:cSld name="Inhalt 1 - grün">
    <p:bg>
      <p:bgPr>
        <a:solidFill>
          <a:schemeClr val="accent6"/>
        </a:solidFill>
        <a:effectLst/>
      </p:bgPr>
    </p:bg>
    <p:spTree>
      <p:nvGrpSpPr>
        <p:cNvPr id="1" name="Shape 41"/>
        <p:cNvGrpSpPr/>
        <p:nvPr/>
      </p:nvGrpSpPr>
      <p:grpSpPr>
        <a:xfrm>
          <a:off x="0" y="0"/>
          <a:ext cx="0" cy="0"/>
          <a:chOff x="0" y="0"/>
          <a:chExt cx="0" cy="0"/>
        </a:xfrm>
      </p:grpSpPr>
      <p:sp>
        <p:nvSpPr>
          <p:cNvPr id="20" name="Gleichschenkliges Dreieck 19">
            <a:extLst>
              <a:ext uri="{FF2B5EF4-FFF2-40B4-BE49-F238E27FC236}">
                <a16:creationId xmlns:a16="http://schemas.microsoft.com/office/drawing/2014/main" id="{F3F0DED4-523B-7B59-C516-99124A5F340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B9B78790-B82C-1692-EF2C-58D5F494FD29}"/>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Text, Schrift, Screenshot, Visitenkarte enthält.&#10;&#10;KI-generierte Inhalte können fehlerhaft sein.">
            <a:extLst>
              <a:ext uri="{FF2B5EF4-FFF2-40B4-BE49-F238E27FC236}">
                <a16:creationId xmlns:a16="http://schemas.microsoft.com/office/drawing/2014/main" id="{7BB6F4AD-CE62-C8DA-13EA-7E6350E5F405}"/>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23" name="Grafik 22" descr="Ein Bild, das Text, Schrift, Screenshot, Grafiken enthält.&#10;&#10;KI-generierte Inhalte können fehlerhaft sein.">
            <a:extLst>
              <a:ext uri="{FF2B5EF4-FFF2-40B4-BE49-F238E27FC236}">
                <a16:creationId xmlns:a16="http://schemas.microsoft.com/office/drawing/2014/main" id="{7A409DB5-B32C-C664-4931-C962A9B6EA37}"/>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24" name="Google Shape;40;p4">
            <a:extLst>
              <a:ext uri="{FF2B5EF4-FFF2-40B4-BE49-F238E27FC236}">
                <a16:creationId xmlns:a16="http://schemas.microsoft.com/office/drawing/2014/main" id="{4B561C56-5E6F-1FA0-E03D-EE7E47FA8B98}"/>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39;p16">
            <a:extLst>
              <a:ext uri="{FF2B5EF4-FFF2-40B4-BE49-F238E27FC236}">
                <a16:creationId xmlns:a16="http://schemas.microsoft.com/office/drawing/2014/main" id="{0EB3FC49-EDEE-8D22-731D-39867830126D}"/>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140;p16">
            <a:extLst>
              <a:ext uri="{FF2B5EF4-FFF2-40B4-BE49-F238E27FC236}">
                <a16:creationId xmlns:a16="http://schemas.microsoft.com/office/drawing/2014/main" id="{FED9DF51-2FEE-5537-761F-C961D2356FDC}"/>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4;p2">
            <a:extLst>
              <a:ext uri="{FF2B5EF4-FFF2-40B4-BE49-F238E27FC236}">
                <a16:creationId xmlns:a16="http://schemas.microsoft.com/office/drawing/2014/main" id="{E21B3247-ACE9-9F8D-C487-1BD7B6E49F61}"/>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28" name="Google Shape;134;p15">
            <a:extLst>
              <a:ext uri="{FF2B5EF4-FFF2-40B4-BE49-F238E27FC236}">
                <a16:creationId xmlns:a16="http://schemas.microsoft.com/office/drawing/2014/main" id="{8D217A6F-A9D2-4796-230F-7AC7B40C1BF5}"/>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58241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20" name="Gleichschenkliges Dreieck 19">
            <a:extLst>
              <a:ext uri="{FF2B5EF4-FFF2-40B4-BE49-F238E27FC236}">
                <a16:creationId xmlns:a16="http://schemas.microsoft.com/office/drawing/2014/main" id="{4A703EC1-3D31-43AE-5AF7-47EE7D7A393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5909B149-F759-6D95-C0B7-3F0108E229A9}"/>
              </a:ext>
            </a:extLst>
          </p:cNvPr>
          <p:cNvSpPr/>
          <p:nvPr userDrawn="1"/>
        </p:nvSpPr>
        <p:spPr>
          <a:xfrm>
            <a:off x="569934" y="0"/>
            <a:ext cx="11622066"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Text, Schrift, Screenshot, Visitenkarte enthält.&#10;&#10;KI-generierte Inhalte können fehlerhaft sein.">
            <a:extLst>
              <a:ext uri="{FF2B5EF4-FFF2-40B4-BE49-F238E27FC236}">
                <a16:creationId xmlns:a16="http://schemas.microsoft.com/office/drawing/2014/main" id="{BB354C0A-9F7E-411B-98FF-6AB8642BDD90}"/>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23" name="Grafik 22" descr="Ein Bild, das Text, Schrift, Screenshot, Grafiken enthält.&#10;&#10;KI-generierte Inhalte können fehlerhaft sein.">
            <a:extLst>
              <a:ext uri="{FF2B5EF4-FFF2-40B4-BE49-F238E27FC236}">
                <a16:creationId xmlns:a16="http://schemas.microsoft.com/office/drawing/2014/main" id="{2D7FE29C-9819-C74D-9C78-656A91C2B63E}"/>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24" name="Google Shape;40;p4">
            <a:extLst>
              <a:ext uri="{FF2B5EF4-FFF2-40B4-BE49-F238E27FC236}">
                <a16:creationId xmlns:a16="http://schemas.microsoft.com/office/drawing/2014/main" id="{8B6F518D-34D2-056D-D428-44E5F81F2635}"/>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39;p16">
            <a:extLst>
              <a:ext uri="{FF2B5EF4-FFF2-40B4-BE49-F238E27FC236}">
                <a16:creationId xmlns:a16="http://schemas.microsoft.com/office/drawing/2014/main" id="{19FBBE3D-918E-DC76-8673-9E8585179B06}"/>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140;p16">
            <a:extLst>
              <a:ext uri="{FF2B5EF4-FFF2-40B4-BE49-F238E27FC236}">
                <a16:creationId xmlns:a16="http://schemas.microsoft.com/office/drawing/2014/main" id="{B0F6B68D-FD0D-35D4-DBB2-D0CF8B4DA57D}"/>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4;p2">
            <a:extLst>
              <a:ext uri="{FF2B5EF4-FFF2-40B4-BE49-F238E27FC236}">
                <a16:creationId xmlns:a16="http://schemas.microsoft.com/office/drawing/2014/main" id="{46F80E68-D76F-F1F6-1242-2388AFDA694D}"/>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28" name="Google Shape;134;p15">
            <a:extLst>
              <a:ext uri="{FF2B5EF4-FFF2-40B4-BE49-F238E27FC236}">
                <a16:creationId xmlns:a16="http://schemas.microsoft.com/office/drawing/2014/main" id="{830E2E19-FDC0-7F58-FCF3-9DC899626363}"/>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57407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elfolie" preserve="1" userDrawn="1">
  <p:cSld name="Titel_New_Dark">
    <p:bg>
      <p:bgPr>
        <a:solidFill>
          <a:srgbClr val="10130B"/>
        </a:solidFill>
        <a:effectLst/>
      </p:bgPr>
    </p:bg>
    <p:spTree>
      <p:nvGrpSpPr>
        <p:cNvPr id="1" name="Shape 15"/>
        <p:cNvGrpSpPr/>
        <p:nvPr/>
      </p:nvGrpSpPr>
      <p:grpSpPr>
        <a:xfrm>
          <a:off x="0" y="0"/>
          <a:ext cx="0" cy="0"/>
          <a:chOff x="0" y="0"/>
          <a:chExt cx="0" cy="0"/>
        </a:xfrm>
      </p:grpSpPr>
      <p:sp>
        <p:nvSpPr>
          <p:cNvPr id="26" name="Shape 0">
            <a:extLst>
              <a:ext uri="{FF2B5EF4-FFF2-40B4-BE49-F238E27FC236}">
                <a16:creationId xmlns:a16="http://schemas.microsoft.com/office/drawing/2014/main" id="{A98DF7D4-CFA9-5C9F-DDC0-92B04E7A78C0}"/>
              </a:ext>
            </a:extLst>
          </p:cNvPr>
          <p:cNvSpPr/>
          <p:nvPr userDrawn="1"/>
        </p:nvSpPr>
        <p:spPr>
          <a:xfrm>
            <a:off x="0" y="0"/>
            <a:ext cx="12192000" cy="85344"/>
          </a:xfrm>
          <a:prstGeom prst="rect">
            <a:avLst/>
          </a:prstGeom>
          <a:solidFill>
            <a:srgbClr val="DC640D"/>
          </a:solidFill>
          <a:ln w="12700">
            <a:solidFill>
              <a:srgbClr val="DC640D"/>
            </a:solidFill>
            <a:prstDash val="solid"/>
          </a:ln>
        </p:spPr>
      </p:sp>
      <p:sp>
        <p:nvSpPr>
          <p:cNvPr id="27" name="Shape 1">
            <a:extLst>
              <a:ext uri="{FF2B5EF4-FFF2-40B4-BE49-F238E27FC236}">
                <a16:creationId xmlns:a16="http://schemas.microsoft.com/office/drawing/2014/main" id="{C54757B1-4EF8-1D9D-7A9A-74C94D12040E}"/>
              </a:ext>
            </a:extLst>
          </p:cNvPr>
          <p:cNvSpPr/>
          <p:nvPr userDrawn="1"/>
        </p:nvSpPr>
        <p:spPr>
          <a:xfrm>
            <a:off x="7741920" y="85344"/>
            <a:ext cx="48768" cy="5974080"/>
          </a:xfrm>
          <a:prstGeom prst="rect">
            <a:avLst/>
          </a:prstGeom>
          <a:solidFill>
            <a:srgbClr val="DC640D"/>
          </a:solidFill>
          <a:ln w="12700">
            <a:solidFill>
              <a:srgbClr val="DC640D"/>
            </a:solidFill>
            <a:prstDash val="solid"/>
          </a:ln>
        </p:spPr>
      </p:sp>
      <p:pic>
        <p:nvPicPr>
          <p:cNvPr id="33" name="Image 1" descr="preencoded.png">
            <a:extLst>
              <a:ext uri="{FF2B5EF4-FFF2-40B4-BE49-F238E27FC236}">
                <a16:creationId xmlns:a16="http://schemas.microsoft.com/office/drawing/2014/main" id="{8C7B4AB4-29EF-07EA-2ABA-9F44CB7509AE}"/>
              </a:ext>
            </a:extLst>
          </p:cNvPr>
          <p:cNvPicPr>
            <a:picLocks noChangeAspect="1"/>
          </p:cNvPicPr>
          <p:nvPr userDrawn="1"/>
        </p:nvPicPr>
        <p:blipFill>
          <a:blip r:embed="rId2">
            <a:alphaModFix amt="38000"/>
            <a:extLst>
              <a:ext uri="{BEBA8EAE-BF5A-486C-A8C5-ECC9F3942E4B}">
                <a14:imgProps xmlns:a14="http://schemas.microsoft.com/office/drawing/2010/main">
                  <a14:imgLayer r:embed="rId3">
                    <a14:imgEffect>
                      <a14:brightnessContrast bright="25000"/>
                    </a14:imgEffect>
                  </a14:imgLayer>
                </a14:imgProps>
              </a:ext>
            </a:extLst>
          </a:blip>
          <a:stretch>
            <a:fillRect/>
          </a:stretch>
        </p:blipFill>
        <p:spPr>
          <a:xfrm>
            <a:off x="7924800" y="4023361"/>
            <a:ext cx="4267200" cy="1977543"/>
          </a:xfrm>
          <a:prstGeom prst="rect">
            <a:avLst/>
          </a:prstGeom>
        </p:spPr>
      </p:pic>
      <p:sp>
        <p:nvSpPr>
          <p:cNvPr id="36" name="Shape 9">
            <a:extLst>
              <a:ext uri="{FF2B5EF4-FFF2-40B4-BE49-F238E27FC236}">
                <a16:creationId xmlns:a16="http://schemas.microsoft.com/office/drawing/2014/main" id="{9EDDEB2A-5633-718B-1E68-A3EFDF3B0449}"/>
              </a:ext>
            </a:extLst>
          </p:cNvPr>
          <p:cNvSpPr/>
          <p:nvPr userDrawn="1"/>
        </p:nvSpPr>
        <p:spPr>
          <a:xfrm>
            <a:off x="8107680" y="2218944"/>
            <a:ext cx="1341120" cy="54864"/>
          </a:xfrm>
          <a:prstGeom prst="rect">
            <a:avLst/>
          </a:prstGeom>
          <a:solidFill>
            <a:srgbClr val="DC640D"/>
          </a:solidFill>
          <a:ln w="12700">
            <a:solidFill>
              <a:srgbClr val="DC640D"/>
            </a:solidFill>
            <a:prstDash val="solid"/>
          </a:ln>
        </p:spPr>
      </p:sp>
      <p:sp>
        <p:nvSpPr>
          <p:cNvPr id="40" name="Text 13">
            <a:extLst>
              <a:ext uri="{FF2B5EF4-FFF2-40B4-BE49-F238E27FC236}">
                <a16:creationId xmlns:a16="http://schemas.microsoft.com/office/drawing/2014/main" id="{EFC832DA-D45E-9300-3396-68DDA9273937}"/>
              </a:ext>
            </a:extLst>
          </p:cNvPr>
          <p:cNvSpPr/>
          <p:nvPr userDrawn="1"/>
        </p:nvSpPr>
        <p:spPr>
          <a:xfrm>
            <a:off x="8107680" y="3572256"/>
            <a:ext cx="3901440" cy="304800"/>
          </a:xfrm>
          <a:prstGeom prst="rect">
            <a:avLst/>
          </a:prstGeom>
          <a:noFill/>
          <a:ln/>
        </p:spPr>
        <p:txBody>
          <a:bodyPr wrap="square" lIns="0" tIns="0" rIns="0" bIns="0" rtlCol="0" anchor="ctr"/>
          <a:lstStyle/>
          <a:p>
            <a:pPr algn="ctr"/>
            <a:endParaRPr lang="en-US" sz="1333" dirty="0"/>
          </a:p>
        </p:txBody>
      </p:sp>
      <p:sp>
        <p:nvSpPr>
          <p:cNvPr id="41" name="Shape 14">
            <a:extLst>
              <a:ext uri="{FF2B5EF4-FFF2-40B4-BE49-F238E27FC236}">
                <a16:creationId xmlns:a16="http://schemas.microsoft.com/office/drawing/2014/main" id="{81A16719-9C0B-0E6F-0CAE-066C0FF0FD30}"/>
              </a:ext>
            </a:extLst>
          </p:cNvPr>
          <p:cNvSpPr/>
          <p:nvPr userDrawn="1"/>
        </p:nvSpPr>
        <p:spPr>
          <a:xfrm>
            <a:off x="365760" y="6071616"/>
            <a:ext cx="11460480" cy="0"/>
          </a:xfrm>
          <a:prstGeom prst="line">
            <a:avLst/>
          </a:prstGeom>
          <a:noFill/>
          <a:ln w="9525">
            <a:solidFill>
              <a:srgbClr val="3A3948"/>
            </a:solidFill>
            <a:prstDash val="solid"/>
          </a:ln>
        </p:spPr>
      </p:sp>
      <p:sp>
        <p:nvSpPr>
          <p:cNvPr id="43" name="Text 15">
            <a:extLst>
              <a:ext uri="{FF2B5EF4-FFF2-40B4-BE49-F238E27FC236}">
                <a16:creationId xmlns:a16="http://schemas.microsoft.com/office/drawing/2014/main" id="{654CDC89-D10F-E285-134C-339E507AF63A}"/>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44" name="Freeform 2">
            <a:extLst>
              <a:ext uri="{FF2B5EF4-FFF2-40B4-BE49-F238E27FC236}">
                <a16:creationId xmlns:a16="http://schemas.microsoft.com/office/drawing/2014/main" id="{1644D1D1-4969-3DCD-A09C-17B2367AD983}"/>
              </a:ext>
            </a:extLst>
          </p:cNvPr>
          <p:cNvSpPr/>
          <p:nvPr userDrawn="1"/>
        </p:nvSpPr>
        <p:spPr>
          <a:xfrm>
            <a:off x="520821" y="257267"/>
            <a:ext cx="2588139" cy="904632"/>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4"/>
            <a:stretch>
              <a:fillRect/>
            </a:stretch>
          </a:blipFill>
        </p:spPr>
        <p:txBody>
          <a:bodyPr/>
          <a:lstStyle/>
          <a:p>
            <a:endParaRPr lang="de-DE" sz="3200"/>
          </a:p>
        </p:txBody>
      </p:sp>
      <p:sp>
        <p:nvSpPr>
          <p:cNvPr id="48" name="Textplatzhalter 46">
            <a:extLst>
              <a:ext uri="{FF2B5EF4-FFF2-40B4-BE49-F238E27FC236}">
                <a16:creationId xmlns:a16="http://schemas.microsoft.com/office/drawing/2014/main" id="{C3A020B4-1D27-0497-0052-6BF86DA043C7}"/>
              </a:ext>
            </a:extLst>
          </p:cNvPr>
          <p:cNvSpPr>
            <a:spLocks noGrp="1"/>
          </p:cNvSpPr>
          <p:nvPr>
            <p:ph type="body" sz="quarter" idx="10" hasCustomPrompt="1"/>
          </p:nvPr>
        </p:nvSpPr>
        <p:spPr>
          <a:xfrm>
            <a:off x="304800" y="1499616"/>
            <a:ext cx="6337388" cy="914400"/>
          </a:xfrm>
        </p:spPr>
        <p:txBody>
          <a:bodyPr/>
          <a:lstStyle>
            <a:lvl1pPr>
              <a:defRPr lang="de-DE" sz="4800" b="1" i="0" u="none" strike="noStrike" cap="none" smtClean="0">
                <a:solidFill>
                  <a:srgbClr val="FFFFFF"/>
                </a:solidFill>
                <a:latin typeface="Arial"/>
                <a:ea typeface="Arial"/>
                <a:cs typeface="Arial"/>
                <a:sym typeface="Arial"/>
              </a:defRPr>
            </a:lvl1pPr>
          </a:lstStyle>
          <a:p>
            <a:pPr lvl="0"/>
            <a:r>
              <a:rPr lang="de-DE" dirty="0"/>
              <a:t>Titel Zeile 1</a:t>
            </a:r>
          </a:p>
        </p:txBody>
      </p:sp>
      <p:sp>
        <p:nvSpPr>
          <p:cNvPr id="50" name="Textplatzhalter 46">
            <a:extLst>
              <a:ext uri="{FF2B5EF4-FFF2-40B4-BE49-F238E27FC236}">
                <a16:creationId xmlns:a16="http://schemas.microsoft.com/office/drawing/2014/main" id="{7EF02050-52CA-AB97-7626-E5D69C317EAA}"/>
              </a:ext>
            </a:extLst>
          </p:cNvPr>
          <p:cNvSpPr>
            <a:spLocks noGrp="1"/>
          </p:cNvSpPr>
          <p:nvPr>
            <p:ph type="body" sz="quarter" idx="11" hasCustomPrompt="1"/>
          </p:nvPr>
        </p:nvSpPr>
        <p:spPr>
          <a:xfrm>
            <a:off x="323589" y="3194638"/>
            <a:ext cx="6337388" cy="914400"/>
          </a:xfrm>
        </p:spPr>
        <p:txBody>
          <a:bodyPr/>
          <a:lstStyle>
            <a:lvl1pPr>
              <a:defRPr lang="de-DE" sz="4800" b="1" i="0" u="none" strike="noStrike" cap="none" smtClean="0">
                <a:solidFill>
                  <a:srgbClr val="FFFFFF"/>
                </a:solidFill>
                <a:latin typeface="Arial"/>
                <a:ea typeface="Arial"/>
                <a:cs typeface="Arial"/>
                <a:sym typeface="Arial"/>
              </a:defRPr>
            </a:lvl1pPr>
          </a:lstStyle>
          <a:p>
            <a:pPr lvl="0"/>
            <a:r>
              <a:rPr lang="de-DE" dirty="0"/>
              <a:t>Titel Zeile 3</a:t>
            </a:r>
          </a:p>
        </p:txBody>
      </p:sp>
      <p:sp>
        <p:nvSpPr>
          <p:cNvPr id="52" name="Textplatzhalter 46">
            <a:extLst>
              <a:ext uri="{FF2B5EF4-FFF2-40B4-BE49-F238E27FC236}">
                <a16:creationId xmlns:a16="http://schemas.microsoft.com/office/drawing/2014/main" id="{A794E9CB-1977-046F-3F87-039A3360F308}"/>
              </a:ext>
            </a:extLst>
          </p:cNvPr>
          <p:cNvSpPr>
            <a:spLocks noGrp="1"/>
          </p:cNvSpPr>
          <p:nvPr>
            <p:ph type="body" sz="quarter" idx="12" hasCustomPrompt="1"/>
          </p:nvPr>
        </p:nvSpPr>
        <p:spPr>
          <a:xfrm>
            <a:off x="317326" y="2346125"/>
            <a:ext cx="6337388" cy="914400"/>
          </a:xfrm>
        </p:spPr>
        <p:txBody>
          <a:bodyPr/>
          <a:lstStyle>
            <a:lvl1pPr>
              <a:defRPr lang="de-DE" sz="4800" b="1" i="0" u="none" strike="noStrike" cap="none" dirty="0">
                <a:solidFill>
                  <a:srgbClr val="DC640D"/>
                </a:solidFill>
                <a:latin typeface="Arial"/>
                <a:ea typeface="Arial"/>
                <a:cs typeface="Arial"/>
                <a:sym typeface="Arial"/>
              </a:defRPr>
            </a:lvl1pPr>
          </a:lstStyle>
          <a:p>
            <a:pPr lvl="0"/>
            <a:r>
              <a:rPr lang="de-DE" dirty="0"/>
              <a:t>Titel Zeile 2</a:t>
            </a:r>
          </a:p>
        </p:txBody>
      </p:sp>
      <p:sp>
        <p:nvSpPr>
          <p:cNvPr id="54" name="Textplatzhalter 46">
            <a:extLst>
              <a:ext uri="{FF2B5EF4-FFF2-40B4-BE49-F238E27FC236}">
                <a16:creationId xmlns:a16="http://schemas.microsoft.com/office/drawing/2014/main" id="{7569337D-9FC7-2D0B-5E32-61AC9940FC50}"/>
              </a:ext>
            </a:extLst>
          </p:cNvPr>
          <p:cNvSpPr>
            <a:spLocks noGrp="1"/>
          </p:cNvSpPr>
          <p:nvPr>
            <p:ph type="body" sz="quarter" idx="13" hasCustomPrompt="1"/>
          </p:nvPr>
        </p:nvSpPr>
        <p:spPr>
          <a:xfrm>
            <a:off x="319440" y="4114299"/>
            <a:ext cx="6337388" cy="914400"/>
          </a:xfrm>
          <a:noFill/>
          <a:ln/>
        </p:spPr>
        <p:txBody>
          <a:bodyPr wrap="square" lIns="0" tIns="0" rIns="0" bIns="0" rtlCol="0" anchor="ctr"/>
          <a:lstStyle>
            <a:lvl1pPr>
              <a:defRPr lang="de-DE" sz="1467" i="1" dirty="0">
                <a:solidFill>
                  <a:srgbClr val="9A9AAA"/>
                </a:solidFill>
                <a:latin typeface="Arial"/>
                <a:ea typeface="Arial"/>
                <a:cs typeface="Arial"/>
                <a:sym typeface="Arial"/>
              </a:defRPr>
            </a:lvl1pPr>
          </a:lstStyle>
          <a:p>
            <a:pPr lvl="0">
              <a:lnSpc>
                <a:spcPct val="100000"/>
              </a:lnSpc>
              <a:buClr>
                <a:srgbClr val="000000"/>
              </a:buClr>
            </a:pPr>
            <a:r>
              <a:rPr lang="de-DE" dirty="0"/>
              <a:t>Untertitel</a:t>
            </a:r>
          </a:p>
        </p:txBody>
      </p:sp>
      <p:sp>
        <p:nvSpPr>
          <p:cNvPr id="57" name="Textplatzhalter 46">
            <a:extLst>
              <a:ext uri="{FF2B5EF4-FFF2-40B4-BE49-F238E27FC236}">
                <a16:creationId xmlns:a16="http://schemas.microsoft.com/office/drawing/2014/main" id="{E3229D49-9CBF-3D8C-A49A-3D2E63F18F23}"/>
              </a:ext>
            </a:extLst>
          </p:cNvPr>
          <p:cNvSpPr>
            <a:spLocks noGrp="1"/>
          </p:cNvSpPr>
          <p:nvPr>
            <p:ph type="body" sz="quarter" idx="14" hasCustomPrompt="1"/>
          </p:nvPr>
        </p:nvSpPr>
        <p:spPr>
          <a:xfrm>
            <a:off x="7878872" y="370691"/>
            <a:ext cx="3901440" cy="285005"/>
          </a:xfrm>
        </p:spPr>
        <p:txBody>
          <a:bodyPr/>
          <a:lstStyle>
            <a:lvl1pPr>
              <a:defRPr lang="de-DE" sz="1000" b="1" i="0" u="none" strike="noStrike" kern="0" cap="all" spc="400" baseline="0" dirty="0">
                <a:solidFill>
                  <a:srgbClr val="DC640D"/>
                </a:solidFill>
                <a:latin typeface="Arial"/>
                <a:ea typeface="Arial"/>
                <a:cs typeface="Arial"/>
                <a:sym typeface="Arial"/>
              </a:defRPr>
            </a:lvl1pPr>
          </a:lstStyle>
          <a:p>
            <a:pPr lvl="0"/>
            <a:r>
              <a:rPr lang="de-DE" dirty="0"/>
              <a:t>Referent</a:t>
            </a:r>
          </a:p>
        </p:txBody>
      </p:sp>
      <p:sp>
        <p:nvSpPr>
          <p:cNvPr id="59" name="Textplatzhalter 46">
            <a:extLst>
              <a:ext uri="{FF2B5EF4-FFF2-40B4-BE49-F238E27FC236}">
                <a16:creationId xmlns:a16="http://schemas.microsoft.com/office/drawing/2014/main" id="{E1AF8D90-FCF1-0938-22BA-289FF36C239C}"/>
              </a:ext>
            </a:extLst>
          </p:cNvPr>
          <p:cNvSpPr>
            <a:spLocks noGrp="1"/>
          </p:cNvSpPr>
          <p:nvPr>
            <p:ph type="body" sz="quarter" idx="15" hasCustomPrompt="1"/>
          </p:nvPr>
        </p:nvSpPr>
        <p:spPr>
          <a:xfrm>
            <a:off x="7880959" y="1016571"/>
            <a:ext cx="3874301" cy="914400"/>
          </a:xfrm>
        </p:spPr>
        <p:txBody>
          <a:bodyPr/>
          <a:lstStyle>
            <a:lvl1pPr>
              <a:defRPr lang="de-DE" sz="3467" b="1" i="0" u="none" strike="noStrike" cap="none" dirty="0" smtClean="0">
                <a:solidFill>
                  <a:srgbClr val="FFFFFF"/>
                </a:solidFill>
                <a:latin typeface="Arial"/>
                <a:ea typeface="Arial"/>
                <a:cs typeface="Arial"/>
                <a:sym typeface="Arial"/>
              </a:defRPr>
            </a:lvl1pPr>
          </a:lstStyle>
          <a:p>
            <a:pPr lvl="0"/>
            <a:r>
              <a:rPr lang="de-DE" dirty="0"/>
              <a:t>Name</a:t>
            </a:r>
          </a:p>
        </p:txBody>
      </p:sp>
      <p:sp>
        <p:nvSpPr>
          <p:cNvPr id="61" name="Textplatzhalter 46">
            <a:extLst>
              <a:ext uri="{FF2B5EF4-FFF2-40B4-BE49-F238E27FC236}">
                <a16:creationId xmlns:a16="http://schemas.microsoft.com/office/drawing/2014/main" id="{6A20D731-13B7-D90B-DB54-1D4061CED3E9}"/>
              </a:ext>
            </a:extLst>
          </p:cNvPr>
          <p:cNvSpPr>
            <a:spLocks noGrp="1"/>
          </p:cNvSpPr>
          <p:nvPr>
            <p:ph type="body" sz="quarter" idx="16" hasCustomPrompt="1"/>
          </p:nvPr>
        </p:nvSpPr>
        <p:spPr>
          <a:xfrm>
            <a:off x="7879915" y="2449116"/>
            <a:ext cx="3874301" cy="292810"/>
          </a:xfrm>
        </p:spPr>
        <p:txBody>
          <a:bodyPr/>
          <a:lstStyle>
            <a:lvl1pPr>
              <a:defRPr lang="de-DE" sz="1467" b="0" i="0" u="none" strike="noStrike" cap="none" dirty="0">
                <a:solidFill>
                  <a:srgbClr val="F6A800"/>
                </a:solidFill>
                <a:latin typeface="Arial"/>
                <a:ea typeface="Arial"/>
                <a:cs typeface="Arial"/>
                <a:sym typeface="Arial"/>
              </a:defRPr>
            </a:lvl1pPr>
          </a:lstStyle>
          <a:p>
            <a:pPr lvl="0"/>
            <a:r>
              <a:rPr lang="de-DE" dirty="0"/>
              <a:t>Rolle</a:t>
            </a:r>
          </a:p>
        </p:txBody>
      </p:sp>
      <p:sp>
        <p:nvSpPr>
          <p:cNvPr id="64" name="Textplatzhalter 46">
            <a:extLst>
              <a:ext uri="{FF2B5EF4-FFF2-40B4-BE49-F238E27FC236}">
                <a16:creationId xmlns:a16="http://schemas.microsoft.com/office/drawing/2014/main" id="{AEF95E89-33A7-9F95-0AD5-2ABD9A8F256F}"/>
              </a:ext>
            </a:extLst>
          </p:cNvPr>
          <p:cNvSpPr>
            <a:spLocks noGrp="1"/>
          </p:cNvSpPr>
          <p:nvPr>
            <p:ph type="body" sz="quarter" idx="17" hasCustomPrompt="1"/>
          </p:nvPr>
        </p:nvSpPr>
        <p:spPr>
          <a:xfrm>
            <a:off x="7878872" y="2863571"/>
            <a:ext cx="3874301" cy="271369"/>
          </a:xfrm>
        </p:spPr>
        <p:txBody>
          <a:bodyPr/>
          <a:lstStyle>
            <a:lvl1pPr>
              <a:defRPr lang="de-DE" sz="1333" b="0" i="0" u="none" strike="noStrike" cap="none" dirty="0">
                <a:solidFill>
                  <a:srgbClr val="9A9AAA"/>
                </a:solidFill>
                <a:latin typeface="Arial"/>
                <a:ea typeface="Arial"/>
                <a:cs typeface="Arial"/>
                <a:sym typeface="Arial"/>
              </a:defRPr>
            </a:lvl1pPr>
          </a:lstStyle>
          <a:p>
            <a:r>
              <a:rPr lang="en-US" sz="1333" dirty="0">
                <a:solidFill>
                  <a:srgbClr val="9A9AAA"/>
                </a:solidFill>
              </a:rPr>
              <a:t>KI-Servicezentrum Berlin-Brandenburg</a:t>
            </a:r>
            <a:endParaRPr lang="en-US" sz="1333" dirty="0"/>
          </a:p>
        </p:txBody>
      </p:sp>
      <p:sp>
        <p:nvSpPr>
          <p:cNvPr id="65" name="Textplatzhalter 46">
            <a:extLst>
              <a:ext uri="{FF2B5EF4-FFF2-40B4-BE49-F238E27FC236}">
                <a16:creationId xmlns:a16="http://schemas.microsoft.com/office/drawing/2014/main" id="{3946ED35-0924-EDF5-E7D0-B3D3BF0B936C}"/>
              </a:ext>
            </a:extLst>
          </p:cNvPr>
          <p:cNvSpPr>
            <a:spLocks noGrp="1"/>
          </p:cNvSpPr>
          <p:nvPr>
            <p:ph type="body" sz="quarter" idx="18" hasCustomPrompt="1"/>
          </p:nvPr>
        </p:nvSpPr>
        <p:spPr>
          <a:xfrm>
            <a:off x="7878871" y="3208091"/>
            <a:ext cx="3874301" cy="304799"/>
          </a:xfrm>
        </p:spPr>
        <p:txBody>
          <a:bodyPr/>
          <a:lstStyle>
            <a:lvl1pPr>
              <a:defRPr lang="de-DE" sz="1333" b="0" i="0" u="none" strike="noStrike" cap="none" dirty="0">
                <a:solidFill>
                  <a:srgbClr val="9A9AAA"/>
                </a:solidFill>
                <a:latin typeface="Arial"/>
                <a:ea typeface="Arial"/>
                <a:cs typeface="Arial"/>
                <a:sym typeface="Arial"/>
              </a:defRPr>
            </a:lvl1pPr>
          </a:lstStyle>
          <a:p>
            <a:r>
              <a:rPr lang="en-US" sz="1333" dirty="0" err="1">
                <a:solidFill>
                  <a:srgbClr val="9A9AAA"/>
                </a:solidFill>
              </a:rPr>
              <a:t>Hasso</a:t>
            </a:r>
            <a:r>
              <a:rPr lang="en-US" sz="1333" dirty="0">
                <a:solidFill>
                  <a:srgbClr val="9A9AAA"/>
                </a:solidFill>
              </a:rPr>
              <a:t>-Plattner-</a:t>
            </a:r>
            <a:r>
              <a:rPr lang="en-US" sz="1333" dirty="0" err="1">
                <a:solidFill>
                  <a:srgbClr val="9A9AAA"/>
                </a:solidFill>
              </a:rPr>
              <a:t>Institut</a:t>
            </a:r>
            <a:r>
              <a:rPr lang="en-US" sz="1333" dirty="0">
                <a:solidFill>
                  <a:srgbClr val="9A9AAA"/>
                </a:solidFill>
              </a:rPr>
              <a:t>, Potsdam</a:t>
            </a:r>
            <a:endParaRPr lang="en-US" sz="1333" dirty="0"/>
          </a:p>
        </p:txBody>
      </p:sp>
      <p:pic>
        <p:nvPicPr>
          <p:cNvPr id="67" name="Image 1" descr="preencoded.png">
            <a:extLst>
              <a:ext uri="{FF2B5EF4-FFF2-40B4-BE49-F238E27FC236}">
                <a16:creationId xmlns:a16="http://schemas.microsoft.com/office/drawing/2014/main" id="{F840D34A-7FD2-319D-BF10-65D09D78A2D5}"/>
              </a:ext>
            </a:extLst>
          </p:cNvPr>
          <p:cNvPicPr>
            <a:picLocks noChangeAspect="1"/>
          </p:cNvPicPr>
          <p:nvPr userDrawn="1"/>
        </p:nvPicPr>
        <p:blipFill>
          <a:blip r:embed="rId5">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283363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elfolie" preserve="1" userDrawn="1">
  <p:cSld name="Zitatitems_New_Dark_Orange">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38E2E466-0D6F-AD79-845B-7EB74D2D750D}"/>
              </a:ext>
            </a:extLst>
          </p:cNvPr>
          <p:cNvSpPr/>
          <p:nvPr userDrawn="1"/>
        </p:nvSpPr>
        <p:spPr>
          <a:xfrm>
            <a:off x="0" y="0"/>
            <a:ext cx="12192000" cy="85344"/>
          </a:xfrm>
          <a:prstGeom prst="rect">
            <a:avLst/>
          </a:prstGeom>
          <a:solidFill>
            <a:schemeClr val="accent2"/>
          </a:solidFill>
          <a:ln w="12700">
            <a:solidFill>
              <a:schemeClr val="accent2"/>
            </a:solidFill>
            <a:prstDash val="solid"/>
          </a:ln>
        </p:spPr>
      </p:sp>
      <p:sp>
        <p:nvSpPr>
          <p:cNvPr id="4" name="Shape 2">
            <a:extLst>
              <a:ext uri="{FF2B5EF4-FFF2-40B4-BE49-F238E27FC236}">
                <a16:creationId xmlns:a16="http://schemas.microsoft.com/office/drawing/2014/main" id="{44799F1A-A6C5-08F2-17BE-790969EEB034}"/>
              </a:ext>
            </a:extLst>
          </p:cNvPr>
          <p:cNvSpPr/>
          <p:nvPr userDrawn="1"/>
        </p:nvSpPr>
        <p:spPr>
          <a:xfrm>
            <a:off x="548640" y="755904"/>
            <a:ext cx="85344" cy="1645920"/>
          </a:xfrm>
          <a:prstGeom prst="rect">
            <a:avLst/>
          </a:prstGeom>
          <a:solidFill>
            <a:schemeClr val="accent2"/>
          </a:solidFill>
          <a:ln w="12700">
            <a:solidFill>
              <a:schemeClr val="accent2"/>
            </a:solidFill>
            <a:prstDash val="solid"/>
          </a:ln>
        </p:spPr>
      </p:sp>
      <p:sp>
        <p:nvSpPr>
          <p:cNvPr id="22" name="Shape 20">
            <a:extLst>
              <a:ext uri="{FF2B5EF4-FFF2-40B4-BE49-F238E27FC236}">
                <a16:creationId xmlns:a16="http://schemas.microsoft.com/office/drawing/2014/main" id="{4F2E557F-A203-6562-56A3-293F35B46653}"/>
              </a:ext>
            </a:extLst>
          </p:cNvPr>
          <p:cNvSpPr/>
          <p:nvPr userDrawn="1"/>
        </p:nvSpPr>
        <p:spPr>
          <a:xfrm>
            <a:off x="365760" y="6071616"/>
            <a:ext cx="11460480" cy="0"/>
          </a:xfrm>
          <a:prstGeom prst="line">
            <a:avLst/>
          </a:prstGeom>
          <a:noFill/>
          <a:ln w="9525">
            <a:solidFill>
              <a:srgbClr val="3A3948"/>
            </a:solidFill>
            <a:prstDash val="solid"/>
          </a:ln>
        </p:spPr>
      </p:sp>
      <p:sp>
        <p:nvSpPr>
          <p:cNvPr id="24" name="Text 21">
            <a:extLst>
              <a:ext uri="{FF2B5EF4-FFF2-40B4-BE49-F238E27FC236}">
                <a16:creationId xmlns:a16="http://schemas.microsoft.com/office/drawing/2014/main" id="{A06C7A0A-1117-81B1-AD42-EC53B6A2E5F5}"/>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25" name="Freeform 2">
            <a:extLst>
              <a:ext uri="{FF2B5EF4-FFF2-40B4-BE49-F238E27FC236}">
                <a16:creationId xmlns:a16="http://schemas.microsoft.com/office/drawing/2014/main" id="{99860617-54DD-DD41-2E8D-08CD7AA15341}"/>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27" name="Titel 25">
            <a:extLst>
              <a:ext uri="{FF2B5EF4-FFF2-40B4-BE49-F238E27FC236}">
                <a16:creationId xmlns:a16="http://schemas.microsoft.com/office/drawing/2014/main" id="{402ABCD7-F8B4-D39B-C7E8-2D50C49A317F}"/>
              </a:ext>
            </a:extLst>
          </p:cNvPr>
          <p:cNvSpPr>
            <a:spLocks noGrp="1"/>
          </p:cNvSpPr>
          <p:nvPr>
            <p:ph type="title" hasCustomPrompt="1"/>
          </p:nvPr>
        </p:nvSpPr>
        <p:spPr>
          <a:xfrm>
            <a:off x="816864" y="708004"/>
            <a:ext cx="11063486" cy="1206274"/>
          </a:xfrm>
        </p:spPr>
        <p:txBody>
          <a:bodyPr/>
          <a:lstStyle>
            <a:lvl1pPr>
              <a:defRPr lang="de-DE" sz="3467" b="1" i="0" u="none" strike="noStrike" cap="none" dirty="0">
                <a:solidFill>
                  <a:srgbClr val="FFFFFF"/>
                </a:solidFill>
                <a:latin typeface="Arial"/>
                <a:ea typeface="Arial"/>
                <a:cs typeface="Arial"/>
                <a:sym typeface="Arial"/>
              </a:defRPr>
            </a:lvl1pPr>
          </a:lstStyle>
          <a:p>
            <a:r>
              <a:rPr lang="de-DE" dirty="0"/>
              <a:t>„Zitat“</a:t>
            </a:r>
          </a:p>
        </p:txBody>
      </p:sp>
      <p:sp>
        <p:nvSpPr>
          <p:cNvPr id="30" name="Textplatzhalter 28">
            <a:extLst>
              <a:ext uri="{FF2B5EF4-FFF2-40B4-BE49-F238E27FC236}">
                <a16:creationId xmlns:a16="http://schemas.microsoft.com/office/drawing/2014/main" id="{DE645CC5-3FBA-42E3-FCE7-45AB51C618D7}"/>
              </a:ext>
            </a:extLst>
          </p:cNvPr>
          <p:cNvSpPr>
            <a:spLocks noGrp="1"/>
          </p:cNvSpPr>
          <p:nvPr>
            <p:ph type="body" sz="quarter" idx="10" hasCustomPrompt="1"/>
          </p:nvPr>
        </p:nvSpPr>
        <p:spPr>
          <a:xfrm>
            <a:off x="317913" y="279265"/>
            <a:ext cx="8765127" cy="342527"/>
          </a:xfrm>
        </p:spPr>
        <p:txBody>
          <a:bodyPr/>
          <a:lstStyle>
            <a:lvl1pPr>
              <a:defRPr lang="de-DE" sz="1067" b="1" i="0" u="none" strike="noStrike" kern="0" cap="all" spc="467" baseline="0" smtClean="0">
                <a:solidFill>
                  <a:schemeClr val="accent2"/>
                </a:solidFill>
                <a:latin typeface="Arial"/>
                <a:ea typeface="Arial"/>
                <a:cs typeface="Arial"/>
                <a:sym typeface="Arial"/>
              </a:defRPr>
            </a:lvl1pPr>
          </a:lstStyle>
          <a:p>
            <a:pPr lvl="0"/>
            <a:r>
              <a:rPr lang="de-DE" dirty="0"/>
              <a:t>Untertitel</a:t>
            </a:r>
          </a:p>
        </p:txBody>
      </p:sp>
      <p:sp>
        <p:nvSpPr>
          <p:cNvPr id="32" name="Textplatzhalter 28">
            <a:extLst>
              <a:ext uri="{FF2B5EF4-FFF2-40B4-BE49-F238E27FC236}">
                <a16:creationId xmlns:a16="http://schemas.microsoft.com/office/drawing/2014/main" id="{840EF746-E816-ED89-D6B2-29DCB2E194BE}"/>
              </a:ext>
            </a:extLst>
          </p:cNvPr>
          <p:cNvSpPr>
            <a:spLocks noGrp="1"/>
          </p:cNvSpPr>
          <p:nvPr>
            <p:ph type="body" sz="quarter" idx="11" hasCustomPrompt="1"/>
          </p:nvPr>
        </p:nvSpPr>
        <p:spPr>
          <a:xfrm>
            <a:off x="591312" y="2465558"/>
            <a:ext cx="5931409" cy="342527"/>
          </a:xfrm>
        </p:spPr>
        <p:txBody>
          <a:bodyPr/>
          <a:lstStyle>
            <a:lvl1pPr>
              <a:defRPr lang="de-DE" sz="1400" b="0" i="1" u="none" strike="noStrike" cap="none" dirty="0">
                <a:solidFill>
                  <a:srgbClr val="9A9AAA"/>
                </a:solidFill>
                <a:latin typeface="Arial"/>
                <a:ea typeface="Arial"/>
                <a:cs typeface="Arial"/>
                <a:sym typeface="Arial"/>
              </a:defRPr>
            </a:lvl1pPr>
          </a:lstStyle>
          <a:p>
            <a:pPr lvl="0"/>
            <a:r>
              <a:rPr lang="de-DE" dirty="0"/>
              <a:t>– Beschreibung</a:t>
            </a:r>
          </a:p>
        </p:txBody>
      </p:sp>
      <p:sp>
        <p:nvSpPr>
          <p:cNvPr id="45" name="Shape 25">
            <a:extLst>
              <a:ext uri="{FF2B5EF4-FFF2-40B4-BE49-F238E27FC236}">
                <a16:creationId xmlns:a16="http://schemas.microsoft.com/office/drawing/2014/main" id="{9BB21B47-15FC-0A4F-3422-4230A3184610}"/>
              </a:ext>
            </a:extLst>
          </p:cNvPr>
          <p:cNvSpPr/>
          <p:nvPr userDrawn="1"/>
        </p:nvSpPr>
        <p:spPr>
          <a:xfrm>
            <a:off x="0" y="5900928"/>
            <a:ext cx="12192000" cy="146304"/>
          </a:xfrm>
          <a:prstGeom prst="rect">
            <a:avLst/>
          </a:prstGeom>
          <a:solidFill>
            <a:schemeClr val="accent2">
              <a:alpha val="25000"/>
            </a:schemeClr>
          </a:solidFill>
          <a:ln w="12700">
            <a:solidFill>
              <a:schemeClr val="accent2"/>
            </a:solidFill>
            <a:prstDash val="solid"/>
          </a:ln>
        </p:spPr>
      </p:sp>
      <p:pic>
        <p:nvPicPr>
          <p:cNvPr id="46" name="Image 1" descr="preencoded.png">
            <a:extLst>
              <a:ext uri="{FF2B5EF4-FFF2-40B4-BE49-F238E27FC236}">
                <a16:creationId xmlns:a16="http://schemas.microsoft.com/office/drawing/2014/main" id="{9052DC2E-24E1-D16D-0FE6-E1C13AE3197F}"/>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14523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elfolie" preserve="1" userDrawn="1">
  <p:cSld name="Zitat_New_Dark_Orange">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38E2E466-0D6F-AD79-845B-7EB74D2D750D}"/>
              </a:ext>
            </a:extLst>
          </p:cNvPr>
          <p:cNvSpPr/>
          <p:nvPr userDrawn="1"/>
        </p:nvSpPr>
        <p:spPr>
          <a:xfrm>
            <a:off x="0" y="0"/>
            <a:ext cx="12192000" cy="85344"/>
          </a:xfrm>
          <a:prstGeom prst="rect">
            <a:avLst/>
          </a:prstGeom>
          <a:solidFill>
            <a:srgbClr val="DC640D"/>
          </a:solidFill>
          <a:ln w="12700">
            <a:solidFill>
              <a:srgbClr val="DC640D"/>
            </a:solidFill>
            <a:prstDash val="solid"/>
          </a:ln>
        </p:spPr>
      </p:sp>
      <p:sp>
        <p:nvSpPr>
          <p:cNvPr id="4" name="Shape 2">
            <a:extLst>
              <a:ext uri="{FF2B5EF4-FFF2-40B4-BE49-F238E27FC236}">
                <a16:creationId xmlns:a16="http://schemas.microsoft.com/office/drawing/2014/main" id="{44799F1A-A6C5-08F2-17BE-790969EEB034}"/>
              </a:ext>
            </a:extLst>
          </p:cNvPr>
          <p:cNvSpPr/>
          <p:nvPr userDrawn="1"/>
        </p:nvSpPr>
        <p:spPr>
          <a:xfrm>
            <a:off x="548640" y="755904"/>
            <a:ext cx="85344" cy="1645920"/>
          </a:xfrm>
          <a:prstGeom prst="rect">
            <a:avLst/>
          </a:prstGeom>
          <a:solidFill>
            <a:srgbClr val="DC640D"/>
          </a:solidFill>
          <a:ln w="12700">
            <a:solidFill>
              <a:srgbClr val="DC640D"/>
            </a:solidFill>
            <a:prstDash val="solid"/>
          </a:ln>
        </p:spPr>
      </p:sp>
      <p:sp>
        <p:nvSpPr>
          <p:cNvPr id="7" name="Shape 5">
            <a:extLst>
              <a:ext uri="{FF2B5EF4-FFF2-40B4-BE49-F238E27FC236}">
                <a16:creationId xmlns:a16="http://schemas.microsoft.com/office/drawing/2014/main" id="{71467555-2C34-CC63-4685-E61620CE1905}"/>
              </a:ext>
            </a:extLst>
          </p:cNvPr>
          <p:cNvSpPr/>
          <p:nvPr userDrawn="1"/>
        </p:nvSpPr>
        <p:spPr>
          <a:xfrm>
            <a:off x="548640" y="3023616"/>
            <a:ext cx="11094720" cy="0"/>
          </a:xfrm>
          <a:prstGeom prst="line">
            <a:avLst/>
          </a:prstGeom>
          <a:noFill/>
          <a:ln w="9525">
            <a:solidFill>
              <a:srgbClr val="3A3948"/>
            </a:solidFill>
            <a:prstDash val="solid"/>
          </a:ln>
        </p:spPr>
      </p:sp>
      <p:sp>
        <p:nvSpPr>
          <p:cNvPr id="22" name="Shape 20">
            <a:extLst>
              <a:ext uri="{FF2B5EF4-FFF2-40B4-BE49-F238E27FC236}">
                <a16:creationId xmlns:a16="http://schemas.microsoft.com/office/drawing/2014/main" id="{4F2E557F-A203-6562-56A3-293F35B46653}"/>
              </a:ext>
            </a:extLst>
          </p:cNvPr>
          <p:cNvSpPr/>
          <p:nvPr userDrawn="1"/>
        </p:nvSpPr>
        <p:spPr>
          <a:xfrm>
            <a:off x="365760" y="6071616"/>
            <a:ext cx="11460480" cy="0"/>
          </a:xfrm>
          <a:prstGeom prst="line">
            <a:avLst/>
          </a:prstGeom>
          <a:noFill/>
          <a:ln w="9525">
            <a:solidFill>
              <a:srgbClr val="3A3948"/>
            </a:solidFill>
            <a:prstDash val="solid"/>
          </a:ln>
        </p:spPr>
      </p:sp>
      <p:pic>
        <p:nvPicPr>
          <p:cNvPr id="23" name="Image 1" descr="preencoded.png">
            <a:extLst>
              <a:ext uri="{FF2B5EF4-FFF2-40B4-BE49-F238E27FC236}">
                <a16:creationId xmlns:a16="http://schemas.microsoft.com/office/drawing/2014/main" id="{401B21A7-EFD5-67A3-0F16-1BD03155464D}"/>
              </a:ext>
            </a:extLst>
          </p:cNvPr>
          <p:cNvPicPr>
            <a:picLocks noChangeAspect="1"/>
          </p:cNvPicPr>
          <p:nvPr userDrawn="1"/>
        </p:nvPicPr>
        <p:blipFill>
          <a:blip r:embed="rId2">
            <a:alphaModFix amt="80000"/>
          </a:blip>
          <a:stretch>
            <a:fillRect/>
          </a:stretch>
        </p:blipFill>
        <p:spPr>
          <a:xfrm>
            <a:off x="317913" y="6125261"/>
            <a:ext cx="1097280" cy="732739"/>
          </a:xfrm>
          <a:prstGeom prst="rect">
            <a:avLst/>
          </a:prstGeom>
        </p:spPr>
      </p:pic>
      <p:sp>
        <p:nvSpPr>
          <p:cNvPr id="24" name="Text 21">
            <a:extLst>
              <a:ext uri="{FF2B5EF4-FFF2-40B4-BE49-F238E27FC236}">
                <a16:creationId xmlns:a16="http://schemas.microsoft.com/office/drawing/2014/main" id="{A06C7A0A-1117-81B1-AD42-EC53B6A2E5F5}"/>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25" name="Freeform 2">
            <a:extLst>
              <a:ext uri="{FF2B5EF4-FFF2-40B4-BE49-F238E27FC236}">
                <a16:creationId xmlns:a16="http://schemas.microsoft.com/office/drawing/2014/main" id="{99860617-54DD-DD41-2E8D-08CD7AA15341}"/>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3"/>
            <a:stretch>
              <a:fillRect/>
            </a:stretch>
          </a:blipFill>
        </p:spPr>
        <p:txBody>
          <a:bodyPr/>
          <a:lstStyle/>
          <a:p>
            <a:endParaRPr lang="de-DE" sz="3200"/>
          </a:p>
        </p:txBody>
      </p:sp>
      <p:sp>
        <p:nvSpPr>
          <p:cNvPr id="27" name="Titel 25">
            <a:extLst>
              <a:ext uri="{FF2B5EF4-FFF2-40B4-BE49-F238E27FC236}">
                <a16:creationId xmlns:a16="http://schemas.microsoft.com/office/drawing/2014/main" id="{402ABCD7-F8B4-D39B-C7E8-2D50C49A317F}"/>
              </a:ext>
            </a:extLst>
          </p:cNvPr>
          <p:cNvSpPr>
            <a:spLocks noGrp="1"/>
          </p:cNvSpPr>
          <p:nvPr>
            <p:ph type="title" hasCustomPrompt="1"/>
          </p:nvPr>
        </p:nvSpPr>
        <p:spPr>
          <a:xfrm>
            <a:off x="816864" y="708004"/>
            <a:ext cx="11063486" cy="1206274"/>
          </a:xfrm>
        </p:spPr>
        <p:txBody>
          <a:bodyPr/>
          <a:lstStyle>
            <a:lvl1pPr>
              <a:defRPr lang="de-DE" sz="3467" b="1" i="0" u="none" strike="noStrike" cap="none" dirty="0">
                <a:solidFill>
                  <a:srgbClr val="FFFFFF"/>
                </a:solidFill>
                <a:latin typeface="Arial"/>
                <a:ea typeface="Arial"/>
                <a:cs typeface="Arial"/>
                <a:sym typeface="Arial"/>
              </a:defRPr>
            </a:lvl1pPr>
          </a:lstStyle>
          <a:p>
            <a:r>
              <a:rPr lang="de-DE" dirty="0"/>
              <a:t>„Zitat“</a:t>
            </a:r>
          </a:p>
        </p:txBody>
      </p:sp>
      <p:sp>
        <p:nvSpPr>
          <p:cNvPr id="30" name="Textplatzhalter 28">
            <a:extLst>
              <a:ext uri="{FF2B5EF4-FFF2-40B4-BE49-F238E27FC236}">
                <a16:creationId xmlns:a16="http://schemas.microsoft.com/office/drawing/2014/main" id="{DE645CC5-3FBA-42E3-FCE7-45AB51C618D7}"/>
              </a:ext>
            </a:extLst>
          </p:cNvPr>
          <p:cNvSpPr>
            <a:spLocks noGrp="1"/>
          </p:cNvSpPr>
          <p:nvPr>
            <p:ph type="body" sz="quarter" idx="10" hasCustomPrompt="1"/>
          </p:nvPr>
        </p:nvSpPr>
        <p:spPr>
          <a:xfrm>
            <a:off x="317913" y="279265"/>
            <a:ext cx="8765127" cy="342527"/>
          </a:xfrm>
        </p:spPr>
        <p:txBody>
          <a:bodyPr/>
          <a:lstStyle>
            <a:lvl1pPr>
              <a:defRPr lang="de-DE" sz="1067" b="1" i="0" u="none" strike="noStrike" kern="0" cap="all" spc="467" baseline="0" smtClean="0">
                <a:solidFill>
                  <a:srgbClr val="DC640D"/>
                </a:solidFill>
                <a:latin typeface="Arial"/>
                <a:ea typeface="Arial"/>
                <a:cs typeface="Arial"/>
                <a:sym typeface="Arial"/>
              </a:defRPr>
            </a:lvl1pPr>
          </a:lstStyle>
          <a:p>
            <a:pPr lvl="0"/>
            <a:r>
              <a:rPr lang="de-DE" dirty="0"/>
              <a:t>Untertitel</a:t>
            </a:r>
          </a:p>
        </p:txBody>
      </p:sp>
      <p:sp>
        <p:nvSpPr>
          <p:cNvPr id="32" name="Textplatzhalter 28">
            <a:extLst>
              <a:ext uri="{FF2B5EF4-FFF2-40B4-BE49-F238E27FC236}">
                <a16:creationId xmlns:a16="http://schemas.microsoft.com/office/drawing/2014/main" id="{840EF746-E816-ED89-D6B2-29DCB2E194BE}"/>
              </a:ext>
            </a:extLst>
          </p:cNvPr>
          <p:cNvSpPr>
            <a:spLocks noGrp="1"/>
          </p:cNvSpPr>
          <p:nvPr>
            <p:ph type="body" sz="quarter" idx="11" hasCustomPrompt="1"/>
          </p:nvPr>
        </p:nvSpPr>
        <p:spPr>
          <a:xfrm>
            <a:off x="591312" y="2465558"/>
            <a:ext cx="8765127" cy="342527"/>
          </a:xfrm>
        </p:spPr>
        <p:txBody>
          <a:bodyPr/>
          <a:lstStyle>
            <a:lvl1pPr>
              <a:defRPr lang="de-DE" sz="1400" b="0" i="1" u="none" strike="noStrike" cap="none" dirty="0">
                <a:solidFill>
                  <a:srgbClr val="9A9AAA"/>
                </a:solidFill>
                <a:latin typeface="Arial"/>
                <a:ea typeface="Arial"/>
                <a:cs typeface="Arial"/>
                <a:sym typeface="Arial"/>
              </a:defRPr>
            </a:lvl1pPr>
          </a:lstStyle>
          <a:p>
            <a:pPr lvl="0"/>
            <a:r>
              <a:rPr lang="de-DE" dirty="0"/>
              <a:t>– Beschreibung</a:t>
            </a:r>
          </a:p>
        </p:txBody>
      </p:sp>
      <p:sp>
        <p:nvSpPr>
          <p:cNvPr id="3" name="Shape 25">
            <a:extLst>
              <a:ext uri="{FF2B5EF4-FFF2-40B4-BE49-F238E27FC236}">
                <a16:creationId xmlns:a16="http://schemas.microsoft.com/office/drawing/2014/main" id="{D5096ECF-6E1E-7C7A-A5A4-A52B29D1BB3B}"/>
              </a:ext>
            </a:extLst>
          </p:cNvPr>
          <p:cNvSpPr/>
          <p:nvPr userDrawn="1"/>
        </p:nvSpPr>
        <p:spPr>
          <a:xfrm>
            <a:off x="0" y="5900928"/>
            <a:ext cx="12192000" cy="146304"/>
          </a:xfrm>
          <a:prstGeom prst="rect">
            <a:avLst/>
          </a:prstGeom>
          <a:solidFill>
            <a:srgbClr val="DC640D">
              <a:alpha val="25000"/>
            </a:srgbClr>
          </a:solidFill>
          <a:ln w="12700">
            <a:solidFill>
              <a:srgbClr val="DC640D"/>
            </a:solidFill>
            <a:prstDash val="solid"/>
          </a:ln>
        </p:spPr>
      </p:sp>
    </p:spTree>
    <p:extLst>
      <p:ext uri="{BB962C8B-B14F-4D97-AF65-F5344CB8AC3E}">
        <p14:creationId xmlns:p14="http://schemas.microsoft.com/office/powerpoint/2010/main" val="236464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elfolie" preserve="1" userDrawn="1">
  <p:cSld name="Zitat_New_Dark_Green">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38E2E466-0D6F-AD79-845B-7EB74D2D750D}"/>
              </a:ext>
            </a:extLst>
          </p:cNvPr>
          <p:cNvSpPr/>
          <p:nvPr userDrawn="1"/>
        </p:nvSpPr>
        <p:spPr>
          <a:xfrm>
            <a:off x="0" y="0"/>
            <a:ext cx="12192000" cy="85344"/>
          </a:xfrm>
          <a:prstGeom prst="rect">
            <a:avLst/>
          </a:prstGeom>
          <a:solidFill>
            <a:schemeClr val="accent6"/>
          </a:solidFill>
          <a:ln w="12700">
            <a:solidFill>
              <a:schemeClr val="accent6"/>
            </a:solidFill>
            <a:prstDash val="solid"/>
          </a:ln>
        </p:spPr>
      </p:sp>
      <p:sp>
        <p:nvSpPr>
          <p:cNvPr id="4" name="Shape 2">
            <a:extLst>
              <a:ext uri="{FF2B5EF4-FFF2-40B4-BE49-F238E27FC236}">
                <a16:creationId xmlns:a16="http://schemas.microsoft.com/office/drawing/2014/main" id="{44799F1A-A6C5-08F2-17BE-790969EEB034}"/>
              </a:ext>
            </a:extLst>
          </p:cNvPr>
          <p:cNvSpPr/>
          <p:nvPr userDrawn="1"/>
        </p:nvSpPr>
        <p:spPr>
          <a:xfrm>
            <a:off x="548640" y="755904"/>
            <a:ext cx="85344" cy="1645920"/>
          </a:xfrm>
          <a:prstGeom prst="rect">
            <a:avLst/>
          </a:prstGeom>
          <a:solidFill>
            <a:schemeClr val="accent6"/>
          </a:solidFill>
          <a:ln w="12700">
            <a:solidFill>
              <a:schemeClr val="accent6"/>
            </a:solidFill>
            <a:prstDash val="solid"/>
          </a:ln>
        </p:spPr>
      </p:sp>
      <p:sp>
        <p:nvSpPr>
          <p:cNvPr id="7" name="Shape 5">
            <a:extLst>
              <a:ext uri="{FF2B5EF4-FFF2-40B4-BE49-F238E27FC236}">
                <a16:creationId xmlns:a16="http://schemas.microsoft.com/office/drawing/2014/main" id="{71467555-2C34-CC63-4685-E61620CE1905}"/>
              </a:ext>
            </a:extLst>
          </p:cNvPr>
          <p:cNvSpPr/>
          <p:nvPr userDrawn="1"/>
        </p:nvSpPr>
        <p:spPr>
          <a:xfrm>
            <a:off x="548640" y="3023616"/>
            <a:ext cx="11094720" cy="0"/>
          </a:xfrm>
          <a:prstGeom prst="line">
            <a:avLst/>
          </a:prstGeom>
          <a:noFill/>
          <a:ln w="9525">
            <a:solidFill>
              <a:srgbClr val="3A3948"/>
            </a:solidFill>
            <a:prstDash val="solid"/>
          </a:ln>
        </p:spPr>
      </p:sp>
      <p:sp>
        <p:nvSpPr>
          <p:cNvPr id="22" name="Shape 20">
            <a:extLst>
              <a:ext uri="{FF2B5EF4-FFF2-40B4-BE49-F238E27FC236}">
                <a16:creationId xmlns:a16="http://schemas.microsoft.com/office/drawing/2014/main" id="{4F2E557F-A203-6562-56A3-293F35B46653}"/>
              </a:ext>
            </a:extLst>
          </p:cNvPr>
          <p:cNvSpPr/>
          <p:nvPr userDrawn="1"/>
        </p:nvSpPr>
        <p:spPr>
          <a:xfrm>
            <a:off x="365760" y="6071616"/>
            <a:ext cx="11460480" cy="0"/>
          </a:xfrm>
          <a:prstGeom prst="line">
            <a:avLst/>
          </a:prstGeom>
          <a:noFill/>
          <a:ln w="9525">
            <a:solidFill>
              <a:srgbClr val="3A3948"/>
            </a:solidFill>
            <a:prstDash val="solid"/>
          </a:ln>
        </p:spPr>
      </p:sp>
      <p:sp>
        <p:nvSpPr>
          <p:cNvPr id="24" name="Text 21">
            <a:extLst>
              <a:ext uri="{FF2B5EF4-FFF2-40B4-BE49-F238E27FC236}">
                <a16:creationId xmlns:a16="http://schemas.microsoft.com/office/drawing/2014/main" id="{A06C7A0A-1117-81B1-AD42-EC53B6A2E5F5}"/>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25" name="Freeform 2">
            <a:extLst>
              <a:ext uri="{FF2B5EF4-FFF2-40B4-BE49-F238E27FC236}">
                <a16:creationId xmlns:a16="http://schemas.microsoft.com/office/drawing/2014/main" id="{99860617-54DD-DD41-2E8D-08CD7AA15341}"/>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27" name="Titel 25">
            <a:extLst>
              <a:ext uri="{FF2B5EF4-FFF2-40B4-BE49-F238E27FC236}">
                <a16:creationId xmlns:a16="http://schemas.microsoft.com/office/drawing/2014/main" id="{402ABCD7-F8B4-D39B-C7E8-2D50C49A317F}"/>
              </a:ext>
            </a:extLst>
          </p:cNvPr>
          <p:cNvSpPr>
            <a:spLocks noGrp="1"/>
          </p:cNvSpPr>
          <p:nvPr>
            <p:ph type="title" hasCustomPrompt="1"/>
          </p:nvPr>
        </p:nvSpPr>
        <p:spPr>
          <a:xfrm>
            <a:off x="816864" y="708004"/>
            <a:ext cx="11063486" cy="1206274"/>
          </a:xfrm>
        </p:spPr>
        <p:txBody>
          <a:bodyPr/>
          <a:lstStyle>
            <a:lvl1pPr>
              <a:defRPr lang="de-DE" sz="3467" b="1" i="0" u="none" strike="noStrike" cap="none" dirty="0">
                <a:solidFill>
                  <a:srgbClr val="FFFFFF"/>
                </a:solidFill>
                <a:latin typeface="Arial"/>
                <a:ea typeface="Arial"/>
                <a:cs typeface="Arial"/>
                <a:sym typeface="Arial"/>
              </a:defRPr>
            </a:lvl1pPr>
          </a:lstStyle>
          <a:p>
            <a:r>
              <a:rPr lang="de-DE" dirty="0"/>
              <a:t>„Zitat“</a:t>
            </a:r>
          </a:p>
        </p:txBody>
      </p:sp>
      <p:sp>
        <p:nvSpPr>
          <p:cNvPr id="30" name="Textplatzhalter 28">
            <a:extLst>
              <a:ext uri="{FF2B5EF4-FFF2-40B4-BE49-F238E27FC236}">
                <a16:creationId xmlns:a16="http://schemas.microsoft.com/office/drawing/2014/main" id="{DE645CC5-3FBA-42E3-FCE7-45AB51C618D7}"/>
              </a:ext>
            </a:extLst>
          </p:cNvPr>
          <p:cNvSpPr>
            <a:spLocks noGrp="1"/>
          </p:cNvSpPr>
          <p:nvPr>
            <p:ph type="body" sz="quarter" idx="10" hasCustomPrompt="1"/>
          </p:nvPr>
        </p:nvSpPr>
        <p:spPr>
          <a:xfrm>
            <a:off x="317913" y="279265"/>
            <a:ext cx="8765127" cy="342527"/>
          </a:xfrm>
        </p:spPr>
        <p:txBody>
          <a:bodyPr/>
          <a:lstStyle>
            <a:lvl1pPr>
              <a:defRPr lang="de-DE" sz="1067" b="1" i="0" u="none" strike="noStrike" kern="0" cap="all" spc="467" baseline="0" smtClean="0">
                <a:solidFill>
                  <a:schemeClr val="accent6"/>
                </a:solidFill>
                <a:latin typeface="Arial"/>
                <a:ea typeface="Arial"/>
                <a:cs typeface="Arial"/>
                <a:sym typeface="Arial"/>
              </a:defRPr>
            </a:lvl1pPr>
          </a:lstStyle>
          <a:p>
            <a:pPr lvl="0"/>
            <a:r>
              <a:rPr lang="de-DE" dirty="0"/>
              <a:t>Untertitel</a:t>
            </a:r>
          </a:p>
        </p:txBody>
      </p:sp>
      <p:sp>
        <p:nvSpPr>
          <p:cNvPr id="32" name="Textplatzhalter 28">
            <a:extLst>
              <a:ext uri="{FF2B5EF4-FFF2-40B4-BE49-F238E27FC236}">
                <a16:creationId xmlns:a16="http://schemas.microsoft.com/office/drawing/2014/main" id="{840EF746-E816-ED89-D6B2-29DCB2E194BE}"/>
              </a:ext>
            </a:extLst>
          </p:cNvPr>
          <p:cNvSpPr>
            <a:spLocks noGrp="1"/>
          </p:cNvSpPr>
          <p:nvPr>
            <p:ph type="body" sz="quarter" idx="11" hasCustomPrompt="1"/>
          </p:nvPr>
        </p:nvSpPr>
        <p:spPr>
          <a:xfrm>
            <a:off x="591312" y="2465558"/>
            <a:ext cx="8765127" cy="342527"/>
          </a:xfrm>
        </p:spPr>
        <p:txBody>
          <a:bodyPr/>
          <a:lstStyle>
            <a:lvl1pPr>
              <a:defRPr lang="de-DE" sz="1400" b="0" i="1" u="none" strike="noStrike" cap="none" dirty="0">
                <a:solidFill>
                  <a:srgbClr val="9A9AAA"/>
                </a:solidFill>
                <a:latin typeface="Arial"/>
                <a:ea typeface="Arial"/>
                <a:cs typeface="Arial"/>
                <a:sym typeface="Arial"/>
              </a:defRPr>
            </a:lvl1pPr>
          </a:lstStyle>
          <a:p>
            <a:pPr lvl="0"/>
            <a:r>
              <a:rPr lang="de-DE" dirty="0"/>
              <a:t>– Beschreibung</a:t>
            </a:r>
          </a:p>
        </p:txBody>
      </p:sp>
      <p:sp>
        <p:nvSpPr>
          <p:cNvPr id="3" name="Shape 25">
            <a:extLst>
              <a:ext uri="{FF2B5EF4-FFF2-40B4-BE49-F238E27FC236}">
                <a16:creationId xmlns:a16="http://schemas.microsoft.com/office/drawing/2014/main" id="{D5096ECF-6E1E-7C7A-A5A4-A52B29D1BB3B}"/>
              </a:ext>
            </a:extLst>
          </p:cNvPr>
          <p:cNvSpPr/>
          <p:nvPr userDrawn="1"/>
        </p:nvSpPr>
        <p:spPr>
          <a:xfrm>
            <a:off x="0" y="5900928"/>
            <a:ext cx="12192000" cy="146304"/>
          </a:xfrm>
          <a:prstGeom prst="rect">
            <a:avLst/>
          </a:prstGeom>
          <a:solidFill>
            <a:schemeClr val="accent6">
              <a:alpha val="25000"/>
            </a:schemeClr>
          </a:solidFill>
          <a:ln w="12700">
            <a:solidFill>
              <a:schemeClr val="accent6"/>
            </a:solidFill>
            <a:prstDash val="solid"/>
          </a:ln>
        </p:spPr>
      </p:sp>
      <p:pic>
        <p:nvPicPr>
          <p:cNvPr id="5" name="Image 1" descr="preencoded.png">
            <a:extLst>
              <a:ext uri="{FF2B5EF4-FFF2-40B4-BE49-F238E27FC236}">
                <a16:creationId xmlns:a16="http://schemas.microsoft.com/office/drawing/2014/main" id="{47B3B9FE-B585-2EC1-A954-F5890DA9BA94}"/>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270266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elfolie" preserve="1" userDrawn="1">
  <p:cSld name="Content_New_Dark_Orange">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5E5A2C5B-66FF-9717-61C1-21648665EDB7}"/>
              </a:ext>
            </a:extLst>
          </p:cNvPr>
          <p:cNvSpPr/>
          <p:nvPr userDrawn="1"/>
        </p:nvSpPr>
        <p:spPr>
          <a:xfrm>
            <a:off x="0" y="0"/>
            <a:ext cx="12192000" cy="85344"/>
          </a:xfrm>
          <a:prstGeom prst="rect">
            <a:avLst/>
          </a:prstGeom>
          <a:solidFill>
            <a:srgbClr val="DC640D"/>
          </a:solidFill>
          <a:ln w="12700">
            <a:solidFill>
              <a:srgbClr val="DC640D"/>
            </a:solidFill>
            <a:prstDash val="solid"/>
          </a:ln>
        </p:spPr>
      </p:sp>
      <p:sp>
        <p:nvSpPr>
          <p:cNvPr id="31" name="Shape 26">
            <a:extLst>
              <a:ext uri="{FF2B5EF4-FFF2-40B4-BE49-F238E27FC236}">
                <a16:creationId xmlns:a16="http://schemas.microsoft.com/office/drawing/2014/main" id="{853200F4-77A2-E40D-DD45-F302481CE089}"/>
              </a:ext>
            </a:extLst>
          </p:cNvPr>
          <p:cNvSpPr/>
          <p:nvPr userDrawn="1"/>
        </p:nvSpPr>
        <p:spPr>
          <a:xfrm>
            <a:off x="365760" y="6071616"/>
            <a:ext cx="11460480" cy="0"/>
          </a:xfrm>
          <a:prstGeom prst="line">
            <a:avLst/>
          </a:prstGeom>
          <a:noFill/>
          <a:ln w="9525">
            <a:solidFill>
              <a:srgbClr val="3A3948"/>
            </a:solidFill>
            <a:prstDash val="solid"/>
          </a:ln>
        </p:spPr>
      </p:sp>
      <p:sp>
        <p:nvSpPr>
          <p:cNvPr id="33" name="Text 27">
            <a:extLst>
              <a:ext uri="{FF2B5EF4-FFF2-40B4-BE49-F238E27FC236}">
                <a16:creationId xmlns:a16="http://schemas.microsoft.com/office/drawing/2014/main" id="{5CD5F8A8-4612-46D3-4FAA-6A45C4E6A402}"/>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34" name="Freeform 2">
            <a:extLst>
              <a:ext uri="{FF2B5EF4-FFF2-40B4-BE49-F238E27FC236}">
                <a16:creationId xmlns:a16="http://schemas.microsoft.com/office/drawing/2014/main" id="{7A58DA90-5A43-D850-77F6-8E1948EF3D05}"/>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35" name="Titel 60">
            <a:extLst>
              <a:ext uri="{FF2B5EF4-FFF2-40B4-BE49-F238E27FC236}">
                <a16:creationId xmlns:a16="http://schemas.microsoft.com/office/drawing/2014/main" id="{AA96E67C-6481-19E2-9293-B0B2D8772C89}"/>
              </a:ext>
            </a:extLst>
          </p:cNvPr>
          <p:cNvSpPr>
            <a:spLocks noGrp="1"/>
          </p:cNvSpPr>
          <p:nvPr>
            <p:ph type="title" hasCustomPrompt="1"/>
          </p:nvPr>
        </p:nvSpPr>
        <p:spPr>
          <a:xfrm>
            <a:off x="548640" y="804505"/>
            <a:ext cx="10514014" cy="578386"/>
          </a:xfrm>
        </p:spPr>
        <p:txBody>
          <a:bodyPr/>
          <a:lstStyle>
            <a:lvl1pPr>
              <a:defRPr lang="de-DE" sz="3467" b="1" i="0" u="none" strike="noStrike" cap="none" dirty="0" smtClean="0">
                <a:solidFill>
                  <a:srgbClr val="FFFFFF"/>
                </a:solidFill>
                <a:latin typeface="Arial"/>
                <a:ea typeface="Arial"/>
                <a:cs typeface="Arial"/>
                <a:sym typeface="Arial"/>
              </a:defRPr>
            </a:lvl1pPr>
          </a:lstStyle>
          <a:p>
            <a:r>
              <a:rPr lang="de-DE" dirty="0"/>
              <a:t>Titel</a:t>
            </a:r>
          </a:p>
        </p:txBody>
      </p:sp>
      <p:sp>
        <p:nvSpPr>
          <p:cNvPr id="36" name="Textplatzhalter 65">
            <a:extLst>
              <a:ext uri="{FF2B5EF4-FFF2-40B4-BE49-F238E27FC236}">
                <a16:creationId xmlns:a16="http://schemas.microsoft.com/office/drawing/2014/main" id="{E8EF570A-DCE0-001B-1948-68B4FC6710A0}"/>
              </a:ext>
            </a:extLst>
          </p:cNvPr>
          <p:cNvSpPr>
            <a:spLocks noGrp="1"/>
          </p:cNvSpPr>
          <p:nvPr>
            <p:ph type="body" sz="quarter" idx="11" hasCustomPrompt="1"/>
          </p:nvPr>
        </p:nvSpPr>
        <p:spPr>
          <a:xfrm>
            <a:off x="317913" y="282914"/>
            <a:ext cx="6320882" cy="375454"/>
          </a:xfrm>
        </p:spPr>
        <p:txBody>
          <a:bodyPr/>
          <a:lstStyle>
            <a:lvl1pPr>
              <a:defRPr lang="de-DE" sz="1067" b="1" i="0" u="none" strike="noStrike" kern="0" cap="all" spc="467" baseline="0" dirty="0">
                <a:solidFill>
                  <a:schemeClr val="accent2"/>
                </a:solidFill>
                <a:latin typeface="Arial"/>
                <a:ea typeface="Arial"/>
                <a:cs typeface="Arial"/>
                <a:sym typeface="Arial"/>
              </a:defRPr>
            </a:lvl1pPr>
          </a:lstStyle>
          <a:p>
            <a:pPr lvl="0"/>
            <a:r>
              <a:rPr lang="de-DE" dirty="0"/>
              <a:t>Untertitel</a:t>
            </a:r>
          </a:p>
        </p:txBody>
      </p:sp>
      <p:sp>
        <p:nvSpPr>
          <p:cNvPr id="37" name="Shape 25">
            <a:extLst>
              <a:ext uri="{FF2B5EF4-FFF2-40B4-BE49-F238E27FC236}">
                <a16:creationId xmlns:a16="http://schemas.microsoft.com/office/drawing/2014/main" id="{CE6E2CA8-26CE-918C-90B6-254FD087D192}"/>
              </a:ext>
            </a:extLst>
          </p:cNvPr>
          <p:cNvSpPr/>
          <p:nvPr userDrawn="1"/>
        </p:nvSpPr>
        <p:spPr>
          <a:xfrm>
            <a:off x="0" y="5900928"/>
            <a:ext cx="12192000" cy="146304"/>
          </a:xfrm>
          <a:prstGeom prst="rect">
            <a:avLst/>
          </a:prstGeom>
          <a:solidFill>
            <a:srgbClr val="DC640D">
              <a:alpha val="25000"/>
            </a:srgbClr>
          </a:solidFill>
          <a:ln w="12700">
            <a:solidFill>
              <a:srgbClr val="DC640D"/>
            </a:solidFill>
            <a:prstDash val="solid"/>
          </a:ln>
        </p:spPr>
      </p:sp>
      <p:pic>
        <p:nvPicPr>
          <p:cNvPr id="3" name="Image 1" descr="preencoded.png">
            <a:extLst>
              <a:ext uri="{FF2B5EF4-FFF2-40B4-BE49-F238E27FC236}">
                <a16:creationId xmlns:a16="http://schemas.microsoft.com/office/drawing/2014/main" id="{9FDBF211-E68B-2360-AAAE-B67B41BB549F}"/>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1439892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elfolie" preserve="1" userDrawn="1">
  <p:cSld name="Content_New_Dark_Green">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5E5A2C5B-66FF-9717-61C1-21648665EDB7}"/>
              </a:ext>
            </a:extLst>
          </p:cNvPr>
          <p:cNvSpPr/>
          <p:nvPr userDrawn="1"/>
        </p:nvSpPr>
        <p:spPr>
          <a:xfrm>
            <a:off x="0" y="0"/>
            <a:ext cx="12192000" cy="85344"/>
          </a:xfrm>
          <a:prstGeom prst="rect">
            <a:avLst/>
          </a:prstGeom>
          <a:solidFill>
            <a:schemeClr val="accent6"/>
          </a:solidFill>
          <a:ln w="12700">
            <a:solidFill>
              <a:schemeClr val="accent6"/>
            </a:solidFill>
            <a:prstDash val="solid"/>
          </a:ln>
        </p:spPr>
      </p:sp>
      <p:sp>
        <p:nvSpPr>
          <p:cNvPr id="31" name="Shape 26">
            <a:extLst>
              <a:ext uri="{FF2B5EF4-FFF2-40B4-BE49-F238E27FC236}">
                <a16:creationId xmlns:a16="http://schemas.microsoft.com/office/drawing/2014/main" id="{853200F4-77A2-E40D-DD45-F302481CE089}"/>
              </a:ext>
            </a:extLst>
          </p:cNvPr>
          <p:cNvSpPr/>
          <p:nvPr userDrawn="1"/>
        </p:nvSpPr>
        <p:spPr>
          <a:xfrm>
            <a:off x="365760" y="6071616"/>
            <a:ext cx="11460480" cy="0"/>
          </a:xfrm>
          <a:prstGeom prst="line">
            <a:avLst/>
          </a:prstGeom>
          <a:noFill/>
          <a:ln w="9525">
            <a:solidFill>
              <a:srgbClr val="3A3948"/>
            </a:solidFill>
            <a:prstDash val="solid"/>
          </a:ln>
        </p:spPr>
      </p:sp>
      <p:sp>
        <p:nvSpPr>
          <p:cNvPr id="33" name="Text 27">
            <a:extLst>
              <a:ext uri="{FF2B5EF4-FFF2-40B4-BE49-F238E27FC236}">
                <a16:creationId xmlns:a16="http://schemas.microsoft.com/office/drawing/2014/main" id="{5CD5F8A8-4612-46D3-4FAA-6A45C4E6A402}"/>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34" name="Freeform 2">
            <a:extLst>
              <a:ext uri="{FF2B5EF4-FFF2-40B4-BE49-F238E27FC236}">
                <a16:creationId xmlns:a16="http://schemas.microsoft.com/office/drawing/2014/main" id="{7A58DA90-5A43-D850-77F6-8E1948EF3D05}"/>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35" name="Titel 60">
            <a:extLst>
              <a:ext uri="{FF2B5EF4-FFF2-40B4-BE49-F238E27FC236}">
                <a16:creationId xmlns:a16="http://schemas.microsoft.com/office/drawing/2014/main" id="{AA96E67C-6481-19E2-9293-B0B2D8772C89}"/>
              </a:ext>
            </a:extLst>
          </p:cNvPr>
          <p:cNvSpPr>
            <a:spLocks noGrp="1"/>
          </p:cNvSpPr>
          <p:nvPr>
            <p:ph type="title" hasCustomPrompt="1"/>
          </p:nvPr>
        </p:nvSpPr>
        <p:spPr>
          <a:xfrm>
            <a:off x="548640" y="804505"/>
            <a:ext cx="10514014" cy="578386"/>
          </a:xfrm>
        </p:spPr>
        <p:txBody>
          <a:bodyPr/>
          <a:lstStyle>
            <a:lvl1pPr>
              <a:defRPr lang="de-DE" sz="3467" b="1" i="0" u="none" strike="noStrike" cap="none" dirty="0" smtClean="0">
                <a:solidFill>
                  <a:srgbClr val="FFFFFF"/>
                </a:solidFill>
                <a:latin typeface="Arial"/>
                <a:ea typeface="Arial"/>
                <a:cs typeface="Arial"/>
                <a:sym typeface="Arial"/>
              </a:defRPr>
            </a:lvl1pPr>
          </a:lstStyle>
          <a:p>
            <a:r>
              <a:rPr lang="de-DE" dirty="0"/>
              <a:t>Titel</a:t>
            </a:r>
          </a:p>
        </p:txBody>
      </p:sp>
      <p:sp>
        <p:nvSpPr>
          <p:cNvPr id="36" name="Textplatzhalter 65">
            <a:extLst>
              <a:ext uri="{FF2B5EF4-FFF2-40B4-BE49-F238E27FC236}">
                <a16:creationId xmlns:a16="http://schemas.microsoft.com/office/drawing/2014/main" id="{E8EF570A-DCE0-001B-1948-68B4FC6710A0}"/>
              </a:ext>
            </a:extLst>
          </p:cNvPr>
          <p:cNvSpPr>
            <a:spLocks noGrp="1"/>
          </p:cNvSpPr>
          <p:nvPr>
            <p:ph type="body" sz="quarter" idx="11" hasCustomPrompt="1"/>
          </p:nvPr>
        </p:nvSpPr>
        <p:spPr>
          <a:xfrm>
            <a:off x="317913" y="282914"/>
            <a:ext cx="6320882" cy="375454"/>
          </a:xfrm>
        </p:spPr>
        <p:txBody>
          <a:bodyPr/>
          <a:lstStyle>
            <a:lvl1pPr>
              <a:defRPr lang="de-DE" sz="1067" b="1" i="0" u="none" strike="noStrike" kern="0" cap="all" spc="467" baseline="0" dirty="0">
                <a:solidFill>
                  <a:schemeClr val="accent6"/>
                </a:solidFill>
                <a:latin typeface="Arial"/>
                <a:ea typeface="Arial"/>
                <a:cs typeface="Arial"/>
                <a:sym typeface="Arial"/>
              </a:defRPr>
            </a:lvl1pPr>
          </a:lstStyle>
          <a:p>
            <a:pPr lvl="0"/>
            <a:r>
              <a:rPr lang="de-DE" dirty="0"/>
              <a:t>Untertitel</a:t>
            </a:r>
          </a:p>
        </p:txBody>
      </p:sp>
      <p:sp>
        <p:nvSpPr>
          <p:cNvPr id="37" name="Shape 25">
            <a:extLst>
              <a:ext uri="{FF2B5EF4-FFF2-40B4-BE49-F238E27FC236}">
                <a16:creationId xmlns:a16="http://schemas.microsoft.com/office/drawing/2014/main" id="{CE6E2CA8-26CE-918C-90B6-254FD087D192}"/>
              </a:ext>
            </a:extLst>
          </p:cNvPr>
          <p:cNvSpPr/>
          <p:nvPr userDrawn="1"/>
        </p:nvSpPr>
        <p:spPr>
          <a:xfrm>
            <a:off x="0" y="5900928"/>
            <a:ext cx="12192000" cy="146304"/>
          </a:xfrm>
          <a:prstGeom prst="rect">
            <a:avLst/>
          </a:prstGeom>
          <a:solidFill>
            <a:schemeClr val="accent6">
              <a:alpha val="25000"/>
            </a:schemeClr>
          </a:solidFill>
          <a:ln w="12700">
            <a:solidFill>
              <a:schemeClr val="accent6"/>
            </a:solidFill>
            <a:prstDash val="solid"/>
          </a:ln>
        </p:spPr>
      </p:sp>
      <p:pic>
        <p:nvPicPr>
          <p:cNvPr id="3" name="Image 1" descr="preencoded.png">
            <a:extLst>
              <a:ext uri="{FF2B5EF4-FFF2-40B4-BE49-F238E27FC236}">
                <a16:creationId xmlns:a16="http://schemas.microsoft.com/office/drawing/2014/main" id="{FBAB8213-0803-18A9-3B76-0302D13FF09C}"/>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3282239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elfolie" preserve="1" userDrawn="1">
  <p:cSld name="1_Titelfolie">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5E5A2C5B-66FF-9717-61C1-21648665EDB7}"/>
              </a:ext>
            </a:extLst>
          </p:cNvPr>
          <p:cNvSpPr/>
          <p:nvPr userDrawn="1"/>
        </p:nvSpPr>
        <p:spPr>
          <a:xfrm>
            <a:off x="0" y="0"/>
            <a:ext cx="12192000" cy="85344"/>
          </a:xfrm>
          <a:prstGeom prst="rect">
            <a:avLst/>
          </a:prstGeom>
          <a:solidFill>
            <a:srgbClr val="DC640D"/>
          </a:solidFill>
          <a:ln w="12700">
            <a:solidFill>
              <a:srgbClr val="DC640D"/>
            </a:solidFill>
            <a:prstDash val="solid"/>
          </a:ln>
        </p:spPr>
      </p:sp>
      <p:sp>
        <p:nvSpPr>
          <p:cNvPr id="31" name="Shape 26">
            <a:extLst>
              <a:ext uri="{FF2B5EF4-FFF2-40B4-BE49-F238E27FC236}">
                <a16:creationId xmlns:a16="http://schemas.microsoft.com/office/drawing/2014/main" id="{853200F4-77A2-E40D-DD45-F302481CE089}"/>
              </a:ext>
            </a:extLst>
          </p:cNvPr>
          <p:cNvSpPr/>
          <p:nvPr userDrawn="1"/>
        </p:nvSpPr>
        <p:spPr>
          <a:xfrm>
            <a:off x="365760" y="6071616"/>
            <a:ext cx="11460480" cy="0"/>
          </a:xfrm>
          <a:prstGeom prst="line">
            <a:avLst/>
          </a:prstGeom>
          <a:noFill/>
          <a:ln w="9525">
            <a:solidFill>
              <a:srgbClr val="3A3948"/>
            </a:solidFill>
            <a:prstDash val="solid"/>
          </a:ln>
        </p:spPr>
      </p:sp>
      <p:sp>
        <p:nvSpPr>
          <p:cNvPr id="33" name="Text 27">
            <a:extLst>
              <a:ext uri="{FF2B5EF4-FFF2-40B4-BE49-F238E27FC236}">
                <a16:creationId xmlns:a16="http://schemas.microsoft.com/office/drawing/2014/main" id="{5CD5F8A8-4612-46D3-4FAA-6A45C4E6A402}"/>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34" name="Freeform 2">
            <a:extLst>
              <a:ext uri="{FF2B5EF4-FFF2-40B4-BE49-F238E27FC236}">
                <a16:creationId xmlns:a16="http://schemas.microsoft.com/office/drawing/2014/main" id="{7A58DA90-5A43-D850-77F6-8E1948EF3D05}"/>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35" name="Titel 60">
            <a:extLst>
              <a:ext uri="{FF2B5EF4-FFF2-40B4-BE49-F238E27FC236}">
                <a16:creationId xmlns:a16="http://schemas.microsoft.com/office/drawing/2014/main" id="{AA96E67C-6481-19E2-9293-B0B2D8772C89}"/>
              </a:ext>
            </a:extLst>
          </p:cNvPr>
          <p:cNvSpPr>
            <a:spLocks noGrp="1"/>
          </p:cNvSpPr>
          <p:nvPr>
            <p:ph type="title" hasCustomPrompt="1"/>
          </p:nvPr>
        </p:nvSpPr>
        <p:spPr>
          <a:xfrm>
            <a:off x="548640" y="804505"/>
            <a:ext cx="10514014" cy="578386"/>
          </a:xfrm>
        </p:spPr>
        <p:txBody>
          <a:bodyPr/>
          <a:lstStyle>
            <a:lvl1pPr>
              <a:defRPr lang="de-DE" sz="3467" b="1" i="0" u="none" strike="noStrike" cap="none" dirty="0" smtClean="0">
                <a:solidFill>
                  <a:srgbClr val="FFFFFF"/>
                </a:solidFill>
                <a:latin typeface="Arial"/>
                <a:ea typeface="Arial"/>
                <a:cs typeface="Arial"/>
                <a:sym typeface="Arial"/>
              </a:defRPr>
            </a:lvl1pPr>
          </a:lstStyle>
          <a:p>
            <a:r>
              <a:rPr lang="de-DE" dirty="0"/>
              <a:t>Titel</a:t>
            </a:r>
          </a:p>
        </p:txBody>
      </p:sp>
      <p:pic>
        <p:nvPicPr>
          <p:cNvPr id="3" name="Image 1" descr="preencoded.png">
            <a:extLst>
              <a:ext uri="{FF2B5EF4-FFF2-40B4-BE49-F238E27FC236}">
                <a16:creationId xmlns:a16="http://schemas.microsoft.com/office/drawing/2014/main" id="{C25C4FB1-C936-5B63-EA12-8059C59F4C1C}"/>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20669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elfolie" preserve="1" userDrawn="1">
  <p:cSld name="1_Titelfolie">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5E5A2C5B-66FF-9717-61C1-21648665EDB7}"/>
              </a:ext>
            </a:extLst>
          </p:cNvPr>
          <p:cNvSpPr/>
          <p:nvPr userDrawn="1"/>
        </p:nvSpPr>
        <p:spPr>
          <a:xfrm>
            <a:off x="0" y="0"/>
            <a:ext cx="12192000" cy="85344"/>
          </a:xfrm>
          <a:prstGeom prst="rect">
            <a:avLst/>
          </a:prstGeom>
          <a:solidFill>
            <a:schemeClr val="accent6"/>
          </a:solidFill>
          <a:ln w="12700">
            <a:solidFill>
              <a:schemeClr val="accent6"/>
            </a:solidFill>
            <a:prstDash val="solid"/>
          </a:ln>
        </p:spPr>
      </p:sp>
      <p:sp>
        <p:nvSpPr>
          <p:cNvPr id="31" name="Shape 26">
            <a:extLst>
              <a:ext uri="{FF2B5EF4-FFF2-40B4-BE49-F238E27FC236}">
                <a16:creationId xmlns:a16="http://schemas.microsoft.com/office/drawing/2014/main" id="{853200F4-77A2-E40D-DD45-F302481CE089}"/>
              </a:ext>
            </a:extLst>
          </p:cNvPr>
          <p:cNvSpPr/>
          <p:nvPr userDrawn="1"/>
        </p:nvSpPr>
        <p:spPr>
          <a:xfrm>
            <a:off x="365760" y="6071616"/>
            <a:ext cx="11460480" cy="0"/>
          </a:xfrm>
          <a:prstGeom prst="line">
            <a:avLst/>
          </a:prstGeom>
          <a:noFill/>
          <a:ln w="9525">
            <a:solidFill>
              <a:srgbClr val="3A3948"/>
            </a:solidFill>
            <a:prstDash val="solid"/>
          </a:ln>
        </p:spPr>
      </p:sp>
      <p:sp>
        <p:nvSpPr>
          <p:cNvPr id="33" name="Text 27">
            <a:extLst>
              <a:ext uri="{FF2B5EF4-FFF2-40B4-BE49-F238E27FC236}">
                <a16:creationId xmlns:a16="http://schemas.microsoft.com/office/drawing/2014/main" id="{5CD5F8A8-4612-46D3-4FAA-6A45C4E6A402}"/>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34" name="Freeform 2">
            <a:extLst>
              <a:ext uri="{FF2B5EF4-FFF2-40B4-BE49-F238E27FC236}">
                <a16:creationId xmlns:a16="http://schemas.microsoft.com/office/drawing/2014/main" id="{7A58DA90-5A43-D850-77F6-8E1948EF3D05}"/>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35" name="Titel 60">
            <a:extLst>
              <a:ext uri="{FF2B5EF4-FFF2-40B4-BE49-F238E27FC236}">
                <a16:creationId xmlns:a16="http://schemas.microsoft.com/office/drawing/2014/main" id="{AA96E67C-6481-19E2-9293-B0B2D8772C89}"/>
              </a:ext>
            </a:extLst>
          </p:cNvPr>
          <p:cNvSpPr>
            <a:spLocks noGrp="1"/>
          </p:cNvSpPr>
          <p:nvPr>
            <p:ph type="title" hasCustomPrompt="1"/>
          </p:nvPr>
        </p:nvSpPr>
        <p:spPr>
          <a:xfrm>
            <a:off x="548640" y="804505"/>
            <a:ext cx="10514014" cy="578386"/>
          </a:xfrm>
        </p:spPr>
        <p:txBody>
          <a:bodyPr/>
          <a:lstStyle>
            <a:lvl1pPr>
              <a:defRPr lang="de-DE" sz="3467" b="1" i="0" u="none" strike="noStrike" cap="none" dirty="0" smtClean="0">
                <a:solidFill>
                  <a:srgbClr val="FFFFFF"/>
                </a:solidFill>
                <a:latin typeface="Arial"/>
                <a:ea typeface="Arial"/>
                <a:cs typeface="Arial"/>
                <a:sym typeface="Arial"/>
              </a:defRPr>
            </a:lvl1pPr>
          </a:lstStyle>
          <a:p>
            <a:r>
              <a:rPr lang="de-DE" dirty="0"/>
              <a:t>Titel</a:t>
            </a:r>
          </a:p>
        </p:txBody>
      </p:sp>
      <p:pic>
        <p:nvPicPr>
          <p:cNvPr id="3" name="Image 1" descr="preencoded.png">
            <a:extLst>
              <a:ext uri="{FF2B5EF4-FFF2-40B4-BE49-F238E27FC236}">
                <a16:creationId xmlns:a16="http://schemas.microsoft.com/office/drawing/2014/main" id="{A87995E7-CA96-03BC-9207-1F99DEF7B521}"/>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232016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elfolie" preserve="1" userDrawn="1">
  <p:cSld name="Content_Centric_New_Dark_Orange">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BC6E4DF7-440B-6F7A-E22E-CBAE0EC7B4AB}"/>
              </a:ext>
            </a:extLst>
          </p:cNvPr>
          <p:cNvSpPr/>
          <p:nvPr userDrawn="1"/>
        </p:nvSpPr>
        <p:spPr>
          <a:xfrm>
            <a:off x="0" y="0"/>
            <a:ext cx="12192000" cy="85344"/>
          </a:xfrm>
          <a:prstGeom prst="rect">
            <a:avLst/>
          </a:prstGeom>
          <a:solidFill>
            <a:srgbClr val="DC640D"/>
          </a:solidFill>
          <a:ln w="12700">
            <a:solidFill>
              <a:srgbClr val="DC640D"/>
            </a:solidFill>
            <a:prstDash val="solid"/>
          </a:ln>
        </p:spPr>
      </p:sp>
      <p:sp>
        <p:nvSpPr>
          <p:cNvPr id="7" name="Shape 5">
            <a:extLst>
              <a:ext uri="{FF2B5EF4-FFF2-40B4-BE49-F238E27FC236}">
                <a16:creationId xmlns:a16="http://schemas.microsoft.com/office/drawing/2014/main" id="{5198D2AF-7BB2-5759-924B-FA343C667ADA}"/>
              </a:ext>
            </a:extLst>
          </p:cNvPr>
          <p:cNvSpPr/>
          <p:nvPr userDrawn="1"/>
        </p:nvSpPr>
        <p:spPr>
          <a:xfrm>
            <a:off x="3657600" y="3169920"/>
            <a:ext cx="4876800" cy="0"/>
          </a:xfrm>
          <a:prstGeom prst="line">
            <a:avLst/>
          </a:prstGeom>
          <a:noFill/>
          <a:ln w="9525">
            <a:solidFill>
              <a:srgbClr val="3A3948"/>
            </a:solidFill>
            <a:prstDash val="solid"/>
          </a:ln>
        </p:spPr>
      </p:sp>
      <p:sp>
        <p:nvSpPr>
          <p:cNvPr id="16" name="Shape 12">
            <a:extLst>
              <a:ext uri="{FF2B5EF4-FFF2-40B4-BE49-F238E27FC236}">
                <a16:creationId xmlns:a16="http://schemas.microsoft.com/office/drawing/2014/main" id="{FA5EC8F4-28B9-3AE9-ADD1-CD422FA5525F}"/>
              </a:ext>
            </a:extLst>
          </p:cNvPr>
          <p:cNvSpPr/>
          <p:nvPr userDrawn="1"/>
        </p:nvSpPr>
        <p:spPr>
          <a:xfrm>
            <a:off x="365760" y="6071616"/>
            <a:ext cx="11460480" cy="0"/>
          </a:xfrm>
          <a:prstGeom prst="line">
            <a:avLst/>
          </a:prstGeom>
          <a:noFill/>
          <a:ln w="9525">
            <a:solidFill>
              <a:srgbClr val="3A3948"/>
            </a:solidFill>
            <a:prstDash val="solid"/>
          </a:ln>
        </p:spPr>
      </p:sp>
      <p:sp>
        <p:nvSpPr>
          <p:cNvPr id="18" name="Text 13">
            <a:extLst>
              <a:ext uri="{FF2B5EF4-FFF2-40B4-BE49-F238E27FC236}">
                <a16:creationId xmlns:a16="http://schemas.microsoft.com/office/drawing/2014/main" id="{CDD86D0F-A115-7B77-93A8-833099324044}"/>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19" name="Freeform 2">
            <a:extLst>
              <a:ext uri="{FF2B5EF4-FFF2-40B4-BE49-F238E27FC236}">
                <a16:creationId xmlns:a16="http://schemas.microsoft.com/office/drawing/2014/main" id="{315BCB45-137D-68A3-CEF5-D1F8680A74E3}"/>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26" name="Textplatzhalter 46">
            <a:extLst>
              <a:ext uri="{FF2B5EF4-FFF2-40B4-BE49-F238E27FC236}">
                <a16:creationId xmlns:a16="http://schemas.microsoft.com/office/drawing/2014/main" id="{CCE438F5-75F9-43D6-C54F-206981103176}"/>
              </a:ext>
            </a:extLst>
          </p:cNvPr>
          <p:cNvSpPr>
            <a:spLocks noGrp="1"/>
          </p:cNvSpPr>
          <p:nvPr>
            <p:ph type="body" sz="quarter" idx="10" hasCustomPrompt="1"/>
          </p:nvPr>
        </p:nvSpPr>
        <p:spPr>
          <a:xfrm>
            <a:off x="548640" y="658368"/>
            <a:ext cx="11277600" cy="914400"/>
          </a:xfrm>
        </p:spPr>
        <p:txBody>
          <a:bodyPr/>
          <a:lstStyle>
            <a:lvl1pPr algn="ctr">
              <a:defRPr lang="de-DE" sz="4800" b="1" i="0" u="none" strike="noStrike" cap="none" smtClean="0">
                <a:solidFill>
                  <a:srgbClr val="FFFFFF"/>
                </a:solidFill>
                <a:latin typeface="Arial"/>
                <a:ea typeface="Arial"/>
                <a:cs typeface="Arial"/>
                <a:sym typeface="Arial"/>
              </a:defRPr>
            </a:lvl1pPr>
          </a:lstStyle>
          <a:p>
            <a:pPr lvl="0"/>
            <a:r>
              <a:rPr lang="de-DE" dirty="0"/>
              <a:t>Titel Zeile 1</a:t>
            </a:r>
          </a:p>
        </p:txBody>
      </p:sp>
      <p:sp>
        <p:nvSpPr>
          <p:cNvPr id="27" name="Textplatzhalter 46">
            <a:extLst>
              <a:ext uri="{FF2B5EF4-FFF2-40B4-BE49-F238E27FC236}">
                <a16:creationId xmlns:a16="http://schemas.microsoft.com/office/drawing/2014/main" id="{41056DCF-06B0-BA73-0521-A25E9CDCE6DE}"/>
              </a:ext>
            </a:extLst>
          </p:cNvPr>
          <p:cNvSpPr>
            <a:spLocks noGrp="1"/>
          </p:cNvSpPr>
          <p:nvPr>
            <p:ph type="body" sz="quarter" idx="12" hasCustomPrompt="1"/>
          </p:nvPr>
        </p:nvSpPr>
        <p:spPr>
          <a:xfrm>
            <a:off x="561166" y="1504877"/>
            <a:ext cx="11277600" cy="914400"/>
          </a:xfrm>
        </p:spPr>
        <p:txBody>
          <a:bodyPr/>
          <a:lstStyle>
            <a:lvl1pPr algn="ctr">
              <a:defRPr lang="de-DE" sz="4800" b="1" i="0" u="none" strike="noStrike" cap="none" dirty="0">
                <a:solidFill>
                  <a:srgbClr val="DC640D"/>
                </a:solidFill>
                <a:latin typeface="Arial"/>
                <a:ea typeface="Arial"/>
                <a:cs typeface="Arial"/>
                <a:sym typeface="Arial"/>
              </a:defRPr>
            </a:lvl1pPr>
          </a:lstStyle>
          <a:p>
            <a:pPr lvl="0"/>
            <a:r>
              <a:rPr lang="de-DE" dirty="0"/>
              <a:t>Titel Zeile 2</a:t>
            </a:r>
          </a:p>
        </p:txBody>
      </p:sp>
      <p:sp>
        <p:nvSpPr>
          <p:cNvPr id="29" name="Textplatzhalter 65">
            <a:extLst>
              <a:ext uri="{FF2B5EF4-FFF2-40B4-BE49-F238E27FC236}">
                <a16:creationId xmlns:a16="http://schemas.microsoft.com/office/drawing/2014/main" id="{498BF7DB-8375-3BC5-097C-064706DB6B87}"/>
              </a:ext>
            </a:extLst>
          </p:cNvPr>
          <p:cNvSpPr>
            <a:spLocks noGrp="1"/>
          </p:cNvSpPr>
          <p:nvPr>
            <p:ph type="body" sz="quarter" idx="11" hasCustomPrompt="1"/>
          </p:nvPr>
        </p:nvSpPr>
        <p:spPr>
          <a:xfrm>
            <a:off x="317913" y="282914"/>
            <a:ext cx="6320882" cy="375454"/>
          </a:xfrm>
        </p:spPr>
        <p:txBody>
          <a:bodyPr/>
          <a:lstStyle>
            <a:lvl1pPr>
              <a:defRPr lang="de-DE" sz="1067" b="1" i="0" u="none" strike="noStrike" kern="0" cap="all" spc="467" baseline="0" dirty="0">
                <a:solidFill>
                  <a:srgbClr val="F6A800"/>
                </a:solidFill>
                <a:latin typeface="Arial"/>
                <a:ea typeface="Arial"/>
                <a:cs typeface="Arial"/>
                <a:sym typeface="Arial"/>
              </a:defRPr>
            </a:lvl1pPr>
          </a:lstStyle>
          <a:p>
            <a:pPr lvl="0"/>
            <a:r>
              <a:rPr lang="de-DE" dirty="0"/>
              <a:t>Untertitel</a:t>
            </a:r>
          </a:p>
        </p:txBody>
      </p:sp>
      <p:sp>
        <p:nvSpPr>
          <p:cNvPr id="32" name="Textplatzhalter 65">
            <a:extLst>
              <a:ext uri="{FF2B5EF4-FFF2-40B4-BE49-F238E27FC236}">
                <a16:creationId xmlns:a16="http://schemas.microsoft.com/office/drawing/2014/main" id="{68C61C1F-8B04-621E-8EF0-60C8AC9F409B}"/>
              </a:ext>
            </a:extLst>
          </p:cNvPr>
          <p:cNvSpPr>
            <a:spLocks noGrp="1"/>
          </p:cNvSpPr>
          <p:nvPr>
            <p:ph type="body" sz="quarter" idx="13" hasCustomPrompt="1"/>
          </p:nvPr>
        </p:nvSpPr>
        <p:spPr>
          <a:xfrm>
            <a:off x="561166" y="2635970"/>
            <a:ext cx="11277600" cy="375454"/>
          </a:xfrm>
        </p:spPr>
        <p:txBody>
          <a:bodyPr/>
          <a:lstStyle>
            <a:lvl1pPr algn="ctr">
              <a:defRPr lang="de-DE" sz="1600" b="0" i="1" u="none" strike="noStrike" cap="none" dirty="0">
                <a:solidFill>
                  <a:srgbClr val="9A9AAA"/>
                </a:solidFill>
                <a:latin typeface="Arial"/>
                <a:ea typeface="Arial"/>
                <a:cs typeface="Arial"/>
                <a:sym typeface="Arial"/>
              </a:defRPr>
            </a:lvl1pPr>
          </a:lstStyle>
          <a:p>
            <a:pPr lvl="0"/>
            <a:r>
              <a:rPr lang="de-DE" dirty="0"/>
              <a:t>Text</a:t>
            </a:r>
          </a:p>
        </p:txBody>
      </p:sp>
      <p:sp>
        <p:nvSpPr>
          <p:cNvPr id="33" name="Shape 25">
            <a:extLst>
              <a:ext uri="{FF2B5EF4-FFF2-40B4-BE49-F238E27FC236}">
                <a16:creationId xmlns:a16="http://schemas.microsoft.com/office/drawing/2014/main" id="{C2439460-5A68-27D3-476F-F821E0E841B5}"/>
              </a:ext>
            </a:extLst>
          </p:cNvPr>
          <p:cNvSpPr/>
          <p:nvPr userDrawn="1"/>
        </p:nvSpPr>
        <p:spPr>
          <a:xfrm>
            <a:off x="0" y="5900928"/>
            <a:ext cx="12192000" cy="146304"/>
          </a:xfrm>
          <a:prstGeom prst="rect">
            <a:avLst/>
          </a:prstGeom>
          <a:solidFill>
            <a:srgbClr val="DC640D">
              <a:alpha val="25000"/>
            </a:srgbClr>
          </a:solidFill>
          <a:ln w="12700">
            <a:solidFill>
              <a:srgbClr val="DC640D"/>
            </a:solidFill>
            <a:prstDash val="solid"/>
          </a:ln>
        </p:spPr>
      </p:sp>
      <p:pic>
        <p:nvPicPr>
          <p:cNvPr id="34" name="Image 1" descr="preencoded.png">
            <a:extLst>
              <a:ext uri="{FF2B5EF4-FFF2-40B4-BE49-F238E27FC236}">
                <a16:creationId xmlns:a16="http://schemas.microsoft.com/office/drawing/2014/main" id="{2C924F94-5C9F-4DEF-10EA-535818C40913}"/>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4185930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elfolie" preserve="1" userDrawn="1">
  <p:cSld name="Content_Centric_New_Dark_Green">
    <p:bg>
      <p:bgPr>
        <a:solidFill>
          <a:srgbClr val="10130B"/>
        </a:solidFill>
        <a:effectLst/>
      </p:bgPr>
    </p:bg>
    <p:spTree>
      <p:nvGrpSpPr>
        <p:cNvPr id="1" name="Shape 15"/>
        <p:cNvGrpSpPr/>
        <p:nvPr/>
      </p:nvGrpSpPr>
      <p:grpSpPr>
        <a:xfrm>
          <a:off x="0" y="0"/>
          <a:ext cx="0" cy="0"/>
          <a:chOff x="0" y="0"/>
          <a:chExt cx="0" cy="0"/>
        </a:xfrm>
      </p:grpSpPr>
      <p:sp>
        <p:nvSpPr>
          <p:cNvPr id="2" name="Shape 0">
            <a:extLst>
              <a:ext uri="{FF2B5EF4-FFF2-40B4-BE49-F238E27FC236}">
                <a16:creationId xmlns:a16="http://schemas.microsoft.com/office/drawing/2014/main" id="{BC6E4DF7-440B-6F7A-E22E-CBAE0EC7B4AB}"/>
              </a:ext>
            </a:extLst>
          </p:cNvPr>
          <p:cNvSpPr/>
          <p:nvPr userDrawn="1"/>
        </p:nvSpPr>
        <p:spPr>
          <a:xfrm>
            <a:off x="0" y="0"/>
            <a:ext cx="12192000" cy="85344"/>
          </a:xfrm>
          <a:prstGeom prst="rect">
            <a:avLst/>
          </a:prstGeom>
          <a:solidFill>
            <a:schemeClr val="accent6"/>
          </a:solidFill>
          <a:ln w="12700">
            <a:solidFill>
              <a:schemeClr val="accent6"/>
            </a:solidFill>
            <a:prstDash val="solid"/>
          </a:ln>
        </p:spPr>
      </p:sp>
      <p:sp>
        <p:nvSpPr>
          <p:cNvPr id="7" name="Shape 5">
            <a:extLst>
              <a:ext uri="{FF2B5EF4-FFF2-40B4-BE49-F238E27FC236}">
                <a16:creationId xmlns:a16="http://schemas.microsoft.com/office/drawing/2014/main" id="{5198D2AF-7BB2-5759-924B-FA343C667ADA}"/>
              </a:ext>
            </a:extLst>
          </p:cNvPr>
          <p:cNvSpPr/>
          <p:nvPr userDrawn="1"/>
        </p:nvSpPr>
        <p:spPr>
          <a:xfrm>
            <a:off x="3657600" y="3169920"/>
            <a:ext cx="4876800" cy="0"/>
          </a:xfrm>
          <a:prstGeom prst="line">
            <a:avLst/>
          </a:prstGeom>
          <a:noFill/>
          <a:ln w="9525">
            <a:solidFill>
              <a:srgbClr val="3A3948"/>
            </a:solidFill>
            <a:prstDash val="solid"/>
          </a:ln>
        </p:spPr>
      </p:sp>
      <p:sp>
        <p:nvSpPr>
          <p:cNvPr id="16" name="Shape 12">
            <a:extLst>
              <a:ext uri="{FF2B5EF4-FFF2-40B4-BE49-F238E27FC236}">
                <a16:creationId xmlns:a16="http://schemas.microsoft.com/office/drawing/2014/main" id="{FA5EC8F4-28B9-3AE9-ADD1-CD422FA5525F}"/>
              </a:ext>
            </a:extLst>
          </p:cNvPr>
          <p:cNvSpPr/>
          <p:nvPr userDrawn="1"/>
        </p:nvSpPr>
        <p:spPr>
          <a:xfrm>
            <a:off x="365760" y="6071616"/>
            <a:ext cx="11460480" cy="0"/>
          </a:xfrm>
          <a:prstGeom prst="line">
            <a:avLst/>
          </a:prstGeom>
          <a:noFill/>
          <a:ln w="9525">
            <a:solidFill>
              <a:srgbClr val="3A3948"/>
            </a:solidFill>
            <a:prstDash val="solid"/>
          </a:ln>
        </p:spPr>
      </p:sp>
      <p:sp>
        <p:nvSpPr>
          <p:cNvPr id="18" name="Text 13">
            <a:extLst>
              <a:ext uri="{FF2B5EF4-FFF2-40B4-BE49-F238E27FC236}">
                <a16:creationId xmlns:a16="http://schemas.microsoft.com/office/drawing/2014/main" id="{CDD86D0F-A115-7B77-93A8-833099324044}"/>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19" name="Freeform 2">
            <a:extLst>
              <a:ext uri="{FF2B5EF4-FFF2-40B4-BE49-F238E27FC236}">
                <a16:creationId xmlns:a16="http://schemas.microsoft.com/office/drawing/2014/main" id="{315BCB45-137D-68A3-CEF5-D1F8680A74E3}"/>
              </a:ext>
            </a:extLst>
          </p:cNvPr>
          <p:cNvSpPr/>
          <p:nvPr userDrawn="1"/>
        </p:nvSpPr>
        <p:spPr>
          <a:xfrm>
            <a:off x="10345581" y="190484"/>
            <a:ext cx="1534769" cy="536448"/>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2"/>
            <a:stretch>
              <a:fillRect/>
            </a:stretch>
          </a:blipFill>
        </p:spPr>
        <p:txBody>
          <a:bodyPr/>
          <a:lstStyle/>
          <a:p>
            <a:endParaRPr lang="de-DE" sz="3200"/>
          </a:p>
        </p:txBody>
      </p:sp>
      <p:sp>
        <p:nvSpPr>
          <p:cNvPr id="26" name="Textplatzhalter 46">
            <a:extLst>
              <a:ext uri="{FF2B5EF4-FFF2-40B4-BE49-F238E27FC236}">
                <a16:creationId xmlns:a16="http://schemas.microsoft.com/office/drawing/2014/main" id="{CCE438F5-75F9-43D6-C54F-206981103176}"/>
              </a:ext>
            </a:extLst>
          </p:cNvPr>
          <p:cNvSpPr>
            <a:spLocks noGrp="1"/>
          </p:cNvSpPr>
          <p:nvPr>
            <p:ph type="body" sz="quarter" idx="10" hasCustomPrompt="1"/>
          </p:nvPr>
        </p:nvSpPr>
        <p:spPr>
          <a:xfrm>
            <a:off x="548640" y="658368"/>
            <a:ext cx="11277600" cy="914400"/>
          </a:xfrm>
        </p:spPr>
        <p:txBody>
          <a:bodyPr/>
          <a:lstStyle>
            <a:lvl1pPr algn="ctr">
              <a:defRPr lang="de-DE" sz="4800" b="1" i="0" u="none" strike="noStrike" cap="none" smtClean="0">
                <a:solidFill>
                  <a:srgbClr val="FFFFFF"/>
                </a:solidFill>
                <a:latin typeface="Arial"/>
                <a:ea typeface="Arial"/>
                <a:cs typeface="Arial"/>
                <a:sym typeface="Arial"/>
              </a:defRPr>
            </a:lvl1pPr>
          </a:lstStyle>
          <a:p>
            <a:pPr lvl="0"/>
            <a:r>
              <a:rPr lang="de-DE" dirty="0"/>
              <a:t>Titel Zeile 1</a:t>
            </a:r>
          </a:p>
        </p:txBody>
      </p:sp>
      <p:sp>
        <p:nvSpPr>
          <p:cNvPr id="27" name="Textplatzhalter 46">
            <a:extLst>
              <a:ext uri="{FF2B5EF4-FFF2-40B4-BE49-F238E27FC236}">
                <a16:creationId xmlns:a16="http://schemas.microsoft.com/office/drawing/2014/main" id="{41056DCF-06B0-BA73-0521-A25E9CDCE6DE}"/>
              </a:ext>
            </a:extLst>
          </p:cNvPr>
          <p:cNvSpPr>
            <a:spLocks noGrp="1"/>
          </p:cNvSpPr>
          <p:nvPr>
            <p:ph type="body" sz="quarter" idx="12" hasCustomPrompt="1"/>
          </p:nvPr>
        </p:nvSpPr>
        <p:spPr>
          <a:xfrm>
            <a:off x="561166" y="1504877"/>
            <a:ext cx="11277600" cy="914400"/>
          </a:xfrm>
        </p:spPr>
        <p:txBody>
          <a:bodyPr/>
          <a:lstStyle>
            <a:lvl1pPr algn="ctr">
              <a:defRPr lang="de-DE" sz="4800" b="1" i="0" u="none" strike="noStrike" cap="none" dirty="0">
                <a:solidFill>
                  <a:schemeClr val="accent6"/>
                </a:solidFill>
                <a:latin typeface="Arial"/>
                <a:ea typeface="Arial"/>
                <a:cs typeface="Arial"/>
                <a:sym typeface="Arial"/>
              </a:defRPr>
            </a:lvl1pPr>
          </a:lstStyle>
          <a:p>
            <a:pPr lvl="0"/>
            <a:r>
              <a:rPr lang="de-DE" dirty="0"/>
              <a:t>Titel Zeile 2</a:t>
            </a:r>
          </a:p>
        </p:txBody>
      </p:sp>
      <p:sp>
        <p:nvSpPr>
          <p:cNvPr id="29" name="Textplatzhalter 65">
            <a:extLst>
              <a:ext uri="{FF2B5EF4-FFF2-40B4-BE49-F238E27FC236}">
                <a16:creationId xmlns:a16="http://schemas.microsoft.com/office/drawing/2014/main" id="{498BF7DB-8375-3BC5-097C-064706DB6B87}"/>
              </a:ext>
            </a:extLst>
          </p:cNvPr>
          <p:cNvSpPr>
            <a:spLocks noGrp="1"/>
          </p:cNvSpPr>
          <p:nvPr>
            <p:ph type="body" sz="quarter" idx="11" hasCustomPrompt="1"/>
          </p:nvPr>
        </p:nvSpPr>
        <p:spPr>
          <a:xfrm>
            <a:off x="317913" y="282914"/>
            <a:ext cx="6320882" cy="375454"/>
          </a:xfrm>
        </p:spPr>
        <p:txBody>
          <a:bodyPr/>
          <a:lstStyle>
            <a:lvl1pPr>
              <a:defRPr lang="de-DE" sz="1067" b="1" i="0" u="none" strike="noStrike" kern="0" cap="all" spc="467" baseline="0" dirty="0">
                <a:solidFill>
                  <a:srgbClr val="F6A800"/>
                </a:solidFill>
                <a:latin typeface="Arial"/>
                <a:ea typeface="Arial"/>
                <a:cs typeface="Arial"/>
                <a:sym typeface="Arial"/>
              </a:defRPr>
            </a:lvl1pPr>
          </a:lstStyle>
          <a:p>
            <a:pPr lvl="0"/>
            <a:r>
              <a:rPr lang="de-DE" dirty="0"/>
              <a:t>Untertitel</a:t>
            </a:r>
          </a:p>
        </p:txBody>
      </p:sp>
      <p:sp>
        <p:nvSpPr>
          <p:cNvPr id="32" name="Textplatzhalter 65">
            <a:extLst>
              <a:ext uri="{FF2B5EF4-FFF2-40B4-BE49-F238E27FC236}">
                <a16:creationId xmlns:a16="http://schemas.microsoft.com/office/drawing/2014/main" id="{68C61C1F-8B04-621E-8EF0-60C8AC9F409B}"/>
              </a:ext>
            </a:extLst>
          </p:cNvPr>
          <p:cNvSpPr>
            <a:spLocks noGrp="1"/>
          </p:cNvSpPr>
          <p:nvPr>
            <p:ph type="body" sz="quarter" idx="13" hasCustomPrompt="1"/>
          </p:nvPr>
        </p:nvSpPr>
        <p:spPr>
          <a:xfrm>
            <a:off x="561166" y="2635970"/>
            <a:ext cx="11277600" cy="375454"/>
          </a:xfrm>
        </p:spPr>
        <p:txBody>
          <a:bodyPr/>
          <a:lstStyle>
            <a:lvl1pPr algn="ctr">
              <a:defRPr lang="de-DE" sz="1600" b="0" i="1" u="none" strike="noStrike" cap="none" dirty="0">
                <a:solidFill>
                  <a:srgbClr val="9A9AAA"/>
                </a:solidFill>
                <a:latin typeface="Arial"/>
                <a:ea typeface="Arial"/>
                <a:cs typeface="Arial"/>
                <a:sym typeface="Arial"/>
              </a:defRPr>
            </a:lvl1pPr>
          </a:lstStyle>
          <a:p>
            <a:pPr lvl="0"/>
            <a:r>
              <a:rPr lang="de-DE" dirty="0"/>
              <a:t>Text</a:t>
            </a:r>
          </a:p>
        </p:txBody>
      </p:sp>
      <p:sp>
        <p:nvSpPr>
          <p:cNvPr id="33" name="Shape 25">
            <a:extLst>
              <a:ext uri="{FF2B5EF4-FFF2-40B4-BE49-F238E27FC236}">
                <a16:creationId xmlns:a16="http://schemas.microsoft.com/office/drawing/2014/main" id="{C2439460-5A68-27D3-476F-F821E0E841B5}"/>
              </a:ext>
            </a:extLst>
          </p:cNvPr>
          <p:cNvSpPr/>
          <p:nvPr userDrawn="1"/>
        </p:nvSpPr>
        <p:spPr>
          <a:xfrm>
            <a:off x="0" y="5900928"/>
            <a:ext cx="12192000" cy="146304"/>
          </a:xfrm>
          <a:prstGeom prst="rect">
            <a:avLst/>
          </a:prstGeom>
          <a:solidFill>
            <a:schemeClr val="accent6">
              <a:alpha val="25000"/>
            </a:schemeClr>
          </a:solidFill>
          <a:ln w="12700">
            <a:solidFill>
              <a:schemeClr val="accent6"/>
            </a:solidFill>
            <a:prstDash val="solid"/>
          </a:ln>
        </p:spPr>
      </p:sp>
      <p:pic>
        <p:nvPicPr>
          <p:cNvPr id="3" name="Image 1" descr="preencoded.png">
            <a:extLst>
              <a:ext uri="{FF2B5EF4-FFF2-40B4-BE49-F238E27FC236}">
                <a16:creationId xmlns:a16="http://schemas.microsoft.com/office/drawing/2014/main" id="{6A70EABD-CA0F-00C8-6170-FE3DC5D6A192}"/>
              </a:ext>
            </a:extLst>
          </p:cNvPr>
          <p:cNvPicPr>
            <a:picLocks noChangeAspect="1"/>
          </p:cNvPicPr>
          <p:nvPr userDrawn="1"/>
        </p:nvPicPr>
        <p:blipFill>
          <a:blip r:embed="rId3">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348847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elfolie" preserve="1" userDrawn="1">
  <p:cSld name="Contact_New_Dark_Orange">
    <p:bg>
      <p:bgPr>
        <a:solidFill>
          <a:srgbClr val="10130B"/>
        </a:solidFill>
        <a:effectLst/>
      </p:bgPr>
    </p:bg>
    <p:spTree>
      <p:nvGrpSpPr>
        <p:cNvPr id="1" name="Shape 15"/>
        <p:cNvGrpSpPr/>
        <p:nvPr/>
      </p:nvGrpSpPr>
      <p:grpSpPr>
        <a:xfrm>
          <a:off x="0" y="0"/>
          <a:ext cx="0" cy="0"/>
          <a:chOff x="0" y="0"/>
          <a:chExt cx="0" cy="0"/>
        </a:xfrm>
      </p:grpSpPr>
      <p:sp>
        <p:nvSpPr>
          <p:cNvPr id="29" name="Shape 0">
            <a:extLst>
              <a:ext uri="{FF2B5EF4-FFF2-40B4-BE49-F238E27FC236}">
                <a16:creationId xmlns:a16="http://schemas.microsoft.com/office/drawing/2014/main" id="{249AEDCA-A058-C27B-7243-09F64D2B32FF}"/>
              </a:ext>
            </a:extLst>
          </p:cNvPr>
          <p:cNvSpPr/>
          <p:nvPr userDrawn="1"/>
        </p:nvSpPr>
        <p:spPr>
          <a:xfrm>
            <a:off x="0" y="0"/>
            <a:ext cx="12192000" cy="85344"/>
          </a:xfrm>
          <a:prstGeom prst="rect">
            <a:avLst/>
          </a:prstGeom>
          <a:solidFill>
            <a:srgbClr val="DC640D"/>
          </a:solidFill>
          <a:ln w="12700">
            <a:solidFill>
              <a:srgbClr val="DC640D"/>
            </a:solidFill>
            <a:prstDash val="solid"/>
          </a:ln>
        </p:spPr>
      </p:sp>
      <p:sp>
        <p:nvSpPr>
          <p:cNvPr id="30" name="Shape 1">
            <a:extLst>
              <a:ext uri="{FF2B5EF4-FFF2-40B4-BE49-F238E27FC236}">
                <a16:creationId xmlns:a16="http://schemas.microsoft.com/office/drawing/2014/main" id="{50ACFDCA-5A75-0C64-EAE3-253D8E194456}"/>
              </a:ext>
            </a:extLst>
          </p:cNvPr>
          <p:cNvSpPr/>
          <p:nvPr userDrawn="1"/>
        </p:nvSpPr>
        <p:spPr>
          <a:xfrm>
            <a:off x="7741920" y="85344"/>
            <a:ext cx="48768" cy="5974080"/>
          </a:xfrm>
          <a:prstGeom prst="rect">
            <a:avLst/>
          </a:prstGeom>
          <a:solidFill>
            <a:srgbClr val="DC640D"/>
          </a:solidFill>
          <a:ln w="12700">
            <a:solidFill>
              <a:srgbClr val="DC640D"/>
            </a:solidFill>
            <a:prstDash val="solid"/>
          </a:ln>
        </p:spPr>
      </p:sp>
      <p:pic>
        <p:nvPicPr>
          <p:cNvPr id="32" name="Image 0" descr="preencoded.png">
            <a:extLst>
              <a:ext uri="{FF2B5EF4-FFF2-40B4-BE49-F238E27FC236}">
                <a16:creationId xmlns:a16="http://schemas.microsoft.com/office/drawing/2014/main" id="{11ACD382-F685-F69B-CC01-ECB538B80EF6}"/>
              </a:ext>
            </a:extLst>
          </p:cNvPr>
          <p:cNvPicPr>
            <a:picLocks noChangeAspect="1"/>
          </p:cNvPicPr>
          <p:nvPr userDrawn="1"/>
        </p:nvPicPr>
        <p:blipFill>
          <a:blip r:embed="rId2">
            <a:alphaModFix amt="38000"/>
            <a:extLst>
              <a:ext uri="{BEBA8EAE-BF5A-486C-A8C5-ECC9F3942E4B}">
                <a14:imgProps xmlns:a14="http://schemas.microsoft.com/office/drawing/2010/main">
                  <a14:imgLayer r:embed="rId3">
                    <a14:imgEffect>
                      <a14:brightnessContrast bright="25000"/>
                    </a14:imgEffect>
                  </a14:imgLayer>
                </a14:imgProps>
              </a:ext>
            </a:extLst>
          </a:blip>
          <a:stretch>
            <a:fillRect/>
          </a:stretch>
        </p:blipFill>
        <p:spPr>
          <a:xfrm>
            <a:off x="7924800" y="4023361"/>
            <a:ext cx="4267200" cy="1977543"/>
          </a:xfrm>
          <a:prstGeom prst="rect">
            <a:avLst/>
          </a:prstGeom>
        </p:spPr>
      </p:pic>
      <p:sp>
        <p:nvSpPr>
          <p:cNvPr id="35" name="Text 5">
            <a:extLst>
              <a:ext uri="{FF2B5EF4-FFF2-40B4-BE49-F238E27FC236}">
                <a16:creationId xmlns:a16="http://schemas.microsoft.com/office/drawing/2014/main" id="{1D33C2FD-AE63-B27F-78CC-4133E6B16300}"/>
              </a:ext>
            </a:extLst>
          </p:cNvPr>
          <p:cNvSpPr/>
          <p:nvPr userDrawn="1"/>
        </p:nvSpPr>
        <p:spPr>
          <a:xfrm>
            <a:off x="548640" y="243840"/>
            <a:ext cx="8534400" cy="316992"/>
          </a:xfrm>
          <a:prstGeom prst="rect">
            <a:avLst/>
          </a:prstGeom>
          <a:noFill/>
          <a:ln/>
        </p:spPr>
        <p:txBody>
          <a:bodyPr wrap="square" lIns="0" tIns="0" rIns="0" bIns="0" rtlCol="0" anchor="ctr"/>
          <a:lstStyle/>
          <a:p>
            <a:r>
              <a:rPr lang="en-US" sz="1067" b="1" kern="0" spc="467" dirty="0">
                <a:solidFill>
                  <a:srgbClr val="F6A800"/>
                </a:solidFill>
              </a:rPr>
              <a:t>KONTAKT</a:t>
            </a:r>
            <a:endParaRPr lang="en-US" sz="1067" dirty="0"/>
          </a:p>
        </p:txBody>
      </p:sp>
      <p:sp>
        <p:nvSpPr>
          <p:cNvPr id="38" name="Text 8">
            <a:extLst>
              <a:ext uri="{FF2B5EF4-FFF2-40B4-BE49-F238E27FC236}">
                <a16:creationId xmlns:a16="http://schemas.microsoft.com/office/drawing/2014/main" id="{3E31550F-B73A-C50E-B94F-F1571DB568B7}"/>
              </a:ext>
            </a:extLst>
          </p:cNvPr>
          <p:cNvSpPr/>
          <p:nvPr userDrawn="1"/>
        </p:nvSpPr>
        <p:spPr>
          <a:xfrm>
            <a:off x="548640" y="2023872"/>
            <a:ext cx="6949440" cy="365760"/>
          </a:xfrm>
          <a:prstGeom prst="rect">
            <a:avLst/>
          </a:prstGeom>
          <a:noFill/>
          <a:ln/>
        </p:spPr>
        <p:txBody>
          <a:bodyPr wrap="square" lIns="0" tIns="0" rIns="0" bIns="0" rtlCol="0" anchor="ctr"/>
          <a:lstStyle/>
          <a:p>
            <a:r>
              <a:rPr lang="en-US" sz="1467" dirty="0">
                <a:solidFill>
                  <a:srgbClr val="9A9AAA"/>
                </a:solidFill>
              </a:rPr>
              <a:t>KI-Servicezentrum Berlin-Brandenburg</a:t>
            </a:r>
            <a:endParaRPr lang="en-US" sz="1467" dirty="0"/>
          </a:p>
        </p:txBody>
      </p:sp>
      <p:sp>
        <p:nvSpPr>
          <p:cNvPr id="39" name="Shape 9">
            <a:extLst>
              <a:ext uri="{FF2B5EF4-FFF2-40B4-BE49-F238E27FC236}">
                <a16:creationId xmlns:a16="http://schemas.microsoft.com/office/drawing/2014/main" id="{F52658B9-93CA-37C9-6348-D2736BB412E9}"/>
              </a:ext>
            </a:extLst>
          </p:cNvPr>
          <p:cNvSpPr/>
          <p:nvPr userDrawn="1"/>
        </p:nvSpPr>
        <p:spPr>
          <a:xfrm>
            <a:off x="548640" y="2560320"/>
            <a:ext cx="1706880" cy="54864"/>
          </a:xfrm>
          <a:prstGeom prst="rect">
            <a:avLst/>
          </a:prstGeom>
          <a:solidFill>
            <a:srgbClr val="DC640D"/>
          </a:solidFill>
          <a:ln w="12700">
            <a:solidFill>
              <a:srgbClr val="DC640D"/>
            </a:solidFill>
            <a:prstDash val="solid"/>
          </a:ln>
        </p:spPr>
      </p:sp>
      <p:pic>
        <p:nvPicPr>
          <p:cNvPr id="40" name="Image 2" descr="preencoded.png">
            <a:extLst>
              <a:ext uri="{FF2B5EF4-FFF2-40B4-BE49-F238E27FC236}">
                <a16:creationId xmlns:a16="http://schemas.microsoft.com/office/drawing/2014/main" id="{64031A14-3413-1BEB-1741-72B0EDC9168D}"/>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548640" y="2865120"/>
            <a:ext cx="365760" cy="365760"/>
          </a:xfrm>
          <a:prstGeom prst="rect">
            <a:avLst/>
          </a:prstGeom>
        </p:spPr>
      </p:pic>
      <p:sp>
        <p:nvSpPr>
          <p:cNvPr id="41" name="Text 10">
            <a:extLst>
              <a:ext uri="{FF2B5EF4-FFF2-40B4-BE49-F238E27FC236}">
                <a16:creationId xmlns:a16="http://schemas.microsoft.com/office/drawing/2014/main" id="{215D54D7-810A-6E72-58C1-B1F44F181110}"/>
              </a:ext>
            </a:extLst>
          </p:cNvPr>
          <p:cNvSpPr/>
          <p:nvPr userDrawn="1"/>
        </p:nvSpPr>
        <p:spPr>
          <a:xfrm>
            <a:off x="1072896" y="2865120"/>
            <a:ext cx="6339840" cy="365760"/>
          </a:xfrm>
          <a:prstGeom prst="rect">
            <a:avLst/>
          </a:prstGeom>
          <a:noFill/>
          <a:ln/>
        </p:spPr>
        <p:txBody>
          <a:bodyPr wrap="square" lIns="0" tIns="0" rIns="0" bIns="0" rtlCol="0" anchor="ctr"/>
          <a:lstStyle/>
          <a:p>
            <a:r>
              <a:rPr lang="en-US" sz="1733" dirty="0">
                <a:solidFill>
                  <a:srgbClr val="FFFFFF"/>
                </a:solidFill>
              </a:rPr>
              <a:t>ki-servicezentrum@hpi.de</a:t>
            </a:r>
            <a:endParaRPr lang="en-US" sz="1733" dirty="0"/>
          </a:p>
        </p:txBody>
      </p:sp>
      <p:pic>
        <p:nvPicPr>
          <p:cNvPr id="42" name="Image 3" descr="preencoded.png">
            <a:extLst>
              <a:ext uri="{FF2B5EF4-FFF2-40B4-BE49-F238E27FC236}">
                <a16:creationId xmlns:a16="http://schemas.microsoft.com/office/drawing/2014/main" id="{E341B16B-4F6D-4F93-E2C3-E44D31438324}"/>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548640" y="3438144"/>
            <a:ext cx="365760" cy="365760"/>
          </a:xfrm>
          <a:prstGeom prst="rect">
            <a:avLst/>
          </a:prstGeom>
        </p:spPr>
      </p:pic>
      <p:sp>
        <p:nvSpPr>
          <p:cNvPr id="43" name="Text 11">
            <a:extLst>
              <a:ext uri="{FF2B5EF4-FFF2-40B4-BE49-F238E27FC236}">
                <a16:creationId xmlns:a16="http://schemas.microsoft.com/office/drawing/2014/main" id="{06241AD1-F24C-A6DA-E097-EDF0086C68A3}"/>
              </a:ext>
            </a:extLst>
          </p:cNvPr>
          <p:cNvSpPr/>
          <p:nvPr userDrawn="1"/>
        </p:nvSpPr>
        <p:spPr>
          <a:xfrm>
            <a:off x="1072896" y="3438144"/>
            <a:ext cx="6339840" cy="365760"/>
          </a:xfrm>
          <a:prstGeom prst="rect">
            <a:avLst/>
          </a:prstGeom>
          <a:noFill/>
          <a:ln/>
        </p:spPr>
        <p:txBody>
          <a:bodyPr wrap="square" lIns="0" tIns="0" rIns="0" bIns="0" rtlCol="0" anchor="ctr"/>
          <a:lstStyle/>
          <a:p>
            <a:r>
              <a:rPr lang="en-US" sz="1733" dirty="0">
                <a:solidFill>
                  <a:srgbClr val="FFFFFF"/>
                </a:solidFill>
              </a:rPr>
              <a:t>hpi.de/kisz</a:t>
            </a:r>
            <a:endParaRPr lang="en-US" sz="1733" dirty="0"/>
          </a:p>
        </p:txBody>
      </p:sp>
      <p:sp>
        <p:nvSpPr>
          <p:cNvPr id="47" name="Shape 15">
            <a:extLst>
              <a:ext uri="{FF2B5EF4-FFF2-40B4-BE49-F238E27FC236}">
                <a16:creationId xmlns:a16="http://schemas.microsoft.com/office/drawing/2014/main" id="{F3982E1F-2F6F-8EEE-10B5-2A7E4B94CE51}"/>
              </a:ext>
            </a:extLst>
          </p:cNvPr>
          <p:cNvSpPr/>
          <p:nvPr userDrawn="1"/>
        </p:nvSpPr>
        <p:spPr>
          <a:xfrm>
            <a:off x="365760" y="6071616"/>
            <a:ext cx="11460480" cy="0"/>
          </a:xfrm>
          <a:prstGeom prst="line">
            <a:avLst/>
          </a:prstGeom>
          <a:noFill/>
          <a:ln w="9525">
            <a:solidFill>
              <a:srgbClr val="3A3948"/>
            </a:solidFill>
            <a:prstDash val="solid"/>
          </a:ln>
        </p:spPr>
      </p:sp>
      <p:sp>
        <p:nvSpPr>
          <p:cNvPr id="49" name="Text 16">
            <a:extLst>
              <a:ext uri="{FF2B5EF4-FFF2-40B4-BE49-F238E27FC236}">
                <a16:creationId xmlns:a16="http://schemas.microsoft.com/office/drawing/2014/main" id="{0AC408A0-B31A-C6FC-7B6E-A47F36EB915B}"/>
              </a:ext>
            </a:extLst>
          </p:cNvPr>
          <p:cNvSpPr/>
          <p:nvPr userDrawn="1"/>
        </p:nvSpPr>
        <p:spPr>
          <a:xfrm>
            <a:off x="10119360" y="6315456"/>
            <a:ext cx="1767840" cy="268224"/>
          </a:xfrm>
          <a:prstGeom prst="rect">
            <a:avLst/>
          </a:prstGeom>
          <a:noFill/>
          <a:ln/>
        </p:spPr>
        <p:txBody>
          <a:bodyPr wrap="square" lIns="0" tIns="0" rIns="0" bIns="0" rtlCol="0" anchor="ctr"/>
          <a:lstStyle/>
          <a:p>
            <a:pPr algn="r"/>
            <a:r>
              <a:rPr lang="en-US" sz="1067" dirty="0">
                <a:solidFill>
                  <a:srgbClr val="9A9AAA"/>
                </a:solidFill>
              </a:rPr>
              <a:t>hpi.de/kisz</a:t>
            </a:r>
            <a:endParaRPr lang="en-US" sz="1067" dirty="0"/>
          </a:p>
        </p:txBody>
      </p:sp>
      <p:sp>
        <p:nvSpPr>
          <p:cNvPr id="50" name="Freeform 2">
            <a:extLst>
              <a:ext uri="{FF2B5EF4-FFF2-40B4-BE49-F238E27FC236}">
                <a16:creationId xmlns:a16="http://schemas.microsoft.com/office/drawing/2014/main" id="{9DDF55A5-BA23-D583-9433-54D7A064ADFA}"/>
              </a:ext>
            </a:extLst>
          </p:cNvPr>
          <p:cNvSpPr/>
          <p:nvPr userDrawn="1"/>
        </p:nvSpPr>
        <p:spPr>
          <a:xfrm>
            <a:off x="8060745" y="512066"/>
            <a:ext cx="3826456" cy="1337461"/>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8"/>
            <a:stretch>
              <a:fillRect/>
            </a:stretch>
          </a:blipFill>
        </p:spPr>
        <p:txBody>
          <a:bodyPr/>
          <a:lstStyle/>
          <a:p>
            <a:endParaRPr lang="de-DE" sz="3200"/>
          </a:p>
        </p:txBody>
      </p:sp>
      <p:sp>
        <p:nvSpPr>
          <p:cNvPr id="55" name="Google Shape;134;p15">
            <a:extLst>
              <a:ext uri="{FF2B5EF4-FFF2-40B4-BE49-F238E27FC236}">
                <a16:creationId xmlns:a16="http://schemas.microsoft.com/office/drawing/2014/main" id="{2FD44716-2679-51F1-B5DE-C83AF10CB68E}"/>
              </a:ext>
            </a:extLst>
          </p:cNvPr>
          <p:cNvSpPr txBox="1">
            <a:spLocks noGrp="1"/>
          </p:cNvSpPr>
          <p:nvPr>
            <p:ph type="title"/>
          </p:nvPr>
        </p:nvSpPr>
        <p:spPr>
          <a:xfrm>
            <a:off x="548640" y="747277"/>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4000" b="1" i="0" u="none" strike="noStrike" cap="none" dirty="0">
                <a:solidFill>
                  <a:srgbClr val="FFFFFF"/>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1" name="Textplatzhalter 59">
            <a:extLst>
              <a:ext uri="{FF2B5EF4-FFF2-40B4-BE49-F238E27FC236}">
                <a16:creationId xmlns:a16="http://schemas.microsoft.com/office/drawing/2014/main" id="{5244DE9A-EA2E-3179-8ABA-83C247D14774}"/>
              </a:ext>
            </a:extLst>
          </p:cNvPr>
          <p:cNvSpPr>
            <a:spLocks noGrp="1"/>
          </p:cNvSpPr>
          <p:nvPr>
            <p:ph type="body" sz="quarter" idx="10" hasCustomPrompt="1"/>
          </p:nvPr>
        </p:nvSpPr>
        <p:spPr>
          <a:xfrm>
            <a:off x="320666" y="1612487"/>
            <a:ext cx="1884362" cy="439166"/>
          </a:xfrm>
        </p:spPr>
        <p:txBody>
          <a:bodyPr/>
          <a:lstStyle>
            <a:lvl1pPr>
              <a:defRPr lang="de-DE" sz="1667" b="0" i="0" u="none" strike="noStrike" cap="none" smtClean="0">
                <a:solidFill>
                  <a:schemeClr val="accent3"/>
                </a:solidFill>
                <a:latin typeface="Arial"/>
                <a:ea typeface="Arial"/>
                <a:cs typeface="Arial"/>
                <a:sym typeface="Arial"/>
              </a:defRPr>
            </a:lvl1pPr>
          </a:lstStyle>
          <a:p>
            <a:pPr lvl="0"/>
            <a:r>
              <a:rPr lang="de-DE" dirty="0"/>
              <a:t>Rolle</a:t>
            </a:r>
          </a:p>
        </p:txBody>
      </p:sp>
      <p:pic>
        <p:nvPicPr>
          <p:cNvPr id="62" name="Image 1" descr="preencoded.png">
            <a:extLst>
              <a:ext uri="{FF2B5EF4-FFF2-40B4-BE49-F238E27FC236}">
                <a16:creationId xmlns:a16="http://schemas.microsoft.com/office/drawing/2014/main" id="{B5043BFC-B469-AFF1-B5F8-CCEDCA50BBE1}"/>
              </a:ext>
            </a:extLst>
          </p:cNvPr>
          <p:cNvPicPr>
            <a:picLocks noChangeAspect="1"/>
          </p:cNvPicPr>
          <p:nvPr userDrawn="1"/>
        </p:nvPicPr>
        <p:blipFill>
          <a:blip r:embed="rId9">
            <a:alphaModFix amt="80000"/>
          </a:blip>
          <a:stretch>
            <a:fillRect/>
          </a:stretch>
        </p:blipFill>
        <p:spPr>
          <a:xfrm>
            <a:off x="317913" y="6125261"/>
            <a:ext cx="1097280" cy="732739"/>
          </a:xfrm>
          <a:prstGeom prst="rect">
            <a:avLst/>
          </a:prstGeom>
        </p:spPr>
      </p:pic>
    </p:spTree>
    <p:extLst>
      <p:ext uri="{BB962C8B-B14F-4D97-AF65-F5344CB8AC3E}">
        <p14:creationId xmlns:p14="http://schemas.microsoft.com/office/powerpoint/2010/main" val="3184267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elfolie" preserve="1">
  <p:cSld name="1_Titelfolie">
    <p:bg>
      <p:bgPr>
        <a:solidFill>
          <a:schemeClr val="bg2"/>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lang="de-DE" dirty="0"/>
          </a:p>
        </p:txBody>
      </p:sp>
      <p:sp>
        <p:nvSpPr>
          <p:cNvPr id="19" name="Google Shape;19;p2"/>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118181"/>
              </a:lnSpc>
              <a:spcBef>
                <a:spcPts val="0"/>
              </a:spcBef>
              <a:spcAft>
                <a:spcPts val="0"/>
              </a:spcAft>
              <a:buClr>
                <a:schemeClr val="dk1"/>
              </a:buClr>
              <a:buSzPts val="2200"/>
              <a:buNone/>
              <a:defRPr sz="2200">
                <a:solidFill>
                  <a:schemeClr val="bg1"/>
                </a:solidFill>
              </a:defRPr>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21" name="Google Shape;21;p2"/>
          <p:cNvPicPr preferRelativeResize="0"/>
          <p:nvPr/>
        </p:nvPicPr>
        <p:blipFill rotWithShape="1">
          <a:blip r:embed="rId2">
            <a:alphaModFix/>
          </a:blip>
          <a:srcRect/>
          <a:stretch/>
        </p:blipFill>
        <p:spPr>
          <a:xfrm>
            <a:off x="5593831" y="3624398"/>
            <a:ext cx="7516383" cy="3483871"/>
          </a:xfrm>
          <a:prstGeom prst="rect">
            <a:avLst/>
          </a:prstGeom>
          <a:noFill/>
          <a:ln>
            <a:noFill/>
          </a:ln>
        </p:spPr>
      </p:pic>
      <p:sp>
        <p:nvSpPr>
          <p:cNvPr id="22" name="Google Shape;22;p2"/>
          <p:cNvSpPr txBox="1">
            <a:spLocks noGrp="1"/>
          </p:cNvSpPr>
          <p:nvPr>
            <p:ph type="dt" idx="10"/>
          </p:nvPr>
        </p:nvSpPr>
        <p:spPr>
          <a:xfrm>
            <a:off x="4186443" y="6416504"/>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23" name="Google Shape;23;p2"/>
          <p:cNvSpPr txBox="1">
            <a:spLocks noGrp="1"/>
          </p:cNvSpPr>
          <p:nvPr>
            <p:ph type="ftr" idx="11"/>
          </p:nvPr>
        </p:nvSpPr>
        <p:spPr>
          <a:xfrm>
            <a:off x="5340107" y="6416504"/>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4" name="Grafik 3">
            <a:extLst>
              <a:ext uri="{FF2B5EF4-FFF2-40B4-BE49-F238E27FC236}">
                <a16:creationId xmlns:a16="http://schemas.microsoft.com/office/drawing/2014/main" id="{A0E3660A-1D0C-8A16-64A4-473D6A33D539}"/>
              </a:ext>
            </a:extLst>
          </p:cNvPr>
          <p:cNvPicPr>
            <a:picLocks noChangeAspect="1"/>
          </p:cNvPicPr>
          <p:nvPr userDrawn="1"/>
        </p:nvPicPr>
        <p:blipFill>
          <a:blip r:embed="rId3"/>
          <a:stretch>
            <a:fillRect/>
          </a:stretch>
        </p:blipFill>
        <p:spPr>
          <a:xfrm>
            <a:off x="10004523" y="446444"/>
            <a:ext cx="1726918" cy="610163"/>
          </a:xfrm>
          <a:prstGeom prst="rect">
            <a:avLst/>
          </a:prstGeom>
        </p:spPr>
      </p:pic>
      <p:pic>
        <p:nvPicPr>
          <p:cNvPr id="6" name="Google Shape;20;p2"/>
          <p:cNvPicPr preferRelativeResize="0"/>
          <p:nvPr userDrawn="1"/>
        </p:nvPicPr>
        <p:blipFill rotWithShape="1">
          <a:blip r:embed="rId4">
            <a:alphaModFix/>
            <a:biLevel thresh="25000"/>
            <a:extLst>
              <a:ext uri="{BEBA8EAE-BF5A-486C-A8C5-ECC9F3942E4B}">
                <a14:imgProps xmlns:a14="http://schemas.microsoft.com/office/drawing/2010/main">
                  <a14:imgLayer r:embed="rId5">
                    <a14:imgEffect>
                      <a14:colorTemperature colorTemp="4700"/>
                    </a14:imgEffect>
                    <a14:imgEffect>
                      <a14:saturation sat="0"/>
                    </a14:imgEffect>
                  </a14:imgLayer>
                </a14:imgProps>
              </a:ext>
            </a:extLst>
          </a:blip>
          <a:srcRect/>
          <a:stretch/>
        </p:blipFill>
        <p:spPr>
          <a:xfrm>
            <a:off x="465589" y="5734050"/>
            <a:ext cx="2229230" cy="828000"/>
          </a:xfrm>
          <a:prstGeom prst="rect">
            <a:avLst/>
          </a:prstGeom>
          <a:noFill/>
          <a:ln>
            <a:noFill/>
          </a:ln>
        </p:spPr>
      </p:pic>
      <p:pic>
        <p:nvPicPr>
          <p:cNvPr id="3" name="Grafik 2" descr="Ein Bild, das Text, Schrift, Screenshot, Visitenkarte enthält.&#10;&#10;KI-generierte Inhalte können fehlerhaft sein.">
            <a:extLst>
              <a:ext uri="{FF2B5EF4-FFF2-40B4-BE49-F238E27FC236}">
                <a16:creationId xmlns:a16="http://schemas.microsoft.com/office/drawing/2014/main" id="{0B32D28F-B087-9B58-8189-24EDBEBFDF49}"/>
              </a:ext>
            </a:extLst>
          </p:cNvPr>
          <p:cNvPicPr>
            <a:picLocks noChangeAspect="1"/>
          </p:cNvPicPr>
          <p:nvPr userDrawn="1"/>
        </p:nvPicPr>
        <p:blipFill>
          <a:blip r:embed="rId6"/>
          <a:stretch>
            <a:fillRect/>
          </a:stretch>
        </p:blipFill>
        <p:spPr>
          <a:xfrm>
            <a:off x="10004523" y="1152000"/>
            <a:ext cx="1705179" cy="1138122"/>
          </a:xfrm>
          <a:prstGeom prst="rect">
            <a:avLst/>
          </a:prstGeom>
        </p:spPr>
      </p:pic>
    </p:spTree>
    <p:extLst>
      <p:ext uri="{BB962C8B-B14F-4D97-AF65-F5344CB8AC3E}">
        <p14:creationId xmlns:p14="http://schemas.microsoft.com/office/powerpoint/2010/main" val="217564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5" name="Google Shape;40;p4">
            <a:extLst>
              <a:ext uri="{FF2B5EF4-FFF2-40B4-BE49-F238E27FC236}">
                <a16:creationId xmlns:a16="http://schemas.microsoft.com/office/drawing/2014/main" id="{72F63D37-7F20-17B0-CCE3-94EBB86F47B6}"/>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6" name="Google Shape;134;p15">
            <a:extLst>
              <a:ext uri="{FF2B5EF4-FFF2-40B4-BE49-F238E27FC236}">
                <a16:creationId xmlns:a16="http://schemas.microsoft.com/office/drawing/2014/main" id="{82374E83-9E09-0C86-54AE-659228696D44}"/>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48364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EF291D13-D1CC-1DC3-70E1-665C5235A48F}"/>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85DED6EB-14B7-8C8F-0858-18D7E08B8FB2}"/>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77340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56ED25AF-4EBD-2254-4C4C-6AA067C5A4A5}"/>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86BB004A-89D7-8AF2-ADD3-9380902DBB96}"/>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12899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BBE6B796-4D84-E6D1-DF2E-478573A1EC66}"/>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0ABB4598-25FE-0A86-CD1F-D7AAAFEC294D}"/>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793805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14" name="Rechteck 13">
            <a:extLst>
              <a:ext uri="{FF2B5EF4-FFF2-40B4-BE49-F238E27FC236}">
                <a16:creationId xmlns:a16="http://schemas.microsoft.com/office/drawing/2014/main" id="{554FA902-61DA-6BCF-762A-CE7FE0E7BFCA}"/>
              </a:ext>
            </a:extLst>
          </p:cNvPr>
          <p:cNvSpPr/>
          <p:nvPr userDrawn="1"/>
        </p:nvSpPr>
        <p:spPr>
          <a:xfrm flipH="1">
            <a:off x="0" y="0"/>
            <a:ext cx="569934" cy="685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2" name="Google Shape;40;p4">
            <a:extLst>
              <a:ext uri="{FF2B5EF4-FFF2-40B4-BE49-F238E27FC236}">
                <a16:creationId xmlns:a16="http://schemas.microsoft.com/office/drawing/2014/main" id="{51B03F3B-0E13-8A0A-2434-8AC47371412C}"/>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6A533E51-3378-2F65-B931-842E03231CFE}"/>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61312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321B610B-64F7-D6A3-8D6F-744AF321EE42}"/>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3" name="Google Shape;40;p4">
            <a:extLst>
              <a:ext uri="{FF2B5EF4-FFF2-40B4-BE49-F238E27FC236}">
                <a16:creationId xmlns:a16="http://schemas.microsoft.com/office/drawing/2014/main" id="{D94C1399-A05C-DA8C-25EA-43D1A7C140E5}"/>
              </a:ext>
            </a:extLst>
          </p:cNvPr>
          <p:cNvSpPr txBox="1">
            <a:spLocks noGrp="1"/>
          </p:cNvSpPr>
          <p:nvPr>
            <p:ph type="body" idx="1"/>
          </p:nvPr>
        </p:nvSpPr>
        <p:spPr>
          <a:xfrm>
            <a:off x="707721" y="1123283"/>
            <a:ext cx="11065180" cy="430048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4" name="Google Shape;134;p15">
            <a:extLst>
              <a:ext uri="{FF2B5EF4-FFF2-40B4-BE49-F238E27FC236}">
                <a16:creationId xmlns:a16="http://schemas.microsoft.com/office/drawing/2014/main" id="{CFCFD0D0-E24D-98F7-3110-1728845B5EC2}"/>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05722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D907DAB2-1F16-E43A-3DC4-B6A974BAEB11}"/>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8" name="Google Shape;60;p7">
            <a:extLst>
              <a:ext uri="{FF2B5EF4-FFF2-40B4-BE49-F238E27FC236}">
                <a16:creationId xmlns:a16="http://schemas.microsoft.com/office/drawing/2014/main" id="{BFF8EA9B-1C85-4656-0FA5-E04DA75A49DD}"/>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pic>
        <p:nvPicPr>
          <p:cNvPr id="9" name="Grafik 8">
            <a:extLst>
              <a:ext uri="{FF2B5EF4-FFF2-40B4-BE49-F238E27FC236}">
                <a16:creationId xmlns:a16="http://schemas.microsoft.com/office/drawing/2014/main" id="{D63A1B92-DF67-CD59-426B-5A25B9EE240E}"/>
              </a:ext>
            </a:extLst>
          </p:cNvPr>
          <p:cNvPicPr>
            <a:picLocks noChangeAspect="1"/>
          </p:cNvPicPr>
          <p:nvPr userDrawn="1"/>
        </p:nvPicPr>
        <p:blipFill>
          <a:blip r:embed="rId4"/>
          <a:stretch>
            <a:fillRect/>
          </a:stretch>
        </p:blipFill>
        <p:spPr>
          <a:xfrm>
            <a:off x="10194867" y="311569"/>
            <a:ext cx="1660938" cy="586850"/>
          </a:xfrm>
          <a:prstGeom prst="rect">
            <a:avLst/>
          </a:prstGeom>
        </p:spPr>
      </p:pic>
      <p:sp>
        <p:nvSpPr>
          <p:cNvPr id="11" name="Google Shape;134;p15">
            <a:extLst>
              <a:ext uri="{FF2B5EF4-FFF2-40B4-BE49-F238E27FC236}">
                <a16:creationId xmlns:a16="http://schemas.microsoft.com/office/drawing/2014/main" id="{D1A9ED63-B917-4C1A-2A97-922194B70C19}"/>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37594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3"/>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E6265508-9AEA-37D5-75A4-31412279FABE}"/>
              </a:ext>
            </a:extLst>
          </p:cNvPr>
          <p:cNvSpPr/>
          <p:nvPr userDrawn="1"/>
        </p:nvSpPr>
        <p:spPr>
          <a:xfrm>
            <a:off x="200167"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6" name="Grafik 5">
            <a:extLst>
              <a:ext uri="{FF2B5EF4-FFF2-40B4-BE49-F238E27FC236}">
                <a16:creationId xmlns:a16="http://schemas.microsoft.com/office/drawing/2014/main" id="{2B3C7E3A-DCE4-A96C-6C79-D67DA44C41AA}"/>
              </a:ext>
            </a:extLst>
          </p:cNvPr>
          <p:cNvPicPr>
            <a:picLocks noChangeAspect="1"/>
          </p:cNvPicPr>
          <p:nvPr userDrawn="1"/>
        </p:nvPicPr>
        <p:blipFill>
          <a:blip r:embed="rId4"/>
          <a:srcRect l="1555" t="7416" r="3950" b="10350"/>
          <a:stretch/>
        </p:blipFill>
        <p:spPr>
          <a:xfrm>
            <a:off x="10190303" y="292593"/>
            <a:ext cx="1668083" cy="592932"/>
          </a:xfrm>
          <a:prstGeom prst="rect">
            <a:avLst/>
          </a:prstGeom>
        </p:spPr>
      </p:pic>
      <p:sp>
        <p:nvSpPr>
          <p:cNvPr id="8" name="Google Shape;60;p7">
            <a:extLst>
              <a:ext uri="{FF2B5EF4-FFF2-40B4-BE49-F238E27FC236}">
                <a16:creationId xmlns:a16="http://schemas.microsoft.com/office/drawing/2014/main" id="{FD026BEB-E418-E116-6D3D-6DB31DD85A54}"/>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9" name="Google Shape;134;p15">
            <a:extLst>
              <a:ext uri="{FF2B5EF4-FFF2-40B4-BE49-F238E27FC236}">
                <a16:creationId xmlns:a16="http://schemas.microsoft.com/office/drawing/2014/main" id="{4D92B17C-3272-C651-466F-574E1104A3A1}"/>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665795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2"/>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2759BE8E-E107-725F-DCAA-612D12BE8D23}"/>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3" name="Grafik 12">
            <a:extLst>
              <a:ext uri="{FF2B5EF4-FFF2-40B4-BE49-F238E27FC236}">
                <a16:creationId xmlns:a16="http://schemas.microsoft.com/office/drawing/2014/main" id="{A6E0C629-8494-42BD-7E2C-D046B034523F}"/>
              </a:ext>
            </a:extLst>
          </p:cNvPr>
          <p:cNvPicPr>
            <a:picLocks noChangeAspect="1"/>
          </p:cNvPicPr>
          <p:nvPr userDrawn="1"/>
        </p:nvPicPr>
        <p:blipFill>
          <a:blip r:embed="rId4"/>
          <a:srcRect l="1442" t="7231" r="483" b="3301"/>
          <a:stretch/>
        </p:blipFill>
        <p:spPr>
          <a:xfrm>
            <a:off x="10184368" y="292593"/>
            <a:ext cx="1674018" cy="592932"/>
          </a:xfrm>
          <a:prstGeom prst="rect">
            <a:avLst/>
          </a:prstGeom>
        </p:spPr>
      </p:pic>
      <p:sp>
        <p:nvSpPr>
          <p:cNvPr id="12" name="Google Shape;60;p7">
            <a:extLst>
              <a:ext uri="{FF2B5EF4-FFF2-40B4-BE49-F238E27FC236}">
                <a16:creationId xmlns:a16="http://schemas.microsoft.com/office/drawing/2014/main" id="{DB7BC548-6090-CA7A-F00D-062EBC87560F}"/>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3" name="Google Shape;134;p15">
            <a:extLst>
              <a:ext uri="{FF2B5EF4-FFF2-40B4-BE49-F238E27FC236}">
                <a16:creationId xmlns:a16="http://schemas.microsoft.com/office/drawing/2014/main" id="{4410A0B3-ADF8-BB30-C3F3-75C543046174}"/>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779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1"/>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37CFC5A3-06F9-B9EA-2D0A-3758E7734044}"/>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2" name="Grafik 11">
            <a:extLst>
              <a:ext uri="{FF2B5EF4-FFF2-40B4-BE49-F238E27FC236}">
                <a16:creationId xmlns:a16="http://schemas.microsoft.com/office/drawing/2014/main" id="{B839AA95-56E8-1B3E-FAE9-53726129AA86}"/>
              </a:ext>
            </a:extLst>
          </p:cNvPr>
          <p:cNvPicPr>
            <a:picLocks noChangeAspect="1"/>
          </p:cNvPicPr>
          <p:nvPr userDrawn="1"/>
        </p:nvPicPr>
        <p:blipFill>
          <a:blip r:embed="rId4"/>
          <a:srcRect r="1168" b="1693"/>
          <a:stretch/>
        </p:blipFill>
        <p:spPr>
          <a:xfrm>
            <a:off x="10196070" y="287536"/>
            <a:ext cx="1666842" cy="592574"/>
          </a:xfrm>
          <a:prstGeom prst="rect">
            <a:avLst/>
          </a:prstGeom>
        </p:spPr>
      </p:pic>
      <p:sp>
        <p:nvSpPr>
          <p:cNvPr id="7" name="Google Shape;60;p7">
            <a:extLst>
              <a:ext uri="{FF2B5EF4-FFF2-40B4-BE49-F238E27FC236}">
                <a16:creationId xmlns:a16="http://schemas.microsoft.com/office/drawing/2014/main" id="{B03A098F-B367-4F6D-98FD-37C79E0C8A94}"/>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3" name="Google Shape;134;p15">
            <a:extLst>
              <a:ext uri="{FF2B5EF4-FFF2-40B4-BE49-F238E27FC236}">
                <a16:creationId xmlns:a16="http://schemas.microsoft.com/office/drawing/2014/main" id="{E429B06B-B371-48FC-9D50-8885B5E8C794}"/>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455145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18E797"/>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61E948B8-829C-AB3C-FBEE-5D482CD8D845}"/>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1" name="Grafik 10">
            <a:extLst>
              <a:ext uri="{FF2B5EF4-FFF2-40B4-BE49-F238E27FC236}">
                <a16:creationId xmlns:a16="http://schemas.microsoft.com/office/drawing/2014/main" id="{2F78FD4C-17F2-9AB6-C93F-20A144842E46}"/>
              </a:ext>
            </a:extLst>
          </p:cNvPr>
          <p:cNvPicPr>
            <a:picLocks noChangeAspect="1"/>
          </p:cNvPicPr>
          <p:nvPr userDrawn="1"/>
        </p:nvPicPr>
        <p:blipFill>
          <a:blip r:embed="rId4"/>
          <a:srcRect l="934" t="6899" r="623"/>
          <a:stretch/>
        </p:blipFill>
        <p:spPr>
          <a:xfrm>
            <a:off x="10203690" y="302761"/>
            <a:ext cx="1654696" cy="583224"/>
          </a:xfrm>
          <a:prstGeom prst="rect">
            <a:avLst/>
          </a:prstGeom>
        </p:spPr>
      </p:pic>
      <p:sp>
        <p:nvSpPr>
          <p:cNvPr id="7" name="Google Shape;60;p7">
            <a:extLst>
              <a:ext uri="{FF2B5EF4-FFF2-40B4-BE49-F238E27FC236}">
                <a16:creationId xmlns:a16="http://schemas.microsoft.com/office/drawing/2014/main" id="{59173232-E0CF-C3DF-2C57-6CD02D20AB02}"/>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3" name="Google Shape;134;p15">
            <a:extLst>
              <a:ext uri="{FF2B5EF4-FFF2-40B4-BE49-F238E27FC236}">
                <a16:creationId xmlns:a16="http://schemas.microsoft.com/office/drawing/2014/main" id="{989240F9-9A4B-7B9D-0547-6348EF6F8B74}"/>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030315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007A9E"/>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ED091F16-BA09-BADD-0CB2-E82A3AAF3BB8}"/>
              </a:ext>
            </a:extLst>
          </p:cNvPr>
          <p:cNvSpPr/>
          <p:nvPr userDrawn="1"/>
        </p:nvSpPr>
        <p:spPr>
          <a:xfrm>
            <a:off x="197893" y="257680"/>
            <a:ext cx="11791665" cy="6380523"/>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2" name="Google Shape;42;p5"/>
          <p:cNvPicPr preferRelativeResize="0"/>
          <p:nvPr/>
        </p:nvPicPr>
        <p:blipFill rotWithShape="1">
          <a:blip r:embed="rId2">
            <a:alphaModFix/>
          </a:blip>
          <a:srcRect/>
          <a:stretch/>
        </p:blipFill>
        <p:spPr>
          <a:xfrm>
            <a:off x="-1605200" y="2536825"/>
            <a:ext cx="6228000" cy="5073727"/>
          </a:xfrm>
          <a:prstGeom prst="rect">
            <a:avLst/>
          </a:prstGeom>
          <a:noFill/>
          <a:ln>
            <a:noFill/>
          </a:ln>
        </p:spPr>
      </p:pic>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10" name="Grafik 9">
            <a:extLst>
              <a:ext uri="{FF2B5EF4-FFF2-40B4-BE49-F238E27FC236}">
                <a16:creationId xmlns:a16="http://schemas.microsoft.com/office/drawing/2014/main" id="{9950FE25-7202-9838-476E-FCBBB7AA4DF2}"/>
              </a:ext>
            </a:extLst>
          </p:cNvPr>
          <p:cNvPicPr>
            <a:picLocks noChangeAspect="1"/>
          </p:cNvPicPr>
          <p:nvPr userDrawn="1"/>
        </p:nvPicPr>
        <p:blipFill>
          <a:blip r:embed="rId4"/>
          <a:srcRect t="3736" r="623" b="3087"/>
          <a:stretch/>
        </p:blipFill>
        <p:spPr>
          <a:xfrm>
            <a:off x="10194866" y="311568"/>
            <a:ext cx="1660938" cy="572841"/>
          </a:xfrm>
          <a:prstGeom prst="rect">
            <a:avLst/>
          </a:prstGeom>
        </p:spPr>
      </p:pic>
      <p:sp>
        <p:nvSpPr>
          <p:cNvPr id="8" name="Google Shape;60;p7">
            <a:extLst>
              <a:ext uri="{FF2B5EF4-FFF2-40B4-BE49-F238E27FC236}">
                <a16:creationId xmlns:a16="http://schemas.microsoft.com/office/drawing/2014/main" id="{BFF8EA9B-1C85-4656-0FA5-E04DA75A49DD}"/>
              </a:ext>
            </a:extLst>
          </p:cNvPr>
          <p:cNvSpPr txBox="1">
            <a:spLocks noGrp="1"/>
          </p:cNvSpPr>
          <p:nvPr>
            <p:ph type="sldNum" idx="12"/>
          </p:nvPr>
        </p:nvSpPr>
        <p:spPr>
          <a:xfrm>
            <a:off x="11429584" y="616665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3" name="Google Shape;134;p15">
            <a:extLst>
              <a:ext uri="{FF2B5EF4-FFF2-40B4-BE49-F238E27FC236}">
                <a16:creationId xmlns:a16="http://schemas.microsoft.com/office/drawing/2014/main" id="{432F4061-6CF1-1989-B16F-E4BB5A305BDF}"/>
              </a:ext>
            </a:extLst>
          </p:cNvPr>
          <p:cNvSpPr txBox="1">
            <a:spLocks noGrp="1"/>
          </p:cNvSpPr>
          <p:nvPr>
            <p:ph type="title"/>
          </p:nvPr>
        </p:nvSpPr>
        <p:spPr>
          <a:xfrm>
            <a:off x="707721" y="260100"/>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425422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3"/>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9EB253E7-E103-C0CF-3E17-93350DD7A41F}"/>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6" name="Google Shape;40;p4">
            <a:extLst>
              <a:ext uri="{FF2B5EF4-FFF2-40B4-BE49-F238E27FC236}">
                <a16:creationId xmlns:a16="http://schemas.microsoft.com/office/drawing/2014/main" id="{FC6DA92D-7911-DC9B-2294-661E3C37E9B7}"/>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2" name="Google Shape;24;p2">
            <a:extLst>
              <a:ext uri="{FF2B5EF4-FFF2-40B4-BE49-F238E27FC236}">
                <a16:creationId xmlns:a16="http://schemas.microsoft.com/office/drawing/2014/main" id="{9D099F0C-E26D-002A-1705-74ACEAC45C7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1" name="Google Shape;134;p15">
            <a:extLst>
              <a:ext uri="{FF2B5EF4-FFF2-40B4-BE49-F238E27FC236}">
                <a16:creationId xmlns:a16="http://schemas.microsoft.com/office/drawing/2014/main" id="{68D0BE14-D3E5-25A6-996E-4246A573A1B8}"/>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71023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2"/>
        </a:solidFill>
        <a:effectLst/>
      </p:bgPr>
    </p:bg>
    <p:spTree>
      <p:nvGrpSpPr>
        <p:cNvPr id="1" name="Shape 41"/>
        <p:cNvGrpSpPr/>
        <p:nvPr/>
      </p:nvGrpSpPr>
      <p:grpSpPr>
        <a:xfrm>
          <a:off x="0" y="0"/>
          <a:ext cx="0" cy="0"/>
          <a:chOff x="0" y="0"/>
          <a:chExt cx="0" cy="0"/>
        </a:xfrm>
      </p:grpSpPr>
      <p:sp>
        <p:nvSpPr>
          <p:cNvPr id="12" name="Rechteck 11">
            <a:extLst>
              <a:ext uri="{FF2B5EF4-FFF2-40B4-BE49-F238E27FC236}">
                <a16:creationId xmlns:a16="http://schemas.microsoft.com/office/drawing/2014/main" id="{BE3A5BAD-26C8-942D-897C-C51DD99FAED3}"/>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9FAFF30B-54F1-8E0C-5984-0B9104490FDE}"/>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3" name="Google Shape;40;p4">
            <a:extLst>
              <a:ext uri="{FF2B5EF4-FFF2-40B4-BE49-F238E27FC236}">
                <a16:creationId xmlns:a16="http://schemas.microsoft.com/office/drawing/2014/main" id="{CE79A2F5-8992-C8F4-E0BF-0E2CB8A77A2C}"/>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4" name="Google Shape;134;p15">
            <a:extLst>
              <a:ext uri="{FF2B5EF4-FFF2-40B4-BE49-F238E27FC236}">
                <a16:creationId xmlns:a16="http://schemas.microsoft.com/office/drawing/2014/main" id="{9D4A5B76-004C-DA5D-AF37-684670EE1881}"/>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721953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accent1"/>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B2E3FD4D-4BAE-20D9-F11B-C9B907C1C103}"/>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D613D350-73C4-A254-2B82-A2D28A43D58A}"/>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2" name="Google Shape;40;p4">
            <a:extLst>
              <a:ext uri="{FF2B5EF4-FFF2-40B4-BE49-F238E27FC236}">
                <a16:creationId xmlns:a16="http://schemas.microsoft.com/office/drawing/2014/main" id="{8ABFDF8E-2714-DEBF-2939-E469AC3CEED2}"/>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2F1A62A0-5198-FFB5-EF03-EB8E2C3B27DB}"/>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350162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007A9E"/>
        </a:solidFill>
        <a:effectLst/>
      </p:bgPr>
    </p:bg>
    <p:spTree>
      <p:nvGrpSpPr>
        <p:cNvPr id="1" name="Shape 41"/>
        <p:cNvGrpSpPr/>
        <p:nvPr/>
      </p:nvGrpSpPr>
      <p:grpSpPr>
        <a:xfrm>
          <a:off x="0" y="0"/>
          <a:ext cx="0" cy="0"/>
          <a:chOff x="0" y="0"/>
          <a:chExt cx="0" cy="0"/>
        </a:xfrm>
      </p:grpSpPr>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8DDDF9D8-8B75-D2E4-A55A-F57F61F8EE1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4" name="Google Shape;40;p4">
            <a:extLst>
              <a:ext uri="{FF2B5EF4-FFF2-40B4-BE49-F238E27FC236}">
                <a16:creationId xmlns:a16="http://schemas.microsoft.com/office/drawing/2014/main" id="{89DC3406-4947-803D-3A4E-28BBF825E8C9}"/>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5" name="Google Shape;134;p15">
            <a:extLst>
              <a:ext uri="{FF2B5EF4-FFF2-40B4-BE49-F238E27FC236}">
                <a16:creationId xmlns:a16="http://schemas.microsoft.com/office/drawing/2014/main" id="{C590BE0F-A166-C2BF-D6AF-180CDA0B08C4}"/>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32601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rgbClr val="18E797"/>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09E99921-C510-7243-5D50-F7AD23D7FC9B}"/>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2A3D60E5-5F1B-EC13-9002-8CE5275DF730}"/>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2" name="Google Shape;40;p4">
            <a:extLst>
              <a:ext uri="{FF2B5EF4-FFF2-40B4-BE49-F238E27FC236}">
                <a16:creationId xmlns:a16="http://schemas.microsoft.com/office/drawing/2014/main" id="{46D99F7D-81E8-E37E-8330-1F5F41E5AAE9}"/>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834A3C04-9B40-860D-61A6-73D38134BA4B}"/>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264033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7" name="Rechteck 6">
            <a:extLst>
              <a:ext uri="{FF2B5EF4-FFF2-40B4-BE49-F238E27FC236}">
                <a16:creationId xmlns:a16="http://schemas.microsoft.com/office/drawing/2014/main" id="{4D6DD659-B927-3964-615D-EC244D06202E}"/>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a:off x="3006250" y="0"/>
            <a:ext cx="918575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pic>
        <p:nvPicPr>
          <p:cNvPr id="3" name="Grafik 2" descr="Ein Bild, das Text, Schrift, Screenshot, Grafiken enthält.&#10;&#10;KI-generierte Inhalte können fehlerhaft sein.">
            <a:extLst>
              <a:ext uri="{FF2B5EF4-FFF2-40B4-BE49-F238E27FC236}">
                <a16:creationId xmlns:a16="http://schemas.microsoft.com/office/drawing/2014/main" id="{0D51BF53-641B-1A42-11E3-E1F67454E166}"/>
              </a:ext>
            </a:extLst>
          </p:cNvPr>
          <p:cNvPicPr>
            <a:picLocks noChangeAspect="1"/>
          </p:cNvPicPr>
          <p:nvPr userDrawn="1"/>
        </p:nvPicPr>
        <p:blipFill>
          <a:blip r:embed="rId3"/>
          <a:stretch>
            <a:fillRect/>
          </a:stretch>
        </p:blipFill>
        <p:spPr>
          <a:xfrm>
            <a:off x="10226606" y="260100"/>
            <a:ext cx="1705178" cy="603083"/>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1" name="Google Shape;24;p2">
            <a:extLst>
              <a:ext uri="{FF2B5EF4-FFF2-40B4-BE49-F238E27FC236}">
                <a16:creationId xmlns:a16="http://schemas.microsoft.com/office/drawing/2014/main" id="{2A3D60E5-5F1B-EC13-9002-8CE5275DF730}"/>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12" name="Google Shape;40;p4">
            <a:extLst>
              <a:ext uri="{FF2B5EF4-FFF2-40B4-BE49-F238E27FC236}">
                <a16:creationId xmlns:a16="http://schemas.microsoft.com/office/drawing/2014/main" id="{466811DF-A9BB-2F47-E804-FEEAF2BCBFF5}"/>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6A022888-6633-0D84-D7B7-8CF3508601E8}"/>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tx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13337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2A0280BF-0E7C-AFED-D6FE-678A1880DF56}"/>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bg1"/>
              </a:solidFill>
            </a:endParaRPr>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bg1"/>
              </a:solidFill>
            </a:endParaRPr>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2" name="Google Shape;24;p2">
            <a:extLst>
              <a:ext uri="{FF2B5EF4-FFF2-40B4-BE49-F238E27FC236}">
                <a16:creationId xmlns:a16="http://schemas.microsoft.com/office/drawing/2014/main" id="{62D25E61-2D57-F3CB-D94A-377D8FD00DBC}"/>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1" name="Google Shape;40;p4">
            <a:extLst>
              <a:ext uri="{FF2B5EF4-FFF2-40B4-BE49-F238E27FC236}">
                <a16:creationId xmlns:a16="http://schemas.microsoft.com/office/drawing/2014/main" id="{23031402-6EC7-6D0B-0C21-55A800158E04}"/>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2CC05627-B4CE-8193-CB4C-A9CD8EFA7C1A}"/>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069401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9E50E069-5CB9-5398-B121-9F8D075B6CBA}"/>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775894F4-7512-9DCE-C06E-3692E9AF9746}"/>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8CF486B0-3028-8CCA-1246-88FBCD773954}"/>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7157B6B7-BB38-E050-26B8-421020BD146E}"/>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124255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C95FD821-2EF0-F787-BD25-59427DA2FCB9}"/>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D5DBA9C0-1367-43D6-F92B-2BC631589F24}"/>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AF81C945-CDA9-D795-D99E-9E6956E08034}"/>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54133D51-A694-9CD9-6F8D-7E8E5699785C}"/>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76719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3C95AD7B-2E81-A66B-FE43-97CF906AD6C5}"/>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rgbClr val="007A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AE2036F9-DFD9-5610-5439-957AC760DE6E}"/>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0ADCEF86-E678-7C5D-ED12-815CF326072B}"/>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AD93AF2E-B9F4-E470-5741-A4F1004D403A}"/>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6995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Zwischentitel" preserve="1" userDrawn="1">
  <p:cSld name="1_Zwischentitel">
    <p:bg>
      <p:bgPr>
        <a:solidFill>
          <a:schemeClr val="tx1"/>
        </a:solidFill>
        <a:effectLst/>
      </p:bgPr>
    </p:bg>
    <p:spTree>
      <p:nvGrpSpPr>
        <p:cNvPr id="1" name="Shape 41"/>
        <p:cNvGrpSpPr/>
        <p:nvPr/>
      </p:nvGrpSpPr>
      <p:grpSpPr>
        <a:xfrm>
          <a:off x="0" y="0"/>
          <a:ext cx="0" cy="0"/>
          <a:chOff x="0" y="0"/>
          <a:chExt cx="0" cy="0"/>
        </a:xfrm>
      </p:grpSpPr>
      <p:sp>
        <p:nvSpPr>
          <p:cNvPr id="3" name="Rechteck 2">
            <a:extLst>
              <a:ext uri="{FF2B5EF4-FFF2-40B4-BE49-F238E27FC236}">
                <a16:creationId xmlns:a16="http://schemas.microsoft.com/office/drawing/2014/main" id="{34D93132-4A58-7B06-7D90-E715012A5D84}"/>
              </a:ext>
            </a:extLst>
          </p:cNvPr>
          <p:cNvSpPr/>
          <p:nvPr userDrawn="1"/>
        </p:nvSpPr>
        <p:spPr>
          <a:xfrm>
            <a:off x="197893" y="156950"/>
            <a:ext cx="11849327" cy="6658304"/>
          </a:xfrm>
          <a:prstGeom prst="rect">
            <a:avLst/>
          </a:prstGeom>
          <a:solidFill>
            <a:schemeClr val="bg1">
              <a:alpha val="0"/>
            </a:schemeClr>
          </a:solidFill>
          <a:ln w="3175">
            <a:solidFill>
              <a:schemeClr val="bg1"/>
            </a:solidFill>
            <a:extLst>
              <a:ext uri="{C807C97D-BFC1-408E-A445-0C87EB9F89A2}">
                <ask:lineSketchStyleProps xmlns:ask="http://schemas.microsoft.com/office/drawing/2018/sketchyshapes" sd="1219033472">
                  <a:custGeom>
                    <a:avLst/>
                    <a:gdLst>
                      <a:gd name="connsiteX0" fmla="*/ 0 w 11791665"/>
                      <a:gd name="connsiteY0" fmla="*/ 0 h 6380523"/>
                      <a:gd name="connsiteX1" fmla="*/ 11791665 w 11791665"/>
                      <a:gd name="connsiteY1" fmla="*/ 0 h 6380523"/>
                      <a:gd name="connsiteX2" fmla="*/ 11791665 w 11791665"/>
                      <a:gd name="connsiteY2" fmla="*/ 6380523 h 6380523"/>
                      <a:gd name="connsiteX3" fmla="*/ 0 w 11791665"/>
                      <a:gd name="connsiteY3" fmla="*/ 6380523 h 6380523"/>
                      <a:gd name="connsiteX4" fmla="*/ 0 w 11791665"/>
                      <a:gd name="connsiteY4" fmla="*/ 0 h 63805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91665" h="6380523" fill="none" extrusionOk="0">
                        <a:moveTo>
                          <a:pt x="0" y="0"/>
                        </a:moveTo>
                        <a:cubicBezTo>
                          <a:pt x="5345973" y="-49533"/>
                          <a:pt x="10352354" y="-14809"/>
                          <a:pt x="11791665" y="0"/>
                        </a:cubicBezTo>
                        <a:cubicBezTo>
                          <a:pt x="11879304" y="1750192"/>
                          <a:pt x="11718986" y="3383135"/>
                          <a:pt x="11791665" y="6380523"/>
                        </a:cubicBezTo>
                        <a:cubicBezTo>
                          <a:pt x="6237130" y="6332292"/>
                          <a:pt x="3831076" y="6464978"/>
                          <a:pt x="0" y="6380523"/>
                        </a:cubicBezTo>
                        <a:cubicBezTo>
                          <a:pt x="-38581" y="4235942"/>
                          <a:pt x="63341" y="2792378"/>
                          <a:pt x="0" y="0"/>
                        </a:cubicBezTo>
                        <a:close/>
                      </a:path>
                      <a:path w="11791665" h="6380523" stroke="0" extrusionOk="0">
                        <a:moveTo>
                          <a:pt x="0" y="0"/>
                        </a:moveTo>
                        <a:cubicBezTo>
                          <a:pt x="5640788" y="118645"/>
                          <a:pt x="8448249" y="116012"/>
                          <a:pt x="11791665" y="0"/>
                        </a:cubicBezTo>
                        <a:cubicBezTo>
                          <a:pt x="11658783" y="3004110"/>
                          <a:pt x="11876616" y="3582214"/>
                          <a:pt x="11791665" y="6380523"/>
                        </a:cubicBezTo>
                        <a:cubicBezTo>
                          <a:pt x="7046566" y="6515123"/>
                          <a:pt x="2218985" y="6223327"/>
                          <a:pt x="0" y="6380523"/>
                        </a:cubicBezTo>
                        <a:cubicBezTo>
                          <a:pt x="-20187" y="4401602"/>
                          <a:pt x="-152480" y="1774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Rechteck 1">
            <a:extLst>
              <a:ext uri="{FF2B5EF4-FFF2-40B4-BE49-F238E27FC236}">
                <a16:creationId xmlns:a16="http://schemas.microsoft.com/office/drawing/2014/main" id="{96FFBA11-7FCA-3966-39B5-60F5B59721B3}"/>
              </a:ext>
            </a:extLst>
          </p:cNvPr>
          <p:cNvSpPr/>
          <p:nvPr userDrawn="1"/>
        </p:nvSpPr>
        <p:spPr>
          <a:xfrm flipH="1">
            <a:off x="0" y="0"/>
            <a:ext cx="3006250" cy="6858000"/>
          </a:xfrm>
          <a:prstGeom prst="rect">
            <a:avLst/>
          </a:prstGeom>
          <a:solidFill>
            <a:srgbClr val="18E7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Gleichschenkliges Dreieck 3">
            <a:extLst>
              <a:ext uri="{FF2B5EF4-FFF2-40B4-BE49-F238E27FC236}">
                <a16:creationId xmlns:a16="http://schemas.microsoft.com/office/drawing/2014/main" id="{BE50F177-A027-607B-9C5F-BA223FDF9AC7}"/>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Text, Schrift, Screenshot, Visitenkarte enthält.&#10;&#10;KI-generierte Inhalte können fehlerhaft sein.">
            <a:extLst>
              <a:ext uri="{FF2B5EF4-FFF2-40B4-BE49-F238E27FC236}">
                <a16:creationId xmlns:a16="http://schemas.microsoft.com/office/drawing/2014/main" id="{280295F7-B35C-2331-7AF0-8F769AF31F4A}"/>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B59B0B50-F62E-E1B4-B518-263B08865AF5}"/>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E8B333C8-FF8D-F62D-C810-03DD02DEEBD6}"/>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pic>
        <p:nvPicPr>
          <p:cNvPr id="7" name="Grafik 6">
            <a:extLst>
              <a:ext uri="{FF2B5EF4-FFF2-40B4-BE49-F238E27FC236}">
                <a16:creationId xmlns:a16="http://schemas.microsoft.com/office/drawing/2014/main" id="{92879055-9A2F-BCD3-456C-CEF593B5F61B}"/>
              </a:ext>
            </a:extLst>
          </p:cNvPr>
          <p:cNvPicPr>
            <a:picLocks noChangeAspect="1"/>
          </p:cNvPicPr>
          <p:nvPr userDrawn="1"/>
        </p:nvPicPr>
        <p:blipFill>
          <a:blip r:embed="rId3"/>
          <a:stretch>
            <a:fillRect/>
          </a:stretch>
        </p:blipFill>
        <p:spPr>
          <a:xfrm>
            <a:off x="10224903" y="260100"/>
            <a:ext cx="1706881" cy="603083"/>
          </a:xfrm>
          <a:prstGeom prst="rect">
            <a:avLst/>
          </a:prstGeom>
        </p:spPr>
      </p:pic>
      <p:sp>
        <p:nvSpPr>
          <p:cNvPr id="11" name="Google Shape;24;p2">
            <a:extLst>
              <a:ext uri="{FF2B5EF4-FFF2-40B4-BE49-F238E27FC236}">
                <a16:creationId xmlns:a16="http://schemas.microsoft.com/office/drawing/2014/main" id="{321B610B-64F7-D6A3-8D6F-744AF321EE42}"/>
              </a:ext>
            </a:extLst>
          </p:cNvPr>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12" name="Google Shape;40;p4">
            <a:extLst>
              <a:ext uri="{FF2B5EF4-FFF2-40B4-BE49-F238E27FC236}">
                <a16:creationId xmlns:a16="http://schemas.microsoft.com/office/drawing/2014/main" id="{41F88245-1CCC-370D-1062-CB04B28AB5D7}"/>
              </a:ext>
            </a:extLst>
          </p:cNvPr>
          <p:cNvSpPr txBox="1">
            <a:spLocks noGrp="1"/>
          </p:cNvSpPr>
          <p:nvPr>
            <p:ph type="body" idx="1"/>
          </p:nvPr>
        </p:nvSpPr>
        <p:spPr>
          <a:xfrm>
            <a:off x="3114675" y="1144092"/>
            <a:ext cx="8658226" cy="4818298"/>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3" name="Google Shape;134;p15">
            <a:extLst>
              <a:ext uri="{FF2B5EF4-FFF2-40B4-BE49-F238E27FC236}">
                <a16:creationId xmlns:a16="http://schemas.microsoft.com/office/drawing/2014/main" id="{579F8731-A184-B349-31B3-18F2A474AECC}"/>
              </a:ext>
            </a:extLst>
          </p:cNvPr>
          <p:cNvSpPr txBox="1">
            <a:spLocks noGrp="1"/>
          </p:cNvSpPr>
          <p:nvPr>
            <p:ph type="title"/>
          </p:nvPr>
        </p:nvSpPr>
        <p:spPr>
          <a:xfrm>
            <a:off x="3114675" y="26089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011203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Leer hell" preserve="1" userDrawn="1">
  <p:cSld name="Leer hell">
    <p:bg>
      <p:bgPr>
        <a:solidFill>
          <a:schemeClr val="bg2"/>
        </a:solidFill>
        <a:effectLst/>
      </p:bgPr>
    </p:bg>
    <p:spTree>
      <p:nvGrpSpPr>
        <p:cNvPr id="1" name="Shape 55"/>
        <p:cNvGrpSpPr/>
        <p:nvPr/>
      </p:nvGrpSpPr>
      <p:grpSpPr>
        <a:xfrm>
          <a:off x="0" y="0"/>
          <a:ext cx="0" cy="0"/>
          <a:chOff x="0" y="0"/>
          <a:chExt cx="0" cy="0"/>
        </a:xfrm>
      </p:grpSpPr>
      <p:pic>
        <p:nvPicPr>
          <p:cNvPr id="13" name="Google Shape;42;p5">
            <a:extLst>
              <a:ext uri="{FF2B5EF4-FFF2-40B4-BE49-F238E27FC236}">
                <a16:creationId xmlns:a16="http://schemas.microsoft.com/office/drawing/2014/main" id="{826AB866-D8C1-E796-E460-12E4F2141A61}"/>
              </a:ext>
            </a:extLst>
          </p:cNvPr>
          <p:cNvPicPr preferRelativeResize="0"/>
          <p:nvPr userDrawn="1"/>
        </p:nvPicPr>
        <p:blipFill rotWithShape="1">
          <a:blip r:embed="rId2">
            <a:alphaModFix/>
          </a:blip>
          <a:srcRect/>
          <a:stretch/>
        </p:blipFill>
        <p:spPr>
          <a:xfrm rot="10800000" flipV="1">
            <a:off x="6513446" y="2441422"/>
            <a:ext cx="7789690" cy="5946121"/>
          </a:xfrm>
          <a:prstGeom prst="rect">
            <a:avLst/>
          </a:prstGeom>
          <a:noFill/>
          <a:ln>
            <a:noFill/>
          </a:ln>
          <a:effectLst>
            <a:reflection blurRad="6350" stA="52000" endA="300" endPos="35000" dir="5400000" sy="-100000" algn="bl" rotWithShape="0"/>
          </a:effectLst>
        </p:spPr>
      </p:pic>
      <p:sp>
        <p:nvSpPr>
          <p:cNvPr id="60" name="Google Shape;60;p7"/>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‹Nr.›</a:t>
            </a:fld>
            <a:endParaRPr lang="de-DE" dirty="0"/>
          </a:p>
        </p:txBody>
      </p:sp>
      <p:sp>
        <p:nvSpPr>
          <p:cNvPr id="5" name="Gleichschenkliges Dreieck 4">
            <a:extLst>
              <a:ext uri="{FF2B5EF4-FFF2-40B4-BE49-F238E27FC236}">
                <a16:creationId xmlns:a16="http://schemas.microsoft.com/office/drawing/2014/main" id="{992FB5AC-7938-700F-A2DE-6E72FFE0D756}"/>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Schrift, Screenshot, Visitenkarte enthält.&#10;&#10;KI-generierte Inhalte können fehlerhaft sein.">
            <a:extLst>
              <a:ext uri="{FF2B5EF4-FFF2-40B4-BE49-F238E27FC236}">
                <a16:creationId xmlns:a16="http://schemas.microsoft.com/office/drawing/2014/main" id="{56E674C0-461E-EB3E-51A7-188B569B21F8}"/>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9" name="Google Shape;139;p16">
            <a:extLst>
              <a:ext uri="{FF2B5EF4-FFF2-40B4-BE49-F238E27FC236}">
                <a16:creationId xmlns:a16="http://schemas.microsoft.com/office/drawing/2014/main" id="{144B6387-8C7C-8BA8-DAD4-9E24A34F4E09}"/>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0" name="Google Shape;140;p16">
            <a:extLst>
              <a:ext uri="{FF2B5EF4-FFF2-40B4-BE49-F238E27FC236}">
                <a16:creationId xmlns:a16="http://schemas.microsoft.com/office/drawing/2014/main" id="{C9AA6CDF-C2D8-66CE-164D-43EDC659F4EC}"/>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14" name="Google Shape;50;p6">
            <a:extLst>
              <a:ext uri="{FF2B5EF4-FFF2-40B4-BE49-F238E27FC236}">
                <a16:creationId xmlns:a16="http://schemas.microsoft.com/office/drawing/2014/main" id="{DFA379ED-BBB8-344D-3762-3D5D7DE02530}"/>
              </a:ext>
            </a:extLst>
          </p:cNvPr>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5" name="Google Shape;52;p6">
            <a:extLst>
              <a:ext uri="{FF2B5EF4-FFF2-40B4-BE49-F238E27FC236}">
                <a16:creationId xmlns:a16="http://schemas.microsoft.com/office/drawing/2014/main" id="{82E9E9B7-158B-6C97-993D-E5724D5D56CE}"/>
              </a:ext>
            </a:extLst>
          </p:cNvPr>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91666"/>
              </a:lnSpc>
              <a:spcBef>
                <a:spcPts val="0"/>
              </a:spcBef>
              <a:spcAft>
                <a:spcPts val="0"/>
              </a:spcAft>
              <a:buClr>
                <a:schemeClr val="dk1"/>
              </a:buClr>
              <a:buSzPts val="2400"/>
              <a:buNone/>
              <a:defRPr sz="2400">
                <a:solidFill>
                  <a:schemeClr val="bg1"/>
                </a:solidFill>
              </a:defRPr>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16" name="Grafik 15">
            <a:extLst>
              <a:ext uri="{FF2B5EF4-FFF2-40B4-BE49-F238E27FC236}">
                <a16:creationId xmlns:a16="http://schemas.microsoft.com/office/drawing/2014/main" id="{039243C2-AB81-0464-CB69-B49220FC4D71}"/>
              </a:ext>
            </a:extLst>
          </p:cNvPr>
          <p:cNvPicPr>
            <a:picLocks noChangeAspect="1"/>
          </p:cNvPicPr>
          <p:nvPr userDrawn="1"/>
        </p:nvPicPr>
        <p:blipFill>
          <a:blip r:embed="rId4"/>
          <a:stretch>
            <a:fillRect/>
          </a:stretch>
        </p:blipFill>
        <p:spPr>
          <a:xfrm>
            <a:off x="9982786" y="438764"/>
            <a:ext cx="1748655" cy="617843"/>
          </a:xfrm>
          <a:prstGeom prst="rect">
            <a:avLst/>
          </a:prstGeom>
        </p:spPr>
      </p:pic>
    </p:spTree>
    <p:extLst>
      <p:ext uri="{BB962C8B-B14F-4D97-AF65-F5344CB8AC3E}">
        <p14:creationId xmlns:p14="http://schemas.microsoft.com/office/powerpoint/2010/main" val="3550251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Leer dunkel" preserve="1">
  <p:cSld name="1_Leer dunkel">
    <p:bg>
      <p:bgPr>
        <a:solidFill>
          <a:schemeClr val="dk1"/>
        </a:solidFill>
        <a:effectLst/>
      </p:bgPr>
    </p:bg>
    <p:spTree>
      <p:nvGrpSpPr>
        <p:cNvPr id="1" name="Shape 61"/>
        <p:cNvGrpSpPr/>
        <p:nvPr/>
      </p:nvGrpSpPr>
      <p:grpSpPr>
        <a:xfrm>
          <a:off x="0" y="0"/>
          <a:ext cx="0" cy="0"/>
          <a:chOff x="0" y="0"/>
          <a:chExt cx="0" cy="0"/>
        </a:xfrm>
      </p:grpSpPr>
      <p:pic>
        <p:nvPicPr>
          <p:cNvPr id="9" name="Grafik 8">
            <a:extLst>
              <a:ext uri="{FF2B5EF4-FFF2-40B4-BE49-F238E27FC236}">
                <a16:creationId xmlns:a16="http://schemas.microsoft.com/office/drawing/2014/main" id="{B0BF41E5-5043-1676-634A-40E34BE61419}"/>
              </a:ext>
            </a:extLst>
          </p:cNvPr>
          <p:cNvPicPr>
            <a:picLocks noChangeAspect="1"/>
          </p:cNvPicPr>
          <p:nvPr userDrawn="1"/>
        </p:nvPicPr>
        <p:blipFill>
          <a:blip r:embed="rId2"/>
          <a:stretch>
            <a:fillRect/>
          </a:stretch>
        </p:blipFill>
        <p:spPr>
          <a:xfrm>
            <a:off x="10224903" y="260100"/>
            <a:ext cx="1706881" cy="603083"/>
          </a:xfrm>
          <a:prstGeom prst="rect">
            <a:avLst/>
          </a:prstGeom>
        </p:spPr>
      </p:pic>
      <p:sp>
        <p:nvSpPr>
          <p:cNvPr id="15" name="Gleichschenkliges Dreieck 14">
            <a:extLst>
              <a:ext uri="{FF2B5EF4-FFF2-40B4-BE49-F238E27FC236}">
                <a16:creationId xmlns:a16="http://schemas.microsoft.com/office/drawing/2014/main" id="{80A1D962-6EBE-42A3-9745-798764273018}"/>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6" name="Grafik 15" descr="Ein Bild, das Text, Schrift, Screenshot, Visitenkarte enthält.&#10;&#10;KI-generierte Inhalte können fehlerhaft sein.">
            <a:extLst>
              <a:ext uri="{FF2B5EF4-FFF2-40B4-BE49-F238E27FC236}">
                <a16:creationId xmlns:a16="http://schemas.microsoft.com/office/drawing/2014/main" id="{2E67989E-C41B-4A5E-A549-5592B33B1609}"/>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pic>
        <p:nvPicPr>
          <p:cNvPr id="22" name="Google Shape;42;p5">
            <a:extLst>
              <a:ext uri="{FF2B5EF4-FFF2-40B4-BE49-F238E27FC236}">
                <a16:creationId xmlns:a16="http://schemas.microsoft.com/office/drawing/2014/main" id="{C66AEA29-77E0-21E3-CA86-7D515B5A085C}"/>
              </a:ext>
            </a:extLst>
          </p:cNvPr>
          <p:cNvPicPr preferRelativeResize="0"/>
          <p:nvPr userDrawn="1"/>
        </p:nvPicPr>
        <p:blipFill rotWithShape="1">
          <a:blip r:embed="rId4">
            <a:alphaModFix/>
          </a:blip>
          <a:srcRect/>
          <a:stretch/>
        </p:blipFill>
        <p:spPr>
          <a:xfrm>
            <a:off x="-3085333" y="260100"/>
            <a:ext cx="9660910" cy="7870394"/>
          </a:xfrm>
          <a:prstGeom prst="rect">
            <a:avLst/>
          </a:prstGeom>
          <a:noFill/>
          <a:ln>
            <a:noFill/>
          </a:ln>
        </p:spPr>
      </p:pic>
    </p:spTree>
    <p:extLst>
      <p:ext uri="{BB962C8B-B14F-4D97-AF65-F5344CB8AC3E}">
        <p14:creationId xmlns:p14="http://schemas.microsoft.com/office/powerpoint/2010/main" val="175747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extLst>
      <p:ext uri="{BB962C8B-B14F-4D97-AF65-F5344CB8AC3E}">
        <p14:creationId xmlns:p14="http://schemas.microsoft.com/office/powerpoint/2010/main" val="29977375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bschlussfolie" preserve="1">
  <p:cSld name="Abschlussfolie">
    <p:bg>
      <p:bgPr>
        <a:solidFill>
          <a:schemeClr val="lt1"/>
        </a:solidFill>
        <a:effectLst/>
      </p:bgPr>
    </p:bg>
    <p:spTree>
      <p:nvGrpSpPr>
        <p:cNvPr id="1" name="Shape 48"/>
        <p:cNvGrpSpPr/>
        <p:nvPr/>
      </p:nvGrpSpPr>
      <p:grpSpPr>
        <a:xfrm>
          <a:off x="0" y="0"/>
          <a:ext cx="0" cy="0"/>
          <a:chOff x="0" y="0"/>
          <a:chExt cx="0" cy="0"/>
        </a:xfrm>
      </p:grpSpPr>
      <p:pic>
        <p:nvPicPr>
          <p:cNvPr id="49" name="Google Shape;49;p6"/>
          <p:cNvPicPr preferRelativeResize="0"/>
          <p:nvPr/>
        </p:nvPicPr>
        <p:blipFill rotWithShape="1">
          <a:blip r:embed="rId2">
            <a:alphaModFix amt="50000"/>
            <a:extLst>
              <a:ext uri="{BEBA8EAE-BF5A-486C-A8C5-ECC9F3942E4B}">
                <a14:imgProps xmlns:a14="http://schemas.microsoft.com/office/drawing/2010/main">
                  <a14:imgLayer r:embed="rId3">
                    <a14:imgEffect>
                      <a14:saturation sat="0"/>
                    </a14:imgEffect>
                  </a14:imgLayer>
                </a14:imgProps>
              </a:ext>
            </a:extLst>
          </a:blip>
          <a:srcRect/>
          <a:stretch/>
        </p:blipFill>
        <p:spPr>
          <a:xfrm>
            <a:off x="1684787" y="-627015"/>
            <a:ext cx="10703154" cy="7563394"/>
          </a:xfrm>
          <a:prstGeom prst="rect">
            <a:avLst/>
          </a:prstGeom>
          <a:noFill/>
          <a:ln>
            <a:noFill/>
          </a:ln>
          <a:effectLst/>
        </p:spPr>
      </p:pic>
      <p:sp>
        <p:nvSpPr>
          <p:cNvPr id="50" name="Google Shape;50;p6"/>
          <p:cNvSpPr txBox="1">
            <a:spLocks noGrp="1"/>
          </p:cNvSpPr>
          <p:nvPr>
            <p:ph type="ctrTitle"/>
          </p:nvPr>
        </p:nvSpPr>
        <p:spPr>
          <a:xfrm>
            <a:off x="1017457" y="1152000"/>
            <a:ext cx="6878767" cy="1080000"/>
          </a:xfrm>
          <a:prstGeom prst="rect">
            <a:avLst/>
          </a:prstGeom>
          <a:noFill/>
          <a:ln>
            <a:noFill/>
          </a:ln>
        </p:spPr>
        <p:txBody>
          <a:bodyPr spcFirstLastPara="1" wrap="square" lIns="0" tIns="0" rIns="0" bIns="0" anchor="b" anchorCtr="0">
            <a:noAutofit/>
          </a:bodyPr>
          <a:lstStyle>
            <a:lvl1pPr lvl="0" algn="l">
              <a:lnSpc>
                <a:spcPct val="118750"/>
              </a:lnSpc>
              <a:spcBef>
                <a:spcPts val="0"/>
              </a:spcBef>
              <a:spcAft>
                <a:spcPts val="0"/>
              </a:spcAft>
              <a:buClr>
                <a:schemeClr val="dk1"/>
              </a:buClr>
              <a:buSzPts val="3200"/>
              <a:buFont typeface="Verdana"/>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51" name="Google Shape;51;p6"/>
          <p:cNvPicPr preferRelativeResize="0"/>
          <p:nvPr/>
        </p:nvPicPr>
        <p:blipFill rotWithShape="1">
          <a:blip r:embed="rId4">
            <a:alphaModFix/>
          </a:blip>
          <a:srcRect/>
          <a:stretch/>
        </p:blipFill>
        <p:spPr>
          <a:xfrm>
            <a:off x="465589" y="5734050"/>
            <a:ext cx="2229230" cy="828000"/>
          </a:xfrm>
          <a:prstGeom prst="rect">
            <a:avLst/>
          </a:prstGeom>
          <a:noFill/>
          <a:ln>
            <a:noFill/>
          </a:ln>
        </p:spPr>
      </p:pic>
      <p:sp>
        <p:nvSpPr>
          <p:cNvPr id="52" name="Google Shape;52;p6"/>
          <p:cNvSpPr txBox="1">
            <a:spLocks noGrp="1"/>
          </p:cNvSpPr>
          <p:nvPr>
            <p:ph type="subTitle" idx="1"/>
          </p:nvPr>
        </p:nvSpPr>
        <p:spPr>
          <a:xfrm>
            <a:off x="1017456" y="2388247"/>
            <a:ext cx="6878767" cy="755133"/>
          </a:xfrm>
          <a:prstGeom prst="rect">
            <a:avLst/>
          </a:prstGeom>
          <a:noFill/>
          <a:ln>
            <a:noFill/>
          </a:ln>
        </p:spPr>
        <p:txBody>
          <a:bodyPr spcFirstLastPara="1" wrap="square" lIns="0" tIns="0" rIns="0" bIns="0" anchor="t" anchorCtr="0">
            <a:noAutofit/>
          </a:bodyPr>
          <a:lstStyle>
            <a:lvl1pPr lvl="0" algn="l">
              <a:lnSpc>
                <a:spcPct val="91666"/>
              </a:lnSpc>
              <a:spcBef>
                <a:spcPts val="0"/>
              </a:spcBef>
              <a:spcAft>
                <a:spcPts val="0"/>
              </a:spcAft>
              <a:buClr>
                <a:schemeClr val="dk1"/>
              </a:buClr>
              <a:buSzPts val="2400"/>
              <a:buNone/>
              <a:defRPr sz="2400"/>
            </a:lvl1pPr>
            <a:lvl2pPr lvl="1" algn="ctr">
              <a:lnSpc>
                <a:spcPct val="110000"/>
              </a:lnSpc>
              <a:spcBef>
                <a:spcPts val="1100"/>
              </a:spcBef>
              <a:spcAft>
                <a:spcPts val="0"/>
              </a:spcAft>
              <a:buClr>
                <a:schemeClr val="dk1"/>
              </a:buClr>
              <a:buSzPts val="2800"/>
              <a:buNone/>
              <a:defRPr sz="2000"/>
            </a:lvl2pPr>
            <a:lvl3pPr lvl="2" algn="ctr">
              <a:lnSpc>
                <a:spcPct val="122222"/>
              </a:lnSpc>
              <a:spcBef>
                <a:spcPts val="1100"/>
              </a:spcBef>
              <a:spcAft>
                <a:spcPts val="0"/>
              </a:spcAft>
              <a:buSzPts val="1800"/>
              <a:buNone/>
              <a:defRPr sz="1800"/>
            </a:lvl3pPr>
            <a:lvl4pPr lvl="3" algn="ctr">
              <a:lnSpc>
                <a:spcPct val="137500"/>
              </a:lnSpc>
              <a:spcBef>
                <a:spcPts val="1100"/>
              </a:spcBef>
              <a:spcAft>
                <a:spcPts val="0"/>
              </a:spcAft>
              <a:buClr>
                <a:schemeClr val="dk1"/>
              </a:buClr>
              <a:buSzPts val="1600"/>
              <a:buNone/>
              <a:defRPr sz="1600"/>
            </a:lvl4pPr>
            <a:lvl5pPr lvl="4" algn="ctr">
              <a:lnSpc>
                <a:spcPct val="137500"/>
              </a:lnSpc>
              <a:spcBef>
                <a:spcPts val="1100"/>
              </a:spcBef>
              <a:spcAft>
                <a:spcPts val="0"/>
              </a:spcAft>
              <a:buClr>
                <a:schemeClr val="dk1"/>
              </a:buClr>
              <a:buSzPts val="2080"/>
              <a:buNone/>
              <a:defRPr sz="1600"/>
            </a:lvl5pPr>
            <a:lvl6pPr lvl="5" algn="ctr">
              <a:lnSpc>
                <a:spcPct val="90000"/>
              </a:lnSpc>
              <a:spcBef>
                <a:spcPts val="11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53" name="Google Shape;53;p6"/>
          <p:cNvPicPr preferRelativeResize="0"/>
          <p:nvPr/>
        </p:nvPicPr>
        <p:blipFill rotWithShape="1">
          <a:blip r:embed="rId4">
            <a:alphaModFix/>
          </a:blip>
          <a:srcRect/>
          <a:stretch/>
        </p:blipFill>
        <p:spPr>
          <a:xfrm>
            <a:off x="465589" y="5734050"/>
            <a:ext cx="2229230" cy="828000"/>
          </a:xfrm>
          <a:prstGeom prst="rect">
            <a:avLst/>
          </a:prstGeom>
          <a:noFill/>
          <a:ln>
            <a:noFill/>
          </a:ln>
        </p:spPr>
      </p:pic>
      <p:pic>
        <p:nvPicPr>
          <p:cNvPr id="2" name="Grafik 1" descr="Ein Bild, das Text, Schrift, Screenshot, Grafiken enthält.&#10;&#10;KI-generierte Inhalte können fehlerhaft sein.">
            <a:extLst>
              <a:ext uri="{FF2B5EF4-FFF2-40B4-BE49-F238E27FC236}">
                <a16:creationId xmlns:a16="http://schemas.microsoft.com/office/drawing/2014/main" id="{EC072C3A-9DC1-18BF-6974-3EEFD44EE1E4}"/>
              </a:ext>
            </a:extLst>
          </p:cNvPr>
          <p:cNvPicPr>
            <a:picLocks noChangeAspect="1"/>
          </p:cNvPicPr>
          <p:nvPr userDrawn="1"/>
        </p:nvPicPr>
        <p:blipFill>
          <a:blip r:embed="rId5"/>
          <a:stretch>
            <a:fillRect/>
          </a:stretch>
        </p:blipFill>
        <p:spPr>
          <a:xfrm>
            <a:off x="10026263" y="453524"/>
            <a:ext cx="1705178" cy="603083"/>
          </a:xfrm>
          <a:prstGeom prst="rect">
            <a:avLst/>
          </a:prstGeom>
        </p:spPr>
      </p:pic>
      <p:pic>
        <p:nvPicPr>
          <p:cNvPr id="3" name="Grafik 2" descr="Ein Bild, das Text, Schrift, Screenshot, Visitenkarte enthält.&#10;&#10;KI-generierte Inhalte können fehlerhaft sein.">
            <a:extLst>
              <a:ext uri="{FF2B5EF4-FFF2-40B4-BE49-F238E27FC236}">
                <a16:creationId xmlns:a16="http://schemas.microsoft.com/office/drawing/2014/main" id="{B6E005FD-DA69-BC23-E7D7-52DB0268EA80}"/>
              </a:ext>
            </a:extLst>
          </p:cNvPr>
          <p:cNvPicPr>
            <a:picLocks noChangeAspect="1"/>
          </p:cNvPicPr>
          <p:nvPr userDrawn="1"/>
        </p:nvPicPr>
        <p:blipFill>
          <a:blip r:embed="rId6"/>
          <a:stretch>
            <a:fillRect/>
          </a:stretch>
        </p:blipFill>
        <p:spPr>
          <a:xfrm>
            <a:off x="10026263" y="1152000"/>
            <a:ext cx="1705178" cy="1138121"/>
          </a:xfrm>
          <a:prstGeom prst="rect">
            <a:avLst/>
          </a:prstGeom>
        </p:spPr>
      </p:pic>
    </p:spTree>
    <p:extLst>
      <p:ext uri="{BB962C8B-B14F-4D97-AF65-F5344CB8AC3E}">
        <p14:creationId xmlns:p14="http://schemas.microsoft.com/office/powerpoint/2010/main" val="3761546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Leer dunkel" preserve="1">
  <p:cSld name="1_Leer dunkel">
    <p:bg>
      <p:bgPr>
        <a:solidFill>
          <a:schemeClr val="bg1"/>
        </a:solidFill>
        <a:effectLst/>
      </p:bgPr>
    </p:bg>
    <p:spTree>
      <p:nvGrpSpPr>
        <p:cNvPr id="1" name="Shape 61"/>
        <p:cNvGrpSpPr/>
        <p:nvPr/>
      </p:nvGrpSpPr>
      <p:grpSpPr>
        <a:xfrm>
          <a:off x="0" y="0"/>
          <a:ext cx="0" cy="0"/>
          <a:chOff x="0" y="0"/>
          <a:chExt cx="0" cy="0"/>
        </a:xfrm>
      </p:grpSpPr>
      <p:pic>
        <p:nvPicPr>
          <p:cNvPr id="8" name="Google Shape;42;p5">
            <a:extLst>
              <a:ext uri="{FF2B5EF4-FFF2-40B4-BE49-F238E27FC236}">
                <a16:creationId xmlns:a16="http://schemas.microsoft.com/office/drawing/2014/main" id="{F47AA3BD-061C-FFF1-2597-0E003D1A2DD3}"/>
              </a:ext>
            </a:extLst>
          </p:cNvPr>
          <p:cNvPicPr preferRelativeResize="0"/>
          <p:nvPr userDrawn="1"/>
        </p:nvPicPr>
        <p:blipFill rotWithShape="1">
          <a:blip r:embed="rId2">
            <a:alphaModFix amt="70000"/>
            <a:extLst>
              <a:ext uri="{BEBA8EAE-BF5A-486C-A8C5-ECC9F3942E4B}">
                <a14:imgProps xmlns:a14="http://schemas.microsoft.com/office/drawing/2010/main">
                  <a14:imgLayer r:embed="rId3">
                    <a14:imgEffect>
                      <a14:brightnessContrast bright="-100000"/>
                    </a14:imgEffect>
                  </a14:imgLayer>
                </a14:imgProps>
              </a:ext>
            </a:extLst>
          </a:blip>
          <a:srcRect l="31937" b="16168"/>
          <a:stretch/>
        </p:blipFill>
        <p:spPr>
          <a:xfrm>
            <a:off x="-1" y="260101"/>
            <a:ext cx="6575577" cy="6597900"/>
          </a:xfrm>
          <a:prstGeom prst="rect">
            <a:avLst/>
          </a:prstGeom>
          <a:noFill/>
          <a:ln>
            <a:noFill/>
          </a:ln>
        </p:spPr>
      </p:pic>
      <p:pic>
        <p:nvPicPr>
          <p:cNvPr id="4" name="Grafik 3" descr="Ein Bild, das Text, Schrift, Screenshot, Grafiken enthält.&#10;&#10;KI-generierte Inhalte können fehlerhaft sein.">
            <a:extLst>
              <a:ext uri="{FF2B5EF4-FFF2-40B4-BE49-F238E27FC236}">
                <a16:creationId xmlns:a16="http://schemas.microsoft.com/office/drawing/2014/main" id="{DAA60E84-C429-8733-F2F3-E5D8F355959F}"/>
              </a:ext>
            </a:extLst>
          </p:cNvPr>
          <p:cNvPicPr>
            <a:picLocks noChangeAspect="1"/>
          </p:cNvPicPr>
          <p:nvPr userDrawn="1"/>
        </p:nvPicPr>
        <p:blipFill>
          <a:blip r:embed="rId4"/>
          <a:stretch>
            <a:fillRect/>
          </a:stretch>
        </p:blipFill>
        <p:spPr>
          <a:xfrm>
            <a:off x="10226606" y="260100"/>
            <a:ext cx="1705178" cy="603083"/>
          </a:xfrm>
          <a:prstGeom prst="rect">
            <a:avLst/>
          </a:prstGeom>
        </p:spPr>
      </p:pic>
      <p:pic>
        <p:nvPicPr>
          <p:cNvPr id="2" name="Grafik 1" descr="Ein Bild, das Text, Schrift, Screenshot, Visitenkarte enthält.&#10;&#10;KI-generierte Inhalte können fehlerhaft sein.">
            <a:extLst>
              <a:ext uri="{FF2B5EF4-FFF2-40B4-BE49-F238E27FC236}">
                <a16:creationId xmlns:a16="http://schemas.microsoft.com/office/drawing/2014/main" id="{D7CADC23-6428-4139-3752-F45AF64B83BF}"/>
              </a:ext>
            </a:extLst>
          </p:cNvPr>
          <p:cNvPicPr>
            <a:picLocks noChangeAspect="1"/>
          </p:cNvPicPr>
          <p:nvPr userDrawn="1"/>
        </p:nvPicPr>
        <p:blipFill>
          <a:blip r:embed="rId5"/>
          <a:stretch>
            <a:fillRect/>
          </a:stretch>
        </p:blipFill>
        <p:spPr>
          <a:xfrm>
            <a:off x="10226606" y="863183"/>
            <a:ext cx="1705178" cy="1138121"/>
          </a:xfrm>
          <a:prstGeom prst="rect">
            <a:avLst/>
          </a:prstGeom>
        </p:spPr>
      </p:pic>
    </p:spTree>
    <p:extLst>
      <p:ext uri="{BB962C8B-B14F-4D97-AF65-F5344CB8AC3E}">
        <p14:creationId xmlns:p14="http://schemas.microsoft.com/office/powerpoint/2010/main" val="3777240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Zitat mit Bild" preserve="1" userDrawn="1">
  <p:cSld name="Zitat mit Bild">
    <p:bg>
      <p:bgPr>
        <a:solidFill>
          <a:schemeClr val="accent3"/>
        </a:solidFill>
        <a:effectLst/>
      </p:bgPr>
    </p:bg>
    <p:spTree>
      <p:nvGrpSpPr>
        <p:cNvPr id="1" name="Shape 67"/>
        <p:cNvGrpSpPr/>
        <p:nvPr/>
      </p:nvGrpSpPr>
      <p:grpSpPr>
        <a:xfrm>
          <a:off x="0" y="0"/>
          <a:ext cx="0" cy="0"/>
          <a:chOff x="0" y="0"/>
          <a:chExt cx="0" cy="0"/>
        </a:xfrm>
      </p:grpSpPr>
      <p:sp>
        <p:nvSpPr>
          <p:cNvPr id="72" name="Google Shape;72;p9"/>
          <p:cNvSpPr>
            <a:spLocks noGrp="1"/>
          </p:cNvSpPr>
          <p:nvPr>
            <p:ph type="pic" idx="2"/>
          </p:nvPr>
        </p:nvSpPr>
        <p:spPr>
          <a:xfrm>
            <a:off x="5976938" y="-1"/>
            <a:ext cx="6215062" cy="6858001"/>
          </a:xfrm>
          <a:prstGeom prst="rect">
            <a:avLst/>
          </a:prstGeom>
          <a:solidFill>
            <a:schemeClr val="accent4"/>
          </a:solidFill>
          <a:ln>
            <a:noFill/>
          </a:ln>
        </p:spPr>
      </p:sp>
      <p:sp>
        <p:nvSpPr>
          <p:cNvPr id="76" name="Google Shape;76;p9"/>
          <p:cNvSpPr txBox="1">
            <a:spLocks noGrp="1"/>
          </p:cNvSpPr>
          <p:nvPr>
            <p:ph type="sldNum" idx="12"/>
          </p:nvPr>
        </p:nvSpPr>
        <p:spPr>
          <a:xfrm>
            <a:off x="11524104" y="6459251"/>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dirty="0"/>
          </a:p>
        </p:txBody>
      </p:sp>
      <p:sp>
        <p:nvSpPr>
          <p:cNvPr id="3" name="Gleichschenkliges Dreieck 2">
            <a:extLst>
              <a:ext uri="{FF2B5EF4-FFF2-40B4-BE49-F238E27FC236}">
                <a16:creationId xmlns:a16="http://schemas.microsoft.com/office/drawing/2014/main" id="{5640E307-2BF9-CACF-4C05-D4C13B05D7C1}"/>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80C61190-CD21-681A-3A04-E027813C8910}"/>
              </a:ext>
            </a:extLst>
          </p:cNvPr>
          <p:cNvPicPr>
            <a:picLocks noChangeAspect="1"/>
          </p:cNvPicPr>
          <p:nvPr userDrawn="1"/>
        </p:nvPicPr>
        <p:blipFill>
          <a:blip r:embed="rId2"/>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AE162294-E63D-B8E4-23E2-BCED6DD32EED}"/>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6D2527C2-7F56-98F6-7066-F05A590E2D9B}"/>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 name="Google Shape;104;p12">
            <a:extLst>
              <a:ext uri="{FF2B5EF4-FFF2-40B4-BE49-F238E27FC236}">
                <a16:creationId xmlns:a16="http://schemas.microsoft.com/office/drawing/2014/main" id="{78011120-BB62-FEEF-47A5-CC5E0ADEDFBA}"/>
              </a:ext>
            </a:extLst>
          </p:cNvPr>
          <p:cNvSpPr txBox="1">
            <a:spLocks noGrp="1"/>
          </p:cNvSpPr>
          <p:nvPr>
            <p:ph type="body" idx="1"/>
          </p:nvPr>
        </p:nvSpPr>
        <p:spPr>
          <a:xfrm>
            <a:off x="480626" y="1602999"/>
            <a:ext cx="5335504"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solidFill>
                  <a:schemeClr val="bg1"/>
                </a:solidFill>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9" name="Google Shape;134;p15">
            <a:extLst>
              <a:ext uri="{FF2B5EF4-FFF2-40B4-BE49-F238E27FC236}">
                <a16:creationId xmlns:a16="http://schemas.microsoft.com/office/drawing/2014/main" id="{D15598A7-DB5B-B8C8-4182-4D26D183AEBB}"/>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solidFill>
                  <a:schemeClr val="bg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393695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ext links, 3 Fotos rechts" preserve="1" userDrawn="1">
  <p:cSld name="Text links, 3 Fotos rechts">
    <p:spTree>
      <p:nvGrpSpPr>
        <p:cNvPr id="1" name="Shape 77"/>
        <p:cNvGrpSpPr/>
        <p:nvPr/>
      </p:nvGrpSpPr>
      <p:grpSpPr>
        <a:xfrm>
          <a:off x="0" y="0"/>
          <a:ext cx="0" cy="0"/>
          <a:chOff x="0" y="0"/>
          <a:chExt cx="0" cy="0"/>
        </a:xfrm>
      </p:grpSpPr>
      <p:sp>
        <p:nvSpPr>
          <p:cNvPr id="79" name="Google Shape;79;p10"/>
          <p:cNvSpPr>
            <a:spLocks noGrp="1"/>
          </p:cNvSpPr>
          <p:nvPr>
            <p:ph type="pic" idx="2"/>
          </p:nvPr>
        </p:nvSpPr>
        <p:spPr>
          <a:xfrm>
            <a:off x="6094800" y="1132645"/>
            <a:ext cx="5616575" cy="5012562"/>
          </a:xfrm>
          <a:prstGeom prst="rect">
            <a:avLst/>
          </a:prstGeom>
          <a:solidFill>
            <a:schemeClr val="accent4"/>
          </a:solidFill>
          <a:ln>
            <a:noFill/>
          </a:ln>
        </p:spPr>
      </p:sp>
      <p:sp>
        <p:nvSpPr>
          <p:cNvPr id="83" name="Google Shape;83;p10"/>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936C69AB-71BA-35D0-5DC2-020FD72727A1}"/>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5" name="Gleichschenkliges Dreieck 4">
            <a:extLst>
              <a:ext uri="{FF2B5EF4-FFF2-40B4-BE49-F238E27FC236}">
                <a16:creationId xmlns:a16="http://schemas.microsoft.com/office/drawing/2014/main" id="{51AF5458-1F33-7EAE-8751-F24D3E564DA2}"/>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Schrift, Screenshot, Visitenkarte enthält.&#10;&#10;KI-generierte Inhalte können fehlerhaft sein.">
            <a:extLst>
              <a:ext uri="{FF2B5EF4-FFF2-40B4-BE49-F238E27FC236}">
                <a16:creationId xmlns:a16="http://schemas.microsoft.com/office/drawing/2014/main" id="{AF73E771-922B-A0AC-6CEB-0A89C788A8D4}"/>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7" name="Google Shape;139;p16">
            <a:extLst>
              <a:ext uri="{FF2B5EF4-FFF2-40B4-BE49-F238E27FC236}">
                <a16:creationId xmlns:a16="http://schemas.microsoft.com/office/drawing/2014/main" id="{4EA795FC-9247-8B6F-D503-8DB8D86A459C}"/>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 name="Google Shape;140;p16">
            <a:extLst>
              <a:ext uri="{FF2B5EF4-FFF2-40B4-BE49-F238E27FC236}">
                <a16:creationId xmlns:a16="http://schemas.microsoft.com/office/drawing/2014/main" id="{74E7EFAB-5783-4320-7B8C-436DCBD5F8C5}"/>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 name="Google Shape;104;p12">
            <a:extLst>
              <a:ext uri="{FF2B5EF4-FFF2-40B4-BE49-F238E27FC236}">
                <a16:creationId xmlns:a16="http://schemas.microsoft.com/office/drawing/2014/main" id="{EB61180E-BCC0-FC25-978B-E063025564E3}"/>
              </a:ext>
            </a:extLst>
          </p:cNvPr>
          <p:cNvSpPr txBox="1">
            <a:spLocks noGrp="1"/>
          </p:cNvSpPr>
          <p:nvPr>
            <p:ph type="body" idx="1"/>
          </p:nvPr>
        </p:nvSpPr>
        <p:spPr>
          <a:xfrm>
            <a:off x="480626" y="1602999"/>
            <a:ext cx="5335504"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34;p15">
            <a:extLst>
              <a:ext uri="{FF2B5EF4-FFF2-40B4-BE49-F238E27FC236}">
                <a16:creationId xmlns:a16="http://schemas.microsoft.com/office/drawing/2014/main" id="{2D1482AC-51B3-ADB0-D743-121C59C19CD0}"/>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58942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Text links, 3 Fotos rechts" preserve="1" userDrawn="1">
  <p:cSld name="1_Text links, 3 Fotos rechts">
    <p:spTree>
      <p:nvGrpSpPr>
        <p:cNvPr id="1" name="Shape 86"/>
        <p:cNvGrpSpPr/>
        <p:nvPr/>
      </p:nvGrpSpPr>
      <p:grpSpPr>
        <a:xfrm>
          <a:off x="0" y="0"/>
          <a:ext cx="0" cy="0"/>
          <a:chOff x="0" y="0"/>
          <a:chExt cx="0" cy="0"/>
        </a:xfrm>
      </p:grpSpPr>
      <p:sp>
        <p:nvSpPr>
          <p:cNvPr id="88" name="Google Shape;88;p11"/>
          <p:cNvSpPr>
            <a:spLocks noGrp="1"/>
          </p:cNvSpPr>
          <p:nvPr>
            <p:ph type="pic" idx="2"/>
          </p:nvPr>
        </p:nvSpPr>
        <p:spPr>
          <a:xfrm>
            <a:off x="6094800" y="1132645"/>
            <a:ext cx="5616575" cy="2340000"/>
          </a:xfrm>
          <a:prstGeom prst="rect">
            <a:avLst/>
          </a:prstGeom>
          <a:solidFill>
            <a:schemeClr val="accent4"/>
          </a:solidFill>
          <a:ln>
            <a:noFill/>
          </a:ln>
        </p:spPr>
      </p:sp>
      <p:sp>
        <p:nvSpPr>
          <p:cNvPr id="92" name="Google Shape;92;p11"/>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95" name="Google Shape;95;p11"/>
          <p:cNvSpPr>
            <a:spLocks noGrp="1"/>
          </p:cNvSpPr>
          <p:nvPr>
            <p:ph type="pic" idx="3"/>
          </p:nvPr>
        </p:nvSpPr>
        <p:spPr>
          <a:xfrm>
            <a:off x="6095999" y="3805207"/>
            <a:ext cx="5615375" cy="2340000"/>
          </a:xfrm>
          <a:prstGeom prst="rect">
            <a:avLst/>
          </a:prstGeom>
          <a:solidFill>
            <a:schemeClr val="accent4"/>
          </a:solidFill>
          <a:ln>
            <a:noFill/>
          </a:ln>
        </p:spPr>
      </p:sp>
      <p:pic>
        <p:nvPicPr>
          <p:cNvPr id="2" name="Grafik 1" descr="Ein Bild, das Text, Schrift, Screenshot, Grafiken enthält.&#10;&#10;KI-generierte Inhalte können fehlerhaft sein.">
            <a:extLst>
              <a:ext uri="{FF2B5EF4-FFF2-40B4-BE49-F238E27FC236}">
                <a16:creationId xmlns:a16="http://schemas.microsoft.com/office/drawing/2014/main" id="{EC10F341-74D3-D39A-82DD-6DEDDE1DB246}"/>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24CE71F0-15EB-9D75-ABB8-6AB53DF35864}"/>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FF2E2A29-DC49-1C86-6108-BA6A188D3417}"/>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97DEC054-E745-A070-24FC-86C5322CF824}"/>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DF52E6A9-ECE3-383C-5B55-3BEEFA354C2E}"/>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 name="Google Shape;104;p12">
            <a:extLst>
              <a:ext uri="{FF2B5EF4-FFF2-40B4-BE49-F238E27FC236}">
                <a16:creationId xmlns:a16="http://schemas.microsoft.com/office/drawing/2014/main" id="{1D8C8578-FBEB-83BF-088F-0FF036B33714}"/>
              </a:ext>
            </a:extLst>
          </p:cNvPr>
          <p:cNvSpPr txBox="1">
            <a:spLocks noGrp="1"/>
          </p:cNvSpPr>
          <p:nvPr>
            <p:ph type="body" idx="1"/>
          </p:nvPr>
        </p:nvSpPr>
        <p:spPr>
          <a:xfrm>
            <a:off x="474214" y="1602999"/>
            <a:ext cx="5341916"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 name="Google Shape;134;p15">
            <a:extLst>
              <a:ext uri="{FF2B5EF4-FFF2-40B4-BE49-F238E27FC236}">
                <a16:creationId xmlns:a16="http://schemas.microsoft.com/office/drawing/2014/main" id="{E04D412F-B365-ECD8-8FFF-3B124DCAD3CD}"/>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60532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2_Text links, 3 Fotos rechts" preserve="1" userDrawn="1">
  <p:cSld name="2_Text links, 3 Fotos rechts">
    <p:spTree>
      <p:nvGrpSpPr>
        <p:cNvPr id="1" name="Shape 96"/>
        <p:cNvGrpSpPr/>
        <p:nvPr/>
      </p:nvGrpSpPr>
      <p:grpSpPr>
        <a:xfrm>
          <a:off x="0" y="0"/>
          <a:ext cx="0" cy="0"/>
          <a:chOff x="0" y="0"/>
          <a:chExt cx="0" cy="0"/>
        </a:xfrm>
      </p:grpSpPr>
      <p:sp>
        <p:nvSpPr>
          <p:cNvPr id="98" name="Google Shape;98;p12"/>
          <p:cNvSpPr>
            <a:spLocks noGrp="1"/>
          </p:cNvSpPr>
          <p:nvPr>
            <p:ph type="pic" idx="2"/>
          </p:nvPr>
        </p:nvSpPr>
        <p:spPr>
          <a:xfrm>
            <a:off x="6094800" y="1132645"/>
            <a:ext cx="5616575" cy="2340000"/>
          </a:xfrm>
          <a:prstGeom prst="rect">
            <a:avLst/>
          </a:prstGeom>
          <a:solidFill>
            <a:schemeClr val="accent4"/>
          </a:solidFill>
          <a:ln>
            <a:noFill/>
          </a:ln>
        </p:spPr>
      </p:sp>
      <p:sp>
        <p:nvSpPr>
          <p:cNvPr id="102" name="Google Shape;102;p12"/>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105" name="Google Shape;105;p12"/>
          <p:cNvSpPr>
            <a:spLocks noGrp="1"/>
          </p:cNvSpPr>
          <p:nvPr>
            <p:ph type="pic" idx="3"/>
          </p:nvPr>
        </p:nvSpPr>
        <p:spPr>
          <a:xfrm>
            <a:off x="6096000" y="3805207"/>
            <a:ext cx="2628000" cy="2340000"/>
          </a:xfrm>
          <a:prstGeom prst="rect">
            <a:avLst/>
          </a:prstGeom>
          <a:solidFill>
            <a:schemeClr val="accent4"/>
          </a:solidFill>
          <a:ln>
            <a:noFill/>
          </a:ln>
        </p:spPr>
      </p:sp>
      <p:sp>
        <p:nvSpPr>
          <p:cNvPr id="106" name="Google Shape;106;p12"/>
          <p:cNvSpPr>
            <a:spLocks noGrp="1"/>
          </p:cNvSpPr>
          <p:nvPr>
            <p:ph type="pic" idx="4"/>
          </p:nvPr>
        </p:nvSpPr>
        <p:spPr>
          <a:xfrm>
            <a:off x="9084575" y="3805207"/>
            <a:ext cx="2628000" cy="2340000"/>
          </a:xfrm>
          <a:prstGeom prst="rect">
            <a:avLst/>
          </a:prstGeom>
          <a:solidFill>
            <a:schemeClr val="accent4"/>
          </a:solidFill>
          <a:ln>
            <a:noFill/>
          </a:ln>
        </p:spPr>
      </p:sp>
      <p:pic>
        <p:nvPicPr>
          <p:cNvPr id="2" name="Grafik 1" descr="Ein Bild, das Text, Schrift, Screenshot, Grafiken enthält.&#10;&#10;KI-generierte Inhalte können fehlerhaft sein.">
            <a:extLst>
              <a:ext uri="{FF2B5EF4-FFF2-40B4-BE49-F238E27FC236}">
                <a16:creationId xmlns:a16="http://schemas.microsoft.com/office/drawing/2014/main" id="{5E81F2A6-5D28-F8CC-6798-1C5AC63C5526}"/>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788D9641-BD84-AF99-56EA-32FAB7819B5E}"/>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E5A686B0-5E21-A25A-FCD9-784EF64484C2}"/>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8F0B0378-24FB-537A-F362-B215B2C87B58}"/>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340496D2-C60D-B8EB-90F8-98409EF57000}"/>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 name="Google Shape;104;p12">
            <a:extLst>
              <a:ext uri="{FF2B5EF4-FFF2-40B4-BE49-F238E27FC236}">
                <a16:creationId xmlns:a16="http://schemas.microsoft.com/office/drawing/2014/main" id="{B2B8A8F7-A707-64C7-2AE6-81416C6C55EF}"/>
              </a:ext>
            </a:extLst>
          </p:cNvPr>
          <p:cNvSpPr txBox="1">
            <a:spLocks noGrp="1"/>
          </p:cNvSpPr>
          <p:nvPr>
            <p:ph type="body" idx="1"/>
          </p:nvPr>
        </p:nvSpPr>
        <p:spPr>
          <a:xfrm>
            <a:off x="480626" y="1602999"/>
            <a:ext cx="5335504" cy="3891021"/>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 name="Google Shape;134;p15">
            <a:extLst>
              <a:ext uri="{FF2B5EF4-FFF2-40B4-BE49-F238E27FC236}">
                <a16:creationId xmlns:a16="http://schemas.microsoft.com/office/drawing/2014/main" id="{400DC504-4891-BD2A-4E5C-EE4335FF40BA}"/>
              </a:ext>
            </a:extLst>
          </p:cNvPr>
          <p:cNvSpPr txBox="1">
            <a:spLocks noGrp="1"/>
          </p:cNvSpPr>
          <p:nvPr>
            <p:ph type="title"/>
          </p:nvPr>
        </p:nvSpPr>
        <p:spPr>
          <a:xfrm>
            <a:off x="474213" y="616823"/>
            <a:ext cx="5341917"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314289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ext rechts, 1 Foto schmal links" preserve="1">
  <p:cSld name="Text rechts, 1 Foto schmal links">
    <p:bg>
      <p:bgPr>
        <a:solidFill>
          <a:schemeClr val="dk2"/>
        </a:solidFill>
        <a:effectLst/>
      </p:bgPr>
    </p:bg>
    <p:spTree>
      <p:nvGrpSpPr>
        <p:cNvPr id="1" name="Shape 117"/>
        <p:cNvGrpSpPr/>
        <p:nvPr/>
      </p:nvGrpSpPr>
      <p:grpSpPr>
        <a:xfrm>
          <a:off x="0" y="0"/>
          <a:ext cx="0" cy="0"/>
          <a:chOff x="0" y="0"/>
          <a:chExt cx="0" cy="0"/>
        </a:xfrm>
      </p:grpSpPr>
      <p:sp>
        <p:nvSpPr>
          <p:cNvPr id="118" name="Google Shape;118;p14"/>
          <p:cNvSpPr/>
          <p:nvPr/>
        </p:nvSpPr>
        <p:spPr>
          <a:xfrm>
            <a:off x="-2" y="0"/>
            <a:ext cx="12191999" cy="6858000"/>
          </a:xfrm>
          <a:custGeom>
            <a:avLst/>
            <a:gdLst/>
            <a:ahLst/>
            <a:cxnLst/>
            <a:rect l="l" t="t" r="r" b="b"/>
            <a:pathLst>
              <a:path w="12191999" h="6858000" extrusionOk="0">
                <a:moveTo>
                  <a:pt x="3945774" y="0"/>
                </a:moveTo>
                <a:lnTo>
                  <a:pt x="12191999" y="0"/>
                </a:lnTo>
                <a:lnTo>
                  <a:pt x="12191999" y="6858000"/>
                </a:lnTo>
                <a:lnTo>
                  <a:pt x="8246225" y="6858000"/>
                </a:lnTo>
                <a:lnTo>
                  <a:pt x="3945774" y="6858000"/>
                </a:lnTo>
                <a:lnTo>
                  <a:pt x="0" y="6858000"/>
                </a:lnTo>
                <a:lnTo>
                  <a:pt x="0" y="6367464"/>
                </a:lnTo>
                <a:lnTo>
                  <a:pt x="3945774" y="6367464"/>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dana"/>
              <a:ea typeface="Verdana"/>
              <a:cs typeface="Verdana"/>
              <a:sym typeface="Verdana"/>
            </a:endParaRPr>
          </a:p>
        </p:txBody>
      </p:sp>
      <p:sp>
        <p:nvSpPr>
          <p:cNvPr id="119" name="Google Shape;119;p14"/>
          <p:cNvSpPr/>
          <p:nvPr/>
        </p:nvSpPr>
        <p:spPr>
          <a:xfrm>
            <a:off x="-1" y="0"/>
            <a:ext cx="12191999" cy="6858000"/>
          </a:xfrm>
          <a:custGeom>
            <a:avLst/>
            <a:gdLst/>
            <a:ahLst/>
            <a:cxnLst/>
            <a:rect l="l" t="t" r="r" b="b"/>
            <a:pathLst>
              <a:path w="12191999" h="6858000" extrusionOk="0">
                <a:moveTo>
                  <a:pt x="0" y="0"/>
                </a:moveTo>
                <a:lnTo>
                  <a:pt x="1" y="0"/>
                </a:lnTo>
                <a:lnTo>
                  <a:pt x="1" y="6368304"/>
                </a:lnTo>
                <a:lnTo>
                  <a:pt x="5847965" y="6368304"/>
                </a:lnTo>
                <a:lnTo>
                  <a:pt x="5847965" y="0"/>
                </a:lnTo>
                <a:lnTo>
                  <a:pt x="12191999" y="0"/>
                </a:lnTo>
                <a:lnTo>
                  <a:pt x="12191999"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de-DE" sz="1800">
                <a:solidFill>
                  <a:schemeClr val="lt1"/>
                </a:solidFill>
                <a:latin typeface="Verdana"/>
                <a:ea typeface="Verdana"/>
                <a:cs typeface="Verdana"/>
                <a:sym typeface="Verdana"/>
              </a:rPr>
              <a:t> </a:t>
            </a:r>
            <a:endParaRPr/>
          </a:p>
        </p:txBody>
      </p:sp>
      <p:sp>
        <p:nvSpPr>
          <p:cNvPr id="121" name="Google Shape;121;p14"/>
          <p:cNvSpPr>
            <a:spLocks noGrp="1"/>
          </p:cNvSpPr>
          <p:nvPr>
            <p:ph type="pic" idx="2"/>
          </p:nvPr>
        </p:nvSpPr>
        <p:spPr>
          <a:xfrm>
            <a:off x="0" y="592976"/>
            <a:ext cx="3924300" cy="3498578"/>
          </a:xfrm>
          <a:prstGeom prst="rect">
            <a:avLst/>
          </a:prstGeom>
          <a:noFill/>
          <a:ln>
            <a:noFill/>
          </a:ln>
        </p:spPr>
      </p:sp>
      <p:sp>
        <p:nvSpPr>
          <p:cNvPr id="125" name="Google Shape;125;p14"/>
          <p:cNvSpPr txBox="1">
            <a:spLocks noGrp="1"/>
          </p:cNvSpPr>
          <p:nvPr>
            <p:ph type="sldNum" idx="12"/>
          </p:nvPr>
        </p:nvSpPr>
        <p:spPr>
          <a:xfrm>
            <a:off x="11531078" y="6419049"/>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sz="1100">
                <a:solidFill>
                  <a:schemeClr val="dk2"/>
                </a:solidFill>
                <a:latin typeface="Verdana"/>
                <a:ea typeface="Verdana"/>
                <a:cs typeface="Verdana"/>
                <a:sym typeface="Verdana"/>
              </a:defRPr>
            </a:lvl1pPr>
            <a:lvl2pPr marL="0" lvl="1" indent="0" algn="r">
              <a:spcBef>
                <a:spcPts val="0"/>
              </a:spcBef>
              <a:buNone/>
              <a:defRPr sz="1100">
                <a:solidFill>
                  <a:schemeClr val="dk2"/>
                </a:solidFill>
                <a:latin typeface="Verdana"/>
                <a:ea typeface="Verdana"/>
                <a:cs typeface="Verdana"/>
                <a:sym typeface="Verdana"/>
              </a:defRPr>
            </a:lvl2pPr>
            <a:lvl3pPr marL="0" lvl="2" indent="0" algn="r">
              <a:spcBef>
                <a:spcPts val="0"/>
              </a:spcBef>
              <a:buNone/>
              <a:defRPr sz="1100">
                <a:solidFill>
                  <a:schemeClr val="dk2"/>
                </a:solidFill>
                <a:latin typeface="Verdana"/>
                <a:ea typeface="Verdana"/>
                <a:cs typeface="Verdana"/>
                <a:sym typeface="Verdana"/>
              </a:defRPr>
            </a:lvl3pPr>
            <a:lvl4pPr marL="0" lvl="3" indent="0" algn="r">
              <a:spcBef>
                <a:spcPts val="0"/>
              </a:spcBef>
              <a:buNone/>
              <a:defRPr sz="1100">
                <a:solidFill>
                  <a:schemeClr val="dk2"/>
                </a:solidFill>
                <a:latin typeface="Verdana"/>
                <a:ea typeface="Verdana"/>
                <a:cs typeface="Verdana"/>
                <a:sym typeface="Verdana"/>
              </a:defRPr>
            </a:lvl4pPr>
            <a:lvl5pPr marL="0" lvl="4" indent="0" algn="r">
              <a:spcBef>
                <a:spcPts val="0"/>
              </a:spcBef>
              <a:buNone/>
              <a:defRPr sz="1100">
                <a:solidFill>
                  <a:schemeClr val="dk2"/>
                </a:solidFill>
                <a:latin typeface="Verdana"/>
                <a:ea typeface="Verdana"/>
                <a:cs typeface="Verdana"/>
                <a:sym typeface="Verdana"/>
              </a:defRPr>
            </a:lvl5pPr>
            <a:lvl6pPr marL="0" lvl="5" indent="0" algn="r">
              <a:spcBef>
                <a:spcPts val="0"/>
              </a:spcBef>
              <a:buNone/>
              <a:defRPr sz="1100">
                <a:solidFill>
                  <a:schemeClr val="dk2"/>
                </a:solidFill>
                <a:latin typeface="Verdana"/>
                <a:ea typeface="Verdana"/>
                <a:cs typeface="Verdana"/>
                <a:sym typeface="Verdana"/>
              </a:defRPr>
            </a:lvl6pPr>
            <a:lvl7pPr marL="0" lvl="6" indent="0" algn="r">
              <a:spcBef>
                <a:spcPts val="0"/>
              </a:spcBef>
              <a:buNone/>
              <a:defRPr sz="1100">
                <a:solidFill>
                  <a:schemeClr val="dk2"/>
                </a:solidFill>
                <a:latin typeface="Verdana"/>
                <a:ea typeface="Verdana"/>
                <a:cs typeface="Verdana"/>
                <a:sym typeface="Verdana"/>
              </a:defRPr>
            </a:lvl7pPr>
            <a:lvl8pPr marL="0" lvl="7" indent="0" algn="r">
              <a:spcBef>
                <a:spcPts val="0"/>
              </a:spcBef>
              <a:buNone/>
              <a:defRPr sz="1100">
                <a:solidFill>
                  <a:schemeClr val="dk2"/>
                </a:solidFill>
                <a:latin typeface="Verdana"/>
                <a:ea typeface="Verdana"/>
                <a:cs typeface="Verdana"/>
                <a:sym typeface="Verdana"/>
              </a:defRPr>
            </a:lvl8pPr>
            <a:lvl9pPr marL="0" lvl="8" indent="0" algn="r">
              <a:spcBef>
                <a:spcPts val="0"/>
              </a:spcBef>
              <a:buNone/>
              <a:defRPr sz="1100">
                <a:solidFill>
                  <a:schemeClr val="dk2"/>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de-DE"/>
              <a:t>‹Nr.›</a:t>
            </a:fld>
            <a:endParaRPr/>
          </a:p>
        </p:txBody>
      </p:sp>
      <p:sp>
        <p:nvSpPr>
          <p:cNvPr id="126" name="Google Shape;126;p14"/>
          <p:cNvSpPr txBox="1">
            <a:spLocks noGrp="1"/>
          </p:cNvSpPr>
          <p:nvPr>
            <p:ph type="title"/>
          </p:nvPr>
        </p:nvSpPr>
        <p:spPr>
          <a:xfrm>
            <a:off x="4390768" y="592976"/>
            <a:ext cx="5721071" cy="774770"/>
          </a:xfrm>
          <a:prstGeom prst="rect">
            <a:avLst/>
          </a:prstGeom>
          <a:noFill/>
          <a:ln>
            <a:noFill/>
          </a:ln>
        </p:spPr>
        <p:txBody>
          <a:bodyPr spcFirstLastPara="1" wrap="square" lIns="0" tIns="0" rIns="0" bIns="0" anchor="b" anchorCtr="0">
            <a:noAutofit/>
          </a:bodyPr>
          <a:lstStyle>
            <a:lvl1pPr lvl="0" algn="l">
              <a:lnSpc>
                <a:spcPct val="118181"/>
              </a:lnSpc>
              <a:spcBef>
                <a:spcPts val="0"/>
              </a:spcBef>
              <a:spcAft>
                <a:spcPts val="0"/>
              </a:spcAft>
              <a:buClr>
                <a:schemeClr val="dk1"/>
              </a:buClr>
              <a:buSzPts val="2200"/>
              <a:buFont typeface="Verdana"/>
              <a:buNone/>
              <a:defRPr sz="3200" b="1" i="0" baseline="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27" name="Google Shape;127;p14"/>
          <p:cNvSpPr txBox="1">
            <a:spLocks noGrp="1"/>
          </p:cNvSpPr>
          <p:nvPr>
            <p:ph type="body" idx="1"/>
          </p:nvPr>
        </p:nvSpPr>
        <p:spPr>
          <a:xfrm>
            <a:off x="4390768" y="1613290"/>
            <a:ext cx="7140832" cy="4531922"/>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None/>
              <a:defRPr>
                <a:solidFill>
                  <a:schemeClr val="dk1"/>
                </a:solidFill>
              </a:defRPr>
            </a:lvl1pPr>
            <a:lvl2pPr marL="914400" lvl="1" indent="-370840" algn="l">
              <a:lnSpc>
                <a:spcPct val="137500"/>
              </a:lnSpc>
              <a:spcBef>
                <a:spcPts val="1100"/>
              </a:spcBef>
              <a:spcAft>
                <a:spcPts val="0"/>
              </a:spcAft>
              <a:buClr>
                <a:schemeClr val="dk1"/>
              </a:buClr>
              <a:buSzPts val="2240"/>
              <a:buChar char="•"/>
              <a:defRPr>
                <a:solidFill>
                  <a:schemeClr val="dk1"/>
                </a:solidFill>
              </a:defRPr>
            </a:lvl2pPr>
            <a:lvl3pPr marL="1371600" lvl="2" indent="-330200" algn="l">
              <a:lnSpc>
                <a:spcPct val="137500"/>
              </a:lnSpc>
              <a:spcBef>
                <a:spcPts val="1100"/>
              </a:spcBef>
              <a:spcAft>
                <a:spcPts val="0"/>
              </a:spcAft>
              <a:buSzPts val="1600"/>
              <a:buAutoNum type="arabicPeriod"/>
              <a:defRPr>
                <a:solidFill>
                  <a:schemeClr val="dk1"/>
                </a:solidFill>
              </a:defRPr>
            </a:lvl3pPr>
            <a:lvl4pPr marL="1828800" lvl="3" indent="-228600" algn="l">
              <a:lnSpc>
                <a:spcPct val="137500"/>
              </a:lnSpc>
              <a:spcBef>
                <a:spcPts val="1100"/>
              </a:spcBef>
              <a:spcAft>
                <a:spcPts val="0"/>
              </a:spcAft>
              <a:buClr>
                <a:schemeClr val="dk1"/>
              </a:buClr>
              <a:buSzPts val="1600"/>
              <a:buNone/>
              <a:defRPr>
                <a:solidFill>
                  <a:schemeClr val="dk1"/>
                </a:solidFill>
              </a:defRPr>
            </a:lvl4pPr>
            <a:lvl5pPr marL="2286000" lvl="4" indent="-360679" algn="l">
              <a:lnSpc>
                <a:spcPct val="137500"/>
              </a:lnSpc>
              <a:spcBef>
                <a:spcPts val="1100"/>
              </a:spcBef>
              <a:spcAft>
                <a:spcPts val="0"/>
              </a:spcAft>
              <a:buClr>
                <a:schemeClr val="dk1"/>
              </a:buClr>
              <a:buSzPts val="2080"/>
              <a:buChar char="•"/>
              <a:defRPr>
                <a:solidFill>
                  <a:schemeClr val="dk1"/>
                </a:solidFill>
              </a:defRPr>
            </a:lvl5pPr>
            <a:lvl6pPr marL="2743200" lvl="5" indent="-342900" algn="l">
              <a:lnSpc>
                <a:spcPct val="90000"/>
              </a:lnSpc>
              <a:spcBef>
                <a:spcPts val="11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96EFFF25-385B-B573-04C3-4753EA149DE5}"/>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6" name="Gleichschenkliges Dreieck 5">
            <a:extLst>
              <a:ext uri="{FF2B5EF4-FFF2-40B4-BE49-F238E27FC236}">
                <a16:creationId xmlns:a16="http://schemas.microsoft.com/office/drawing/2014/main" id="{83CF15C8-1379-F561-58A2-DFB58095814D}"/>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Text, Schrift, Screenshot, Visitenkarte enthält.&#10;&#10;KI-generierte Inhalte können fehlerhaft sein.">
            <a:extLst>
              <a:ext uri="{FF2B5EF4-FFF2-40B4-BE49-F238E27FC236}">
                <a16:creationId xmlns:a16="http://schemas.microsoft.com/office/drawing/2014/main" id="{AEB8A20E-582C-E039-6FFC-7380C391284E}"/>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8" name="Google Shape;139;p16">
            <a:extLst>
              <a:ext uri="{FF2B5EF4-FFF2-40B4-BE49-F238E27FC236}">
                <a16:creationId xmlns:a16="http://schemas.microsoft.com/office/drawing/2014/main" id="{3E552C7A-FFE6-586F-5603-9B608A414867}"/>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9" name="Google Shape;140;p16">
            <a:extLst>
              <a:ext uri="{FF2B5EF4-FFF2-40B4-BE49-F238E27FC236}">
                <a16:creationId xmlns:a16="http://schemas.microsoft.com/office/drawing/2014/main" id="{FC3758D3-62C4-4057-E3D4-43C2E1551CB1}"/>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202596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ext zweispaltig" preserve="1">
  <p:cSld name="Text zweispaltig">
    <p:spTree>
      <p:nvGrpSpPr>
        <p:cNvPr id="1" name="Shape 128"/>
        <p:cNvGrpSpPr/>
        <p:nvPr/>
      </p:nvGrpSpPr>
      <p:grpSpPr>
        <a:xfrm>
          <a:off x="0" y="0"/>
          <a:ext cx="0" cy="0"/>
          <a:chOff x="0" y="0"/>
          <a:chExt cx="0" cy="0"/>
        </a:xfrm>
      </p:grpSpPr>
      <p:sp>
        <p:nvSpPr>
          <p:cNvPr id="133" name="Google Shape;133;p15"/>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134" name="Google Shape;134;p15"/>
          <p:cNvSpPr txBox="1">
            <a:spLocks noGrp="1"/>
          </p:cNvSpPr>
          <p:nvPr>
            <p:ph type="title"/>
          </p:nvPr>
        </p:nvSpPr>
        <p:spPr>
          <a:xfrm>
            <a:off x="1019172" y="595109"/>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35" name="Google Shape;135;p15"/>
          <p:cNvSpPr txBox="1">
            <a:spLocks noGrp="1"/>
          </p:cNvSpPr>
          <p:nvPr>
            <p:ph type="body" idx="1"/>
          </p:nvPr>
        </p:nvSpPr>
        <p:spPr>
          <a:xfrm>
            <a:off x="1019175" y="1602995"/>
            <a:ext cx="10514013" cy="3875785"/>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F4340363-2822-D629-90FC-1EE2DE58AE42}"/>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768B47B0-5C45-757E-2168-FC690B2658C1}"/>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D093CCAC-1F8A-7844-9CD6-F93EE61E5891}"/>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a:extLst>
              <a:ext uri="{FF2B5EF4-FFF2-40B4-BE49-F238E27FC236}">
                <a16:creationId xmlns:a16="http://schemas.microsoft.com/office/drawing/2014/main" id="{9232B03C-5EE7-C1C1-AB07-63C80AECB1EB}"/>
              </a:ext>
            </a:extLst>
          </p:cNvPr>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a:extLst>
              <a:ext uri="{FF2B5EF4-FFF2-40B4-BE49-F238E27FC236}">
                <a16:creationId xmlns:a16="http://schemas.microsoft.com/office/drawing/2014/main" id="{B2E387E9-A790-4A41-8D34-2FF789C21CD7}"/>
              </a:ext>
            </a:extLst>
          </p:cNvPr>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extLst>
      <p:ext uri="{BB962C8B-B14F-4D97-AF65-F5344CB8AC3E}">
        <p14:creationId xmlns:p14="http://schemas.microsoft.com/office/powerpoint/2010/main" val="3505254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ext dreispaltig" preserve="1" userDrawn="1">
  <p:cSld name="Text dreispaltig">
    <p:spTree>
      <p:nvGrpSpPr>
        <p:cNvPr id="1" name="Shape 136"/>
        <p:cNvGrpSpPr/>
        <p:nvPr/>
      </p:nvGrpSpPr>
      <p:grpSpPr>
        <a:xfrm>
          <a:off x="0" y="0"/>
          <a:ext cx="0" cy="0"/>
          <a:chOff x="0" y="0"/>
          <a:chExt cx="0" cy="0"/>
        </a:xfrm>
      </p:grpSpPr>
      <p:sp>
        <p:nvSpPr>
          <p:cNvPr id="141" name="Google Shape;141;p16"/>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A3AAD636-CB52-56E2-93AA-F9B53FE3F2B1}"/>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EA56A580-B1FD-BD2F-7BA8-750C92EA73F5}"/>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F86551C4-E7C2-F45F-3239-3286572BD7D1}"/>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9;p16"/>
          <p:cNvSpPr txBox="1">
            <a:spLocks noGrp="1"/>
          </p:cNvSpPr>
          <p:nvPr>
            <p:ph type="dt" idx="10"/>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 name="Google Shape;140;p16"/>
          <p:cNvSpPr txBox="1">
            <a:spLocks noGrp="1"/>
          </p:cNvSpPr>
          <p:nvPr>
            <p:ph type="ftr" idx="11"/>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 name="Google Shape;135;p15">
            <a:extLst>
              <a:ext uri="{FF2B5EF4-FFF2-40B4-BE49-F238E27FC236}">
                <a16:creationId xmlns:a16="http://schemas.microsoft.com/office/drawing/2014/main" id="{C252C7A8-9512-D729-3B1C-C6D65FEC7BB8}"/>
              </a:ext>
            </a:extLst>
          </p:cNvPr>
          <p:cNvSpPr txBox="1">
            <a:spLocks noGrp="1"/>
          </p:cNvSpPr>
          <p:nvPr>
            <p:ph type="body" idx="1"/>
          </p:nvPr>
        </p:nvSpPr>
        <p:spPr>
          <a:xfrm>
            <a:off x="1019175" y="1602995"/>
            <a:ext cx="10514013" cy="3875785"/>
          </a:xfrm>
          <a:prstGeom prst="rect">
            <a:avLst/>
          </a:prstGeom>
          <a:noFill/>
          <a:ln>
            <a:noFill/>
          </a:ln>
        </p:spPr>
        <p:txBody>
          <a:bodyPr spcFirstLastPara="1" wrap="square" lIns="0" tIns="0" rIns="0" bIns="0" anchor="t" anchorCtr="0">
            <a:noAutofit/>
          </a:bodyPr>
          <a:lstStyle>
            <a:lvl1pPr marL="457200" lvl="0" indent="-228600" algn="l">
              <a:lnSpc>
                <a:spcPct val="122222"/>
              </a:lnSpc>
              <a:spcBef>
                <a:spcPts val="0"/>
              </a:spcBef>
              <a:spcAft>
                <a:spcPts val="0"/>
              </a:spcAft>
              <a:buClr>
                <a:schemeClr val="dk1"/>
              </a:buClr>
              <a:buSzPts val="1800"/>
              <a:buNone/>
              <a:defRPr/>
            </a:lvl1pPr>
            <a:lvl2pPr marL="914400" lvl="1" indent="-388619" algn="l">
              <a:lnSpc>
                <a:spcPct val="122222"/>
              </a:lnSpc>
              <a:spcBef>
                <a:spcPts val="1100"/>
              </a:spcBef>
              <a:spcAft>
                <a:spcPts val="0"/>
              </a:spcAft>
              <a:buClr>
                <a:schemeClr val="dk1"/>
              </a:buClr>
              <a:buSzPts val="2520"/>
              <a:buChar char="•"/>
              <a:defRPr/>
            </a:lvl2pPr>
            <a:lvl3pPr marL="1371600" lvl="2" indent="-342900" algn="l">
              <a:lnSpc>
                <a:spcPct val="122222"/>
              </a:lnSpc>
              <a:spcBef>
                <a:spcPts val="1100"/>
              </a:spcBef>
              <a:spcAft>
                <a:spcPts val="0"/>
              </a:spcAft>
              <a:buSzPts val="1800"/>
              <a:buAutoNum type="arabicPeriod"/>
              <a:defRPr/>
            </a:lvl3pPr>
            <a:lvl4pPr marL="1828800" lvl="3" indent="-228600" algn="l">
              <a:lnSpc>
                <a:spcPct val="122222"/>
              </a:lnSpc>
              <a:spcBef>
                <a:spcPts val="1100"/>
              </a:spcBef>
              <a:spcAft>
                <a:spcPts val="0"/>
              </a:spcAft>
              <a:buClr>
                <a:schemeClr val="dk1"/>
              </a:buClr>
              <a:buSzPts val="1800"/>
              <a:buNone/>
              <a:defRPr/>
            </a:lvl4pPr>
            <a:lvl5pPr marL="2286000" lvl="4" indent="-377189" algn="l">
              <a:lnSpc>
                <a:spcPct val="122222"/>
              </a:lnSpc>
              <a:spcBef>
                <a:spcPts val="1100"/>
              </a:spcBef>
              <a:spcAft>
                <a:spcPts val="0"/>
              </a:spcAft>
              <a:buClr>
                <a:schemeClr val="dk1"/>
              </a:buClr>
              <a:buSzPts val="2340"/>
              <a:buChar char="•"/>
              <a:defRPr/>
            </a:lvl5pPr>
            <a:lvl6pPr marL="2743200" lvl="5" indent="-342900" algn="l">
              <a:lnSpc>
                <a:spcPct val="90000"/>
              </a:lnSpc>
              <a:spcBef>
                <a:spcPts val="11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 name="Google Shape;134;p15">
            <a:extLst>
              <a:ext uri="{FF2B5EF4-FFF2-40B4-BE49-F238E27FC236}">
                <a16:creationId xmlns:a16="http://schemas.microsoft.com/office/drawing/2014/main" id="{8A407166-5C0A-38F2-027B-AF7C9B6D128D}"/>
              </a:ext>
            </a:extLst>
          </p:cNvPr>
          <p:cNvSpPr txBox="1">
            <a:spLocks noGrp="1"/>
          </p:cNvSpPr>
          <p:nvPr>
            <p:ph type="title"/>
          </p:nvPr>
        </p:nvSpPr>
        <p:spPr>
          <a:xfrm>
            <a:off x="1019172" y="595109"/>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449937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opics" preserve="1" userDrawn="1">
  <p:cSld name="Topics">
    <p:spTree>
      <p:nvGrpSpPr>
        <p:cNvPr id="1" name="Shape 144"/>
        <p:cNvGrpSpPr/>
        <p:nvPr/>
      </p:nvGrpSpPr>
      <p:grpSpPr>
        <a:xfrm>
          <a:off x="0" y="0"/>
          <a:ext cx="0" cy="0"/>
          <a:chOff x="0" y="0"/>
          <a:chExt cx="0" cy="0"/>
        </a:xfrm>
      </p:grpSpPr>
      <p:sp>
        <p:nvSpPr>
          <p:cNvPr id="146" name="Google Shape;146;p17"/>
          <p:cNvSpPr txBox="1">
            <a:spLocks noGrp="1"/>
          </p:cNvSpPr>
          <p:nvPr>
            <p:ph type="body" idx="1"/>
          </p:nvPr>
        </p:nvSpPr>
        <p:spPr>
          <a:xfrm>
            <a:off x="474663" y="2024063"/>
            <a:ext cx="3600000" cy="655637"/>
          </a:xfrm>
          <a:prstGeom prst="rect">
            <a:avLst/>
          </a:prstGeom>
          <a:solidFill>
            <a:schemeClr val="accent2"/>
          </a:solidFill>
          <a:ln>
            <a:noFill/>
          </a:ln>
        </p:spPr>
        <p:txBody>
          <a:bodyPr spcFirstLastPara="1" wrap="square" lIns="0" tIns="0" rIns="0" bIns="0" anchor="ctr" anchorCtr="0">
            <a:noAutofit/>
          </a:bodyPr>
          <a:lstStyle>
            <a:lvl1pPr marL="457200" lvl="0" indent="-228600" algn="ctr">
              <a:lnSpc>
                <a:spcPct val="140000"/>
              </a:lnSpc>
              <a:spcBef>
                <a:spcPts val="0"/>
              </a:spcBef>
              <a:spcAft>
                <a:spcPts val="0"/>
              </a:spcAft>
              <a:buClr>
                <a:schemeClr val="lt2"/>
              </a:buClr>
              <a:buSzPts val="2000"/>
              <a:buFont typeface="Verdana"/>
              <a:buNone/>
              <a:defRPr sz="2000">
                <a:solidFill>
                  <a:schemeClr val="lt2"/>
                </a:solidFill>
              </a:defRPr>
            </a:lvl1pPr>
            <a:lvl2pPr marL="914400" lvl="1" indent="-228600" algn="ctr">
              <a:lnSpc>
                <a:spcPct val="140000"/>
              </a:lnSpc>
              <a:spcBef>
                <a:spcPts val="0"/>
              </a:spcBef>
              <a:spcAft>
                <a:spcPts val="0"/>
              </a:spcAft>
              <a:buClr>
                <a:schemeClr val="lt2"/>
              </a:buClr>
              <a:buSzPts val="2800"/>
              <a:buFont typeface="Verdana"/>
              <a:buNone/>
              <a:defRPr sz="2000">
                <a:solidFill>
                  <a:schemeClr val="lt2"/>
                </a:solidFill>
              </a:defRPr>
            </a:lvl2pPr>
            <a:lvl3pPr marL="1371600" lvl="2" indent="-228600" algn="ctr">
              <a:lnSpc>
                <a:spcPct val="140000"/>
              </a:lnSpc>
              <a:spcBef>
                <a:spcPts val="0"/>
              </a:spcBef>
              <a:spcAft>
                <a:spcPts val="0"/>
              </a:spcAft>
              <a:buSzPts val="2000"/>
              <a:buFont typeface="Verdana"/>
              <a:buNone/>
              <a:defRPr sz="2000">
                <a:solidFill>
                  <a:schemeClr val="lt2"/>
                </a:solidFill>
              </a:defRPr>
            </a:lvl3pPr>
            <a:lvl4pPr marL="1828800" lvl="3" indent="-228600" algn="ctr">
              <a:lnSpc>
                <a:spcPct val="140000"/>
              </a:lnSpc>
              <a:spcBef>
                <a:spcPts val="0"/>
              </a:spcBef>
              <a:spcAft>
                <a:spcPts val="0"/>
              </a:spcAft>
              <a:buClr>
                <a:schemeClr val="lt2"/>
              </a:buClr>
              <a:buSzPts val="2000"/>
              <a:buFont typeface="Verdana"/>
              <a:buNone/>
              <a:defRPr sz="2000">
                <a:solidFill>
                  <a:schemeClr val="lt2"/>
                </a:solidFill>
              </a:defRPr>
            </a:lvl4pPr>
            <a:lvl5pPr marL="2286000" lvl="4" indent="-228600" algn="ctr">
              <a:lnSpc>
                <a:spcPct val="140000"/>
              </a:lnSpc>
              <a:spcBef>
                <a:spcPts val="0"/>
              </a:spcBef>
              <a:spcAft>
                <a:spcPts val="0"/>
              </a:spcAft>
              <a:buClr>
                <a:schemeClr val="lt2"/>
              </a:buClr>
              <a:buSzPts val="2600"/>
              <a:buFont typeface="Verdana"/>
              <a:buNone/>
              <a:defRPr sz="2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17"/>
          <p:cNvSpPr txBox="1">
            <a:spLocks noGrp="1"/>
          </p:cNvSpPr>
          <p:nvPr>
            <p:ph type="body" idx="2"/>
          </p:nvPr>
        </p:nvSpPr>
        <p:spPr>
          <a:xfrm>
            <a:off x="4293394" y="2024063"/>
            <a:ext cx="3600000" cy="655637"/>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40000"/>
              </a:lnSpc>
              <a:spcBef>
                <a:spcPts val="0"/>
              </a:spcBef>
              <a:spcAft>
                <a:spcPts val="0"/>
              </a:spcAft>
              <a:buClr>
                <a:schemeClr val="lt2"/>
              </a:buClr>
              <a:buSzPts val="2000"/>
              <a:buFont typeface="Verdana"/>
              <a:buNone/>
              <a:defRPr sz="2000">
                <a:solidFill>
                  <a:schemeClr val="lt2"/>
                </a:solidFill>
              </a:defRPr>
            </a:lvl1pPr>
            <a:lvl2pPr marL="914400" lvl="1" indent="-228600" algn="ctr">
              <a:lnSpc>
                <a:spcPct val="140000"/>
              </a:lnSpc>
              <a:spcBef>
                <a:spcPts val="0"/>
              </a:spcBef>
              <a:spcAft>
                <a:spcPts val="0"/>
              </a:spcAft>
              <a:buClr>
                <a:schemeClr val="lt2"/>
              </a:buClr>
              <a:buSzPts val="2800"/>
              <a:buFont typeface="Verdana"/>
              <a:buNone/>
              <a:defRPr sz="2000">
                <a:solidFill>
                  <a:schemeClr val="lt2"/>
                </a:solidFill>
              </a:defRPr>
            </a:lvl2pPr>
            <a:lvl3pPr marL="1371600" lvl="2" indent="-228600" algn="ctr">
              <a:lnSpc>
                <a:spcPct val="140000"/>
              </a:lnSpc>
              <a:spcBef>
                <a:spcPts val="0"/>
              </a:spcBef>
              <a:spcAft>
                <a:spcPts val="0"/>
              </a:spcAft>
              <a:buSzPts val="2000"/>
              <a:buFont typeface="Verdana"/>
              <a:buNone/>
              <a:defRPr sz="2000">
                <a:solidFill>
                  <a:schemeClr val="lt2"/>
                </a:solidFill>
              </a:defRPr>
            </a:lvl3pPr>
            <a:lvl4pPr marL="1828800" lvl="3" indent="-228600" algn="ctr">
              <a:lnSpc>
                <a:spcPct val="140000"/>
              </a:lnSpc>
              <a:spcBef>
                <a:spcPts val="0"/>
              </a:spcBef>
              <a:spcAft>
                <a:spcPts val="0"/>
              </a:spcAft>
              <a:buClr>
                <a:schemeClr val="lt2"/>
              </a:buClr>
              <a:buSzPts val="2000"/>
              <a:buFont typeface="Verdana"/>
              <a:buNone/>
              <a:defRPr sz="2000">
                <a:solidFill>
                  <a:schemeClr val="lt2"/>
                </a:solidFill>
              </a:defRPr>
            </a:lvl4pPr>
            <a:lvl5pPr marL="2286000" lvl="4" indent="-228600" algn="ctr">
              <a:lnSpc>
                <a:spcPct val="140000"/>
              </a:lnSpc>
              <a:spcBef>
                <a:spcPts val="0"/>
              </a:spcBef>
              <a:spcAft>
                <a:spcPts val="0"/>
              </a:spcAft>
              <a:buClr>
                <a:schemeClr val="lt2"/>
              </a:buClr>
              <a:buSzPts val="2600"/>
              <a:buFont typeface="Verdana"/>
              <a:buNone/>
              <a:defRPr sz="2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p17"/>
          <p:cNvSpPr txBox="1">
            <a:spLocks noGrp="1"/>
          </p:cNvSpPr>
          <p:nvPr>
            <p:ph type="body" idx="3"/>
          </p:nvPr>
        </p:nvSpPr>
        <p:spPr>
          <a:xfrm>
            <a:off x="8112125" y="2024063"/>
            <a:ext cx="3600000" cy="655637"/>
          </a:xfrm>
          <a:prstGeom prst="rect">
            <a:avLst/>
          </a:prstGeom>
          <a:solidFill>
            <a:schemeClr val="accent3"/>
          </a:solidFill>
          <a:ln>
            <a:noFill/>
          </a:ln>
        </p:spPr>
        <p:txBody>
          <a:bodyPr spcFirstLastPara="1" wrap="square" lIns="0" tIns="0" rIns="0" bIns="0" anchor="ctr" anchorCtr="0">
            <a:noAutofit/>
          </a:bodyPr>
          <a:lstStyle>
            <a:lvl1pPr marL="457200" lvl="0" indent="-228600" algn="ctr">
              <a:lnSpc>
                <a:spcPct val="140000"/>
              </a:lnSpc>
              <a:spcBef>
                <a:spcPts val="0"/>
              </a:spcBef>
              <a:spcAft>
                <a:spcPts val="0"/>
              </a:spcAft>
              <a:buClr>
                <a:schemeClr val="lt2"/>
              </a:buClr>
              <a:buSzPts val="2000"/>
              <a:buFont typeface="Verdana"/>
              <a:buNone/>
              <a:defRPr sz="2000">
                <a:solidFill>
                  <a:schemeClr val="lt2"/>
                </a:solidFill>
              </a:defRPr>
            </a:lvl1pPr>
            <a:lvl2pPr marL="914400" lvl="1" indent="-228600" algn="ctr">
              <a:lnSpc>
                <a:spcPct val="140000"/>
              </a:lnSpc>
              <a:spcBef>
                <a:spcPts val="0"/>
              </a:spcBef>
              <a:spcAft>
                <a:spcPts val="0"/>
              </a:spcAft>
              <a:buClr>
                <a:schemeClr val="lt2"/>
              </a:buClr>
              <a:buSzPts val="2800"/>
              <a:buFont typeface="Verdana"/>
              <a:buNone/>
              <a:defRPr sz="2000">
                <a:solidFill>
                  <a:schemeClr val="lt2"/>
                </a:solidFill>
              </a:defRPr>
            </a:lvl2pPr>
            <a:lvl3pPr marL="1371600" lvl="2" indent="-228600" algn="ctr">
              <a:lnSpc>
                <a:spcPct val="140000"/>
              </a:lnSpc>
              <a:spcBef>
                <a:spcPts val="0"/>
              </a:spcBef>
              <a:spcAft>
                <a:spcPts val="0"/>
              </a:spcAft>
              <a:buSzPts val="2000"/>
              <a:buFont typeface="Verdana"/>
              <a:buNone/>
              <a:defRPr sz="2000">
                <a:solidFill>
                  <a:schemeClr val="lt2"/>
                </a:solidFill>
              </a:defRPr>
            </a:lvl3pPr>
            <a:lvl4pPr marL="1828800" lvl="3" indent="-228600" algn="ctr">
              <a:lnSpc>
                <a:spcPct val="140000"/>
              </a:lnSpc>
              <a:spcBef>
                <a:spcPts val="0"/>
              </a:spcBef>
              <a:spcAft>
                <a:spcPts val="0"/>
              </a:spcAft>
              <a:buClr>
                <a:schemeClr val="lt2"/>
              </a:buClr>
              <a:buSzPts val="2000"/>
              <a:buFont typeface="Verdana"/>
              <a:buNone/>
              <a:defRPr sz="2000">
                <a:solidFill>
                  <a:schemeClr val="lt2"/>
                </a:solidFill>
              </a:defRPr>
            </a:lvl4pPr>
            <a:lvl5pPr marL="2286000" lvl="4" indent="-228600" algn="ctr">
              <a:lnSpc>
                <a:spcPct val="140000"/>
              </a:lnSpc>
              <a:spcBef>
                <a:spcPts val="0"/>
              </a:spcBef>
              <a:spcAft>
                <a:spcPts val="0"/>
              </a:spcAft>
              <a:buClr>
                <a:schemeClr val="lt2"/>
              </a:buClr>
              <a:buSzPts val="2600"/>
              <a:buFont typeface="Verdana"/>
              <a:buNone/>
              <a:defRPr sz="2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9" name="Google Shape;149;p17"/>
          <p:cNvSpPr txBox="1">
            <a:spLocks noGrp="1"/>
          </p:cNvSpPr>
          <p:nvPr>
            <p:ph type="body" idx="4"/>
          </p:nvPr>
        </p:nvSpPr>
        <p:spPr>
          <a:xfrm>
            <a:off x="474213" y="2679700"/>
            <a:ext cx="3600450" cy="3694113"/>
          </a:xfrm>
          <a:prstGeom prst="rect">
            <a:avLst/>
          </a:prstGeom>
          <a:solidFill>
            <a:schemeClr val="accent4"/>
          </a:solidFill>
          <a:ln>
            <a:noFill/>
          </a:ln>
        </p:spPr>
        <p:txBody>
          <a:bodyPr spcFirstLastPara="1" wrap="square" lIns="180000" tIns="144000" rIns="180000" bIns="14400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17"/>
          <p:cNvSpPr txBox="1">
            <a:spLocks noGrp="1"/>
          </p:cNvSpPr>
          <p:nvPr>
            <p:ph type="body" idx="5"/>
          </p:nvPr>
        </p:nvSpPr>
        <p:spPr>
          <a:xfrm>
            <a:off x="4292944" y="2679700"/>
            <a:ext cx="3600450" cy="3694113"/>
          </a:xfrm>
          <a:prstGeom prst="rect">
            <a:avLst/>
          </a:prstGeom>
          <a:solidFill>
            <a:schemeClr val="accent4"/>
          </a:solidFill>
          <a:ln>
            <a:noFill/>
          </a:ln>
        </p:spPr>
        <p:txBody>
          <a:bodyPr spcFirstLastPara="1" wrap="square" lIns="180000" tIns="144000" rIns="180000" bIns="14400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1" name="Google Shape;151;p17"/>
          <p:cNvSpPr txBox="1">
            <a:spLocks noGrp="1"/>
          </p:cNvSpPr>
          <p:nvPr>
            <p:ph type="body" idx="6"/>
          </p:nvPr>
        </p:nvSpPr>
        <p:spPr>
          <a:xfrm>
            <a:off x="8111675" y="2679700"/>
            <a:ext cx="3600450" cy="3694113"/>
          </a:xfrm>
          <a:prstGeom prst="rect">
            <a:avLst/>
          </a:prstGeom>
          <a:solidFill>
            <a:schemeClr val="accent4"/>
          </a:solidFill>
          <a:ln>
            <a:noFill/>
          </a:ln>
        </p:spPr>
        <p:txBody>
          <a:bodyPr spcFirstLastPara="1" wrap="square" lIns="180000" tIns="144000" rIns="180000" bIns="14400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17"/>
          <p:cNvSpPr txBox="1">
            <a:spLocks noGrp="1"/>
          </p:cNvSpPr>
          <p:nvPr>
            <p:ph type="dt" idx="10"/>
          </p:nvPr>
        </p:nvSpPr>
        <p:spPr>
          <a:xfrm>
            <a:off x="818403" y="643425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17"/>
          <p:cNvSpPr txBox="1">
            <a:spLocks noGrp="1"/>
          </p:cNvSpPr>
          <p:nvPr>
            <p:ph type="ftr" idx="11"/>
          </p:nvPr>
        </p:nvSpPr>
        <p:spPr>
          <a:xfrm>
            <a:off x="1972067" y="643425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17"/>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53A8B5D5-BB9A-EA75-2F92-CD7AEF1C326D}"/>
              </a:ext>
            </a:extLst>
          </p:cNvPr>
          <p:cNvPicPr>
            <a:picLocks noChangeAspect="1"/>
          </p:cNvPicPr>
          <p:nvPr userDrawn="1"/>
        </p:nvPicPr>
        <p:blipFill>
          <a:blip r:embed="rId2"/>
          <a:stretch>
            <a:fillRect/>
          </a:stretch>
        </p:blipFill>
        <p:spPr>
          <a:xfrm>
            <a:off x="10226606" y="260100"/>
            <a:ext cx="1705178" cy="603083"/>
          </a:xfrm>
          <a:prstGeom prst="rect">
            <a:avLst/>
          </a:prstGeom>
        </p:spPr>
      </p:pic>
      <p:pic>
        <p:nvPicPr>
          <p:cNvPr id="3" name="Grafik 2" descr="Ein Bild, das Text, Schrift, Screenshot, Visitenkarte enthält.&#10;&#10;KI-generierte Inhalte können fehlerhaft sein.">
            <a:extLst>
              <a:ext uri="{FF2B5EF4-FFF2-40B4-BE49-F238E27FC236}">
                <a16:creationId xmlns:a16="http://schemas.microsoft.com/office/drawing/2014/main" id="{5948DC93-E1FE-631C-E582-7C35D931F24D}"/>
              </a:ext>
            </a:extLst>
          </p:cNvPr>
          <p:cNvPicPr>
            <a:picLocks noChangeAspect="1"/>
          </p:cNvPicPr>
          <p:nvPr userDrawn="1"/>
        </p:nvPicPr>
        <p:blipFill>
          <a:blip r:embed="rId3"/>
          <a:stretch>
            <a:fillRect/>
          </a:stretch>
        </p:blipFill>
        <p:spPr>
          <a:xfrm>
            <a:off x="10472529" y="1006451"/>
            <a:ext cx="1459255" cy="973980"/>
          </a:xfrm>
          <a:prstGeom prst="rect">
            <a:avLst/>
          </a:prstGeom>
        </p:spPr>
      </p:pic>
      <p:sp>
        <p:nvSpPr>
          <p:cNvPr id="4" name="Google Shape;134;p15">
            <a:extLst>
              <a:ext uri="{FF2B5EF4-FFF2-40B4-BE49-F238E27FC236}">
                <a16:creationId xmlns:a16="http://schemas.microsoft.com/office/drawing/2014/main" id="{FEEB5722-502E-A839-6FED-2CFF08C3E802}"/>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44970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opics mit Bildern" preserve="1" userDrawn="1">
  <p:cSld name="Topics mit Bildern">
    <p:spTree>
      <p:nvGrpSpPr>
        <p:cNvPr id="1" name="Shape 156"/>
        <p:cNvGrpSpPr/>
        <p:nvPr/>
      </p:nvGrpSpPr>
      <p:grpSpPr>
        <a:xfrm>
          <a:off x="0" y="0"/>
          <a:ext cx="0" cy="0"/>
          <a:chOff x="0" y="0"/>
          <a:chExt cx="0" cy="0"/>
        </a:xfrm>
      </p:grpSpPr>
      <p:sp>
        <p:nvSpPr>
          <p:cNvPr id="157" name="Google Shape;157;p18"/>
          <p:cNvSpPr txBox="1">
            <a:spLocks noGrp="1"/>
          </p:cNvSpPr>
          <p:nvPr>
            <p:ph type="body" idx="1"/>
          </p:nvPr>
        </p:nvSpPr>
        <p:spPr>
          <a:xfrm>
            <a:off x="476704" y="3752850"/>
            <a:ext cx="3600000" cy="2620963"/>
          </a:xfrm>
          <a:prstGeom prst="rect">
            <a:avLst/>
          </a:prstGeom>
          <a:noFill/>
          <a:ln>
            <a:noFill/>
          </a:ln>
        </p:spPr>
        <p:txBody>
          <a:bodyPr spcFirstLastPara="1" wrap="square" lIns="0" tIns="21600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18"/>
          <p:cNvSpPr>
            <a:spLocks noGrp="1"/>
          </p:cNvSpPr>
          <p:nvPr>
            <p:ph type="pic" idx="2"/>
          </p:nvPr>
        </p:nvSpPr>
        <p:spPr>
          <a:xfrm>
            <a:off x="8112125" y="2024063"/>
            <a:ext cx="3600000" cy="1728787"/>
          </a:xfrm>
          <a:prstGeom prst="rect">
            <a:avLst/>
          </a:prstGeom>
          <a:solidFill>
            <a:schemeClr val="accent4"/>
          </a:solidFill>
          <a:ln>
            <a:noFill/>
          </a:ln>
        </p:spPr>
      </p:sp>
      <p:sp>
        <p:nvSpPr>
          <p:cNvPr id="159" name="Google Shape;159;p18"/>
          <p:cNvSpPr>
            <a:spLocks noGrp="1"/>
          </p:cNvSpPr>
          <p:nvPr>
            <p:ph type="pic" idx="3"/>
          </p:nvPr>
        </p:nvSpPr>
        <p:spPr>
          <a:xfrm>
            <a:off x="4293394" y="2024063"/>
            <a:ext cx="3600000" cy="1728787"/>
          </a:xfrm>
          <a:prstGeom prst="rect">
            <a:avLst/>
          </a:prstGeom>
          <a:solidFill>
            <a:schemeClr val="accent4"/>
          </a:solidFill>
          <a:ln>
            <a:noFill/>
          </a:ln>
        </p:spPr>
      </p:sp>
      <p:sp>
        <p:nvSpPr>
          <p:cNvPr id="160" name="Google Shape;160;p18"/>
          <p:cNvSpPr>
            <a:spLocks noGrp="1"/>
          </p:cNvSpPr>
          <p:nvPr>
            <p:ph type="pic" idx="4"/>
          </p:nvPr>
        </p:nvSpPr>
        <p:spPr>
          <a:xfrm>
            <a:off x="476704" y="2024063"/>
            <a:ext cx="3600000" cy="1728787"/>
          </a:xfrm>
          <a:prstGeom prst="rect">
            <a:avLst/>
          </a:prstGeom>
          <a:solidFill>
            <a:schemeClr val="accent4"/>
          </a:solidFill>
          <a:ln>
            <a:noFill/>
          </a:ln>
        </p:spPr>
      </p:sp>
      <p:sp>
        <p:nvSpPr>
          <p:cNvPr id="161" name="Google Shape;161;p18"/>
          <p:cNvSpPr txBox="1">
            <a:spLocks noGrp="1"/>
          </p:cNvSpPr>
          <p:nvPr>
            <p:ph type="dt" idx="10"/>
          </p:nvPr>
        </p:nvSpPr>
        <p:spPr>
          <a:xfrm>
            <a:off x="818403" y="643425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8"/>
          <p:cNvSpPr txBox="1">
            <a:spLocks noGrp="1"/>
          </p:cNvSpPr>
          <p:nvPr>
            <p:ph type="ftr" idx="11"/>
          </p:nvPr>
        </p:nvSpPr>
        <p:spPr>
          <a:xfrm>
            <a:off x="1972067" y="643425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18"/>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
        <p:nvSpPr>
          <p:cNvPr id="166" name="Google Shape;166;p18"/>
          <p:cNvSpPr txBox="1">
            <a:spLocks noGrp="1"/>
          </p:cNvSpPr>
          <p:nvPr>
            <p:ph type="body" idx="5"/>
          </p:nvPr>
        </p:nvSpPr>
        <p:spPr>
          <a:xfrm>
            <a:off x="4293394" y="3752850"/>
            <a:ext cx="3600000" cy="2620963"/>
          </a:xfrm>
          <a:prstGeom prst="rect">
            <a:avLst/>
          </a:prstGeom>
          <a:noFill/>
          <a:ln>
            <a:noFill/>
          </a:ln>
        </p:spPr>
        <p:txBody>
          <a:bodyPr spcFirstLastPara="1" wrap="square" lIns="0" tIns="21600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7" name="Google Shape;167;p18"/>
          <p:cNvSpPr txBox="1">
            <a:spLocks noGrp="1"/>
          </p:cNvSpPr>
          <p:nvPr>
            <p:ph type="body" idx="6"/>
          </p:nvPr>
        </p:nvSpPr>
        <p:spPr>
          <a:xfrm>
            <a:off x="8112125" y="3752850"/>
            <a:ext cx="3600000" cy="2620963"/>
          </a:xfrm>
          <a:prstGeom prst="rect">
            <a:avLst/>
          </a:prstGeom>
          <a:noFill/>
          <a:ln>
            <a:noFill/>
          </a:ln>
        </p:spPr>
        <p:txBody>
          <a:bodyPr spcFirstLastPara="1" wrap="square" lIns="0" tIns="21600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1A161B3C-4DEA-8CC2-40A4-5A0CA16951D1}"/>
              </a:ext>
            </a:extLst>
          </p:cNvPr>
          <p:cNvPicPr>
            <a:picLocks noChangeAspect="1"/>
          </p:cNvPicPr>
          <p:nvPr userDrawn="1"/>
        </p:nvPicPr>
        <p:blipFill>
          <a:blip r:embed="rId2"/>
          <a:stretch>
            <a:fillRect/>
          </a:stretch>
        </p:blipFill>
        <p:spPr>
          <a:xfrm>
            <a:off x="10226606" y="260100"/>
            <a:ext cx="1705178" cy="603083"/>
          </a:xfrm>
          <a:prstGeom prst="rect">
            <a:avLst/>
          </a:prstGeom>
        </p:spPr>
      </p:pic>
      <p:pic>
        <p:nvPicPr>
          <p:cNvPr id="4" name="Grafik 3" descr="Ein Bild, das Text, Schrift, Screenshot, Visitenkarte enthält.&#10;&#10;KI-generierte Inhalte können fehlerhaft sein.">
            <a:extLst>
              <a:ext uri="{FF2B5EF4-FFF2-40B4-BE49-F238E27FC236}">
                <a16:creationId xmlns:a16="http://schemas.microsoft.com/office/drawing/2014/main" id="{65559268-D605-04E4-68C9-06F1C92DA7D3}"/>
              </a:ext>
            </a:extLst>
          </p:cNvPr>
          <p:cNvPicPr>
            <a:picLocks noChangeAspect="1"/>
          </p:cNvPicPr>
          <p:nvPr userDrawn="1"/>
        </p:nvPicPr>
        <p:blipFill>
          <a:blip r:embed="rId3"/>
          <a:stretch>
            <a:fillRect/>
          </a:stretch>
        </p:blipFill>
        <p:spPr>
          <a:xfrm>
            <a:off x="10472529" y="1006451"/>
            <a:ext cx="1459255" cy="973980"/>
          </a:xfrm>
          <a:prstGeom prst="rect">
            <a:avLst/>
          </a:prstGeom>
        </p:spPr>
      </p:pic>
      <p:sp>
        <p:nvSpPr>
          <p:cNvPr id="5" name="Google Shape;134;p15">
            <a:extLst>
              <a:ext uri="{FF2B5EF4-FFF2-40B4-BE49-F238E27FC236}">
                <a16:creationId xmlns:a16="http://schemas.microsoft.com/office/drawing/2014/main" id="{0DE01C98-EDAF-C75C-A07C-6D54FA668D8E}"/>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25493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opics ohne Bildern" preserve="1" userDrawn="1">
  <p:cSld name="Topics ohne Bildern">
    <p:spTree>
      <p:nvGrpSpPr>
        <p:cNvPr id="1" name="Shape 168"/>
        <p:cNvGrpSpPr/>
        <p:nvPr/>
      </p:nvGrpSpPr>
      <p:grpSpPr>
        <a:xfrm>
          <a:off x="0" y="0"/>
          <a:ext cx="0" cy="0"/>
          <a:chOff x="0" y="0"/>
          <a:chExt cx="0" cy="0"/>
        </a:xfrm>
      </p:grpSpPr>
      <p:sp>
        <p:nvSpPr>
          <p:cNvPr id="171" name="Google Shape;171;p19"/>
          <p:cNvSpPr txBox="1">
            <a:spLocks noGrp="1"/>
          </p:cNvSpPr>
          <p:nvPr>
            <p:ph type="body" idx="1"/>
          </p:nvPr>
        </p:nvSpPr>
        <p:spPr>
          <a:xfrm>
            <a:off x="659724" y="2049779"/>
            <a:ext cx="3420000" cy="3979210"/>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72" name="Google Shape;172;p19"/>
          <p:cNvSpPr txBox="1">
            <a:spLocks noGrp="1"/>
          </p:cNvSpPr>
          <p:nvPr>
            <p:ph type="body" idx="2"/>
          </p:nvPr>
        </p:nvSpPr>
        <p:spPr>
          <a:xfrm>
            <a:off x="4470969" y="2049779"/>
            <a:ext cx="3420000" cy="3979209"/>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173" name="Google Shape;173;p19"/>
          <p:cNvSpPr txBox="1">
            <a:spLocks noGrp="1"/>
          </p:cNvSpPr>
          <p:nvPr>
            <p:ph type="body" idx="3"/>
          </p:nvPr>
        </p:nvSpPr>
        <p:spPr>
          <a:xfrm>
            <a:off x="8282214" y="2049779"/>
            <a:ext cx="3420000" cy="3979209"/>
          </a:xfrm>
          <a:prstGeom prst="rect">
            <a:avLst/>
          </a:prstGeom>
          <a:noFill/>
          <a:ln>
            <a:noFill/>
          </a:ln>
        </p:spPr>
        <p:txBody>
          <a:bodyPr spcFirstLastPara="1" wrap="square" lIns="0" tIns="0" rIns="0" bIns="0" anchor="t" anchorCtr="0">
            <a:noAutofit/>
          </a:bodyPr>
          <a:lstStyle>
            <a:lvl1pPr marL="457200" lvl="0" indent="-228600" algn="l">
              <a:lnSpc>
                <a:spcPct val="137500"/>
              </a:lnSpc>
              <a:spcBef>
                <a:spcPts val="0"/>
              </a:spcBef>
              <a:spcAft>
                <a:spcPts val="0"/>
              </a:spcAft>
              <a:buClr>
                <a:schemeClr val="dk1"/>
              </a:buClr>
              <a:buSzPts val="1600"/>
              <a:buFont typeface="Arial"/>
              <a:buNone/>
              <a:defRPr sz="1600" b="1"/>
            </a:lvl1pPr>
            <a:lvl2pPr marL="914400" lvl="1" indent="-228600" algn="l">
              <a:lnSpc>
                <a:spcPct val="137500"/>
              </a:lnSpc>
              <a:spcBef>
                <a:spcPts val="0"/>
              </a:spcBef>
              <a:spcAft>
                <a:spcPts val="0"/>
              </a:spcAft>
              <a:buClr>
                <a:schemeClr val="dk1"/>
              </a:buClr>
              <a:buSzPts val="2240"/>
              <a:buFont typeface="Arial"/>
              <a:buNone/>
              <a:defRPr sz="1600"/>
            </a:lvl2pPr>
            <a:lvl3pPr marL="1371600" lvl="2" indent="-228600" algn="l">
              <a:lnSpc>
                <a:spcPct val="137500"/>
              </a:lnSpc>
              <a:spcBef>
                <a:spcPts val="2200"/>
              </a:spcBef>
              <a:spcAft>
                <a:spcPts val="0"/>
              </a:spcAft>
              <a:buSzPts val="1600"/>
              <a:buNone/>
              <a:defRPr sz="1600"/>
            </a:lvl3pPr>
            <a:lvl4pPr marL="1828800" lvl="3" indent="-228600" algn="l">
              <a:lnSpc>
                <a:spcPct val="137500"/>
              </a:lnSpc>
              <a:spcBef>
                <a:spcPts val="0"/>
              </a:spcBef>
              <a:spcAft>
                <a:spcPts val="0"/>
              </a:spcAft>
              <a:buClr>
                <a:schemeClr val="dk1"/>
              </a:buClr>
              <a:buSzPts val="1600"/>
              <a:buFont typeface="Arial"/>
              <a:buNone/>
              <a:defRPr sz="1600"/>
            </a:lvl4pPr>
            <a:lvl5pPr marL="2286000" lvl="4" indent="-228600" algn="l">
              <a:lnSpc>
                <a:spcPct val="137500"/>
              </a:lnSpc>
              <a:spcBef>
                <a:spcPts val="0"/>
              </a:spcBef>
              <a:spcAft>
                <a:spcPts val="0"/>
              </a:spcAft>
              <a:buClr>
                <a:schemeClr val="dk1"/>
              </a:buClr>
              <a:buSzPts val="2080"/>
              <a:buFont typeface="Arial"/>
              <a:buNone/>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cxnSp>
        <p:nvCxnSpPr>
          <p:cNvPr id="174" name="Google Shape;174;p19"/>
          <p:cNvCxnSpPr/>
          <p:nvPr/>
        </p:nvCxnSpPr>
        <p:spPr>
          <a:xfrm>
            <a:off x="482148" y="1963972"/>
            <a:ext cx="0" cy="4065016"/>
          </a:xfrm>
          <a:prstGeom prst="straightConnector1">
            <a:avLst/>
          </a:prstGeom>
          <a:noFill/>
          <a:ln w="9525" cap="flat" cmpd="sng">
            <a:solidFill>
              <a:schemeClr val="dk1"/>
            </a:solidFill>
            <a:prstDash val="solid"/>
            <a:miter lim="800000"/>
            <a:headEnd type="none" w="sm" len="sm"/>
            <a:tailEnd type="none" w="sm" len="sm"/>
          </a:ln>
        </p:spPr>
      </p:cxnSp>
      <p:cxnSp>
        <p:nvCxnSpPr>
          <p:cNvPr id="175" name="Google Shape;175;p19"/>
          <p:cNvCxnSpPr/>
          <p:nvPr/>
        </p:nvCxnSpPr>
        <p:spPr>
          <a:xfrm>
            <a:off x="4293394" y="1963972"/>
            <a:ext cx="0" cy="4065016"/>
          </a:xfrm>
          <a:prstGeom prst="straightConnector1">
            <a:avLst/>
          </a:prstGeom>
          <a:noFill/>
          <a:ln w="9525" cap="flat" cmpd="sng">
            <a:solidFill>
              <a:schemeClr val="dk1"/>
            </a:solidFill>
            <a:prstDash val="solid"/>
            <a:miter lim="800000"/>
            <a:headEnd type="none" w="sm" len="sm"/>
            <a:tailEnd type="none" w="sm" len="sm"/>
          </a:ln>
        </p:spPr>
      </p:cxnSp>
      <p:cxnSp>
        <p:nvCxnSpPr>
          <p:cNvPr id="176" name="Google Shape;176;p19"/>
          <p:cNvCxnSpPr/>
          <p:nvPr/>
        </p:nvCxnSpPr>
        <p:spPr>
          <a:xfrm>
            <a:off x="8112125" y="1963972"/>
            <a:ext cx="0" cy="4065016"/>
          </a:xfrm>
          <a:prstGeom prst="straightConnector1">
            <a:avLst/>
          </a:prstGeom>
          <a:noFill/>
          <a:ln w="9525" cap="flat" cmpd="sng">
            <a:solidFill>
              <a:schemeClr val="dk1"/>
            </a:solidFill>
            <a:prstDash val="solid"/>
            <a:miter lim="800000"/>
            <a:headEnd type="none" w="sm" len="sm"/>
            <a:tailEnd type="none" w="sm" len="sm"/>
          </a:ln>
        </p:spPr>
      </p:cxnSp>
      <p:sp>
        <p:nvSpPr>
          <p:cNvPr id="177" name="Google Shape;177;p19"/>
          <p:cNvSpPr txBox="1">
            <a:spLocks noGrp="1"/>
          </p:cNvSpPr>
          <p:nvPr>
            <p:ph type="dt" idx="10"/>
          </p:nvPr>
        </p:nvSpPr>
        <p:spPr>
          <a:xfrm>
            <a:off x="818403" y="643425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19"/>
          <p:cNvSpPr txBox="1">
            <a:spLocks noGrp="1"/>
          </p:cNvSpPr>
          <p:nvPr>
            <p:ph type="ftr" idx="11"/>
          </p:nvPr>
        </p:nvSpPr>
        <p:spPr>
          <a:xfrm>
            <a:off x="1972067" y="643425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9" name="Google Shape;179;p19"/>
          <p:cNvSpPr txBox="1">
            <a:spLocks noGrp="1"/>
          </p:cNvSpPr>
          <p:nvPr>
            <p:ph type="sldNum" idx="12"/>
          </p:nvPr>
        </p:nvSpPr>
        <p:spPr>
          <a:xfrm>
            <a:off x="11531078" y="6417445"/>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440CD5CE-2559-B4BA-9CC9-5D0C2ACD860C}"/>
              </a:ext>
            </a:extLst>
          </p:cNvPr>
          <p:cNvPicPr>
            <a:picLocks noChangeAspect="1"/>
          </p:cNvPicPr>
          <p:nvPr userDrawn="1"/>
        </p:nvPicPr>
        <p:blipFill>
          <a:blip r:embed="rId2"/>
          <a:stretch>
            <a:fillRect/>
          </a:stretch>
        </p:blipFill>
        <p:spPr>
          <a:xfrm>
            <a:off x="10226606" y="260100"/>
            <a:ext cx="1705178" cy="603083"/>
          </a:xfrm>
          <a:prstGeom prst="rect">
            <a:avLst/>
          </a:prstGeom>
        </p:spPr>
      </p:pic>
      <p:pic>
        <p:nvPicPr>
          <p:cNvPr id="4" name="Grafik 3" descr="Ein Bild, das Text, Schrift, Screenshot, Visitenkarte enthält.&#10;&#10;KI-generierte Inhalte können fehlerhaft sein.">
            <a:extLst>
              <a:ext uri="{FF2B5EF4-FFF2-40B4-BE49-F238E27FC236}">
                <a16:creationId xmlns:a16="http://schemas.microsoft.com/office/drawing/2014/main" id="{07E29C0B-DCD5-7541-0976-477AB55E9F8F}"/>
              </a:ext>
            </a:extLst>
          </p:cNvPr>
          <p:cNvPicPr>
            <a:picLocks noChangeAspect="1"/>
          </p:cNvPicPr>
          <p:nvPr userDrawn="1"/>
        </p:nvPicPr>
        <p:blipFill>
          <a:blip r:embed="rId3"/>
          <a:stretch>
            <a:fillRect/>
          </a:stretch>
        </p:blipFill>
        <p:spPr>
          <a:xfrm>
            <a:off x="10472529" y="1006451"/>
            <a:ext cx="1459255" cy="973980"/>
          </a:xfrm>
          <a:prstGeom prst="rect">
            <a:avLst/>
          </a:prstGeom>
        </p:spPr>
      </p:pic>
      <p:sp>
        <p:nvSpPr>
          <p:cNvPr id="3" name="Google Shape;134;p15">
            <a:extLst>
              <a:ext uri="{FF2B5EF4-FFF2-40B4-BE49-F238E27FC236}">
                <a16:creationId xmlns:a16="http://schemas.microsoft.com/office/drawing/2014/main" id="{22E8A514-8E80-9DEB-F599-FD0E4844B4D6}"/>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40075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Farbiger Hintergrund" preserve="1" userDrawn="1">
  <p:cSld name="Farbiger Hintergrund">
    <p:bg>
      <p:bgPr>
        <a:solidFill>
          <a:schemeClr val="lt1"/>
        </a:solidFill>
        <a:effectLst/>
      </p:bgPr>
    </p:bg>
    <p:spTree>
      <p:nvGrpSpPr>
        <p:cNvPr id="1" name="Shape 180"/>
        <p:cNvGrpSpPr/>
        <p:nvPr/>
      </p:nvGrpSpPr>
      <p:grpSpPr>
        <a:xfrm>
          <a:off x="0" y="0"/>
          <a:ext cx="0" cy="0"/>
          <a:chOff x="0" y="0"/>
          <a:chExt cx="0" cy="0"/>
        </a:xfrm>
      </p:grpSpPr>
      <p:sp>
        <p:nvSpPr>
          <p:cNvPr id="183" name="Google Shape;183;p20"/>
          <p:cNvSpPr>
            <a:spLocks noGrp="1"/>
          </p:cNvSpPr>
          <p:nvPr>
            <p:ph type="pic" idx="2"/>
          </p:nvPr>
        </p:nvSpPr>
        <p:spPr>
          <a:xfrm>
            <a:off x="442913" y="1598686"/>
            <a:ext cx="11269662" cy="4746552"/>
          </a:xfrm>
          <a:prstGeom prst="rect">
            <a:avLst/>
          </a:prstGeom>
          <a:solidFill>
            <a:schemeClr val="accent4"/>
          </a:solidFill>
          <a:ln>
            <a:noFill/>
          </a:ln>
        </p:spPr>
      </p:sp>
      <p:sp>
        <p:nvSpPr>
          <p:cNvPr id="184" name="Google Shape;184;p20"/>
          <p:cNvSpPr txBox="1">
            <a:spLocks noGrp="1"/>
          </p:cNvSpPr>
          <p:nvPr>
            <p:ph type="body" idx="1"/>
          </p:nvPr>
        </p:nvSpPr>
        <p:spPr>
          <a:xfrm>
            <a:off x="7908925" y="1781246"/>
            <a:ext cx="4283075" cy="4003675"/>
          </a:xfrm>
          <a:prstGeom prst="rect">
            <a:avLst/>
          </a:prstGeom>
          <a:solidFill>
            <a:schemeClr val="dk2"/>
          </a:solidFill>
          <a:ln>
            <a:noFill/>
          </a:ln>
        </p:spPr>
        <p:txBody>
          <a:bodyPr spcFirstLastPara="1" wrap="square" lIns="252000" tIns="180000" rIns="468000" bIns="180000" anchor="t" anchorCtr="0">
            <a:noAutofit/>
          </a:bodyPr>
          <a:lstStyle>
            <a:lvl1pPr marL="457200" lvl="0" indent="-228600" algn="l">
              <a:lnSpc>
                <a:spcPct val="128571"/>
              </a:lnSpc>
              <a:spcBef>
                <a:spcPts val="0"/>
              </a:spcBef>
              <a:spcAft>
                <a:spcPts val="0"/>
              </a:spcAft>
              <a:buClr>
                <a:schemeClr val="lt1"/>
              </a:buClr>
              <a:buSzPts val="1400"/>
              <a:buNone/>
              <a:defRPr sz="1400" b="1">
                <a:solidFill>
                  <a:schemeClr val="lt1"/>
                </a:solidFill>
              </a:defRPr>
            </a:lvl1pPr>
            <a:lvl2pPr marL="914400" lvl="1" indent="-353060" algn="l">
              <a:lnSpc>
                <a:spcPct val="128571"/>
              </a:lnSpc>
              <a:spcBef>
                <a:spcPts val="0"/>
              </a:spcBef>
              <a:spcAft>
                <a:spcPts val="0"/>
              </a:spcAft>
              <a:buClr>
                <a:schemeClr val="lt1"/>
              </a:buClr>
              <a:buSzPts val="1960"/>
              <a:buChar char="•"/>
              <a:defRPr sz="1400">
                <a:solidFill>
                  <a:schemeClr val="lt1"/>
                </a:solidFill>
              </a:defRPr>
            </a:lvl2pPr>
            <a:lvl3pPr marL="1371600" lvl="2" indent="-317500" algn="l">
              <a:lnSpc>
                <a:spcPct val="128571"/>
              </a:lnSpc>
              <a:spcBef>
                <a:spcPts val="1800"/>
              </a:spcBef>
              <a:spcAft>
                <a:spcPts val="0"/>
              </a:spcAft>
              <a:buClr>
                <a:schemeClr val="lt1"/>
              </a:buClr>
              <a:buSzPts val="1400"/>
              <a:buAutoNum type="arabicPeriod"/>
              <a:defRPr sz="1400">
                <a:solidFill>
                  <a:schemeClr val="lt1"/>
                </a:solidFill>
              </a:defRPr>
            </a:lvl3pPr>
            <a:lvl4pPr marL="1828800" lvl="3" indent="-228600" algn="l">
              <a:lnSpc>
                <a:spcPct val="128571"/>
              </a:lnSpc>
              <a:spcBef>
                <a:spcPts val="0"/>
              </a:spcBef>
              <a:spcAft>
                <a:spcPts val="0"/>
              </a:spcAft>
              <a:buClr>
                <a:schemeClr val="lt1"/>
              </a:buClr>
              <a:buSzPts val="1400"/>
              <a:buNone/>
              <a:defRPr sz="1400">
                <a:solidFill>
                  <a:schemeClr val="lt1"/>
                </a:solidFill>
              </a:defRPr>
            </a:lvl4pPr>
            <a:lvl5pPr marL="2286000" lvl="4" indent="-344170" algn="l">
              <a:lnSpc>
                <a:spcPct val="128571"/>
              </a:lnSpc>
              <a:spcBef>
                <a:spcPts val="0"/>
              </a:spcBef>
              <a:spcAft>
                <a:spcPts val="0"/>
              </a:spcAft>
              <a:buClr>
                <a:schemeClr val="lt1"/>
              </a:buClr>
              <a:buSzPts val="182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20"/>
          <p:cNvSpPr txBox="1">
            <a:spLocks noGrp="1"/>
          </p:cNvSpPr>
          <p:nvPr>
            <p:ph type="dt" idx="10"/>
          </p:nvPr>
        </p:nvSpPr>
        <p:spPr>
          <a:xfrm>
            <a:off x="4216923" y="6419198"/>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86" name="Google Shape;186;p20"/>
          <p:cNvSpPr txBox="1">
            <a:spLocks noGrp="1"/>
          </p:cNvSpPr>
          <p:nvPr>
            <p:ph type="ftr" idx="11"/>
          </p:nvPr>
        </p:nvSpPr>
        <p:spPr>
          <a:xfrm>
            <a:off x="5370587" y="6419198"/>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20"/>
          <p:cNvSpPr txBox="1">
            <a:spLocks noGrp="1"/>
          </p:cNvSpPr>
          <p:nvPr>
            <p:ph type="sldNum" idx="12"/>
          </p:nvPr>
        </p:nvSpPr>
        <p:spPr>
          <a:xfrm>
            <a:off x="11531078" y="6419198"/>
            <a:ext cx="487680" cy="398749"/>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pic>
        <p:nvPicPr>
          <p:cNvPr id="2" name="Grafik 1" descr="Ein Bild, das Text, Schrift, Screenshot, Grafiken enthält.&#10;&#10;KI-generierte Inhalte können fehlerhaft sein.">
            <a:extLst>
              <a:ext uri="{FF2B5EF4-FFF2-40B4-BE49-F238E27FC236}">
                <a16:creationId xmlns:a16="http://schemas.microsoft.com/office/drawing/2014/main" id="{2D6E7480-AEB2-8D62-6FCF-C7068FEE744F}"/>
              </a:ext>
            </a:extLst>
          </p:cNvPr>
          <p:cNvPicPr>
            <a:picLocks noChangeAspect="1"/>
          </p:cNvPicPr>
          <p:nvPr userDrawn="1"/>
        </p:nvPicPr>
        <p:blipFill>
          <a:blip r:embed="rId2"/>
          <a:stretch>
            <a:fillRect/>
          </a:stretch>
        </p:blipFill>
        <p:spPr>
          <a:xfrm>
            <a:off x="10226606" y="260100"/>
            <a:ext cx="1705178" cy="603083"/>
          </a:xfrm>
          <a:prstGeom prst="rect">
            <a:avLst/>
          </a:prstGeom>
        </p:spPr>
      </p:pic>
      <p:sp>
        <p:nvSpPr>
          <p:cNvPr id="3" name="Gleichschenkliges Dreieck 2">
            <a:extLst>
              <a:ext uri="{FF2B5EF4-FFF2-40B4-BE49-F238E27FC236}">
                <a16:creationId xmlns:a16="http://schemas.microsoft.com/office/drawing/2014/main" id="{19F5DB62-195F-FD6E-5619-1A35B4AE8B1D}"/>
              </a:ext>
            </a:extLst>
          </p:cNvPr>
          <p:cNvSpPr/>
          <p:nvPr userDrawn="1"/>
        </p:nvSpPr>
        <p:spPr>
          <a:xfrm rot="13362479">
            <a:off x="-1253963" y="5212421"/>
            <a:ext cx="4108266" cy="2054255"/>
          </a:xfrm>
          <a:prstGeom prst="triangle">
            <a:avLst>
              <a:gd name="adj" fmla="val 5422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Text, Schrift, Screenshot, Visitenkarte enthält.&#10;&#10;KI-generierte Inhalte können fehlerhaft sein.">
            <a:extLst>
              <a:ext uri="{FF2B5EF4-FFF2-40B4-BE49-F238E27FC236}">
                <a16:creationId xmlns:a16="http://schemas.microsoft.com/office/drawing/2014/main" id="{3FDAC246-403F-9041-17EC-DB4B9AFCBA7E}"/>
              </a:ext>
            </a:extLst>
          </p:cNvPr>
          <p:cNvPicPr>
            <a:picLocks noChangeAspect="1"/>
          </p:cNvPicPr>
          <p:nvPr userDrawn="1"/>
        </p:nvPicPr>
        <p:blipFill>
          <a:blip r:embed="rId3"/>
          <a:srcRect l="6408" t="14723" r="10854" b="13755"/>
          <a:stretch/>
        </p:blipFill>
        <p:spPr>
          <a:xfrm>
            <a:off x="144780" y="5714839"/>
            <a:ext cx="1600342" cy="923364"/>
          </a:xfrm>
          <a:prstGeom prst="rect">
            <a:avLst/>
          </a:prstGeom>
        </p:spPr>
      </p:pic>
      <p:sp>
        <p:nvSpPr>
          <p:cNvPr id="5" name="Google Shape;134;p15">
            <a:extLst>
              <a:ext uri="{FF2B5EF4-FFF2-40B4-BE49-F238E27FC236}">
                <a16:creationId xmlns:a16="http://schemas.microsoft.com/office/drawing/2014/main" id="{6B2CD45F-A9E2-0E11-694A-035C17EE794E}"/>
              </a:ext>
            </a:extLst>
          </p:cNvPr>
          <p:cNvSpPr txBox="1">
            <a:spLocks noGrp="1"/>
          </p:cNvSpPr>
          <p:nvPr>
            <p:ph type="title"/>
          </p:nvPr>
        </p:nvSpPr>
        <p:spPr>
          <a:xfrm>
            <a:off x="474213" y="616823"/>
            <a:ext cx="8265600" cy="779255"/>
          </a:xfrm>
          <a:prstGeom prst="rect">
            <a:avLst/>
          </a:prstGeom>
          <a:noFill/>
          <a:ln>
            <a:noFill/>
          </a:ln>
        </p:spPr>
        <p:txBody>
          <a:bodyPr spcFirstLastPara="1" wrap="square" lIns="0" tIns="0" rIns="0" bIns="0" anchor="b" anchorCtr="0">
            <a:noAutofit/>
          </a:bodyPr>
          <a:lstStyle>
            <a:lvl1pPr lvl="0" algn="l">
              <a:lnSpc>
                <a:spcPct val="144444"/>
              </a:lnSpc>
              <a:spcBef>
                <a:spcPts val="0"/>
              </a:spcBef>
              <a:spcAft>
                <a:spcPts val="0"/>
              </a:spcAft>
              <a:buClr>
                <a:schemeClr val="dk1"/>
              </a:buClr>
              <a:buSzPts val="1800"/>
              <a:buNone/>
              <a:defRPr sz="3200" b="1" i="0" cap="all" baseline="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30934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DEFAUL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52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019174" y="484414"/>
            <a:ext cx="10514014" cy="1206274"/>
          </a:xfrm>
          <a:prstGeom prst="rect">
            <a:avLst/>
          </a:prstGeom>
          <a:noFill/>
          <a:ln>
            <a:noFill/>
          </a:ln>
        </p:spPr>
        <p:txBody>
          <a:bodyPr spcFirstLastPara="1" wrap="square" lIns="0" tIns="0" rIns="0" bIns="0" anchor="b" anchorCtr="0">
            <a:noAutofit/>
          </a:bodyPr>
          <a:lstStyle>
            <a:lvl1pPr marR="0" lvl="0" algn="l" rtl="0">
              <a:lnSpc>
                <a:spcPct val="118181"/>
              </a:lnSpc>
              <a:spcBef>
                <a:spcPts val="0"/>
              </a:spcBef>
              <a:spcAft>
                <a:spcPts val="0"/>
              </a:spcAft>
              <a:buClr>
                <a:schemeClr val="dk1"/>
              </a:buClr>
              <a:buSzPts val="2200"/>
              <a:buFont typeface="Verdana"/>
              <a:buNone/>
              <a:defRPr sz="2200" b="0" i="0" u="none" strike="noStrike" cap="none">
                <a:solidFill>
                  <a:schemeClr val="dk1"/>
                </a:solidFill>
                <a:latin typeface="Verdana"/>
                <a:ea typeface="Verdana"/>
                <a:cs typeface="Verdana"/>
                <a:sym typeface="Verdan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019174" y="1690688"/>
            <a:ext cx="10514014" cy="4654550"/>
          </a:xfrm>
          <a:prstGeom prst="rect">
            <a:avLst/>
          </a:prstGeom>
          <a:noFill/>
          <a:ln>
            <a:noFill/>
          </a:ln>
        </p:spPr>
        <p:txBody>
          <a:bodyPr spcFirstLastPara="1" wrap="square" lIns="0" tIns="0" rIns="0" bIns="0" anchor="t" anchorCtr="0">
            <a:noAutofit/>
          </a:bodyPr>
          <a:lstStyle>
            <a:lvl1pPr marL="457200" marR="0" lvl="0" indent="-228600" algn="l" rtl="0">
              <a:lnSpc>
                <a:spcPct val="137500"/>
              </a:lnSpc>
              <a:spcBef>
                <a:spcPts val="0"/>
              </a:spcBef>
              <a:spcAft>
                <a:spcPts val="0"/>
              </a:spcAft>
              <a:buClr>
                <a:schemeClr val="dk1"/>
              </a:buClr>
              <a:buSzPts val="1600"/>
              <a:buFont typeface="Arial"/>
              <a:buNone/>
              <a:defRPr sz="1600" b="0" i="0" u="none" strike="noStrike" cap="none">
                <a:solidFill>
                  <a:schemeClr val="dk1"/>
                </a:solidFill>
                <a:latin typeface="Verdana"/>
                <a:ea typeface="Verdana"/>
                <a:cs typeface="Verdana"/>
                <a:sym typeface="Verdana"/>
              </a:defRPr>
            </a:lvl1pPr>
            <a:lvl2pPr marL="914400" marR="0" lvl="1" indent="-370840" algn="l" rtl="0">
              <a:lnSpc>
                <a:spcPct val="137500"/>
              </a:lnSpc>
              <a:spcBef>
                <a:spcPts val="1100"/>
              </a:spcBef>
              <a:spcAft>
                <a:spcPts val="0"/>
              </a:spcAft>
              <a:buClr>
                <a:schemeClr val="dk1"/>
              </a:buClr>
              <a:buSzPts val="2240"/>
              <a:buFont typeface="Arial"/>
              <a:buChar char="•"/>
              <a:defRPr sz="1600" b="0" i="0" u="none" strike="noStrike" cap="none">
                <a:solidFill>
                  <a:schemeClr val="dk1"/>
                </a:solidFill>
                <a:latin typeface="Verdana"/>
                <a:ea typeface="Verdana"/>
                <a:cs typeface="Verdana"/>
                <a:sym typeface="Verdana"/>
              </a:defRPr>
            </a:lvl2pPr>
            <a:lvl3pPr marL="1371600" marR="0" lvl="2" indent="-330200" algn="l" rtl="0">
              <a:lnSpc>
                <a:spcPct val="137500"/>
              </a:lnSpc>
              <a:spcBef>
                <a:spcPts val="1100"/>
              </a:spcBef>
              <a:spcAft>
                <a:spcPts val="0"/>
              </a:spcAft>
              <a:buClr>
                <a:schemeClr val="dk1"/>
              </a:buClr>
              <a:buSzPts val="1600"/>
              <a:buFont typeface="Verdana"/>
              <a:buAutoNum type="arabicPeriod"/>
              <a:defRPr sz="1600" b="0" i="0" u="none" strike="noStrike" cap="none">
                <a:solidFill>
                  <a:schemeClr val="dk1"/>
                </a:solidFill>
                <a:latin typeface="Verdana"/>
                <a:ea typeface="Verdana"/>
                <a:cs typeface="Verdana"/>
                <a:sym typeface="Verdana"/>
              </a:defRPr>
            </a:lvl3pPr>
            <a:lvl4pPr marL="1828800" marR="0" lvl="3" indent="-228600" algn="l" rtl="0">
              <a:lnSpc>
                <a:spcPct val="137500"/>
              </a:lnSpc>
              <a:spcBef>
                <a:spcPts val="1100"/>
              </a:spcBef>
              <a:spcAft>
                <a:spcPts val="0"/>
              </a:spcAft>
              <a:buClr>
                <a:schemeClr val="dk1"/>
              </a:buClr>
              <a:buSzPts val="1600"/>
              <a:buFont typeface="Arial"/>
              <a:buNone/>
              <a:defRPr sz="1600" b="0" i="0" u="none" strike="noStrike" cap="none">
                <a:solidFill>
                  <a:schemeClr val="dk1"/>
                </a:solidFill>
                <a:latin typeface="Verdana"/>
                <a:ea typeface="Verdana"/>
                <a:cs typeface="Verdana"/>
                <a:sym typeface="Verdana"/>
              </a:defRPr>
            </a:lvl4pPr>
            <a:lvl5pPr marL="2286000" marR="0" lvl="4" indent="-360679" algn="l" rtl="0">
              <a:lnSpc>
                <a:spcPct val="137500"/>
              </a:lnSpc>
              <a:spcBef>
                <a:spcPts val="1100"/>
              </a:spcBef>
              <a:spcAft>
                <a:spcPts val="0"/>
              </a:spcAft>
              <a:buClr>
                <a:schemeClr val="dk1"/>
              </a:buClr>
              <a:buSzPts val="208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90000"/>
              </a:lnSpc>
              <a:spcBef>
                <a:spcPts val="11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9pPr>
          </a:lstStyle>
          <a:p>
            <a:endParaRPr dirty="0"/>
          </a:p>
        </p:txBody>
      </p:sp>
      <p:sp>
        <p:nvSpPr>
          <p:cNvPr id="14" name="Google Shape;14;p1"/>
          <p:cNvSpPr txBox="1">
            <a:spLocks noGrp="1"/>
          </p:cNvSpPr>
          <p:nvPr>
            <p:ph type="sldNum" idx="12"/>
          </p:nvPr>
        </p:nvSpPr>
        <p:spPr>
          <a:xfrm>
            <a:off x="11531078" y="6416504"/>
            <a:ext cx="487680" cy="398749"/>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100" b="0" i="0" u="none" strike="noStrike" cap="none">
                <a:solidFill>
                  <a:schemeClr val="dk2"/>
                </a:solidFill>
                <a:latin typeface="Verdana"/>
                <a:ea typeface="Verdana"/>
                <a:cs typeface="Verdana"/>
                <a:sym typeface="Verdana"/>
              </a:defRPr>
            </a:lvl1pPr>
            <a:lvl2pPr marL="0" marR="0" lvl="1" indent="0" algn="r" rtl="0">
              <a:spcBef>
                <a:spcPts val="0"/>
              </a:spcBef>
              <a:buNone/>
              <a:defRPr sz="1100" b="0" i="0" u="none" strike="noStrike" cap="none">
                <a:solidFill>
                  <a:schemeClr val="dk2"/>
                </a:solidFill>
                <a:latin typeface="Verdana"/>
                <a:ea typeface="Verdana"/>
                <a:cs typeface="Verdana"/>
                <a:sym typeface="Verdana"/>
              </a:defRPr>
            </a:lvl2pPr>
            <a:lvl3pPr marL="0" marR="0" lvl="2" indent="0" algn="r" rtl="0">
              <a:spcBef>
                <a:spcPts val="0"/>
              </a:spcBef>
              <a:buNone/>
              <a:defRPr sz="1100" b="0" i="0" u="none" strike="noStrike" cap="none">
                <a:solidFill>
                  <a:schemeClr val="dk2"/>
                </a:solidFill>
                <a:latin typeface="Verdana"/>
                <a:ea typeface="Verdana"/>
                <a:cs typeface="Verdana"/>
                <a:sym typeface="Verdana"/>
              </a:defRPr>
            </a:lvl3pPr>
            <a:lvl4pPr marL="0" marR="0" lvl="3" indent="0" algn="r" rtl="0">
              <a:spcBef>
                <a:spcPts val="0"/>
              </a:spcBef>
              <a:buNone/>
              <a:defRPr sz="1100" b="0" i="0" u="none" strike="noStrike" cap="none">
                <a:solidFill>
                  <a:schemeClr val="dk2"/>
                </a:solidFill>
                <a:latin typeface="Verdana"/>
                <a:ea typeface="Verdana"/>
                <a:cs typeface="Verdana"/>
                <a:sym typeface="Verdana"/>
              </a:defRPr>
            </a:lvl4pPr>
            <a:lvl5pPr marL="0" marR="0" lvl="4" indent="0" algn="r" rtl="0">
              <a:spcBef>
                <a:spcPts val="0"/>
              </a:spcBef>
              <a:buNone/>
              <a:defRPr sz="1100" b="0" i="0" u="none" strike="noStrike" cap="none">
                <a:solidFill>
                  <a:schemeClr val="dk2"/>
                </a:solidFill>
                <a:latin typeface="Verdana"/>
                <a:ea typeface="Verdana"/>
                <a:cs typeface="Verdana"/>
                <a:sym typeface="Verdana"/>
              </a:defRPr>
            </a:lvl5pPr>
            <a:lvl6pPr marL="0" marR="0" lvl="5" indent="0" algn="r" rtl="0">
              <a:spcBef>
                <a:spcPts val="0"/>
              </a:spcBef>
              <a:buNone/>
              <a:defRPr sz="1100" b="0" i="0" u="none" strike="noStrike" cap="none">
                <a:solidFill>
                  <a:schemeClr val="dk2"/>
                </a:solidFill>
                <a:latin typeface="Verdana"/>
                <a:ea typeface="Verdana"/>
                <a:cs typeface="Verdana"/>
                <a:sym typeface="Verdana"/>
              </a:defRPr>
            </a:lvl6pPr>
            <a:lvl7pPr marL="0" marR="0" lvl="6" indent="0" algn="r" rtl="0">
              <a:spcBef>
                <a:spcPts val="0"/>
              </a:spcBef>
              <a:buNone/>
              <a:defRPr sz="1100" b="0" i="0" u="none" strike="noStrike" cap="none">
                <a:solidFill>
                  <a:schemeClr val="dk2"/>
                </a:solidFill>
                <a:latin typeface="Verdana"/>
                <a:ea typeface="Verdana"/>
                <a:cs typeface="Verdana"/>
                <a:sym typeface="Verdana"/>
              </a:defRPr>
            </a:lvl7pPr>
            <a:lvl8pPr marL="0" marR="0" lvl="7" indent="0" algn="r" rtl="0">
              <a:spcBef>
                <a:spcPts val="0"/>
              </a:spcBef>
              <a:buNone/>
              <a:defRPr sz="1100" b="0" i="0" u="none" strike="noStrike" cap="none">
                <a:solidFill>
                  <a:schemeClr val="dk2"/>
                </a:solidFill>
                <a:latin typeface="Verdana"/>
                <a:ea typeface="Verdana"/>
                <a:cs typeface="Verdana"/>
                <a:sym typeface="Verdana"/>
              </a:defRPr>
            </a:lvl8pPr>
            <a:lvl9pPr marL="0" marR="0" lvl="8" indent="0" algn="r" rtl="0">
              <a:spcBef>
                <a:spcPts val="0"/>
              </a:spcBef>
              <a:buNone/>
              <a:defRPr sz="1100" b="0" i="0" u="none" strike="noStrike" cap="none">
                <a:solidFill>
                  <a:schemeClr val="dk2"/>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de-DE"/>
              <a:t>‹Nr.›</a:t>
            </a:fld>
            <a:endParaRPr/>
          </a:p>
        </p:txBody>
      </p:sp>
      <p:sp>
        <p:nvSpPr>
          <p:cNvPr id="2" name="Google Shape;139;p16">
            <a:extLst>
              <a:ext uri="{FF2B5EF4-FFF2-40B4-BE49-F238E27FC236}">
                <a16:creationId xmlns:a16="http://schemas.microsoft.com/office/drawing/2014/main" id="{A789452D-3A50-1B2E-F5D6-219636FC1D52}"/>
              </a:ext>
            </a:extLst>
          </p:cNvPr>
          <p:cNvSpPr txBox="1">
            <a:spLocks noGrp="1"/>
          </p:cNvSpPr>
          <p:nvPr>
            <p:ph type="dt" idx="2"/>
          </p:nvPr>
        </p:nvSpPr>
        <p:spPr>
          <a:xfrm>
            <a:off x="4293123" y="6415337"/>
            <a:ext cx="981075" cy="365125"/>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solidFill>
                  <a:schemeClr val="bg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
        <p:nvSpPr>
          <p:cNvPr id="3" name="Google Shape;140;p16">
            <a:extLst>
              <a:ext uri="{FF2B5EF4-FFF2-40B4-BE49-F238E27FC236}">
                <a16:creationId xmlns:a16="http://schemas.microsoft.com/office/drawing/2014/main" id="{81F1450C-FC39-BA3C-9C56-02766FBE43E4}"/>
              </a:ext>
            </a:extLst>
          </p:cNvPr>
          <p:cNvSpPr txBox="1">
            <a:spLocks noGrp="1"/>
          </p:cNvSpPr>
          <p:nvPr>
            <p:ph type="ftr" idx="3"/>
          </p:nvPr>
        </p:nvSpPr>
        <p:spPr>
          <a:xfrm>
            <a:off x="5446787" y="6415337"/>
            <a:ext cx="5924158"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chemeClr val="bg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de-DE" dirty="0"/>
          </a:p>
        </p:txBody>
      </p:sp>
    </p:spTree>
  </p:cSld>
  <p:clrMap bg1="lt1" tx1="dk1" bg2="dk2" tx2="lt2" accent1="accent1" accent2="accent2" accent3="accent3" accent4="accent4" accent5="accent5" accent6="accent6" hlink="hlink" folHlink="folHlink"/>
  <p:sldLayoutIdLst>
    <p:sldLayoutId id="2147483689" r:id="rId1"/>
    <p:sldLayoutId id="2147483668" r:id="rId2"/>
    <p:sldLayoutId id="2147483669" r:id="rId3"/>
    <p:sldLayoutId id="2147483670" r:id="rId4"/>
    <p:sldLayoutId id="2147483671" r:id="rId5"/>
    <p:sldLayoutId id="2147483736" r:id="rId6"/>
    <p:sldLayoutId id="2147483688" r:id="rId7"/>
    <p:sldLayoutId id="2147483743" r:id="rId8"/>
    <p:sldLayoutId id="2147483744" r:id="rId9"/>
    <p:sldLayoutId id="2147483745" r:id="rId10"/>
    <p:sldLayoutId id="2147483747" r:id="rId11"/>
    <p:sldLayoutId id="2147483750" r:id="rId12"/>
    <p:sldLayoutId id="2147483751" r:id="rId13"/>
    <p:sldLayoutId id="2147483754" r:id="rId14"/>
    <p:sldLayoutId id="2147483755" r:id="rId15"/>
    <p:sldLayoutId id="2147483741" r:id="rId16"/>
    <p:sldLayoutId id="2147483752" r:id="rId17"/>
    <p:sldLayoutId id="2147483737" r:id="rId18"/>
    <p:sldLayoutId id="2147483696" r:id="rId19"/>
    <p:sldLayoutId id="2147483697" r:id="rId20"/>
    <p:sldLayoutId id="2147483698" r:id="rId21"/>
    <p:sldLayoutId id="2147483699" r:id="rId22"/>
    <p:sldLayoutId id="2147483701" r:id="rId23"/>
    <p:sldLayoutId id="2147483700" r:id="rId24"/>
    <p:sldLayoutId id="2147483702" r:id="rId25"/>
    <p:sldLayoutId id="2147483703" r:id="rId26"/>
    <p:sldLayoutId id="2147483704" r:id="rId27"/>
    <p:sldLayoutId id="2147483705" r:id="rId28"/>
    <p:sldLayoutId id="2147483706" r:id="rId29"/>
    <p:sldLayoutId id="2147483707" r:id="rId30"/>
    <p:sldLayoutId id="2147483708" r:id="rId31"/>
    <p:sldLayoutId id="2147483709" r:id="rId32"/>
    <p:sldLayoutId id="2147483710" r:id="rId33"/>
    <p:sldLayoutId id="2147483711" r:id="rId34"/>
    <p:sldLayoutId id="2147483712" r:id="rId35"/>
    <p:sldLayoutId id="2147483713" r:id="rId36"/>
    <p:sldLayoutId id="2147483714" r:id="rId37"/>
    <p:sldLayoutId id="2147483715" r:id="rId38"/>
    <p:sldLayoutId id="2147483716" r:id="rId39"/>
    <p:sldLayoutId id="2147483717" r:id="rId40"/>
    <p:sldLayoutId id="2147483718" r:id="rId41"/>
    <p:sldLayoutId id="2147483719" r:id="rId42"/>
    <p:sldLayoutId id="2147483720" r:id="rId43"/>
    <p:sldLayoutId id="2147483721" r:id="rId44"/>
    <p:sldLayoutId id="2147483722" r:id="rId45"/>
    <p:sldLayoutId id="2147483723" r:id="rId46"/>
    <p:sldLayoutId id="2147483724" r:id="rId47"/>
    <p:sldLayoutId id="2147483725" r:id="rId48"/>
    <p:sldLayoutId id="2147483726" r:id="rId49"/>
    <p:sldLayoutId id="2147483727" r:id="rId50"/>
    <p:sldLayoutId id="2147483728" r:id="rId51"/>
    <p:sldLayoutId id="2147483729" r:id="rId52"/>
    <p:sldLayoutId id="2147483730" r:id="rId53"/>
    <p:sldLayoutId id="2147483731" r:id="rId54"/>
    <p:sldLayoutId id="2147483732" r:id="rId55"/>
    <p:sldLayoutId id="2147483733" r:id="rId56"/>
    <p:sldLayoutId id="2147483734" r:id="rId57"/>
    <p:sldLayoutId id="2147483735" r:id="rId58"/>
    <p:sldLayoutId id="2147483753" r:id="rId59"/>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642">
          <p15:clr>
            <a:srgbClr val="F26B43"/>
          </p15:clr>
        </p15:guide>
        <p15:guide id="2" orient="horz" pos="4201">
          <p15:clr>
            <a:srgbClr val="F26B43"/>
          </p15:clr>
        </p15:guide>
        <p15:guide id="3" pos="72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3.png"/><Relationship Id="rId8" Type="http://schemas.openxmlformats.org/officeDocument/2006/relationships/image" Target="../media/image24.svg"/><Relationship Id="rId9"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5.png"/><Relationship Id="rId4" Type="http://schemas.microsoft.com/office/2007/relationships/hdphoto" Target="../media/hdphoto1.wdp"/><Relationship Id="rId5" Type="http://schemas.openxmlformats.org/officeDocument/2006/relationships/image" Target="../media/image7.png"/><Relationship Id="rId6" Type="http://schemas.microsoft.com/office/2007/relationships/hdphoto" Target="../media/hdphoto2.wdp"/><Relationship Id="rId7" Type="http://schemas.openxmlformats.org/officeDocument/2006/relationships/image" Target="../media/image8.png"/><Relationship Id="rId8" Type="http://schemas.microsoft.com/office/2007/relationships/hdphoto" Target="../media/hdphoto3.wdp"/><Relationship Id="rId9" Type="http://schemas.openxmlformats.org/officeDocument/2006/relationships/image" Target="../media/image6.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svg"/><Relationship Id="rId13" Type="http://schemas.openxmlformats.org/officeDocument/2006/relationships/hyperlink" Target="https://svgsilh.com/image/1778889.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5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3.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5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64.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67.png"/><Relationship Id="rId4" Type="http://schemas.openxmlformats.org/officeDocument/2006/relationships/image" Target="../media/image71.png"/><Relationship Id="rId5" Type="http://schemas.openxmlformats.org/officeDocument/2006/relationships/image" Target="../media/image7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7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7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81.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7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90.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91.png"/><Relationship Id="rId6" Type="http://schemas.openxmlformats.org/officeDocument/2006/relationships/image" Target="../media/image9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99.png"/><Relationship Id="rId3"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100.png"/><Relationship Id="rId4" Type="http://schemas.openxmlformats.org/officeDocument/2006/relationships/image" Target="../media/image93.png"/><Relationship Id="rId5" Type="http://schemas.openxmlformats.org/officeDocument/2006/relationships/image" Target="../media/image45.png"/><Relationship Id="rId6" Type="http://schemas.openxmlformats.org/officeDocument/2006/relationships/image" Target="../media/image10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1.png"/><Relationship Id="rId6" Type="http://schemas.openxmlformats.org/officeDocument/2006/relationships/image" Target="../media/image112.png"/><Relationship Id="rId7" Type="http://schemas.openxmlformats.org/officeDocument/2006/relationships/image" Target="../media/image113.png"/><Relationship Id="rId8" Type="http://schemas.openxmlformats.org/officeDocument/2006/relationships/image" Target="../media/image1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59.png"/><Relationship Id="rId4" Type="http://schemas.openxmlformats.org/officeDocument/2006/relationships/image" Target="../media/image92.png"/><Relationship Id="rId5" Type="http://schemas.openxmlformats.org/officeDocument/2006/relationships/image" Target="../media/image6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71.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7.png"/><Relationship Id="rId3" Type="http://schemas.openxmlformats.org/officeDocument/2006/relationships/image" Target="../media/image119.png"/><Relationship Id="rId4"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A1EDB652-A8F3-BAF4-2D56-F8E6ACC35DFD}"/>
              </a:ext>
            </a:extLst>
          </p:cNvPr>
          <p:cNvSpPr>
            <a:spLocks noGrp="1"/>
          </p:cNvSpPr>
          <p:nvPr>
            <p:ph type="body" sz="quarter" idx="10"/>
          </p:nvPr>
        </p:nvSpPr>
        <p:spPr/>
        <p:txBody>
          <a:bodyPr/>
          <a:lstStyle/>
          <a:p>
            <a:r>
              <a:rPr lang="de-DE" dirty="0"/>
              <a:t>KI-Workflows</a:t>
            </a:r>
          </a:p>
        </p:txBody>
      </p:sp>
      <p:sp>
        <p:nvSpPr>
          <p:cNvPr id="4" name="Textplatzhalter 3">
            <a:extLst>
              <a:ext uri="{FF2B5EF4-FFF2-40B4-BE49-F238E27FC236}">
                <a16:creationId xmlns:a16="http://schemas.microsoft.com/office/drawing/2014/main" id="{A5DC01CB-362D-BF04-85AB-7245CE507BD3}"/>
              </a:ext>
            </a:extLst>
          </p:cNvPr>
          <p:cNvSpPr>
            <a:spLocks noGrp="1"/>
          </p:cNvSpPr>
          <p:nvPr>
            <p:ph type="body" sz="quarter" idx="12"/>
          </p:nvPr>
        </p:nvSpPr>
        <p:spPr/>
        <p:txBody>
          <a:bodyPr/>
          <a:lstStyle/>
          <a:p>
            <a:r>
              <a:rPr lang="de-DE" dirty="0"/>
              <a:t>ohne Code.</a:t>
            </a:r>
          </a:p>
        </p:txBody>
      </p:sp>
      <p:sp>
        <p:nvSpPr>
          <p:cNvPr id="5" name="Textplatzhalter 4">
            <a:extLst>
              <a:ext uri="{FF2B5EF4-FFF2-40B4-BE49-F238E27FC236}">
                <a16:creationId xmlns:a16="http://schemas.microsoft.com/office/drawing/2014/main" id="{07FE4FEF-B0D5-0677-477F-E17C994F0F40}"/>
              </a:ext>
            </a:extLst>
          </p:cNvPr>
          <p:cNvSpPr>
            <a:spLocks noGrp="1"/>
          </p:cNvSpPr>
          <p:nvPr>
            <p:ph type="body" sz="quarter" idx="13"/>
          </p:nvPr>
        </p:nvSpPr>
        <p:spPr>
          <a:xfrm>
            <a:off x="329852" y="3192634"/>
            <a:ext cx="6337388" cy="914400"/>
          </a:xfrm>
        </p:spPr>
        <p:txBody>
          <a:bodyPr/>
          <a:lstStyle/>
          <a:p>
            <a:r>
              <a:rPr lang="de-DE" dirty="0"/>
              <a:t>Mit Langflow eigene KI-Werkzeuge für den Bibliotheksalltag bauen</a:t>
            </a:r>
          </a:p>
        </p:txBody>
      </p:sp>
      <p:sp>
        <p:nvSpPr>
          <p:cNvPr id="6" name="Textplatzhalter 5">
            <a:extLst>
              <a:ext uri="{FF2B5EF4-FFF2-40B4-BE49-F238E27FC236}">
                <a16:creationId xmlns:a16="http://schemas.microsoft.com/office/drawing/2014/main" id="{48B26E39-CDB7-70E1-0072-3AF8996CD21B}"/>
              </a:ext>
            </a:extLst>
          </p:cNvPr>
          <p:cNvSpPr>
            <a:spLocks noGrp="1"/>
          </p:cNvSpPr>
          <p:nvPr>
            <p:ph type="body" sz="quarter" idx="14"/>
          </p:nvPr>
        </p:nvSpPr>
        <p:spPr/>
        <p:txBody>
          <a:bodyPr/>
          <a:lstStyle/>
          <a:p>
            <a:r>
              <a:rPr lang="de-DE" dirty="0"/>
              <a:t>REFERENT</a:t>
            </a:r>
          </a:p>
        </p:txBody>
      </p:sp>
      <p:sp>
        <p:nvSpPr>
          <p:cNvPr id="7" name="Textplatzhalter 6">
            <a:extLst>
              <a:ext uri="{FF2B5EF4-FFF2-40B4-BE49-F238E27FC236}">
                <a16:creationId xmlns:a16="http://schemas.microsoft.com/office/drawing/2014/main" id="{E46C8559-FC58-A706-25AF-F7CCCCA33F30}"/>
              </a:ext>
            </a:extLst>
          </p:cNvPr>
          <p:cNvSpPr>
            <a:spLocks noGrp="1"/>
          </p:cNvSpPr>
          <p:nvPr>
            <p:ph type="body" sz="quarter" idx="15"/>
          </p:nvPr>
        </p:nvSpPr>
        <p:spPr>
          <a:xfrm>
            <a:off x="7880959" y="1016571"/>
            <a:ext cx="3899353" cy="914400"/>
          </a:xfrm>
        </p:spPr>
        <p:txBody>
          <a:bodyPr/>
          <a:lstStyle/>
          <a:p>
            <a:r>
              <a:rPr lang="de-DE" dirty="0" sz="2600"/>
              <a:t>Mario Tormo Romero</a:t>
            </a:r>
          </a:p>
        </p:txBody>
      </p:sp>
      <p:sp>
        <p:nvSpPr>
          <p:cNvPr id="8" name="Textplatzhalter 7">
            <a:extLst>
              <a:ext uri="{FF2B5EF4-FFF2-40B4-BE49-F238E27FC236}">
                <a16:creationId xmlns:a16="http://schemas.microsoft.com/office/drawing/2014/main" id="{ED1768D0-D7E1-4424-1893-5091501F3B77}"/>
              </a:ext>
            </a:extLst>
          </p:cNvPr>
          <p:cNvSpPr>
            <a:spLocks noGrp="1"/>
          </p:cNvSpPr>
          <p:nvPr>
            <p:ph type="body" sz="quarter" idx="16"/>
          </p:nvPr>
        </p:nvSpPr>
        <p:spPr/>
        <p:txBody>
          <a:bodyPr/>
          <a:lstStyle/>
          <a:p>
            <a:r>
              <a:rPr lang="de-DE" dirty="0"/>
              <a:t>AI Engineer &amp; Senior Data Scientist</a:t>
            </a:r>
          </a:p>
        </p:txBody>
      </p:sp>
      <p:sp>
        <p:nvSpPr>
          <p:cNvPr id="9" name="Textplatzhalter 8">
            <a:extLst>
              <a:ext uri="{FF2B5EF4-FFF2-40B4-BE49-F238E27FC236}">
                <a16:creationId xmlns:a16="http://schemas.microsoft.com/office/drawing/2014/main" id="{13EA1529-40FA-6F90-78CB-A977D46CBE42}"/>
              </a:ext>
            </a:extLst>
          </p:cNvPr>
          <p:cNvSpPr>
            <a:spLocks noGrp="1"/>
          </p:cNvSpPr>
          <p:nvPr>
            <p:ph type="body" sz="quarter" idx="17"/>
          </p:nvPr>
        </p:nvSpPr>
        <p:spPr/>
        <p:txBody>
          <a:bodyPr/>
          <a:lstStyle/>
          <a:p>
            <a:r>
              <a:rPr lang="de-DE" dirty="0"/>
              <a:t>KI-Servicezentrum Berlin-Brandenburg</a:t>
            </a:r>
          </a:p>
        </p:txBody>
      </p:sp>
      <p:sp>
        <p:nvSpPr>
          <p:cNvPr id="10" name="Textplatzhalter 9">
            <a:extLst>
              <a:ext uri="{FF2B5EF4-FFF2-40B4-BE49-F238E27FC236}">
                <a16:creationId xmlns:a16="http://schemas.microsoft.com/office/drawing/2014/main" id="{00E7ED35-3E6B-BB03-A463-DA896DAF8669}"/>
              </a:ext>
            </a:extLst>
          </p:cNvPr>
          <p:cNvSpPr>
            <a:spLocks noGrp="1"/>
          </p:cNvSpPr>
          <p:nvPr>
            <p:ph type="body" sz="quarter" idx="18"/>
          </p:nvPr>
        </p:nvSpPr>
        <p:spPr/>
        <p:txBody>
          <a:bodyPr/>
          <a:lstStyle/>
          <a:p>
            <a:r>
              <a:rPr lang="de-DE" dirty="0"/>
              <a:t>Hasso-Plattner-Institut, Potsdam</a:t>
            </a:r>
          </a:p>
        </p:txBody>
      </p:sp>
      <p:sp>
        <p:nvSpPr>
          <p:cNvPr id="14" name="Textplatzhalter 4">
            <a:extLst>
              <a:ext uri="{FF2B5EF4-FFF2-40B4-BE49-F238E27FC236}">
                <a16:creationId xmlns:a16="http://schemas.microsoft.com/office/drawing/2014/main" id="{72EE4DDC-BCB3-8350-E5BB-A45FC369BA3B}"/>
              </a:ext>
            </a:extLst>
          </p:cNvPr>
          <p:cNvSpPr txBox="1">
            <a:spLocks/>
          </p:cNvSpPr>
          <p:nvPr/>
        </p:nvSpPr>
        <p:spPr>
          <a:xfrm>
            <a:off x="304800" y="5052810"/>
            <a:ext cx="6337388" cy="914400"/>
          </a:xfrm>
          <a:prstGeom prst="rect">
            <a:avLst/>
          </a:prstGeom>
          <a:noFill/>
          <a:ln>
            <a:noFill/>
          </a:ln>
        </p:spPr>
        <p:txBody>
          <a:bodyPr spcFirstLastPara="1" wrap="square" lIns="0" tIns="0" rIns="0" bIns="0" rtlCol="0" anchor="ctr" anchorCtr="0">
            <a:noAutofit/>
          </a:bodyPr>
          <a:lstStyle>
            <a:defPPr marR="0" lvl="0" algn="l" rtl="0">
              <a:lnSpc>
                <a:spcPct val="100000"/>
              </a:lnSpc>
              <a:spcBef>
                <a:spcPts val="0"/>
              </a:spcBef>
              <a:spcAft>
                <a:spcPts val="0"/>
              </a:spcAft>
            </a:defPPr>
            <a:lvl1pPr marL="457200" marR="0" lvl="0" indent="-228600" algn="l" rtl="0">
              <a:lnSpc>
                <a:spcPct val="137500"/>
              </a:lnSpc>
              <a:spcBef>
                <a:spcPts val="0"/>
              </a:spcBef>
              <a:spcAft>
                <a:spcPts val="0"/>
              </a:spcAft>
              <a:buClr>
                <a:schemeClr val="dk1"/>
              </a:buClr>
              <a:buSzPts val="1600"/>
              <a:buFont typeface="Arial"/>
              <a:buNone/>
              <a:defRPr lang="de-DE" sz="1467" b="0" i="1" u="none" strike="noStrike" cap="none" dirty="0">
                <a:solidFill>
                  <a:srgbClr val="9A9AAA"/>
                </a:solidFill>
                <a:latin typeface="Arial"/>
                <a:ea typeface="Arial"/>
                <a:cs typeface="Arial"/>
                <a:sym typeface="Arial"/>
              </a:defRPr>
            </a:lvl1pPr>
            <a:lvl2pPr marL="914400" marR="0" lvl="1" indent="-370840" algn="l" rtl="0">
              <a:lnSpc>
                <a:spcPct val="137500"/>
              </a:lnSpc>
              <a:spcBef>
                <a:spcPts val="1100"/>
              </a:spcBef>
              <a:spcAft>
                <a:spcPts val="0"/>
              </a:spcAft>
              <a:buClr>
                <a:schemeClr val="dk1"/>
              </a:buClr>
              <a:buSzPts val="2240"/>
              <a:buFont typeface="Arial"/>
              <a:buChar char="•"/>
              <a:defRPr sz="1600" b="0" i="0" u="none" strike="noStrike" cap="none">
                <a:solidFill>
                  <a:schemeClr val="dk1"/>
                </a:solidFill>
                <a:latin typeface="Verdana"/>
                <a:ea typeface="Verdana"/>
                <a:cs typeface="Verdana"/>
                <a:sym typeface="Verdana"/>
              </a:defRPr>
            </a:lvl2pPr>
            <a:lvl3pPr marL="1371600" marR="0" lvl="2" indent="-330200" algn="l" rtl="0">
              <a:lnSpc>
                <a:spcPct val="137500"/>
              </a:lnSpc>
              <a:spcBef>
                <a:spcPts val="1100"/>
              </a:spcBef>
              <a:spcAft>
                <a:spcPts val="0"/>
              </a:spcAft>
              <a:buClr>
                <a:schemeClr val="dk1"/>
              </a:buClr>
              <a:buSzPts val="1600"/>
              <a:buFont typeface="Verdana"/>
              <a:buAutoNum type="arabicPeriod"/>
              <a:defRPr sz="1600" b="0" i="0" u="none" strike="noStrike" cap="none">
                <a:solidFill>
                  <a:schemeClr val="dk1"/>
                </a:solidFill>
                <a:latin typeface="Verdana"/>
                <a:ea typeface="Verdana"/>
                <a:cs typeface="Verdana"/>
                <a:sym typeface="Verdana"/>
              </a:defRPr>
            </a:lvl3pPr>
            <a:lvl4pPr marL="1828800" marR="0" lvl="3" indent="-228600" algn="l" rtl="0">
              <a:lnSpc>
                <a:spcPct val="137500"/>
              </a:lnSpc>
              <a:spcBef>
                <a:spcPts val="1100"/>
              </a:spcBef>
              <a:spcAft>
                <a:spcPts val="0"/>
              </a:spcAft>
              <a:buClr>
                <a:schemeClr val="dk1"/>
              </a:buClr>
              <a:buSzPts val="1600"/>
              <a:buFont typeface="Arial"/>
              <a:buNone/>
              <a:defRPr sz="1600" b="0" i="0" u="none" strike="noStrike" cap="none">
                <a:solidFill>
                  <a:schemeClr val="dk1"/>
                </a:solidFill>
                <a:latin typeface="Verdana"/>
                <a:ea typeface="Verdana"/>
                <a:cs typeface="Verdana"/>
                <a:sym typeface="Verdana"/>
              </a:defRPr>
            </a:lvl4pPr>
            <a:lvl5pPr marL="2286000" marR="0" lvl="4" indent="-360679" algn="l" rtl="0">
              <a:lnSpc>
                <a:spcPct val="137500"/>
              </a:lnSpc>
              <a:spcBef>
                <a:spcPts val="1100"/>
              </a:spcBef>
              <a:spcAft>
                <a:spcPts val="0"/>
              </a:spcAft>
              <a:buClr>
                <a:schemeClr val="dk1"/>
              </a:buClr>
              <a:buSzPts val="208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90000"/>
              </a:lnSpc>
              <a:spcBef>
                <a:spcPts val="11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9pPr>
          </a:lstStyle>
          <a:p>
            <a:r>
              <a:rPr lang="de-DE" dirty="0"/>
              <a:t>07.10.2026 Bibliothekshackathon</a:t>
            </a:r>
          </a:p>
        </p:txBody>
      </p:sp>
    </p:spTree>
    <p:extLst>
      <p:ext uri="{BB962C8B-B14F-4D97-AF65-F5344CB8AC3E}">
        <p14:creationId xmlns:p14="http://schemas.microsoft.com/office/powerpoint/2010/main" val="3604033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57A55B-D3EA-7E16-7E5A-A7EB8A71C6A9}"/>
              </a:ext>
            </a:extLst>
          </p:cNvPr>
          <p:cNvSpPr>
            <a:spLocks noGrp="1"/>
          </p:cNvSpPr>
          <p:nvPr>
            <p:ph type="title"/>
          </p:nvPr>
        </p:nvSpPr>
        <p:spPr>
          <a:xfrm>
            <a:off x="330114" y="2499480"/>
            <a:ext cx="2560320" cy="1767547"/>
          </a:xfrm>
        </p:spPr>
        <p:txBody>
          <a:bodyPr/>
          <a:lstStyle/>
          <a:p>
            <a:pPr>
              <a:lnSpc>
                <a:spcPct val="115000"/>
              </a:lnSpc>
            </a:pPr>
            <a:r>
              <a:rPr lang="de-DE" dirty="0">
                <a:latin typeface="Verdana" panose="020B0604030504040204" pitchFamily="34" charset="0"/>
                <a:ea typeface="Verdana" panose="020B0604030504040204" pitchFamily="34" charset="0"/>
              </a:rPr>
              <a:t>Vier KI-</a:t>
            </a:r>
            <a:br>
              <a:rPr lang="de-DE" dirty="0">
                <a:latin typeface="Verdana" panose="020B0604030504040204" pitchFamily="34" charset="0"/>
                <a:ea typeface="Verdana" panose="020B0604030504040204" pitchFamily="34" charset="0"/>
              </a:rPr>
            </a:br>
            <a:r>
              <a:rPr lang="de-DE" dirty="0">
                <a:latin typeface="Verdana" panose="020B0604030504040204" pitchFamily="34" charset="0"/>
                <a:ea typeface="Verdana" panose="020B0604030504040204" pitchFamily="34" charset="0"/>
              </a:rPr>
              <a:t>Service-</a:t>
            </a:r>
            <a:br>
              <a:rPr lang="de-DE" dirty="0">
                <a:latin typeface="Verdana" panose="020B0604030504040204" pitchFamily="34" charset="0"/>
                <a:ea typeface="Verdana" panose="020B0604030504040204" pitchFamily="34" charset="0"/>
              </a:rPr>
            </a:br>
            <a:r>
              <a:rPr lang="de-DE" dirty="0">
                <a:latin typeface="Verdana" panose="020B0604030504040204" pitchFamily="34" charset="0"/>
                <a:ea typeface="Verdana" panose="020B0604030504040204" pitchFamily="34" charset="0"/>
              </a:rPr>
              <a:t>zentren.</a:t>
            </a:r>
          </a:p>
        </p:txBody>
      </p:sp>
      <p:sp>
        <p:nvSpPr>
          <p:cNvPr id="76" name="Rechteck 75">
            <a:extLst>
              <a:ext uri="{FF2B5EF4-FFF2-40B4-BE49-F238E27FC236}">
                <a16:creationId xmlns:a16="http://schemas.microsoft.com/office/drawing/2014/main" id="{0607DFDF-F771-63FE-E262-BC8A3B78A429}"/>
              </a:ext>
            </a:extLst>
          </p:cNvPr>
          <p:cNvSpPr/>
          <p:nvPr/>
        </p:nvSpPr>
        <p:spPr>
          <a:xfrm>
            <a:off x="7044507" y="3931553"/>
            <a:ext cx="1040871" cy="269332"/>
          </a:xfrm>
          <a:prstGeom prst="rect">
            <a:avLst/>
          </a:prstGeom>
          <a:solidFill>
            <a:schemeClr val="tx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 name="Freeform 50">
            <a:extLst>
              <a:ext uri="{FF2B5EF4-FFF2-40B4-BE49-F238E27FC236}">
                <a16:creationId xmlns:a16="http://schemas.microsoft.com/office/drawing/2014/main" id="{506FC847-2844-37AE-9EE2-A510C7939B76}"/>
              </a:ext>
            </a:extLst>
          </p:cNvPr>
          <p:cNvSpPr/>
          <p:nvPr/>
        </p:nvSpPr>
        <p:spPr>
          <a:xfrm>
            <a:off x="3313414" y="3044137"/>
            <a:ext cx="54431" cy="54431"/>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52" name="Freeform 23">
            <a:extLst>
              <a:ext uri="{FF2B5EF4-FFF2-40B4-BE49-F238E27FC236}">
                <a16:creationId xmlns:a16="http://schemas.microsoft.com/office/drawing/2014/main" id="{61A65A68-A016-D45F-50CD-18746C490E92}"/>
              </a:ext>
            </a:extLst>
          </p:cNvPr>
          <p:cNvSpPr/>
          <p:nvPr/>
        </p:nvSpPr>
        <p:spPr>
          <a:xfrm rot="243065">
            <a:off x="3039036" y="710761"/>
            <a:ext cx="3827404" cy="5052676"/>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dirty="0"/>
          </a:p>
        </p:txBody>
      </p:sp>
      <p:sp>
        <p:nvSpPr>
          <p:cNvPr id="53" name="AutoShape 24">
            <a:extLst>
              <a:ext uri="{FF2B5EF4-FFF2-40B4-BE49-F238E27FC236}">
                <a16:creationId xmlns:a16="http://schemas.microsoft.com/office/drawing/2014/main" id="{5D02014F-A309-8868-578A-0E8E20A8F956}"/>
              </a:ext>
            </a:extLst>
          </p:cNvPr>
          <p:cNvSpPr/>
          <p:nvPr/>
        </p:nvSpPr>
        <p:spPr>
          <a:xfrm>
            <a:off x="6986586" y="3325674"/>
            <a:ext cx="1195352" cy="0"/>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54" name="AutoShape 25">
            <a:extLst>
              <a:ext uri="{FF2B5EF4-FFF2-40B4-BE49-F238E27FC236}">
                <a16:creationId xmlns:a16="http://schemas.microsoft.com/office/drawing/2014/main" id="{6F54DD45-2726-14C8-D742-856C9DB67956}"/>
              </a:ext>
            </a:extLst>
          </p:cNvPr>
          <p:cNvSpPr/>
          <p:nvPr/>
        </p:nvSpPr>
        <p:spPr>
          <a:xfrm>
            <a:off x="6986587" y="4265715"/>
            <a:ext cx="1179455" cy="0"/>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55" name="AutoShape 26">
            <a:extLst>
              <a:ext uri="{FF2B5EF4-FFF2-40B4-BE49-F238E27FC236}">
                <a16:creationId xmlns:a16="http://schemas.microsoft.com/office/drawing/2014/main" id="{B8ECDD0F-2783-6F93-C7E5-EBE6618603BA}"/>
              </a:ext>
            </a:extLst>
          </p:cNvPr>
          <p:cNvSpPr/>
          <p:nvPr/>
        </p:nvSpPr>
        <p:spPr>
          <a:xfrm>
            <a:off x="6217614" y="2421735"/>
            <a:ext cx="1964326" cy="0"/>
          </a:xfrm>
          <a:prstGeom prst="line">
            <a:avLst/>
          </a:prstGeom>
          <a:solidFill>
            <a:schemeClr val="bg1"/>
          </a:solidFill>
          <a:ln w="25400">
            <a:solidFill>
              <a:schemeClr val="bg1"/>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56" name="AutoShape 27">
            <a:extLst>
              <a:ext uri="{FF2B5EF4-FFF2-40B4-BE49-F238E27FC236}">
                <a16:creationId xmlns:a16="http://schemas.microsoft.com/office/drawing/2014/main" id="{D5213040-0149-C61A-DD96-35AB28EFD52A}"/>
              </a:ext>
            </a:extLst>
          </p:cNvPr>
          <p:cNvSpPr/>
          <p:nvPr/>
        </p:nvSpPr>
        <p:spPr>
          <a:xfrm>
            <a:off x="6986586" y="1353772"/>
            <a:ext cx="1195354" cy="0"/>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dirty="0"/>
          </a:p>
        </p:txBody>
      </p:sp>
      <p:sp>
        <p:nvSpPr>
          <p:cNvPr id="57" name="Freeform 29">
            <a:extLst>
              <a:ext uri="{FF2B5EF4-FFF2-40B4-BE49-F238E27FC236}">
                <a16:creationId xmlns:a16="http://schemas.microsoft.com/office/drawing/2014/main" id="{8AC280BD-0280-E453-C2F1-36655FB4BD5B}"/>
              </a:ext>
            </a:extLst>
          </p:cNvPr>
          <p:cNvSpPr/>
          <p:nvPr/>
        </p:nvSpPr>
        <p:spPr>
          <a:xfrm>
            <a:off x="8170719" y="3246116"/>
            <a:ext cx="160741" cy="160743"/>
          </a:xfrm>
          <a:prstGeom prst="ellipse">
            <a:avLst/>
          </a:prstGeom>
          <a:solidFill>
            <a:schemeClr val="tx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dirty="0"/>
          </a:p>
        </p:txBody>
      </p:sp>
      <p:sp>
        <p:nvSpPr>
          <p:cNvPr id="58" name="Freeform 32">
            <a:extLst>
              <a:ext uri="{FF2B5EF4-FFF2-40B4-BE49-F238E27FC236}">
                <a16:creationId xmlns:a16="http://schemas.microsoft.com/office/drawing/2014/main" id="{BB4630FE-2A76-04E1-EF4A-A288A80F3BA4}"/>
              </a:ext>
            </a:extLst>
          </p:cNvPr>
          <p:cNvSpPr/>
          <p:nvPr/>
        </p:nvSpPr>
        <p:spPr>
          <a:xfrm>
            <a:off x="8170719" y="4184282"/>
            <a:ext cx="160741" cy="160743"/>
          </a:xfrm>
          <a:prstGeom prst="ellipse">
            <a:avLst/>
          </a:prstGeom>
          <a:solidFill>
            <a:schemeClr val="tx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59" name="Freeform 35">
            <a:extLst>
              <a:ext uri="{FF2B5EF4-FFF2-40B4-BE49-F238E27FC236}">
                <a16:creationId xmlns:a16="http://schemas.microsoft.com/office/drawing/2014/main" id="{2E839C29-BE45-2094-17DF-B4502AE4F9E9}"/>
              </a:ext>
            </a:extLst>
          </p:cNvPr>
          <p:cNvSpPr/>
          <p:nvPr/>
        </p:nvSpPr>
        <p:spPr>
          <a:xfrm>
            <a:off x="8170719" y="1259866"/>
            <a:ext cx="160741" cy="160743"/>
          </a:xfrm>
          <a:prstGeom prst="ellipse">
            <a:avLst/>
          </a:prstGeom>
          <a:solidFill>
            <a:schemeClr val="tx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0" name="Freeform 38">
            <a:extLst>
              <a:ext uri="{FF2B5EF4-FFF2-40B4-BE49-F238E27FC236}">
                <a16:creationId xmlns:a16="http://schemas.microsoft.com/office/drawing/2014/main" id="{9D7E2C60-1577-B63A-E349-655C6285C8A4}"/>
              </a:ext>
            </a:extLst>
          </p:cNvPr>
          <p:cNvSpPr/>
          <p:nvPr/>
        </p:nvSpPr>
        <p:spPr>
          <a:xfrm>
            <a:off x="8170719" y="2329948"/>
            <a:ext cx="160741" cy="160741"/>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1" name="AutoShape 40">
            <a:extLst>
              <a:ext uri="{FF2B5EF4-FFF2-40B4-BE49-F238E27FC236}">
                <a16:creationId xmlns:a16="http://schemas.microsoft.com/office/drawing/2014/main" id="{FAF25489-4C7F-DCD1-BB44-0FBABB8C0E5A}"/>
              </a:ext>
            </a:extLst>
          </p:cNvPr>
          <p:cNvSpPr/>
          <p:nvPr/>
        </p:nvSpPr>
        <p:spPr>
          <a:xfrm>
            <a:off x="6095484" y="3866241"/>
            <a:ext cx="897357" cy="397017"/>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2" name="AutoShape 41">
            <a:extLst>
              <a:ext uri="{FF2B5EF4-FFF2-40B4-BE49-F238E27FC236}">
                <a16:creationId xmlns:a16="http://schemas.microsoft.com/office/drawing/2014/main" id="{B2B806A3-6E4E-03E0-E716-96B37A2152AB}"/>
              </a:ext>
            </a:extLst>
          </p:cNvPr>
          <p:cNvSpPr/>
          <p:nvPr/>
        </p:nvSpPr>
        <p:spPr>
          <a:xfrm flipV="1">
            <a:off x="4278448" y="3866059"/>
            <a:ext cx="1827995" cy="364"/>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3" name="AutoShape 42">
            <a:extLst>
              <a:ext uri="{FF2B5EF4-FFF2-40B4-BE49-F238E27FC236}">
                <a16:creationId xmlns:a16="http://schemas.microsoft.com/office/drawing/2014/main" id="{E8A2D0F5-837A-2986-791A-583FDCEF50FC}"/>
              </a:ext>
            </a:extLst>
          </p:cNvPr>
          <p:cNvSpPr/>
          <p:nvPr/>
        </p:nvSpPr>
        <p:spPr>
          <a:xfrm>
            <a:off x="3957475" y="3051988"/>
            <a:ext cx="368227" cy="272360"/>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4" name="AutoShape 43">
            <a:extLst>
              <a:ext uri="{FF2B5EF4-FFF2-40B4-BE49-F238E27FC236}">
                <a16:creationId xmlns:a16="http://schemas.microsoft.com/office/drawing/2014/main" id="{E30FC866-AB7F-2FB7-DBDA-EAE8AB37855A}"/>
              </a:ext>
            </a:extLst>
          </p:cNvPr>
          <p:cNvSpPr/>
          <p:nvPr/>
        </p:nvSpPr>
        <p:spPr>
          <a:xfrm>
            <a:off x="4325703" y="3322445"/>
            <a:ext cx="2865349" cy="3893"/>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5" name="AutoShape 44">
            <a:extLst>
              <a:ext uri="{FF2B5EF4-FFF2-40B4-BE49-F238E27FC236}">
                <a16:creationId xmlns:a16="http://schemas.microsoft.com/office/drawing/2014/main" id="{467E719D-9D54-F083-55F7-7E9C1C46D0CA}"/>
              </a:ext>
            </a:extLst>
          </p:cNvPr>
          <p:cNvSpPr/>
          <p:nvPr/>
        </p:nvSpPr>
        <p:spPr>
          <a:xfrm flipV="1">
            <a:off x="5271840" y="1352710"/>
            <a:ext cx="1725699" cy="1501269"/>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6" name="AutoShape 45">
            <a:extLst>
              <a:ext uri="{FF2B5EF4-FFF2-40B4-BE49-F238E27FC236}">
                <a16:creationId xmlns:a16="http://schemas.microsoft.com/office/drawing/2014/main" id="{E27181CB-ABA2-02BC-CA72-B6E8F3EF3ED5}"/>
              </a:ext>
            </a:extLst>
          </p:cNvPr>
          <p:cNvSpPr/>
          <p:nvPr/>
        </p:nvSpPr>
        <p:spPr>
          <a:xfrm>
            <a:off x="4891009" y="2856437"/>
            <a:ext cx="380830" cy="0"/>
          </a:xfrm>
          <a:prstGeom prst="line">
            <a:avLst/>
          </a:prstGeom>
          <a:ln w="25400">
            <a:solidFill>
              <a:schemeClr val="tx2"/>
            </a:solidFill>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7" name="Freeform 47">
            <a:extLst>
              <a:ext uri="{FF2B5EF4-FFF2-40B4-BE49-F238E27FC236}">
                <a16:creationId xmlns:a16="http://schemas.microsoft.com/office/drawing/2014/main" id="{9F1188BA-DC44-2A37-B415-9ABC20263F0F}"/>
              </a:ext>
            </a:extLst>
          </p:cNvPr>
          <p:cNvSpPr/>
          <p:nvPr/>
        </p:nvSpPr>
        <p:spPr>
          <a:xfrm>
            <a:off x="4707121" y="2233843"/>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8" name="Freeform 56">
            <a:extLst>
              <a:ext uri="{FF2B5EF4-FFF2-40B4-BE49-F238E27FC236}">
                <a16:creationId xmlns:a16="http://schemas.microsoft.com/office/drawing/2014/main" id="{F9AB503B-27C6-E323-C736-2CE6ED80874F}"/>
              </a:ext>
            </a:extLst>
          </p:cNvPr>
          <p:cNvSpPr/>
          <p:nvPr/>
        </p:nvSpPr>
        <p:spPr>
          <a:xfrm>
            <a:off x="4165329" y="2792625"/>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69" name="Freeform 59">
            <a:extLst>
              <a:ext uri="{FF2B5EF4-FFF2-40B4-BE49-F238E27FC236}">
                <a16:creationId xmlns:a16="http://schemas.microsoft.com/office/drawing/2014/main" id="{5FBC655D-729B-7E09-2EEB-0E1158B99C3E}"/>
              </a:ext>
            </a:extLst>
          </p:cNvPr>
          <p:cNvSpPr/>
          <p:nvPr/>
        </p:nvSpPr>
        <p:spPr>
          <a:xfrm>
            <a:off x="4520388" y="3051988"/>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70" name="TextBox 65">
            <a:extLst>
              <a:ext uri="{FF2B5EF4-FFF2-40B4-BE49-F238E27FC236}">
                <a16:creationId xmlns:a16="http://schemas.microsoft.com/office/drawing/2014/main" id="{C6082783-D06F-5806-3686-D1917E231C71}"/>
              </a:ext>
            </a:extLst>
          </p:cNvPr>
          <p:cNvSpPr txBox="1"/>
          <p:nvPr/>
        </p:nvSpPr>
        <p:spPr>
          <a:xfrm>
            <a:off x="8362908" y="1232619"/>
            <a:ext cx="3866036" cy="5499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defTabSz="609600">
              <a:lnSpc>
                <a:spcPts val="800"/>
              </a:lnSpc>
              <a:defRPr sz="600" b="1">
                <a:solidFill>
                  <a:srgbClr val="1BABE3"/>
                </a:solidFill>
                <a:latin typeface="Codec Pro Bold"/>
                <a:ea typeface="Codec Pro Bold"/>
                <a:cs typeface="Codec Pro Bold"/>
                <a:sym typeface="Codec Pro Bold"/>
              </a:defRPr>
            </a:pPr>
            <a:r>
              <a:rPr lang="de-DE" sz="1000" dirty="0">
                <a:solidFill>
                  <a:schemeClr val="bg1"/>
                </a:solidFill>
              </a:rPr>
              <a:t>Göttingen I Kassel I Hannover </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Sensible und kritische Infrastrukturen</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Medizin &amp; Energie</a:t>
            </a:r>
          </a:p>
        </p:txBody>
      </p:sp>
      <p:sp>
        <p:nvSpPr>
          <p:cNvPr id="71" name="TextBox 66">
            <a:extLst>
              <a:ext uri="{FF2B5EF4-FFF2-40B4-BE49-F238E27FC236}">
                <a16:creationId xmlns:a16="http://schemas.microsoft.com/office/drawing/2014/main" id="{D8077826-BBB7-686F-1727-7E78B8C797CF}"/>
              </a:ext>
            </a:extLst>
          </p:cNvPr>
          <p:cNvSpPr txBox="1"/>
          <p:nvPr/>
        </p:nvSpPr>
        <p:spPr>
          <a:xfrm>
            <a:off x="8362908" y="2307530"/>
            <a:ext cx="3882902" cy="5499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defTabSz="609600">
              <a:lnSpc>
                <a:spcPts val="800"/>
              </a:lnSpc>
              <a:defRPr sz="600" b="1">
                <a:solidFill>
                  <a:srgbClr val="DE6106"/>
                </a:solidFill>
                <a:latin typeface="Codec Pro Bold"/>
                <a:ea typeface="Codec Pro Bold"/>
                <a:cs typeface="Codec Pro Bold"/>
                <a:sym typeface="Codec Pro Bold"/>
              </a:defRPr>
            </a:pPr>
            <a:r>
              <a:rPr lang="de-DE" sz="1000" dirty="0">
                <a:solidFill>
                  <a:schemeClr val="bg1"/>
                </a:solidFill>
              </a:rPr>
              <a:t>Potsdam | Berlin</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Bildungs- und Beratungsangebote,</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Einsatz von KI in Wirtschaft &amp; Gesellschaft</a:t>
            </a:r>
          </a:p>
        </p:txBody>
      </p:sp>
      <p:sp>
        <p:nvSpPr>
          <p:cNvPr id="72" name="TextBox 67">
            <a:extLst>
              <a:ext uri="{FF2B5EF4-FFF2-40B4-BE49-F238E27FC236}">
                <a16:creationId xmlns:a16="http://schemas.microsoft.com/office/drawing/2014/main" id="{50D95718-836C-95DF-F977-E5AF0139C803}"/>
              </a:ext>
            </a:extLst>
          </p:cNvPr>
          <p:cNvSpPr txBox="1"/>
          <p:nvPr/>
        </p:nvSpPr>
        <p:spPr>
          <a:xfrm>
            <a:off x="8362908" y="3260075"/>
            <a:ext cx="3961321" cy="728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defTabSz="609600">
              <a:lnSpc>
                <a:spcPts val="800"/>
              </a:lnSpc>
              <a:defRPr sz="600" b="1">
                <a:solidFill>
                  <a:srgbClr val="E9358D"/>
                </a:solidFill>
                <a:latin typeface="Codec Pro Bold"/>
                <a:ea typeface="Codec Pro Bold"/>
                <a:cs typeface="Codec Pro Bold"/>
                <a:sym typeface="Codec Pro Bold"/>
              </a:defRPr>
            </a:pPr>
            <a:r>
              <a:rPr lang="de-DE" sz="1000" dirty="0">
                <a:solidFill>
                  <a:schemeClr val="bg1"/>
                </a:solidFill>
              </a:rPr>
              <a:t>Bonn | St. Augustin | Aachen | Jülich | Dortmund | Paderborn </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Multimodale und transferierbare KI-Modelle</a:t>
            </a:r>
          </a:p>
        </p:txBody>
      </p:sp>
      <p:sp>
        <p:nvSpPr>
          <p:cNvPr id="73" name="TextBox 68">
            <a:extLst>
              <a:ext uri="{FF2B5EF4-FFF2-40B4-BE49-F238E27FC236}">
                <a16:creationId xmlns:a16="http://schemas.microsoft.com/office/drawing/2014/main" id="{AF22FDE2-81CC-3F58-6484-A85937CAA82A}"/>
              </a:ext>
            </a:extLst>
          </p:cNvPr>
          <p:cNvSpPr txBox="1"/>
          <p:nvPr/>
        </p:nvSpPr>
        <p:spPr>
          <a:xfrm>
            <a:off x="8362906" y="4157047"/>
            <a:ext cx="3534434" cy="5499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defTabSz="609600">
              <a:lnSpc>
                <a:spcPts val="800"/>
              </a:lnSpc>
              <a:defRPr sz="600" b="1">
                <a:solidFill>
                  <a:srgbClr val="8A6AF4"/>
                </a:solidFill>
                <a:latin typeface="Codec Pro Bold"/>
                <a:ea typeface="Codec Pro Bold"/>
                <a:cs typeface="Codec Pro Bold"/>
                <a:sym typeface="Codec Pro Bold"/>
              </a:defRPr>
            </a:pPr>
            <a:r>
              <a:rPr lang="de-DE" sz="1000" dirty="0">
                <a:solidFill>
                  <a:schemeClr val="bg1"/>
                </a:solidFill>
              </a:rPr>
              <a:t>Darmstadt</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Erklärbarkeit, Generalisierbarkeit</a:t>
            </a:r>
          </a:p>
          <a:p>
            <a:pPr defTabSz="609600">
              <a:lnSpc>
                <a:spcPts val="800"/>
              </a:lnSpc>
              <a:defRPr sz="600">
                <a:solidFill>
                  <a:srgbClr val="17161C"/>
                </a:solidFill>
                <a:latin typeface="Codec Pro"/>
                <a:ea typeface="Codec Pro"/>
                <a:cs typeface="Codec Pro"/>
                <a:sym typeface="Codec Pro"/>
              </a:defRPr>
            </a:pPr>
            <a:r>
              <a:rPr lang="de-DE" sz="1000" dirty="0">
                <a:solidFill>
                  <a:schemeClr val="bg1"/>
                </a:solidFill>
              </a:rPr>
              <a:t>und kontextuelle Anpassung</a:t>
            </a:r>
          </a:p>
        </p:txBody>
      </p:sp>
      <p:sp>
        <p:nvSpPr>
          <p:cNvPr id="74" name="Freeform 70">
            <a:extLst>
              <a:ext uri="{FF2B5EF4-FFF2-40B4-BE49-F238E27FC236}">
                <a16:creationId xmlns:a16="http://schemas.microsoft.com/office/drawing/2014/main" id="{DCB7AE11-8C65-F79C-F062-AF1276D36AAA}"/>
              </a:ext>
            </a:extLst>
          </p:cNvPr>
          <p:cNvSpPr/>
          <p:nvPr/>
        </p:nvSpPr>
        <p:spPr>
          <a:xfrm>
            <a:off x="4129944" y="3831058"/>
            <a:ext cx="70772" cy="70772"/>
          </a:xfrm>
          <a:prstGeom prst="ellipse">
            <a:avLst/>
          </a:prstGeom>
          <a:solidFill>
            <a:schemeClr val="tx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75" name="Freeform 76">
            <a:extLst>
              <a:ext uri="{FF2B5EF4-FFF2-40B4-BE49-F238E27FC236}">
                <a16:creationId xmlns:a16="http://schemas.microsoft.com/office/drawing/2014/main" id="{E43EBA35-28C4-3E31-F4B4-A42601534860}"/>
              </a:ext>
            </a:extLst>
          </p:cNvPr>
          <p:cNvSpPr/>
          <p:nvPr/>
        </p:nvSpPr>
        <p:spPr>
          <a:xfrm>
            <a:off x="4742505" y="2828012"/>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77" name="Freeform 79">
            <a:extLst>
              <a:ext uri="{FF2B5EF4-FFF2-40B4-BE49-F238E27FC236}">
                <a16:creationId xmlns:a16="http://schemas.microsoft.com/office/drawing/2014/main" id="{A0A31653-164E-C49A-905A-AE1A059CED1A}"/>
              </a:ext>
            </a:extLst>
          </p:cNvPr>
          <p:cNvSpPr/>
          <p:nvPr/>
        </p:nvSpPr>
        <p:spPr>
          <a:xfrm>
            <a:off x="6035672" y="2386347"/>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78" name="Freeform 82">
            <a:extLst>
              <a:ext uri="{FF2B5EF4-FFF2-40B4-BE49-F238E27FC236}">
                <a16:creationId xmlns:a16="http://schemas.microsoft.com/office/drawing/2014/main" id="{557D0FCC-9849-9B9D-F428-58FF44DFEEA3}"/>
              </a:ext>
            </a:extLst>
          </p:cNvPr>
          <p:cNvSpPr/>
          <p:nvPr/>
        </p:nvSpPr>
        <p:spPr>
          <a:xfrm>
            <a:off x="3536271" y="3288963"/>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79" name="Freeform 73">
            <a:extLst>
              <a:ext uri="{FF2B5EF4-FFF2-40B4-BE49-F238E27FC236}">
                <a16:creationId xmlns:a16="http://schemas.microsoft.com/office/drawing/2014/main" id="{62398C94-87EB-7584-80B8-0277AA7EC556}"/>
              </a:ext>
            </a:extLst>
          </p:cNvPr>
          <p:cNvSpPr/>
          <p:nvPr/>
        </p:nvSpPr>
        <p:spPr>
          <a:xfrm>
            <a:off x="3859986" y="3072261"/>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81" name="Freeform 85">
            <a:extLst>
              <a:ext uri="{FF2B5EF4-FFF2-40B4-BE49-F238E27FC236}">
                <a16:creationId xmlns:a16="http://schemas.microsoft.com/office/drawing/2014/main" id="{F02D77D9-0066-A0D2-68CD-E52E5B4B453D}"/>
              </a:ext>
            </a:extLst>
          </p:cNvPr>
          <p:cNvSpPr/>
          <p:nvPr/>
        </p:nvSpPr>
        <p:spPr>
          <a:xfrm>
            <a:off x="3198263" y="3142990"/>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82" name="Freeform 2">
            <a:extLst>
              <a:ext uri="{FF2B5EF4-FFF2-40B4-BE49-F238E27FC236}">
                <a16:creationId xmlns:a16="http://schemas.microsoft.com/office/drawing/2014/main" id="{AC5FCEA1-264E-B63A-3256-D702B63B646E}"/>
              </a:ext>
            </a:extLst>
          </p:cNvPr>
          <p:cNvSpPr/>
          <p:nvPr/>
        </p:nvSpPr>
        <p:spPr>
          <a:xfrm>
            <a:off x="7066159" y="1996360"/>
            <a:ext cx="1004347" cy="351050"/>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3"/>
            <a:stretch>
              <a:fillRect/>
            </a:stretch>
          </a:blipFill>
        </p:spPr>
        <p:txBody>
          <a:bodyPr/>
          <a:lstStyle/>
          <a:p>
            <a:endParaRPr lang="de-DE" sz="3200"/>
          </a:p>
        </p:txBody>
      </p:sp>
      <p:pic>
        <p:nvPicPr>
          <p:cNvPr id="83" name="Grafik 82" descr="Ein Bild, das Text, Schrift, Grafiken, Grafikdesign enthält.&#10;&#10;KI-generierte Inhalte können fehlerhaft sein.">
            <a:extLst>
              <a:ext uri="{FF2B5EF4-FFF2-40B4-BE49-F238E27FC236}">
                <a16:creationId xmlns:a16="http://schemas.microsoft.com/office/drawing/2014/main" id="{75F5BA43-E369-1F53-83B4-6150FDF960C1}"/>
              </a:ext>
            </a:extLst>
          </p:cNvPr>
          <p:cNvPicPr>
            <a:picLocks noChangeAspect="1"/>
          </p:cNvPicPr>
          <p:nvPr/>
        </p:nvPicPr>
        <p:blipFill>
          <a:blip r:embed="rId4"/>
          <a:stretch>
            <a:fillRect/>
          </a:stretch>
        </p:blipFill>
        <p:spPr>
          <a:xfrm>
            <a:off x="7066159" y="1000096"/>
            <a:ext cx="1004347" cy="289309"/>
          </a:xfrm>
          <a:prstGeom prst="rect">
            <a:avLst/>
          </a:prstGeom>
        </p:spPr>
      </p:pic>
      <p:pic>
        <p:nvPicPr>
          <p:cNvPr id="84" name="Grafik 83">
            <a:extLst>
              <a:ext uri="{FF2B5EF4-FFF2-40B4-BE49-F238E27FC236}">
                <a16:creationId xmlns:a16="http://schemas.microsoft.com/office/drawing/2014/main" id="{3CF22E77-7D01-868B-F098-C71F7B7365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53925" y="3036619"/>
            <a:ext cx="1016583" cy="228865"/>
          </a:xfrm>
          <a:prstGeom prst="rect">
            <a:avLst/>
          </a:prstGeom>
        </p:spPr>
      </p:pic>
      <p:pic>
        <p:nvPicPr>
          <p:cNvPr id="85" name="Grafik 84">
            <a:extLst>
              <a:ext uri="{FF2B5EF4-FFF2-40B4-BE49-F238E27FC236}">
                <a16:creationId xmlns:a16="http://schemas.microsoft.com/office/drawing/2014/main" id="{259A20BD-02B9-EDBA-126B-0F2AC13136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66159" y="3931553"/>
            <a:ext cx="1004347" cy="266391"/>
          </a:xfrm>
          <a:prstGeom prst="rect">
            <a:avLst/>
          </a:prstGeom>
        </p:spPr>
      </p:pic>
      <p:sp>
        <p:nvSpPr>
          <p:cNvPr id="86" name="Freeform 85">
            <a:extLst>
              <a:ext uri="{FF2B5EF4-FFF2-40B4-BE49-F238E27FC236}">
                <a16:creationId xmlns:a16="http://schemas.microsoft.com/office/drawing/2014/main" id="{8572506D-F9FD-3AB1-73D3-37C57CF407FF}"/>
              </a:ext>
            </a:extLst>
          </p:cNvPr>
          <p:cNvSpPr/>
          <p:nvPr/>
        </p:nvSpPr>
        <p:spPr>
          <a:xfrm>
            <a:off x="3297072" y="3035965"/>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87" name="Freeform 73">
            <a:extLst>
              <a:ext uri="{FF2B5EF4-FFF2-40B4-BE49-F238E27FC236}">
                <a16:creationId xmlns:a16="http://schemas.microsoft.com/office/drawing/2014/main" id="{F2D90CD9-862D-1E08-AE62-4BB5A0AD6B73}"/>
              </a:ext>
            </a:extLst>
          </p:cNvPr>
          <p:cNvSpPr/>
          <p:nvPr/>
        </p:nvSpPr>
        <p:spPr>
          <a:xfrm>
            <a:off x="3964073" y="2926245"/>
            <a:ext cx="70772" cy="70772"/>
          </a:xfrm>
          <a:prstGeom prst="ellipse">
            <a:avLst/>
          </a:prstGeom>
          <a:solidFill>
            <a:schemeClr val="bg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endParaRPr/>
          </a:p>
        </p:txBody>
      </p:sp>
      <p:sp>
        <p:nvSpPr>
          <p:cNvPr id="105" name="Shape 20">
            <a:extLst>
              <a:ext uri="{FF2B5EF4-FFF2-40B4-BE49-F238E27FC236}">
                <a16:creationId xmlns:a16="http://schemas.microsoft.com/office/drawing/2014/main" id="{F8554A72-E34D-6FDB-AC65-7C6939B949E5}"/>
              </a:ext>
            </a:extLst>
          </p:cNvPr>
          <p:cNvSpPr/>
          <p:nvPr/>
        </p:nvSpPr>
        <p:spPr>
          <a:xfrm>
            <a:off x="363474" y="6071616"/>
            <a:ext cx="11460480" cy="0"/>
          </a:xfrm>
          <a:prstGeom prst="line">
            <a:avLst/>
          </a:prstGeom>
          <a:noFill/>
          <a:ln w="9525">
            <a:solidFill>
              <a:srgbClr val="3A3948"/>
            </a:solidFill>
            <a:prstDash val="solid"/>
          </a:ln>
        </p:spPr>
      </p:sp>
    </p:spTree>
    <p:extLst>
      <p:ext uri="{BB962C8B-B14F-4D97-AF65-F5344CB8AC3E}">
        <p14:creationId xmlns:p14="http://schemas.microsoft.com/office/powerpoint/2010/main" val="649792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DC640D"/>
          </a:solidFill>
          <a:ln w="12700">
            <a:solidFill>
              <a:srgbClr val="DC640D"/>
            </a:solidFill>
            <a:prstDash val="solid"/>
          </a:ln>
        </p:spPr>
      </p:sp>
      <p:sp>
        <p:nvSpPr>
          <p:cNvPr id="3" name="Shape 1"/>
          <p:cNvSpPr/>
          <p:nvPr/>
        </p:nvSpPr>
        <p:spPr>
          <a:xfrm>
            <a:off x="7741920" y="85344"/>
            <a:ext cx="48768" cy="5974080"/>
          </a:xfrm>
          <a:prstGeom prst="rect">
            <a:avLst/>
          </a:prstGeom>
          <a:solidFill>
            <a:srgbClr val="DC640D"/>
          </a:solidFill>
          <a:ln w="12700">
            <a:solidFill>
              <a:srgbClr val="DC640D"/>
            </a:solidFill>
            <a:prstDash val="solid"/>
          </a:ln>
        </p:spPr>
      </p:sp>
      <p:sp>
        <p:nvSpPr>
          <p:cNvPr id="4" name="Shape 2"/>
          <p:cNvSpPr/>
          <p:nvPr/>
        </p:nvSpPr>
        <p:spPr>
          <a:xfrm>
            <a:off x="7924800" y="99043"/>
            <a:ext cx="4267200" cy="5974080"/>
          </a:xfrm>
          <a:prstGeom prst="rect">
            <a:avLst/>
          </a:prstGeom>
          <a:solidFill>
            <a:srgbClr val="24232E"/>
          </a:solidFill>
          <a:ln w="12700">
            <a:solidFill>
              <a:srgbClr val="24232E"/>
            </a:solidFill>
            <a:prstDash val="solid"/>
          </a:ln>
        </p:spPr>
      </p:sp>
      <p:pic>
        <p:nvPicPr>
          <p:cNvPr id="5" name="Image 0" descr="preencoded.png"/>
          <p:cNvPicPr>
            <a:picLocks noChangeAspect="1"/>
          </p:cNvPicPr>
          <p:nvPr/>
        </p:nvPicPr>
        <p:blipFill>
          <a:blip r:embed="rId3">
            <a:alphaModFix amt="38000"/>
            <a:extLst>
              <a:ext uri="{BEBA8EAE-BF5A-486C-A8C5-ECC9F3942E4B}">
                <a14:imgProps xmlns:a14="http://schemas.microsoft.com/office/drawing/2010/main">
                  <a14:imgLayer r:embed="rId4">
                    <a14:imgEffect>
                      <a14:brightnessContrast bright="25000"/>
                    </a14:imgEffect>
                  </a14:imgLayer>
                </a14:imgProps>
              </a:ext>
            </a:extLst>
          </a:blip>
          <a:stretch>
            <a:fillRect/>
          </a:stretch>
        </p:blipFill>
        <p:spPr>
          <a:xfrm>
            <a:off x="7924800" y="4023361"/>
            <a:ext cx="4267200" cy="1977543"/>
          </a:xfrm>
          <a:prstGeom prst="rect">
            <a:avLst/>
          </a:prstGeom>
        </p:spPr>
      </p:pic>
      <p:sp>
        <p:nvSpPr>
          <p:cNvPr id="9" name="Text 5"/>
          <p:cNvSpPr/>
          <p:nvPr/>
        </p:nvSpPr>
        <p:spPr>
          <a:xfrm>
            <a:off x="548640" y="243840"/>
            <a:ext cx="8534400" cy="316992"/>
          </a:xfrm>
          <a:prstGeom prst="rect">
            <a:avLst/>
          </a:prstGeom>
          <a:noFill/>
          <a:ln/>
        </p:spPr>
        <p:txBody>
          <a:bodyPr wrap="square" lIns="0" tIns="0" rIns="0" bIns="0" rtlCol="0" anchor="ctr"/>
          <a:lstStyle/>
          <a:p>
            <a:r>
              <a:rPr lang="en-US" sz="1067" b="1" kern="0" spc="467" dirty="0">
                <a:solidFill>
                  <a:srgbClr val="F6A800"/>
                </a:solidFill>
              </a:rPr>
              <a:t>KONTAKT</a:t>
            </a:r>
            <a:endParaRPr lang="en-US" sz="1067" dirty="0"/>
          </a:p>
        </p:txBody>
      </p:sp>
      <p:sp>
        <p:nvSpPr>
          <p:cNvPr id="10" name="Text 6"/>
          <p:cNvSpPr/>
          <p:nvPr/>
        </p:nvSpPr>
        <p:spPr>
          <a:xfrm>
            <a:off x="548640" y="707136"/>
            <a:ext cx="6949440" cy="853440"/>
          </a:xfrm>
          <a:prstGeom prst="rect">
            <a:avLst/>
          </a:prstGeom>
          <a:noFill/>
          <a:ln/>
        </p:spPr>
        <p:txBody>
          <a:bodyPr wrap="square" lIns="0" tIns="0" rIns="0" bIns="0" rtlCol="0" anchor="ctr"/>
          <a:lstStyle/>
          <a:p>
            <a:r>
              <a:rPr lang="en-US" sz="4000" b="1" dirty="0">
                <a:solidFill>
                  <a:srgbClr val="FFFFFF"/>
                </a:solidFill>
                <a:latin typeface="Verdana" panose="020B0604030504040204" pitchFamily="34" charset="0"/>
                <a:ea typeface="Verdana" panose="020B0604030504040204" pitchFamily="34" charset="0"/>
              </a:rPr>
              <a:t>Mario Tormo Romero</a:t>
            </a:r>
            <a:endParaRPr lang="en-US" sz="4000" dirty="0">
              <a:latin typeface="Verdana" panose="020B0604030504040204" pitchFamily="34" charset="0"/>
              <a:ea typeface="Verdana" panose="020B0604030504040204" pitchFamily="34" charset="0"/>
            </a:endParaRPr>
          </a:p>
        </p:txBody>
      </p:sp>
      <p:sp>
        <p:nvSpPr>
          <p:cNvPr id="11" name="Text 7"/>
          <p:cNvSpPr/>
          <p:nvPr/>
        </p:nvSpPr>
        <p:spPr>
          <a:xfrm>
            <a:off x="548640" y="1584960"/>
            <a:ext cx="6949440" cy="414528"/>
          </a:xfrm>
          <a:prstGeom prst="rect">
            <a:avLst/>
          </a:prstGeom>
          <a:noFill/>
          <a:ln/>
        </p:spPr>
        <p:txBody>
          <a:bodyPr wrap="square" lIns="0" tIns="0" rIns="0" bIns="0" rtlCol="0" anchor="ctr"/>
          <a:lstStyle/>
          <a:p>
            <a:r>
              <a:rPr lang="en-US" sz="1667" dirty="0">
                <a:solidFill>
                  <a:srgbClr val="F6A800"/>
                </a:solidFill>
                <a:latin typeface="Verdana" panose="020B0604030504040204" pitchFamily="34" charset="0"/>
                <a:ea typeface="Verdana" panose="020B0604030504040204" pitchFamily="34" charset="0"/>
              </a:rPr>
              <a:t>AI Engineer &amp; Senior Data Scientist</a:t>
            </a:r>
            <a:endParaRPr lang="en-US" sz="1667" dirty="0">
              <a:latin typeface="Verdana" panose="020B0604030504040204" pitchFamily="34" charset="0"/>
              <a:ea typeface="Verdana" panose="020B0604030504040204" pitchFamily="34" charset="0"/>
            </a:endParaRPr>
          </a:p>
        </p:txBody>
      </p:sp>
      <p:sp>
        <p:nvSpPr>
          <p:cNvPr id="12" name="Text 8"/>
          <p:cNvSpPr/>
          <p:nvPr/>
        </p:nvSpPr>
        <p:spPr>
          <a:xfrm>
            <a:off x="548640" y="2023872"/>
            <a:ext cx="6949440" cy="365760"/>
          </a:xfrm>
          <a:prstGeom prst="rect">
            <a:avLst/>
          </a:prstGeom>
          <a:noFill/>
          <a:ln/>
        </p:spPr>
        <p:txBody>
          <a:bodyPr wrap="square" lIns="0" tIns="0" rIns="0" bIns="0" rtlCol="0" anchor="ctr"/>
          <a:lstStyle/>
          <a:p>
            <a:r>
              <a:rPr lang="en-US" sz="1467" dirty="0">
                <a:solidFill>
                  <a:srgbClr val="9A9AAA"/>
                </a:solidFill>
                <a:latin typeface="Verdana" panose="020B0604030504040204" pitchFamily="34" charset="0"/>
                <a:ea typeface="Verdana" panose="020B0604030504040204" pitchFamily="34" charset="0"/>
              </a:rPr>
              <a:t>KI-Servicezentrum Berlin-Brandenburg</a:t>
            </a:r>
            <a:endParaRPr lang="en-US" sz="1467" dirty="0">
              <a:latin typeface="Verdana" panose="020B0604030504040204" pitchFamily="34" charset="0"/>
              <a:ea typeface="Verdana" panose="020B0604030504040204" pitchFamily="34" charset="0"/>
            </a:endParaRPr>
          </a:p>
        </p:txBody>
      </p:sp>
      <p:sp>
        <p:nvSpPr>
          <p:cNvPr id="13" name="Shape 9"/>
          <p:cNvSpPr/>
          <p:nvPr/>
        </p:nvSpPr>
        <p:spPr>
          <a:xfrm>
            <a:off x="548640" y="2560320"/>
            <a:ext cx="1706880" cy="54864"/>
          </a:xfrm>
          <a:prstGeom prst="rect">
            <a:avLst/>
          </a:prstGeom>
          <a:solidFill>
            <a:srgbClr val="DC640D"/>
          </a:solidFill>
          <a:ln w="12700">
            <a:solidFill>
              <a:srgbClr val="DC640D"/>
            </a:solidFill>
            <a:prstDash val="solid"/>
          </a:ln>
        </p:spPr>
      </p:sp>
      <p:pic>
        <p:nvPicPr>
          <p:cNvPr id="14" name="Image 2" descr="preencoded.png"/>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8060745" y="2322576"/>
            <a:ext cx="365760" cy="365760"/>
          </a:xfrm>
          <a:prstGeom prst="rect">
            <a:avLst/>
          </a:prstGeom>
        </p:spPr>
      </p:pic>
      <p:sp>
        <p:nvSpPr>
          <p:cNvPr id="15" name="Text 10"/>
          <p:cNvSpPr/>
          <p:nvPr/>
        </p:nvSpPr>
        <p:spPr>
          <a:xfrm>
            <a:off x="8585001" y="2322576"/>
            <a:ext cx="3302199" cy="365760"/>
          </a:xfrm>
          <a:prstGeom prst="rect">
            <a:avLst/>
          </a:prstGeom>
          <a:noFill/>
          <a:ln/>
        </p:spPr>
        <p:txBody>
          <a:bodyPr wrap="square" lIns="0" tIns="0" rIns="0" bIns="0" rtlCol="0" anchor="ctr"/>
          <a:lstStyle/>
          <a:p>
            <a:r>
              <a:rPr lang="en-US" sz="1733" dirty="0">
                <a:solidFill>
                  <a:srgbClr val="FFFFFF"/>
                </a:solidFill>
                <a:latin typeface="Verdana" panose="020B0604030504040204" pitchFamily="34" charset="0"/>
                <a:ea typeface="Verdana" panose="020B0604030504040204" pitchFamily="34" charset="0"/>
              </a:rPr>
              <a:t>kisz@hpi.de</a:t>
            </a:r>
            <a:endParaRPr lang="en-US" sz="1733" dirty="0">
              <a:latin typeface="Verdana" panose="020B0604030504040204" pitchFamily="34" charset="0"/>
              <a:ea typeface="Verdana" panose="020B0604030504040204" pitchFamily="34" charset="0"/>
            </a:endParaRPr>
          </a:p>
        </p:txBody>
      </p:sp>
      <p:pic>
        <p:nvPicPr>
          <p:cNvPr id="16" name="Image 3" descr="preencoded.png"/>
          <p:cNvPicPr>
            <a:picLocks noChangeAspect="1"/>
          </p:cNvPicPr>
          <p:nvPr/>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8060745" y="2895600"/>
            <a:ext cx="365760" cy="365760"/>
          </a:xfrm>
          <a:prstGeom prst="rect">
            <a:avLst/>
          </a:prstGeom>
        </p:spPr>
      </p:pic>
      <p:sp>
        <p:nvSpPr>
          <p:cNvPr id="17" name="Text 11"/>
          <p:cNvSpPr/>
          <p:nvPr/>
        </p:nvSpPr>
        <p:spPr>
          <a:xfrm>
            <a:off x="8585001" y="2895600"/>
            <a:ext cx="3302199" cy="365760"/>
          </a:xfrm>
          <a:prstGeom prst="rect">
            <a:avLst/>
          </a:prstGeom>
          <a:noFill/>
          <a:ln/>
        </p:spPr>
        <p:txBody>
          <a:bodyPr wrap="square" lIns="0" tIns="0" rIns="0" bIns="0" rtlCol="0" anchor="ctr"/>
          <a:lstStyle/>
          <a:p>
            <a:r>
              <a:rPr lang="en-US" sz="1733" dirty="0">
                <a:solidFill>
                  <a:srgbClr val="FFFFFF"/>
                </a:solidFill>
                <a:latin typeface="Verdana" panose="020B0604030504040204" pitchFamily="34" charset="0"/>
                <a:ea typeface="Verdana" panose="020B0604030504040204" pitchFamily="34" charset="0"/>
              </a:rPr>
              <a:t>hpi.de/kisz</a:t>
            </a:r>
            <a:endParaRPr lang="en-US" sz="1733" dirty="0">
              <a:latin typeface="Verdana" panose="020B0604030504040204" pitchFamily="34" charset="0"/>
              <a:ea typeface="Verdana" panose="020B0604030504040204" pitchFamily="34" charset="0"/>
            </a:endParaRPr>
          </a:p>
        </p:txBody>
      </p:sp>
      <p:grpSp>
        <p:nvGrpSpPr>
          <p:cNvPr id="32" name="Gruppieren 31">
            <a:extLst>
              <a:ext uri="{FF2B5EF4-FFF2-40B4-BE49-F238E27FC236}">
                <a16:creationId xmlns:a16="http://schemas.microsoft.com/office/drawing/2014/main" id="{A53CB137-E358-35FB-16CC-7DCD35A74139}"/>
              </a:ext>
            </a:extLst>
          </p:cNvPr>
          <p:cNvGrpSpPr/>
          <p:nvPr/>
        </p:nvGrpSpPr>
        <p:grpSpPr>
          <a:xfrm>
            <a:off x="548640" y="3712464"/>
            <a:ext cx="3291840" cy="609600"/>
            <a:chOff x="548640" y="3712464"/>
            <a:chExt cx="3291840" cy="609600"/>
          </a:xfrm>
        </p:grpSpPr>
        <p:sp>
          <p:nvSpPr>
            <p:cNvPr id="18" name="Shape 12"/>
            <p:cNvSpPr/>
            <p:nvPr/>
          </p:nvSpPr>
          <p:spPr>
            <a:xfrm>
              <a:off x="548640" y="3712464"/>
              <a:ext cx="3291840" cy="609600"/>
            </a:xfrm>
            <a:prstGeom prst="rect">
              <a:avLst/>
            </a:prstGeom>
            <a:solidFill>
              <a:srgbClr val="DC640D"/>
            </a:solidFill>
            <a:ln w="12700">
              <a:solidFill>
                <a:srgbClr val="DC640D"/>
              </a:solidFill>
              <a:prstDash val="solid"/>
            </a:ln>
          </p:spPr>
        </p:sp>
        <p:sp>
          <p:nvSpPr>
            <p:cNvPr id="19" name="Text 13"/>
            <p:cNvSpPr/>
            <p:nvPr/>
          </p:nvSpPr>
          <p:spPr>
            <a:xfrm>
              <a:off x="548640" y="3775186"/>
              <a:ext cx="3291840" cy="484155"/>
            </a:xfrm>
            <a:prstGeom prst="rect">
              <a:avLst/>
            </a:prstGeom>
            <a:noFill/>
            <a:ln/>
          </p:spPr>
          <p:txBody>
            <a:bodyPr wrap="square" lIns="0" tIns="0" rIns="0" bIns="0" rtlCol="0" anchor="ctr"/>
            <a:lstStyle/>
            <a:p>
              <a:pPr algn="ctr"/>
              <a:r>
                <a:rPr lang="en-US" b="1" dirty="0" err="1">
                  <a:solidFill>
                    <a:srgbClr val="FFFFFF"/>
                  </a:solidFill>
                  <a:latin typeface="Verdana" panose="020B0604030504040204" pitchFamily="34" charset="0"/>
                  <a:ea typeface="Verdana" panose="020B0604030504040204" pitchFamily="34" charset="0"/>
                </a:rPr>
                <a:t>Jetzt</a:t>
              </a:r>
              <a:r>
                <a:rPr lang="en-US" b="1" dirty="0">
                  <a:solidFill>
                    <a:srgbClr val="FFFFFF"/>
                  </a:solidFill>
                  <a:latin typeface="Verdana" panose="020B0604030504040204" pitchFamily="34" charset="0"/>
                  <a:ea typeface="Verdana" panose="020B0604030504040204" pitchFamily="34" charset="0"/>
                </a:rPr>
                <a:t> Newsletter </a:t>
              </a:r>
              <a:r>
                <a:rPr lang="en-US" b="1" dirty="0" err="1">
                  <a:solidFill>
                    <a:srgbClr val="FFFFFF"/>
                  </a:solidFill>
                  <a:latin typeface="Verdana" panose="020B0604030504040204" pitchFamily="34" charset="0"/>
                  <a:ea typeface="Verdana" panose="020B0604030504040204" pitchFamily="34" charset="0"/>
                </a:rPr>
                <a:t>abonieren</a:t>
              </a:r>
              <a:r>
                <a:rPr lang="en-US" b="1" dirty="0">
                  <a:solidFill>
                    <a:srgbClr val="FFFFFF"/>
                  </a:solidFill>
                  <a:latin typeface="Verdana" panose="020B0604030504040204" pitchFamily="34" charset="0"/>
                  <a:ea typeface="Verdana" panose="020B0604030504040204" pitchFamily="34" charset="0"/>
                </a:rPr>
                <a:t> →</a:t>
              </a:r>
              <a:endParaRPr lang="en-US" dirty="0">
                <a:latin typeface="Verdana" panose="020B0604030504040204" pitchFamily="34" charset="0"/>
                <a:ea typeface="Verdana" panose="020B0604030504040204" pitchFamily="34" charset="0"/>
              </a:endParaRPr>
            </a:p>
          </p:txBody>
        </p:sp>
      </p:grpSp>
      <p:sp>
        <p:nvSpPr>
          <p:cNvPr id="21" name="Shape 15"/>
          <p:cNvSpPr/>
          <p:nvPr/>
        </p:nvSpPr>
        <p:spPr>
          <a:xfrm>
            <a:off x="365760" y="6071616"/>
            <a:ext cx="11460480" cy="0"/>
          </a:xfrm>
          <a:prstGeom prst="line">
            <a:avLst/>
          </a:prstGeom>
          <a:noFill/>
          <a:ln w="9525">
            <a:solidFill>
              <a:srgbClr val="3A3948"/>
            </a:solidFill>
            <a:prstDash val="solid"/>
          </a:ln>
        </p:spPr>
      </p:sp>
      <p:sp>
        <p:nvSpPr>
          <p:cNvPr id="25" name="Freeform 2">
            <a:extLst>
              <a:ext uri="{FF2B5EF4-FFF2-40B4-BE49-F238E27FC236}">
                <a16:creationId xmlns:a16="http://schemas.microsoft.com/office/drawing/2014/main" id="{C3D01397-DB49-30D4-E7AD-7859FCEFA334}"/>
              </a:ext>
            </a:extLst>
          </p:cNvPr>
          <p:cNvSpPr/>
          <p:nvPr/>
        </p:nvSpPr>
        <p:spPr>
          <a:xfrm>
            <a:off x="8060745" y="512066"/>
            <a:ext cx="3826456" cy="1337461"/>
          </a:xfrm>
          <a:custGeom>
            <a:avLst/>
            <a:gdLst/>
            <a:ahLst/>
            <a:cxnLst/>
            <a:rect l="l" t="t" r="r" b="b"/>
            <a:pathLst>
              <a:path w="4190873" h="1464835">
                <a:moveTo>
                  <a:pt x="0" y="0"/>
                </a:moveTo>
                <a:lnTo>
                  <a:pt x="4190873" y="0"/>
                </a:lnTo>
                <a:lnTo>
                  <a:pt x="4190873" y="1464834"/>
                </a:lnTo>
                <a:lnTo>
                  <a:pt x="0" y="1464834"/>
                </a:lnTo>
                <a:lnTo>
                  <a:pt x="0" y="0"/>
                </a:lnTo>
                <a:close/>
              </a:path>
            </a:pathLst>
          </a:custGeom>
          <a:blipFill>
            <a:blip r:embed="rId9"/>
            <a:stretch>
              <a:fillRect/>
            </a:stretch>
          </a:blipFill>
        </p:spPr>
        <p:txBody>
          <a:bodyPr/>
          <a:lstStyle/>
          <a:p>
            <a:endParaRPr lang="de-DE" sz="3200"/>
          </a:p>
        </p:txBody>
      </p:sp>
      <p:pic>
        <p:nvPicPr>
          <p:cNvPr id="29" name="Grafik 28" descr="Ein Bild, das Muster, Quadrat, Kunst, Symmetrie enthält.&#10;&#10;KI-generierte Inhalte können fehlerhaft sein.">
            <a:extLst>
              <a:ext uri="{FF2B5EF4-FFF2-40B4-BE49-F238E27FC236}">
                <a16:creationId xmlns:a16="http://schemas.microsoft.com/office/drawing/2014/main" id="{5449DBEF-62C1-C862-56AF-EBAB130BECB1}"/>
              </a:ext>
            </a:extLst>
          </p:cNvPr>
          <p:cNvPicPr>
            <a:picLocks noChangeAspect="1"/>
          </p:cNvPicPr>
          <p:nvPr/>
        </p:nvPicPr>
        <p:blipFill>
          <a:blip r:embed="rId10"/>
          <a:stretch>
            <a:fillRect/>
          </a:stretch>
        </p:blipFill>
        <p:spPr>
          <a:xfrm>
            <a:off x="3974592" y="3432316"/>
            <a:ext cx="1256708" cy="12567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Zwei Ziele für heute.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BEGRÜSSUNG</a:t>
            </a:r>
          </a:p>
        </p:txBody>
      </p:sp>
      <p:sp>
        <p:nvSpPr>
          <p:cNvPr id="4" name="Rectangle 3"/>
          <p:cNvSpPr/>
          <p:nvPr/>
        </p:nvSpPr>
        <p:spPr>
          <a:xfrm>
            <a:off x="548640" y="1783080"/>
            <a:ext cx="5408676" cy="31089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08676" cy="64008"/>
          </a:xfrm>
          <a:prstGeom prst="rect">
            <a:avLst/>
          </a:prstGeom>
          <a:solidFill>
            <a:srgbClr val="DC640D"/>
          </a:solidFill>
          <a:ln>
            <a:noFill/>
          </a:ln>
        </p:spPr>
        <p:txBody>
          <a:bodyPr rtlCol="0" anchor="ctr"/>
          <a:lstStyle/>
          <a:p>
            <a:pPr algn="ctr"/>
          </a:p>
        </p:txBody>
      </p:sp>
      <p:sp>
        <p:nvSpPr>
          <p:cNvPr id="6" name="TextBox 5"/>
          <p:cNvSpPr txBox="1"/>
          <p:nvPr/>
        </p:nvSpPr>
        <p:spPr>
          <a:xfrm>
            <a:off x="868680" y="2057400"/>
            <a:ext cx="914400" cy="685800"/>
          </a:xfrm>
          <a:prstGeom prst="rect">
            <a:avLst/>
          </a:prstGeom>
          <a:noFill/>
        </p:spPr>
        <p:txBody>
          <a:bodyPr wrap="square" lIns="0" rIns="0" tIns="0" bIns="0" anchor="ctr">
            <a:spAutoFit/>
          </a:bodyPr>
          <a:lstStyle/>
          <a:p>
            <a:pPr algn="l"/>
            <a:r>
              <a:rPr sz="4000" b="1" i="0">
                <a:solidFill>
                  <a:srgbClr val="DC640D"/>
                </a:solidFill>
                <a:latin typeface="Verdana"/>
              </a:rPr>
              <a:t>1</a:t>
            </a:r>
          </a:p>
        </p:txBody>
      </p:sp>
      <p:pic>
        <p:nvPicPr>
          <p:cNvPr id="7" name="Picture 6" descr="LuBrainCircuit_o.png"/>
          <p:cNvPicPr>
            <a:picLocks noChangeAspect="1"/>
          </p:cNvPicPr>
          <p:nvPr/>
        </p:nvPicPr>
        <p:blipFill>
          <a:blip r:embed="rId3"/>
          <a:stretch>
            <a:fillRect/>
          </a:stretch>
        </p:blipFill>
        <p:spPr>
          <a:xfrm>
            <a:off x="5088636" y="2130552"/>
            <a:ext cx="548640" cy="548640"/>
          </a:xfrm>
          <a:prstGeom prst="rect">
            <a:avLst/>
          </a:prstGeom>
        </p:spPr>
      </p:pic>
      <p:sp>
        <p:nvSpPr>
          <p:cNvPr id="8" name="TextBox 7"/>
          <p:cNvSpPr txBox="1"/>
          <p:nvPr/>
        </p:nvSpPr>
        <p:spPr>
          <a:xfrm>
            <a:off x="868680" y="2834639"/>
            <a:ext cx="4768596" cy="365760"/>
          </a:xfrm>
          <a:prstGeom prst="rect">
            <a:avLst/>
          </a:prstGeom>
          <a:noFill/>
        </p:spPr>
        <p:txBody>
          <a:bodyPr wrap="square" lIns="0" rIns="0" tIns="0" bIns="0" anchor="t">
            <a:spAutoFit/>
          </a:bodyPr>
          <a:lstStyle/>
          <a:p>
            <a:pPr algn="l"/>
            <a:r>
              <a:rPr sz="1867" b="1" i="0">
                <a:solidFill>
                  <a:srgbClr val="FFFFFF"/>
                </a:solidFill>
                <a:latin typeface="Verdana"/>
              </a:rPr>
              <a:t>Verstehen</a:t>
            </a:r>
          </a:p>
        </p:txBody>
      </p:sp>
      <p:sp>
        <p:nvSpPr>
          <p:cNvPr id="9" name="TextBox 8"/>
          <p:cNvSpPr txBox="1"/>
          <p:nvPr/>
        </p:nvSpPr>
        <p:spPr>
          <a:xfrm>
            <a:off x="868680" y="3246120"/>
            <a:ext cx="4768596" cy="365760"/>
          </a:xfrm>
          <a:prstGeom prst="rect">
            <a:avLst/>
          </a:prstGeom>
          <a:noFill/>
        </p:spPr>
        <p:txBody>
          <a:bodyPr wrap="square" lIns="0" rIns="0" tIns="0" bIns="0" anchor="t">
            <a:spAutoFit/>
          </a:bodyPr>
          <a:lstStyle/>
          <a:p>
            <a:pPr algn="l"/>
            <a:r>
              <a:rPr sz="1267" b="0" i="1">
                <a:solidFill>
                  <a:srgbClr val="DC640D"/>
                </a:solidFill>
                <a:latin typeface="Verdana"/>
              </a:rPr>
              <a:t>Wie LLM-Workflows, Agenten und agentische Workflows funktionieren</a:t>
            </a:r>
          </a:p>
        </p:txBody>
      </p:sp>
      <p:cxnSp>
        <p:nvCxnSpPr>
          <p:cNvPr id="10" name="Connector 9"/>
          <p:cNvCxnSpPr/>
          <p:nvPr/>
        </p:nvCxnSpPr>
        <p:spPr>
          <a:xfrm>
            <a:off x="868680" y="3703320"/>
            <a:ext cx="4768596" cy="0"/>
          </a:xfrm>
          <a:prstGeom prst="line">
            <a:avLst/>
          </a:prstGeom>
          <a:ln w="6350">
            <a:solidFill>
              <a:srgbClr val="3A3948"/>
            </a:solidFill>
          </a:ln>
        </p:spPr>
      </p:cxnSp>
      <p:sp>
        <p:nvSpPr>
          <p:cNvPr id="11" name="TextBox 10"/>
          <p:cNvSpPr txBox="1"/>
          <p:nvPr/>
        </p:nvSpPr>
        <p:spPr>
          <a:xfrm>
            <a:off x="868680" y="3840480"/>
            <a:ext cx="4768596" cy="914400"/>
          </a:xfrm>
          <a:prstGeom prst="rect">
            <a:avLst/>
          </a:prstGeom>
          <a:noFill/>
        </p:spPr>
        <p:txBody>
          <a:bodyPr wrap="square" lIns="0" rIns="0" tIns="0" bIns="0" anchor="t">
            <a:spAutoFit/>
          </a:bodyPr>
          <a:lstStyle/>
          <a:p>
            <a:pPr algn="l"/>
            <a:r>
              <a:rPr sz="1333" b="0" i="0">
                <a:solidFill>
                  <a:srgbClr val="9A9AAA"/>
                </a:solidFill>
                <a:latin typeface="Verdana"/>
              </a:rPr>
              <a:t>Was ein Sprachmodell kann und was nicht, was ein Prompt ist, was ein Agent anders macht und wo die Grenzen liegen.</a:t>
            </a:r>
          </a:p>
        </p:txBody>
      </p:sp>
      <p:sp>
        <p:nvSpPr>
          <p:cNvPr id="12" name="Rectangle 11"/>
          <p:cNvSpPr/>
          <p:nvPr/>
        </p:nvSpPr>
        <p:spPr>
          <a:xfrm>
            <a:off x="6231636" y="1783080"/>
            <a:ext cx="5408676" cy="3108960"/>
          </a:xfrm>
          <a:prstGeom prst="rect">
            <a:avLst/>
          </a:prstGeom>
          <a:solidFill>
            <a:srgbClr val="24232E"/>
          </a:solidFill>
          <a:ln w="9525">
            <a:solidFill>
              <a:srgbClr val="3A3948"/>
            </a:solidFill>
          </a:ln>
        </p:spPr>
        <p:txBody>
          <a:bodyPr rtlCol="0" anchor="ctr"/>
          <a:lstStyle/>
          <a:p>
            <a:pPr algn="ctr"/>
          </a:p>
        </p:txBody>
      </p:sp>
      <p:sp>
        <p:nvSpPr>
          <p:cNvPr id="13" name="Rectangle 12"/>
          <p:cNvSpPr/>
          <p:nvPr/>
        </p:nvSpPr>
        <p:spPr>
          <a:xfrm>
            <a:off x="6231636" y="1783080"/>
            <a:ext cx="5408676" cy="64008"/>
          </a:xfrm>
          <a:prstGeom prst="rect">
            <a:avLst/>
          </a:prstGeom>
          <a:solidFill>
            <a:srgbClr val="F6A800"/>
          </a:solidFill>
          <a:ln>
            <a:noFill/>
          </a:ln>
        </p:spPr>
        <p:txBody>
          <a:bodyPr rtlCol="0" anchor="ctr"/>
          <a:lstStyle/>
          <a:p>
            <a:pPr algn="ctr"/>
          </a:p>
        </p:txBody>
      </p:sp>
      <p:sp>
        <p:nvSpPr>
          <p:cNvPr id="14" name="TextBox 13"/>
          <p:cNvSpPr txBox="1"/>
          <p:nvPr/>
        </p:nvSpPr>
        <p:spPr>
          <a:xfrm>
            <a:off x="6551675" y="2057400"/>
            <a:ext cx="914400" cy="685800"/>
          </a:xfrm>
          <a:prstGeom prst="rect">
            <a:avLst/>
          </a:prstGeom>
          <a:noFill/>
        </p:spPr>
        <p:txBody>
          <a:bodyPr wrap="square" lIns="0" rIns="0" tIns="0" bIns="0" anchor="ctr">
            <a:spAutoFit/>
          </a:bodyPr>
          <a:lstStyle/>
          <a:p>
            <a:pPr algn="l"/>
            <a:r>
              <a:rPr sz="4000" b="1" i="0">
                <a:solidFill>
                  <a:srgbClr val="F6A800"/>
                </a:solidFill>
                <a:latin typeface="Verdana"/>
              </a:rPr>
              <a:t>2</a:t>
            </a:r>
          </a:p>
        </p:txBody>
      </p:sp>
      <p:pic>
        <p:nvPicPr>
          <p:cNvPr id="15" name="Picture 14" descr="LuBlocks_y.png"/>
          <p:cNvPicPr>
            <a:picLocks noChangeAspect="1"/>
          </p:cNvPicPr>
          <p:nvPr/>
        </p:nvPicPr>
        <p:blipFill>
          <a:blip r:embed="rId4"/>
          <a:stretch>
            <a:fillRect/>
          </a:stretch>
        </p:blipFill>
        <p:spPr>
          <a:xfrm>
            <a:off x="10771632" y="2130552"/>
            <a:ext cx="548640" cy="548640"/>
          </a:xfrm>
          <a:prstGeom prst="rect">
            <a:avLst/>
          </a:prstGeom>
        </p:spPr>
      </p:pic>
      <p:sp>
        <p:nvSpPr>
          <p:cNvPr id="16" name="TextBox 15"/>
          <p:cNvSpPr txBox="1"/>
          <p:nvPr/>
        </p:nvSpPr>
        <p:spPr>
          <a:xfrm>
            <a:off x="6551675" y="2834639"/>
            <a:ext cx="4768596" cy="365760"/>
          </a:xfrm>
          <a:prstGeom prst="rect">
            <a:avLst/>
          </a:prstGeom>
          <a:noFill/>
        </p:spPr>
        <p:txBody>
          <a:bodyPr wrap="square" lIns="0" rIns="0" tIns="0" bIns="0" anchor="t">
            <a:spAutoFit/>
          </a:bodyPr>
          <a:lstStyle/>
          <a:p>
            <a:pPr algn="l"/>
            <a:r>
              <a:rPr sz="1867" b="1" i="0">
                <a:solidFill>
                  <a:srgbClr val="FFFFFF"/>
                </a:solidFill>
                <a:latin typeface="Verdana"/>
              </a:rPr>
              <a:t>Selbst bauen</a:t>
            </a:r>
          </a:p>
        </p:txBody>
      </p:sp>
      <p:sp>
        <p:nvSpPr>
          <p:cNvPr id="17" name="TextBox 16"/>
          <p:cNvSpPr txBox="1"/>
          <p:nvPr/>
        </p:nvSpPr>
        <p:spPr>
          <a:xfrm>
            <a:off x="6551675" y="3246120"/>
            <a:ext cx="4768596" cy="365760"/>
          </a:xfrm>
          <a:prstGeom prst="rect">
            <a:avLst/>
          </a:prstGeom>
          <a:noFill/>
        </p:spPr>
        <p:txBody>
          <a:bodyPr wrap="square" lIns="0" rIns="0" tIns="0" bIns="0" anchor="t">
            <a:spAutoFit/>
          </a:bodyPr>
          <a:lstStyle/>
          <a:p>
            <a:pPr algn="l"/>
            <a:r>
              <a:rPr sz="1267" b="0" i="1">
                <a:solidFill>
                  <a:srgbClr val="F6A800"/>
                </a:solidFill>
                <a:latin typeface="Verdana"/>
              </a:rPr>
              <a:t>Eigene Workflows in Langflow entwickeln</a:t>
            </a:r>
          </a:p>
        </p:txBody>
      </p:sp>
      <p:cxnSp>
        <p:nvCxnSpPr>
          <p:cNvPr id="18" name="Connector 17"/>
          <p:cNvCxnSpPr/>
          <p:nvPr/>
        </p:nvCxnSpPr>
        <p:spPr>
          <a:xfrm>
            <a:off x="6551675" y="3703320"/>
            <a:ext cx="4768597" cy="0"/>
          </a:xfrm>
          <a:prstGeom prst="line">
            <a:avLst/>
          </a:prstGeom>
          <a:ln w="6350">
            <a:solidFill>
              <a:srgbClr val="3A3948"/>
            </a:solidFill>
          </a:ln>
        </p:spPr>
      </p:cxnSp>
      <p:sp>
        <p:nvSpPr>
          <p:cNvPr id="19" name="TextBox 18"/>
          <p:cNvSpPr txBox="1"/>
          <p:nvPr/>
        </p:nvSpPr>
        <p:spPr>
          <a:xfrm>
            <a:off x="6551675" y="3840480"/>
            <a:ext cx="4768596" cy="914400"/>
          </a:xfrm>
          <a:prstGeom prst="rect">
            <a:avLst/>
          </a:prstGeom>
          <a:noFill/>
        </p:spPr>
        <p:txBody>
          <a:bodyPr wrap="square" lIns="0" rIns="0" tIns="0" bIns="0" anchor="t">
            <a:spAutoFit/>
          </a:bodyPr>
          <a:lstStyle/>
          <a:p>
            <a:pPr algn="l"/>
            <a:r>
              <a:rPr sz="1333" b="0" i="0">
                <a:solidFill>
                  <a:srgbClr val="9A9AAA"/>
                </a:solidFill>
                <a:latin typeface="Verdana"/>
              </a:rPr>
              <a:t>Schritt für Schritt, vom ersten Flow bis zum agentischen Workflow. So, dass ihr auch nach heute allein weitermachen könnt.</a:t>
            </a:r>
          </a:p>
        </p:txBody>
      </p:sp>
      <p:sp>
        <p:nvSpPr>
          <p:cNvPr id="20" name="Rectangle 19"/>
          <p:cNvSpPr/>
          <p:nvPr/>
        </p:nvSpPr>
        <p:spPr>
          <a:xfrm>
            <a:off x="548640" y="5120640"/>
            <a:ext cx="11091672" cy="685800"/>
          </a:xfrm>
          <a:prstGeom prst="rect">
            <a:avLst/>
          </a:prstGeom>
          <a:noFill/>
          <a:ln w="12700">
            <a:solidFill>
              <a:srgbClr val="DC640D"/>
            </a:solidFill>
          </a:ln>
        </p:spPr>
        <p:txBody>
          <a:bodyPr rtlCol="0" anchor="ctr"/>
          <a:lstStyle/>
          <a:p>
            <a:pPr algn="ctr"/>
          </a:p>
        </p:txBody>
      </p:sp>
      <p:pic>
        <p:nvPicPr>
          <p:cNvPr id="21" name="Picture 20" descr="LuFootprints_o.png"/>
          <p:cNvPicPr>
            <a:picLocks noChangeAspect="1"/>
          </p:cNvPicPr>
          <p:nvPr/>
        </p:nvPicPr>
        <p:blipFill>
          <a:blip r:embed="rId5"/>
          <a:stretch>
            <a:fillRect/>
          </a:stretch>
        </p:blipFill>
        <p:spPr>
          <a:xfrm>
            <a:off x="777240" y="5248656"/>
            <a:ext cx="411480" cy="411480"/>
          </a:xfrm>
          <a:prstGeom prst="rect">
            <a:avLst/>
          </a:prstGeom>
        </p:spPr>
      </p:pic>
      <p:sp>
        <p:nvSpPr>
          <p:cNvPr id="22" name="TextBox 21"/>
          <p:cNvSpPr txBox="1"/>
          <p:nvPr/>
        </p:nvSpPr>
        <p:spPr>
          <a:xfrm>
            <a:off x="1371600" y="5120640"/>
            <a:ext cx="10085832" cy="685800"/>
          </a:xfrm>
          <a:prstGeom prst="rect">
            <a:avLst/>
          </a:prstGeom>
          <a:noFill/>
        </p:spPr>
        <p:txBody>
          <a:bodyPr wrap="square" lIns="0" rIns="0" tIns="0" bIns="0" anchor="ctr">
            <a:spAutoFit/>
          </a:bodyPr>
          <a:lstStyle/>
          <a:p>
            <a:pPr algn="l"/>
            <a:r>
              <a:rPr sz="1333" b="1" i="0">
                <a:solidFill>
                  <a:srgbClr val="FFFFFF"/>
                </a:solidFill>
                <a:latin typeface="Verdana"/>
              </a:rPr>
              <a:t>Erst verstehen, dann bauen, dann anwenden. </a:t>
            </a:r>
            <a:r>
              <a:rPr sz="1333" b="0" i="0">
                <a:solidFill>
                  <a:srgbClr val="9A9AAA"/>
                </a:solidFill>
                <a:latin typeface="Verdana"/>
              </a:rPr>
              <a:t>Die Use Cases kommen am Nachmittag, wenn ihr die Bausteine kennt.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Ablauf des Tages.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BEGRÜSSUNG</a:t>
            </a:r>
          </a:p>
        </p:txBody>
      </p:sp>
      <p:sp>
        <p:nvSpPr>
          <p:cNvPr id="4" name="Rectangle 3"/>
          <p:cNvSpPr/>
          <p:nvPr/>
        </p:nvSpPr>
        <p:spPr>
          <a:xfrm>
            <a:off x="548640" y="1783080"/>
            <a:ext cx="5362956" cy="3977639"/>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362956" cy="64008"/>
          </a:xfrm>
          <a:prstGeom prst="rect">
            <a:avLst/>
          </a:prstGeom>
          <a:solidFill>
            <a:srgbClr val="DC640D"/>
          </a:solidFill>
          <a:ln>
            <a:noFill/>
          </a:ln>
        </p:spPr>
        <p:txBody>
          <a:bodyPr rtlCol="0" anchor="ctr"/>
          <a:lstStyle/>
          <a:p>
            <a:pPr algn="ctr"/>
          </a:p>
        </p:txBody>
      </p:sp>
      <p:sp>
        <p:nvSpPr>
          <p:cNvPr id="6" name="TextBox 5"/>
          <p:cNvSpPr txBox="1"/>
          <p:nvPr/>
        </p:nvSpPr>
        <p:spPr>
          <a:xfrm>
            <a:off x="822959" y="2011680"/>
            <a:ext cx="4814316" cy="365760"/>
          </a:xfrm>
          <a:prstGeom prst="rect">
            <a:avLst/>
          </a:prstGeom>
          <a:noFill/>
        </p:spPr>
        <p:txBody>
          <a:bodyPr wrap="square" lIns="0" rIns="0" tIns="0" bIns="0" anchor="t">
            <a:spAutoFit/>
          </a:bodyPr>
          <a:lstStyle/>
          <a:p>
            <a:pPr algn="l"/>
            <a:r>
              <a:rPr sz="1600" b="1" i="0">
                <a:solidFill>
                  <a:srgbClr val="FFFFFF"/>
                </a:solidFill>
                <a:latin typeface="Verdana"/>
              </a:rPr>
              <a:t>Vormittag</a:t>
            </a:r>
          </a:p>
        </p:txBody>
      </p:sp>
      <p:sp>
        <p:nvSpPr>
          <p:cNvPr id="7" name="Rectangle 6"/>
          <p:cNvSpPr/>
          <p:nvPr/>
        </p:nvSpPr>
        <p:spPr>
          <a:xfrm>
            <a:off x="822959" y="2560320"/>
            <a:ext cx="914400" cy="420624"/>
          </a:xfrm>
          <a:prstGeom prst="rect">
            <a:avLst/>
          </a:prstGeom>
          <a:solidFill>
            <a:srgbClr val="24232E"/>
          </a:solidFill>
          <a:ln w="9525">
            <a:solidFill>
              <a:srgbClr val="DC640D"/>
            </a:solidFill>
          </a:ln>
        </p:spPr>
        <p:txBody>
          <a:bodyPr rtlCol="0" anchor="ctr"/>
          <a:lstStyle/>
          <a:p>
            <a:pPr algn="ctr"/>
          </a:p>
        </p:txBody>
      </p:sp>
      <p:sp>
        <p:nvSpPr>
          <p:cNvPr id="8" name="TextBox 7"/>
          <p:cNvSpPr txBox="1"/>
          <p:nvPr/>
        </p:nvSpPr>
        <p:spPr>
          <a:xfrm>
            <a:off x="822959" y="2560320"/>
            <a:ext cx="914400" cy="420624"/>
          </a:xfrm>
          <a:prstGeom prst="rect">
            <a:avLst/>
          </a:prstGeom>
          <a:noFill/>
        </p:spPr>
        <p:txBody>
          <a:bodyPr wrap="square" lIns="0" rIns="0" tIns="0" bIns="0" anchor="ctr">
            <a:spAutoFit/>
          </a:bodyPr>
          <a:lstStyle/>
          <a:p>
            <a:pPr algn="ctr"/>
            <a:r>
              <a:rPr sz="1333" b="1" i="0">
                <a:solidFill>
                  <a:srgbClr val="FFFFFF"/>
                </a:solidFill>
                <a:latin typeface="Verdana"/>
              </a:rPr>
              <a:t>10:00</a:t>
            </a:r>
          </a:p>
        </p:txBody>
      </p:sp>
      <p:sp>
        <p:nvSpPr>
          <p:cNvPr id="9" name="TextBox 8"/>
          <p:cNvSpPr txBox="1"/>
          <p:nvPr/>
        </p:nvSpPr>
        <p:spPr>
          <a:xfrm>
            <a:off x="1920240" y="2560320"/>
            <a:ext cx="3717036" cy="420624"/>
          </a:xfrm>
          <a:prstGeom prst="rect">
            <a:avLst/>
          </a:prstGeom>
          <a:noFill/>
        </p:spPr>
        <p:txBody>
          <a:bodyPr wrap="square" lIns="0" rIns="0" tIns="0" bIns="0" anchor="ctr">
            <a:spAutoFit/>
          </a:bodyPr>
          <a:lstStyle/>
          <a:p>
            <a:pPr algn="l"/>
            <a:r>
              <a:rPr sz="1333" b="0" i="0">
                <a:solidFill>
                  <a:srgbClr val="FFFFFF"/>
                </a:solidFill>
                <a:latin typeface="Verdana"/>
              </a:rPr>
              <a:t>Ankommen, Installation abschließen</a:t>
            </a:r>
          </a:p>
        </p:txBody>
      </p:sp>
      <p:sp>
        <p:nvSpPr>
          <p:cNvPr id="10" name="Rectangle 9"/>
          <p:cNvSpPr/>
          <p:nvPr/>
        </p:nvSpPr>
        <p:spPr>
          <a:xfrm>
            <a:off x="822959" y="3182112"/>
            <a:ext cx="914400" cy="420624"/>
          </a:xfrm>
          <a:prstGeom prst="rect">
            <a:avLst/>
          </a:prstGeom>
          <a:solidFill>
            <a:srgbClr val="24232E"/>
          </a:solidFill>
          <a:ln w="9525">
            <a:solidFill>
              <a:srgbClr val="DC640D"/>
            </a:solidFill>
          </a:ln>
        </p:spPr>
        <p:txBody>
          <a:bodyPr rtlCol="0" anchor="ctr"/>
          <a:lstStyle/>
          <a:p>
            <a:pPr algn="ctr"/>
          </a:p>
        </p:txBody>
      </p:sp>
      <p:sp>
        <p:nvSpPr>
          <p:cNvPr id="11" name="TextBox 10"/>
          <p:cNvSpPr txBox="1"/>
          <p:nvPr/>
        </p:nvSpPr>
        <p:spPr>
          <a:xfrm>
            <a:off x="822959" y="3182112"/>
            <a:ext cx="914400" cy="420624"/>
          </a:xfrm>
          <a:prstGeom prst="rect">
            <a:avLst/>
          </a:prstGeom>
          <a:noFill/>
        </p:spPr>
        <p:txBody>
          <a:bodyPr wrap="square" lIns="0" rIns="0" tIns="0" bIns="0" anchor="ctr">
            <a:spAutoFit/>
          </a:bodyPr>
          <a:lstStyle/>
          <a:p>
            <a:pPr algn="ctr"/>
            <a:r>
              <a:rPr sz="1333" b="1" i="0">
                <a:solidFill>
                  <a:srgbClr val="FFFFFF"/>
                </a:solidFill>
                <a:latin typeface="Verdana"/>
              </a:rPr>
              <a:t>10:20</a:t>
            </a:r>
          </a:p>
        </p:txBody>
      </p:sp>
      <p:sp>
        <p:nvSpPr>
          <p:cNvPr id="12" name="TextBox 11"/>
          <p:cNvSpPr txBox="1"/>
          <p:nvPr/>
        </p:nvSpPr>
        <p:spPr>
          <a:xfrm>
            <a:off x="1920240" y="3182112"/>
            <a:ext cx="3717036" cy="420624"/>
          </a:xfrm>
          <a:prstGeom prst="rect">
            <a:avLst/>
          </a:prstGeom>
          <a:noFill/>
        </p:spPr>
        <p:txBody>
          <a:bodyPr wrap="square" lIns="0" rIns="0" tIns="0" bIns="0" anchor="ctr">
            <a:spAutoFit/>
          </a:bodyPr>
          <a:lstStyle/>
          <a:p>
            <a:pPr algn="l"/>
            <a:r>
              <a:rPr sz="1333" b="0" i="0">
                <a:solidFill>
                  <a:srgbClr val="FFFFFF"/>
                </a:solidFill>
                <a:latin typeface="Verdana"/>
              </a:rPr>
              <a:t>Begrüßung, Ziele, Thesen</a:t>
            </a:r>
          </a:p>
        </p:txBody>
      </p:sp>
      <p:sp>
        <p:nvSpPr>
          <p:cNvPr id="13" name="Rectangle 12"/>
          <p:cNvSpPr/>
          <p:nvPr/>
        </p:nvSpPr>
        <p:spPr>
          <a:xfrm>
            <a:off x="822959" y="3803904"/>
            <a:ext cx="914400" cy="420624"/>
          </a:xfrm>
          <a:prstGeom prst="rect">
            <a:avLst/>
          </a:prstGeom>
          <a:solidFill>
            <a:srgbClr val="DC640D"/>
          </a:solidFill>
          <a:ln w="9525">
            <a:solidFill>
              <a:srgbClr val="DC640D"/>
            </a:solidFill>
          </a:ln>
        </p:spPr>
        <p:txBody>
          <a:bodyPr rtlCol="0" anchor="ctr"/>
          <a:lstStyle/>
          <a:p>
            <a:pPr algn="ctr"/>
          </a:p>
        </p:txBody>
      </p:sp>
      <p:sp>
        <p:nvSpPr>
          <p:cNvPr id="14" name="TextBox 13"/>
          <p:cNvSpPr txBox="1"/>
          <p:nvPr/>
        </p:nvSpPr>
        <p:spPr>
          <a:xfrm>
            <a:off x="822959" y="3803904"/>
            <a:ext cx="914400" cy="420624"/>
          </a:xfrm>
          <a:prstGeom prst="rect">
            <a:avLst/>
          </a:prstGeom>
          <a:noFill/>
        </p:spPr>
        <p:txBody>
          <a:bodyPr wrap="square" lIns="0" rIns="0" tIns="0" bIns="0" anchor="ctr">
            <a:spAutoFit/>
          </a:bodyPr>
          <a:lstStyle/>
          <a:p>
            <a:pPr algn="ctr"/>
            <a:r>
              <a:rPr sz="1333" b="1" i="0">
                <a:solidFill>
                  <a:srgbClr val="FFFFFF"/>
                </a:solidFill>
                <a:latin typeface="Verdana"/>
              </a:rPr>
              <a:t>10:30</a:t>
            </a:r>
          </a:p>
        </p:txBody>
      </p:sp>
      <p:sp>
        <p:nvSpPr>
          <p:cNvPr id="15" name="TextBox 14"/>
          <p:cNvSpPr txBox="1"/>
          <p:nvPr/>
        </p:nvSpPr>
        <p:spPr>
          <a:xfrm>
            <a:off x="1920240" y="3803904"/>
            <a:ext cx="3717036" cy="420624"/>
          </a:xfrm>
          <a:prstGeom prst="rect">
            <a:avLst/>
          </a:prstGeom>
          <a:noFill/>
        </p:spPr>
        <p:txBody>
          <a:bodyPr wrap="square" lIns="0" rIns="0" tIns="0" bIns="0" anchor="ctr">
            <a:spAutoFit/>
          </a:bodyPr>
          <a:lstStyle/>
          <a:p>
            <a:pPr algn="l"/>
            <a:r>
              <a:rPr sz="1333" b="1" i="0">
                <a:solidFill>
                  <a:srgbClr val="FFFFFF"/>
                </a:solidFill>
                <a:latin typeface="Verdana"/>
              </a:rPr>
              <a:t>Teil 1: LLM-Workflows</a:t>
            </a:r>
          </a:p>
        </p:txBody>
      </p:sp>
      <p:sp>
        <p:nvSpPr>
          <p:cNvPr id="16" name="Rectangle 15"/>
          <p:cNvSpPr/>
          <p:nvPr/>
        </p:nvSpPr>
        <p:spPr>
          <a:xfrm>
            <a:off x="822959" y="4425696"/>
            <a:ext cx="914400" cy="420624"/>
          </a:xfrm>
          <a:prstGeom prst="rect">
            <a:avLst/>
          </a:prstGeom>
          <a:solidFill>
            <a:srgbClr val="DC640D"/>
          </a:solidFill>
          <a:ln w="9525">
            <a:solidFill>
              <a:srgbClr val="DC640D"/>
            </a:solidFill>
          </a:ln>
        </p:spPr>
        <p:txBody>
          <a:bodyPr rtlCol="0" anchor="ctr"/>
          <a:lstStyle/>
          <a:p>
            <a:pPr algn="ctr"/>
          </a:p>
        </p:txBody>
      </p:sp>
      <p:sp>
        <p:nvSpPr>
          <p:cNvPr id="17" name="TextBox 16"/>
          <p:cNvSpPr txBox="1"/>
          <p:nvPr/>
        </p:nvSpPr>
        <p:spPr>
          <a:xfrm>
            <a:off x="822959" y="4425696"/>
            <a:ext cx="914400" cy="420624"/>
          </a:xfrm>
          <a:prstGeom prst="rect">
            <a:avLst/>
          </a:prstGeom>
          <a:noFill/>
        </p:spPr>
        <p:txBody>
          <a:bodyPr wrap="square" lIns="0" rIns="0" tIns="0" bIns="0" anchor="ctr">
            <a:spAutoFit/>
          </a:bodyPr>
          <a:lstStyle/>
          <a:p>
            <a:pPr algn="ctr"/>
            <a:r>
              <a:rPr sz="1333" b="1" i="0">
                <a:solidFill>
                  <a:srgbClr val="FFFFFF"/>
                </a:solidFill>
                <a:latin typeface="Verdana"/>
              </a:rPr>
              <a:t>11:25</a:t>
            </a:r>
          </a:p>
        </p:txBody>
      </p:sp>
      <p:sp>
        <p:nvSpPr>
          <p:cNvPr id="18" name="TextBox 17"/>
          <p:cNvSpPr txBox="1"/>
          <p:nvPr/>
        </p:nvSpPr>
        <p:spPr>
          <a:xfrm>
            <a:off x="1920240" y="4425696"/>
            <a:ext cx="3717036" cy="420624"/>
          </a:xfrm>
          <a:prstGeom prst="rect">
            <a:avLst/>
          </a:prstGeom>
          <a:noFill/>
        </p:spPr>
        <p:txBody>
          <a:bodyPr wrap="square" lIns="0" rIns="0" tIns="0" bIns="0" anchor="ctr">
            <a:spAutoFit/>
          </a:bodyPr>
          <a:lstStyle/>
          <a:p>
            <a:pPr algn="l"/>
            <a:r>
              <a:rPr sz="1333" b="1" i="0">
                <a:solidFill>
                  <a:srgbClr val="FFFFFF"/>
                </a:solidFill>
                <a:latin typeface="Verdana"/>
              </a:rPr>
              <a:t>Teil 2: Agenten</a:t>
            </a:r>
          </a:p>
        </p:txBody>
      </p:sp>
      <p:sp>
        <p:nvSpPr>
          <p:cNvPr id="19" name="Rectangle 18"/>
          <p:cNvSpPr/>
          <p:nvPr/>
        </p:nvSpPr>
        <p:spPr>
          <a:xfrm>
            <a:off x="822959" y="5047488"/>
            <a:ext cx="914400" cy="420624"/>
          </a:xfrm>
          <a:prstGeom prst="rect">
            <a:avLst/>
          </a:prstGeom>
          <a:noFill/>
          <a:ln w="9525">
            <a:solidFill>
              <a:srgbClr val="9A9AAA"/>
            </a:solidFill>
          </a:ln>
        </p:spPr>
        <p:txBody>
          <a:bodyPr rtlCol="0" anchor="ctr"/>
          <a:lstStyle/>
          <a:p>
            <a:pPr algn="ctr"/>
          </a:p>
        </p:txBody>
      </p:sp>
      <p:sp>
        <p:nvSpPr>
          <p:cNvPr id="20" name="TextBox 19"/>
          <p:cNvSpPr txBox="1"/>
          <p:nvPr/>
        </p:nvSpPr>
        <p:spPr>
          <a:xfrm>
            <a:off x="822959" y="5047488"/>
            <a:ext cx="914400" cy="420624"/>
          </a:xfrm>
          <a:prstGeom prst="rect">
            <a:avLst/>
          </a:prstGeom>
          <a:noFill/>
        </p:spPr>
        <p:txBody>
          <a:bodyPr wrap="square" lIns="0" rIns="0" tIns="0" bIns="0" anchor="ctr">
            <a:spAutoFit/>
          </a:bodyPr>
          <a:lstStyle/>
          <a:p>
            <a:pPr algn="ctr"/>
            <a:r>
              <a:rPr sz="1333" b="1" i="0">
                <a:solidFill>
                  <a:srgbClr val="9A9AAA"/>
                </a:solidFill>
                <a:latin typeface="Verdana"/>
              </a:rPr>
              <a:t>12:10</a:t>
            </a:r>
          </a:p>
        </p:txBody>
      </p:sp>
      <p:sp>
        <p:nvSpPr>
          <p:cNvPr id="21" name="TextBox 20"/>
          <p:cNvSpPr txBox="1"/>
          <p:nvPr/>
        </p:nvSpPr>
        <p:spPr>
          <a:xfrm>
            <a:off x="1920240" y="5047488"/>
            <a:ext cx="3717036" cy="420624"/>
          </a:xfrm>
          <a:prstGeom prst="rect">
            <a:avLst/>
          </a:prstGeom>
          <a:noFill/>
        </p:spPr>
        <p:txBody>
          <a:bodyPr wrap="square" lIns="0" rIns="0" tIns="0" bIns="0" anchor="ctr">
            <a:spAutoFit/>
          </a:bodyPr>
          <a:lstStyle/>
          <a:p>
            <a:pPr algn="l"/>
            <a:r>
              <a:rPr sz="1333" b="0" i="0">
                <a:solidFill>
                  <a:srgbClr val="9A9AAA"/>
                </a:solidFill>
                <a:latin typeface="Verdana"/>
              </a:rPr>
              <a:t>Mittagspause</a:t>
            </a:r>
          </a:p>
        </p:txBody>
      </p:sp>
      <p:sp>
        <p:nvSpPr>
          <p:cNvPr id="22" name="Rectangle 21"/>
          <p:cNvSpPr/>
          <p:nvPr/>
        </p:nvSpPr>
        <p:spPr>
          <a:xfrm>
            <a:off x="6277356" y="1783080"/>
            <a:ext cx="5362956" cy="3977639"/>
          </a:xfrm>
          <a:prstGeom prst="rect">
            <a:avLst/>
          </a:prstGeom>
          <a:solidFill>
            <a:srgbClr val="24232E"/>
          </a:solidFill>
          <a:ln w="9525">
            <a:solidFill>
              <a:srgbClr val="3A3948"/>
            </a:solidFill>
          </a:ln>
        </p:spPr>
        <p:txBody>
          <a:bodyPr rtlCol="0" anchor="ctr"/>
          <a:lstStyle/>
          <a:p>
            <a:pPr algn="ctr"/>
          </a:p>
        </p:txBody>
      </p:sp>
      <p:sp>
        <p:nvSpPr>
          <p:cNvPr id="23" name="Rectangle 22"/>
          <p:cNvSpPr/>
          <p:nvPr/>
        </p:nvSpPr>
        <p:spPr>
          <a:xfrm>
            <a:off x="6277356" y="1783080"/>
            <a:ext cx="5362956" cy="64008"/>
          </a:xfrm>
          <a:prstGeom prst="rect">
            <a:avLst/>
          </a:prstGeom>
          <a:solidFill>
            <a:srgbClr val="F6A800"/>
          </a:solidFill>
          <a:ln>
            <a:noFill/>
          </a:ln>
        </p:spPr>
        <p:txBody>
          <a:bodyPr rtlCol="0" anchor="ctr"/>
          <a:lstStyle/>
          <a:p>
            <a:pPr algn="ctr"/>
          </a:p>
        </p:txBody>
      </p:sp>
      <p:sp>
        <p:nvSpPr>
          <p:cNvPr id="24" name="TextBox 23"/>
          <p:cNvSpPr txBox="1"/>
          <p:nvPr/>
        </p:nvSpPr>
        <p:spPr>
          <a:xfrm>
            <a:off x="6551676" y="2011680"/>
            <a:ext cx="4814316" cy="365760"/>
          </a:xfrm>
          <a:prstGeom prst="rect">
            <a:avLst/>
          </a:prstGeom>
          <a:noFill/>
        </p:spPr>
        <p:txBody>
          <a:bodyPr wrap="square" lIns="0" rIns="0" tIns="0" bIns="0" anchor="t">
            <a:spAutoFit/>
          </a:bodyPr>
          <a:lstStyle/>
          <a:p>
            <a:pPr algn="l"/>
            <a:r>
              <a:rPr sz="1600" b="1" i="0">
                <a:solidFill>
                  <a:srgbClr val="FFFFFF"/>
                </a:solidFill>
                <a:latin typeface="Verdana"/>
              </a:rPr>
              <a:t>Nachmittag</a:t>
            </a:r>
          </a:p>
        </p:txBody>
      </p:sp>
      <p:sp>
        <p:nvSpPr>
          <p:cNvPr id="25" name="Rectangle 24"/>
          <p:cNvSpPr/>
          <p:nvPr/>
        </p:nvSpPr>
        <p:spPr>
          <a:xfrm>
            <a:off x="6551676" y="2560320"/>
            <a:ext cx="914400" cy="420624"/>
          </a:xfrm>
          <a:prstGeom prst="rect">
            <a:avLst/>
          </a:prstGeom>
          <a:solidFill>
            <a:srgbClr val="DC640D"/>
          </a:solidFill>
          <a:ln w="9525">
            <a:solidFill>
              <a:srgbClr val="DC640D"/>
            </a:solidFill>
          </a:ln>
        </p:spPr>
        <p:txBody>
          <a:bodyPr rtlCol="0" anchor="ctr"/>
          <a:lstStyle/>
          <a:p>
            <a:pPr algn="ctr"/>
          </a:p>
        </p:txBody>
      </p:sp>
      <p:sp>
        <p:nvSpPr>
          <p:cNvPr id="26" name="TextBox 25"/>
          <p:cNvSpPr txBox="1"/>
          <p:nvPr/>
        </p:nvSpPr>
        <p:spPr>
          <a:xfrm>
            <a:off x="6551676" y="2560320"/>
            <a:ext cx="914400" cy="420624"/>
          </a:xfrm>
          <a:prstGeom prst="rect">
            <a:avLst/>
          </a:prstGeom>
          <a:noFill/>
        </p:spPr>
        <p:txBody>
          <a:bodyPr wrap="square" lIns="0" rIns="0" tIns="0" bIns="0" anchor="ctr">
            <a:spAutoFit/>
          </a:bodyPr>
          <a:lstStyle/>
          <a:p>
            <a:pPr algn="ctr"/>
            <a:r>
              <a:rPr sz="1333" b="1" i="0">
                <a:solidFill>
                  <a:srgbClr val="FFFFFF"/>
                </a:solidFill>
                <a:latin typeface="Verdana"/>
              </a:rPr>
              <a:t>12:50</a:t>
            </a:r>
          </a:p>
        </p:txBody>
      </p:sp>
      <p:sp>
        <p:nvSpPr>
          <p:cNvPr id="27" name="TextBox 26"/>
          <p:cNvSpPr txBox="1"/>
          <p:nvPr/>
        </p:nvSpPr>
        <p:spPr>
          <a:xfrm>
            <a:off x="7648956" y="2560320"/>
            <a:ext cx="3717036" cy="420624"/>
          </a:xfrm>
          <a:prstGeom prst="rect">
            <a:avLst/>
          </a:prstGeom>
          <a:noFill/>
        </p:spPr>
        <p:txBody>
          <a:bodyPr wrap="square" lIns="0" rIns="0" tIns="0" bIns="0" anchor="ctr">
            <a:spAutoFit/>
          </a:bodyPr>
          <a:lstStyle/>
          <a:p>
            <a:pPr algn="l"/>
            <a:r>
              <a:rPr sz="1333" b="1" i="0">
                <a:solidFill>
                  <a:srgbClr val="FFFFFF"/>
                </a:solidFill>
                <a:latin typeface="Verdana"/>
              </a:rPr>
              <a:t>Teil 3: Agentische Workflows</a:t>
            </a:r>
          </a:p>
        </p:txBody>
      </p:sp>
      <p:sp>
        <p:nvSpPr>
          <p:cNvPr id="28" name="Rectangle 27"/>
          <p:cNvSpPr/>
          <p:nvPr/>
        </p:nvSpPr>
        <p:spPr>
          <a:xfrm>
            <a:off x="6551676" y="3182112"/>
            <a:ext cx="914400" cy="420624"/>
          </a:xfrm>
          <a:prstGeom prst="rect">
            <a:avLst/>
          </a:prstGeom>
          <a:solidFill>
            <a:srgbClr val="DC640D"/>
          </a:solidFill>
          <a:ln w="9525">
            <a:solidFill>
              <a:srgbClr val="DC640D"/>
            </a:solidFill>
          </a:ln>
        </p:spPr>
        <p:txBody>
          <a:bodyPr rtlCol="0" anchor="ctr"/>
          <a:lstStyle/>
          <a:p>
            <a:pPr algn="ctr"/>
          </a:p>
        </p:txBody>
      </p:sp>
      <p:sp>
        <p:nvSpPr>
          <p:cNvPr id="29" name="TextBox 28"/>
          <p:cNvSpPr txBox="1"/>
          <p:nvPr/>
        </p:nvSpPr>
        <p:spPr>
          <a:xfrm>
            <a:off x="6551676" y="3182112"/>
            <a:ext cx="914400" cy="420624"/>
          </a:xfrm>
          <a:prstGeom prst="rect">
            <a:avLst/>
          </a:prstGeom>
          <a:noFill/>
        </p:spPr>
        <p:txBody>
          <a:bodyPr wrap="square" lIns="0" rIns="0" tIns="0" bIns="0" anchor="ctr">
            <a:spAutoFit/>
          </a:bodyPr>
          <a:lstStyle/>
          <a:p>
            <a:pPr algn="ctr"/>
            <a:r>
              <a:rPr sz="1333" b="1" i="0">
                <a:solidFill>
                  <a:srgbClr val="FFFFFF"/>
                </a:solidFill>
                <a:latin typeface="Verdana"/>
              </a:rPr>
              <a:t>13:35</a:t>
            </a:r>
          </a:p>
        </p:txBody>
      </p:sp>
      <p:sp>
        <p:nvSpPr>
          <p:cNvPr id="30" name="TextBox 29"/>
          <p:cNvSpPr txBox="1"/>
          <p:nvPr/>
        </p:nvSpPr>
        <p:spPr>
          <a:xfrm>
            <a:off x="7648956" y="3182112"/>
            <a:ext cx="3717036" cy="420624"/>
          </a:xfrm>
          <a:prstGeom prst="rect">
            <a:avLst/>
          </a:prstGeom>
          <a:noFill/>
        </p:spPr>
        <p:txBody>
          <a:bodyPr wrap="square" lIns="0" rIns="0" tIns="0" bIns="0" anchor="ctr">
            <a:spAutoFit/>
          </a:bodyPr>
          <a:lstStyle/>
          <a:p>
            <a:pPr algn="l"/>
            <a:r>
              <a:rPr sz="1333" b="1" i="0">
                <a:solidFill>
                  <a:srgbClr val="FFFFFF"/>
                </a:solidFill>
                <a:latin typeface="Verdana"/>
              </a:rPr>
              <a:t>Teil 4: Eure Use Cases</a:t>
            </a:r>
          </a:p>
        </p:txBody>
      </p:sp>
      <p:sp>
        <p:nvSpPr>
          <p:cNvPr id="31" name="Rectangle 30"/>
          <p:cNvSpPr/>
          <p:nvPr/>
        </p:nvSpPr>
        <p:spPr>
          <a:xfrm>
            <a:off x="6551676" y="3803904"/>
            <a:ext cx="914400" cy="420624"/>
          </a:xfrm>
          <a:prstGeom prst="rect">
            <a:avLst/>
          </a:prstGeom>
          <a:solidFill>
            <a:srgbClr val="24232E"/>
          </a:solidFill>
          <a:ln w="9525">
            <a:solidFill>
              <a:srgbClr val="DC640D"/>
            </a:solidFill>
          </a:ln>
        </p:spPr>
        <p:txBody>
          <a:bodyPr rtlCol="0" anchor="ctr"/>
          <a:lstStyle/>
          <a:p>
            <a:pPr algn="ctr"/>
          </a:p>
        </p:txBody>
      </p:sp>
      <p:sp>
        <p:nvSpPr>
          <p:cNvPr id="32" name="TextBox 31"/>
          <p:cNvSpPr txBox="1"/>
          <p:nvPr/>
        </p:nvSpPr>
        <p:spPr>
          <a:xfrm>
            <a:off x="6551676" y="3803904"/>
            <a:ext cx="914400" cy="420624"/>
          </a:xfrm>
          <a:prstGeom prst="rect">
            <a:avLst/>
          </a:prstGeom>
          <a:noFill/>
        </p:spPr>
        <p:txBody>
          <a:bodyPr wrap="square" lIns="0" rIns="0" tIns="0" bIns="0" anchor="ctr">
            <a:spAutoFit/>
          </a:bodyPr>
          <a:lstStyle/>
          <a:p>
            <a:pPr algn="ctr"/>
            <a:r>
              <a:rPr sz="1333" b="1" i="0">
                <a:solidFill>
                  <a:srgbClr val="FFFFFF"/>
                </a:solidFill>
                <a:latin typeface="Verdana"/>
              </a:rPr>
              <a:t>15:15</a:t>
            </a:r>
          </a:p>
        </p:txBody>
      </p:sp>
      <p:sp>
        <p:nvSpPr>
          <p:cNvPr id="33" name="TextBox 32"/>
          <p:cNvSpPr txBox="1"/>
          <p:nvPr/>
        </p:nvSpPr>
        <p:spPr>
          <a:xfrm>
            <a:off x="7648956" y="3803904"/>
            <a:ext cx="3717036" cy="420624"/>
          </a:xfrm>
          <a:prstGeom prst="rect">
            <a:avLst/>
          </a:prstGeom>
          <a:noFill/>
        </p:spPr>
        <p:txBody>
          <a:bodyPr wrap="square" lIns="0" rIns="0" tIns="0" bIns="0" anchor="ctr">
            <a:spAutoFit/>
          </a:bodyPr>
          <a:lstStyle/>
          <a:p>
            <a:pPr algn="l"/>
            <a:r>
              <a:rPr sz="1333" b="0" i="0">
                <a:solidFill>
                  <a:srgbClr val="FFFFFF"/>
                </a:solidFill>
                <a:latin typeface="Verdana"/>
              </a:rPr>
              <a:t>Show &amp; Tell</a:t>
            </a:r>
          </a:p>
        </p:txBody>
      </p:sp>
      <p:sp>
        <p:nvSpPr>
          <p:cNvPr id="34" name="Rectangle 33"/>
          <p:cNvSpPr/>
          <p:nvPr/>
        </p:nvSpPr>
        <p:spPr>
          <a:xfrm>
            <a:off x="6551676" y="4425696"/>
            <a:ext cx="914400" cy="420624"/>
          </a:xfrm>
          <a:prstGeom prst="rect">
            <a:avLst/>
          </a:prstGeom>
          <a:solidFill>
            <a:srgbClr val="24232E"/>
          </a:solidFill>
          <a:ln w="9525">
            <a:solidFill>
              <a:srgbClr val="DC640D"/>
            </a:solidFill>
          </a:ln>
        </p:spPr>
        <p:txBody>
          <a:bodyPr rtlCol="0" anchor="ctr"/>
          <a:lstStyle/>
          <a:p>
            <a:pPr algn="ctr"/>
          </a:p>
        </p:txBody>
      </p:sp>
      <p:sp>
        <p:nvSpPr>
          <p:cNvPr id="35" name="TextBox 34"/>
          <p:cNvSpPr txBox="1"/>
          <p:nvPr/>
        </p:nvSpPr>
        <p:spPr>
          <a:xfrm>
            <a:off x="6551676" y="4425696"/>
            <a:ext cx="914400" cy="420624"/>
          </a:xfrm>
          <a:prstGeom prst="rect">
            <a:avLst/>
          </a:prstGeom>
          <a:noFill/>
        </p:spPr>
        <p:txBody>
          <a:bodyPr wrap="square" lIns="0" rIns="0" tIns="0" bIns="0" anchor="ctr">
            <a:spAutoFit/>
          </a:bodyPr>
          <a:lstStyle/>
          <a:p>
            <a:pPr algn="ctr"/>
            <a:r>
              <a:rPr sz="1333" b="1" i="0">
                <a:solidFill>
                  <a:srgbClr val="FFFFFF"/>
                </a:solidFill>
                <a:latin typeface="Verdana"/>
              </a:rPr>
              <a:t>15:40</a:t>
            </a:r>
          </a:p>
        </p:txBody>
      </p:sp>
      <p:sp>
        <p:nvSpPr>
          <p:cNvPr id="36" name="TextBox 35"/>
          <p:cNvSpPr txBox="1"/>
          <p:nvPr/>
        </p:nvSpPr>
        <p:spPr>
          <a:xfrm>
            <a:off x="7648956" y="4425696"/>
            <a:ext cx="3717036" cy="420624"/>
          </a:xfrm>
          <a:prstGeom prst="rect">
            <a:avLst/>
          </a:prstGeom>
          <a:noFill/>
        </p:spPr>
        <p:txBody>
          <a:bodyPr wrap="square" lIns="0" rIns="0" tIns="0" bIns="0" anchor="ctr">
            <a:spAutoFit/>
          </a:bodyPr>
          <a:lstStyle/>
          <a:p>
            <a:pPr algn="l"/>
            <a:r>
              <a:rPr sz="1333" b="0" i="0">
                <a:solidFill>
                  <a:srgbClr val="FFFFFF"/>
                </a:solidFill>
                <a:latin typeface="Verdana"/>
              </a:rPr>
              <a:t>Rückblick und Ausblick</a:t>
            </a:r>
          </a:p>
        </p:txBody>
      </p:sp>
      <p:sp>
        <p:nvSpPr>
          <p:cNvPr id="37" name="Rectangle 36"/>
          <p:cNvSpPr/>
          <p:nvPr/>
        </p:nvSpPr>
        <p:spPr>
          <a:xfrm>
            <a:off x="6551676" y="5047488"/>
            <a:ext cx="914400" cy="420624"/>
          </a:xfrm>
          <a:prstGeom prst="rect">
            <a:avLst/>
          </a:prstGeom>
          <a:noFill/>
          <a:ln w="9525">
            <a:solidFill>
              <a:srgbClr val="9A9AAA"/>
            </a:solidFill>
          </a:ln>
        </p:spPr>
        <p:txBody>
          <a:bodyPr rtlCol="0" anchor="ctr"/>
          <a:lstStyle/>
          <a:p>
            <a:pPr algn="ctr"/>
          </a:p>
        </p:txBody>
      </p:sp>
      <p:sp>
        <p:nvSpPr>
          <p:cNvPr id="38" name="TextBox 37"/>
          <p:cNvSpPr txBox="1"/>
          <p:nvPr/>
        </p:nvSpPr>
        <p:spPr>
          <a:xfrm>
            <a:off x="6551676" y="5047488"/>
            <a:ext cx="914400" cy="420624"/>
          </a:xfrm>
          <a:prstGeom prst="rect">
            <a:avLst/>
          </a:prstGeom>
          <a:noFill/>
        </p:spPr>
        <p:txBody>
          <a:bodyPr wrap="square" lIns="0" rIns="0" tIns="0" bIns="0" anchor="ctr">
            <a:spAutoFit/>
          </a:bodyPr>
          <a:lstStyle/>
          <a:p>
            <a:pPr algn="ctr"/>
            <a:r>
              <a:rPr sz="1333" b="1" i="0">
                <a:solidFill>
                  <a:srgbClr val="9A9AAA"/>
                </a:solidFill>
                <a:latin typeface="Verdana"/>
              </a:rPr>
              <a:t>16:00</a:t>
            </a:r>
          </a:p>
        </p:txBody>
      </p:sp>
      <p:sp>
        <p:nvSpPr>
          <p:cNvPr id="39" name="TextBox 38"/>
          <p:cNvSpPr txBox="1"/>
          <p:nvPr/>
        </p:nvSpPr>
        <p:spPr>
          <a:xfrm>
            <a:off x="7648956" y="5047488"/>
            <a:ext cx="3717036" cy="420624"/>
          </a:xfrm>
          <a:prstGeom prst="rect">
            <a:avLst/>
          </a:prstGeom>
          <a:noFill/>
        </p:spPr>
        <p:txBody>
          <a:bodyPr wrap="square" lIns="0" rIns="0" tIns="0" bIns="0" anchor="ctr">
            <a:spAutoFit/>
          </a:bodyPr>
          <a:lstStyle/>
          <a:p>
            <a:pPr algn="l"/>
            <a:r>
              <a:rPr sz="1333" b="0" i="0">
                <a:solidFill>
                  <a:srgbClr val="9A9AAA"/>
                </a:solidFill>
                <a:latin typeface="Verdana"/>
              </a:rPr>
              <a:t>Ende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Euer Lernpfad.</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BEGRÜSSUNG</a:t>
            </a:r>
          </a:p>
        </p:txBody>
      </p:sp>
      <p:sp>
        <p:nvSpPr>
          <p:cNvPr id="4" name="Rectangle 3"/>
          <p:cNvSpPr/>
          <p:nvPr/>
        </p:nvSpPr>
        <p:spPr>
          <a:xfrm>
            <a:off x="548640" y="3154680"/>
            <a:ext cx="2635758" cy="26517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3154680"/>
            <a:ext cx="2635758" cy="64008"/>
          </a:xfrm>
          <a:prstGeom prst="rect">
            <a:avLst/>
          </a:prstGeom>
          <a:solidFill>
            <a:srgbClr val="DC640D"/>
          </a:solidFill>
          <a:ln>
            <a:noFill/>
          </a:ln>
        </p:spPr>
        <p:txBody>
          <a:bodyPr rtlCol="0" anchor="ctr"/>
          <a:lstStyle/>
          <a:p>
            <a:pPr algn="ctr"/>
          </a:p>
        </p:txBody>
      </p:sp>
      <p:sp>
        <p:nvSpPr>
          <p:cNvPr id="6" name="Oval 5"/>
          <p:cNvSpPr/>
          <p:nvPr/>
        </p:nvSpPr>
        <p:spPr>
          <a:xfrm>
            <a:off x="777240" y="3429000"/>
            <a:ext cx="566928" cy="566928"/>
          </a:xfrm>
          <a:prstGeom prst="ellipse">
            <a:avLst/>
          </a:prstGeom>
          <a:solidFill>
            <a:srgbClr val="DC640D"/>
          </a:solidFill>
          <a:ln>
            <a:noFill/>
          </a:ln>
        </p:spPr>
        <p:txBody>
          <a:bodyPr rtlCol="0" anchor="ctr"/>
          <a:lstStyle/>
          <a:p>
            <a:pPr algn="ctr"/>
          </a:p>
        </p:txBody>
      </p:sp>
      <p:pic>
        <p:nvPicPr>
          <p:cNvPr id="7" name="Picture 6" descr="LuWorkflow_w.png"/>
          <p:cNvPicPr>
            <a:picLocks noChangeAspect="1"/>
          </p:cNvPicPr>
          <p:nvPr/>
        </p:nvPicPr>
        <p:blipFill>
          <a:blip r:embed="rId3"/>
          <a:stretch>
            <a:fillRect/>
          </a:stretch>
        </p:blipFill>
        <p:spPr>
          <a:xfrm>
            <a:off x="901964" y="3553724"/>
            <a:ext cx="317479" cy="317479"/>
          </a:xfrm>
          <a:prstGeom prst="rect">
            <a:avLst/>
          </a:prstGeom>
        </p:spPr>
      </p:pic>
      <p:sp>
        <p:nvSpPr>
          <p:cNvPr id="8" name="TextBox 7"/>
          <p:cNvSpPr txBox="1"/>
          <p:nvPr/>
        </p:nvSpPr>
        <p:spPr>
          <a:xfrm>
            <a:off x="1508760" y="3429000"/>
            <a:ext cx="1538478" cy="566928"/>
          </a:xfrm>
          <a:prstGeom prst="rect">
            <a:avLst/>
          </a:prstGeom>
          <a:noFill/>
        </p:spPr>
        <p:txBody>
          <a:bodyPr wrap="square" lIns="0" rIns="0" tIns="0" bIns="0" anchor="ctr">
            <a:spAutoFit/>
          </a:bodyPr>
          <a:lstStyle/>
          <a:p>
            <a:pPr algn="l"/>
            <a:r>
              <a:rPr sz="1200" b="1" i="0" spc="200">
                <a:solidFill>
                  <a:srgbClr val="DC640D"/>
                </a:solidFill>
                <a:latin typeface="Verdana"/>
              </a:rPr>
              <a:t>Teil 1</a:t>
            </a:r>
          </a:p>
        </p:txBody>
      </p:sp>
      <p:sp>
        <p:nvSpPr>
          <p:cNvPr id="9" name="TextBox 8"/>
          <p:cNvSpPr txBox="1"/>
          <p:nvPr/>
        </p:nvSpPr>
        <p:spPr>
          <a:xfrm>
            <a:off x="777240" y="4160520"/>
            <a:ext cx="2178558" cy="548640"/>
          </a:xfrm>
          <a:prstGeom prst="rect">
            <a:avLst/>
          </a:prstGeom>
          <a:noFill/>
        </p:spPr>
        <p:txBody>
          <a:bodyPr wrap="square" lIns="0" rIns="0" tIns="0" bIns="0" anchor="t">
            <a:spAutoFit/>
          </a:bodyPr>
          <a:lstStyle/>
          <a:p>
            <a:pPr algn="l"/>
            <a:r>
              <a:rPr sz="1467" b="1" i="0">
                <a:solidFill>
                  <a:srgbClr val="FFFFFF"/>
                </a:solidFill>
                <a:latin typeface="Verdana"/>
              </a:rPr>
              <a:t>LLM-Workflows</a:t>
            </a:r>
          </a:p>
        </p:txBody>
      </p:sp>
      <p:sp>
        <p:nvSpPr>
          <p:cNvPr id="10" name="TextBox 9"/>
          <p:cNvSpPr txBox="1"/>
          <p:nvPr/>
        </p:nvSpPr>
        <p:spPr>
          <a:xfrm>
            <a:off x="777240" y="4754880"/>
            <a:ext cx="2178558" cy="914400"/>
          </a:xfrm>
          <a:prstGeom prst="rect">
            <a:avLst/>
          </a:prstGeom>
          <a:noFill/>
        </p:spPr>
        <p:txBody>
          <a:bodyPr wrap="square" lIns="0" rIns="0" tIns="0" bIns="0" anchor="t">
            <a:spAutoFit/>
          </a:bodyPr>
          <a:lstStyle/>
          <a:p>
            <a:pPr algn="l"/>
            <a:r>
              <a:rPr sz="1200" b="0" i="0">
                <a:solidFill>
                  <a:srgbClr val="9A9AAA"/>
                </a:solidFill>
                <a:latin typeface="Verdana"/>
              </a:rPr>
              <a:t>Prompts, Modelle, Backends. Feste Abläufe aus Bausteinen.</a:t>
            </a:r>
          </a:p>
        </p:txBody>
      </p:sp>
      <p:sp>
        <p:nvSpPr>
          <p:cNvPr id="11" name="Rectangle 10"/>
          <p:cNvSpPr/>
          <p:nvPr/>
        </p:nvSpPr>
        <p:spPr>
          <a:xfrm>
            <a:off x="3367278" y="2697480"/>
            <a:ext cx="2635758" cy="3108960"/>
          </a:xfrm>
          <a:prstGeom prst="rect">
            <a:avLst/>
          </a:prstGeom>
          <a:solidFill>
            <a:srgbClr val="24232E"/>
          </a:solidFill>
          <a:ln w="9525">
            <a:solidFill>
              <a:srgbClr val="3A3948"/>
            </a:solidFill>
          </a:ln>
        </p:spPr>
        <p:txBody>
          <a:bodyPr rtlCol="0" anchor="ctr"/>
          <a:lstStyle/>
          <a:p>
            <a:pPr algn="ctr"/>
          </a:p>
        </p:txBody>
      </p:sp>
      <p:sp>
        <p:nvSpPr>
          <p:cNvPr id="12" name="Rectangle 11"/>
          <p:cNvSpPr/>
          <p:nvPr/>
        </p:nvSpPr>
        <p:spPr>
          <a:xfrm>
            <a:off x="3367278" y="2697480"/>
            <a:ext cx="2635758" cy="64008"/>
          </a:xfrm>
          <a:prstGeom prst="rect">
            <a:avLst/>
          </a:prstGeom>
          <a:solidFill>
            <a:srgbClr val="F6A800"/>
          </a:solidFill>
          <a:ln>
            <a:noFill/>
          </a:ln>
        </p:spPr>
        <p:txBody>
          <a:bodyPr rtlCol="0" anchor="ctr"/>
          <a:lstStyle/>
          <a:p>
            <a:pPr algn="ctr"/>
          </a:p>
        </p:txBody>
      </p:sp>
      <p:sp>
        <p:nvSpPr>
          <p:cNvPr id="13" name="Oval 12"/>
          <p:cNvSpPr/>
          <p:nvPr/>
        </p:nvSpPr>
        <p:spPr>
          <a:xfrm>
            <a:off x="3595878" y="2971800"/>
            <a:ext cx="566928" cy="566928"/>
          </a:xfrm>
          <a:prstGeom prst="ellipse">
            <a:avLst/>
          </a:prstGeom>
          <a:solidFill>
            <a:srgbClr val="F6A800"/>
          </a:solidFill>
          <a:ln>
            <a:noFill/>
          </a:ln>
        </p:spPr>
        <p:txBody>
          <a:bodyPr rtlCol="0" anchor="ctr"/>
          <a:lstStyle/>
          <a:p>
            <a:pPr algn="ctr"/>
          </a:p>
        </p:txBody>
      </p:sp>
      <p:pic>
        <p:nvPicPr>
          <p:cNvPr id="14" name="Picture 13" descr="LuBot_w.png"/>
          <p:cNvPicPr>
            <a:picLocks noChangeAspect="1"/>
          </p:cNvPicPr>
          <p:nvPr/>
        </p:nvPicPr>
        <p:blipFill>
          <a:blip r:embed="rId4"/>
          <a:stretch>
            <a:fillRect/>
          </a:stretch>
        </p:blipFill>
        <p:spPr>
          <a:xfrm>
            <a:off x="3720602" y="3096524"/>
            <a:ext cx="317479" cy="317479"/>
          </a:xfrm>
          <a:prstGeom prst="rect">
            <a:avLst/>
          </a:prstGeom>
        </p:spPr>
      </p:pic>
      <p:sp>
        <p:nvSpPr>
          <p:cNvPr id="15" name="TextBox 14"/>
          <p:cNvSpPr txBox="1"/>
          <p:nvPr/>
        </p:nvSpPr>
        <p:spPr>
          <a:xfrm>
            <a:off x="4327398" y="2971800"/>
            <a:ext cx="1538478" cy="566928"/>
          </a:xfrm>
          <a:prstGeom prst="rect">
            <a:avLst/>
          </a:prstGeom>
          <a:noFill/>
        </p:spPr>
        <p:txBody>
          <a:bodyPr wrap="square" lIns="0" rIns="0" tIns="0" bIns="0" anchor="ctr">
            <a:spAutoFit/>
          </a:bodyPr>
          <a:lstStyle/>
          <a:p>
            <a:pPr algn="l"/>
            <a:r>
              <a:rPr sz="1200" b="1" i="0" spc="200">
                <a:solidFill>
                  <a:srgbClr val="F6A800"/>
                </a:solidFill>
                <a:latin typeface="Verdana"/>
              </a:rPr>
              <a:t>Teil 2</a:t>
            </a:r>
          </a:p>
        </p:txBody>
      </p:sp>
      <p:sp>
        <p:nvSpPr>
          <p:cNvPr id="16" name="TextBox 15"/>
          <p:cNvSpPr txBox="1"/>
          <p:nvPr/>
        </p:nvSpPr>
        <p:spPr>
          <a:xfrm>
            <a:off x="3595878" y="3703320"/>
            <a:ext cx="2178558" cy="548640"/>
          </a:xfrm>
          <a:prstGeom prst="rect">
            <a:avLst/>
          </a:prstGeom>
          <a:noFill/>
        </p:spPr>
        <p:txBody>
          <a:bodyPr wrap="square" lIns="0" rIns="0" tIns="0" bIns="0" anchor="t">
            <a:spAutoFit/>
          </a:bodyPr>
          <a:lstStyle/>
          <a:p>
            <a:pPr algn="l"/>
            <a:r>
              <a:rPr sz="1467" b="1" i="0">
                <a:solidFill>
                  <a:srgbClr val="FFFFFF"/>
                </a:solidFill>
                <a:latin typeface="Verdana"/>
              </a:rPr>
              <a:t>Agenten</a:t>
            </a:r>
          </a:p>
        </p:txBody>
      </p:sp>
      <p:sp>
        <p:nvSpPr>
          <p:cNvPr id="17" name="TextBox 16"/>
          <p:cNvSpPr txBox="1"/>
          <p:nvPr/>
        </p:nvSpPr>
        <p:spPr>
          <a:xfrm>
            <a:off x="3595878" y="4297680"/>
            <a:ext cx="2178558" cy="914400"/>
          </a:xfrm>
          <a:prstGeom prst="rect">
            <a:avLst/>
          </a:prstGeom>
          <a:noFill/>
        </p:spPr>
        <p:txBody>
          <a:bodyPr wrap="square" lIns="0" rIns="0" tIns="0" bIns="0" anchor="t">
            <a:spAutoFit/>
          </a:bodyPr>
          <a:lstStyle/>
          <a:p>
            <a:pPr algn="l"/>
            <a:r>
              <a:rPr sz="1200" b="0" i="0">
                <a:solidFill>
                  <a:srgbClr val="9A9AAA"/>
                </a:solidFill>
                <a:latin typeface="Verdana"/>
              </a:rPr>
              <a:t>Die KI wählt selbst ihre Werkzeuge und den Weg.</a:t>
            </a:r>
          </a:p>
        </p:txBody>
      </p:sp>
      <p:sp>
        <p:nvSpPr>
          <p:cNvPr id="18" name="Rectangle 17"/>
          <p:cNvSpPr/>
          <p:nvPr/>
        </p:nvSpPr>
        <p:spPr>
          <a:xfrm>
            <a:off x="6185916" y="2240280"/>
            <a:ext cx="2635758" cy="3566160"/>
          </a:xfrm>
          <a:prstGeom prst="rect">
            <a:avLst/>
          </a:prstGeom>
          <a:solidFill>
            <a:srgbClr val="24232E"/>
          </a:solidFill>
          <a:ln w="9525">
            <a:solidFill>
              <a:srgbClr val="3A3948"/>
            </a:solidFill>
          </a:ln>
        </p:spPr>
        <p:txBody>
          <a:bodyPr rtlCol="0" anchor="ctr"/>
          <a:lstStyle/>
          <a:p>
            <a:pPr algn="ctr"/>
          </a:p>
        </p:txBody>
      </p:sp>
      <p:sp>
        <p:nvSpPr>
          <p:cNvPr id="19" name="Rectangle 18"/>
          <p:cNvSpPr/>
          <p:nvPr/>
        </p:nvSpPr>
        <p:spPr>
          <a:xfrm>
            <a:off x="6185916" y="2240280"/>
            <a:ext cx="2635758" cy="64008"/>
          </a:xfrm>
          <a:prstGeom prst="rect">
            <a:avLst/>
          </a:prstGeom>
          <a:solidFill>
            <a:srgbClr val="B1063A"/>
          </a:solidFill>
          <a:ln>
            <a:noFill/>
          </a:ln>
        </p:spPr>
        <p:txBody>
          <a:bodyPr rtlCol="0" anchor="ctr"/>
          <a:lstStyle/>
          <a:p>
            <a:pPr algn="ctr"/>
          </a:p>
        </p:txBody>
      </p:sp>
      <p:sp>
        <p:nvSpPr>
          <p:cNvPr id="20" name="Oval 19"/>
          <p:cNvSpPr/>
          <p:nvPr/>
        </p:nvSpPr>
        <p:spPr>
          <a:xfrm>
            <a:off x="6414516" y="2514600"/>
            <a:ext cx="566928" cy="566928"/>
          </a:xfrm>
          <a:prstGeom prst="ellipse">
            <a:avLst/>
          </a:prstGeom>
          <a:solidFill>
            <a:srgbClr val="B1063A"/>
          </a:solidFill>
          <a:ln>
            <a:noFill/>
          </a:ln>
        </p:spPr>
        <p:txBody>
          <a:bodyPr rtlCol="0" anchor="ctr"/>
          <a:lstStyle/>
          <a:p>
            <a:pPr algn="ctr"/>
          </a:p>
        </p:txBody>
      </p:sp>
      <p:pic>
        <p:nvPicPr>
          <p:cNvPr id="21" name="Picture 20" descr="LuSplit_w.png"/>
          <p:cNvPicPr>
            <a:picLocks noChangeAspect="1"/>
          </p:cNvPicPr>
          <p:nvPr/>
        </p:nvPicPr>
        <p:blipFill>
          <a:blip r:embed="rId5"/>
          <a:stretch>
            <a:fillRect/>
          </a:stretch>
        </p:blipFill>
        <p:spPr>
          <a:xfrm>
            <a:off x="6539240" y="2639324"/>
            <a:ext cx="317479" cy="317479"/>
          </a:xfrm>
          <a:prstGeom prst="rect">
            <a:avLst/>
          </a:prstGeom>
        </p:spPr>
      </p:pic>
      <p:sp>
        <p:nvSpPr>
          <p:cNvPr id="22" name="TextBox 21"/>
          <p:cNvSpPr txBox="1"/>
          <p:nvPr/>
        </p:nvSpPr>
        <p:spPr>
          <a:xfrm>
            <a:off x="7146036" y="2514600"/>
            <a:ext cx="1538478" cy="566928"/>
          </a:xfrm>
          <a:prstGeom prst="rect">
            <a:avLst/>
          </a:prstGeom>
          <a:noFill/>
        </p:spPr>
        <p:txBody>
          <a:bodyPr wrap="square" lIns="0" rIns="0" tIns="0" bIns="0" anchor="ctr">
            <a:spAutoFit/>
          </a:bodyPr>
          <a:lstStyle/>
          <a:p>
            <a:pPr algn="l"/>
            <a:r>
              <a:rPr sz="1200" b="1" i="0" spc="200">
                <a:solidFill>
                  <a:srgbClr val="DC640D"/>
                </a:solidFill>
                <a:latin typeface="Verdana"/>
              </a:rPr>
              <a:t>Teil 3</a:t>
            </a:r>
          </a:p>
        </p:txBody>
      </p:sp>
      <p:sp>
        <p:nvSpPr>
          <p:cNvPr id="23" name="TextBox 22"/>
          <p:cNvSpPr txBox="1"/>
          <p:nvPr/>
        </p:nvSpPr>
        <p:spPr>
          <a:xfrm>
            <a:off x="6414516" y="3246120"/>
            <a:ext cx="2178558" cy="548640"/>
          </a:xfrm>
          <a:prstGeom prst="rect">
            <a:avLst/>
          </a:prstGeom>
          <a:noFill/>
        </p:spPr>
        <p:txBody>
          <a:bodyPr wrap="square" lIns="0" rIns="0" tIns="0" bIns="0" anchor="t">
            <a:spAutoFit/>
          </a:bodyPr>
          <a:lstStyle/>
          <a:p>
            <a:pPr algn="l"/>
            <a:r>
              <a:rPr sz="1467" b="1" i="0">
                <a:solidFill>
                  <a:srgbClr val="FFFFFF"/>
                </a:solidFill>
                <a:latin typeface="Verdana"/>
              </a:rPr>
              <a:t>Agentische Workflows</a:t>
            </a:r>
          </a:p>
        </p:txBody>
      </p:sp>
      <p:sp>
        <p:nvSpPr>
          <p:cNvPr id="24" name="TextBox 23"/>
          <p:cNvSpPr txBox="1"/>
          <p:nvPr/>
        </p:nvSpPr>
        <p:spPr>
          <a:xfrm>
            <a:off x="6414516" y="3840480"/>
            <a:ext cx="2178558" cy="914400"/>
          </a:xfrm>
          <a:prstGeom prst="rect">
            <a:avLst/>
          </a:prstGeom>
          <a:noFill/>
        </p:spPr>
        <p:txBody>
          <a:bodyPr wrap="square" lIns="0" rIns="0" tIns="0" bIns="0" anchor="t">
            <a:spAutoFit/>
          </a:bodyPr>
          <a:lstStyle/>
          <a:p>
            <a:pPr algn="l"/>
            <a:r>
              <a:rPr sz="1200" b="0" i="0">
                <a:solidFill>
                  <a:srgbClr val="9A9AAA"/>
                </a:solidFill>
                <a:latin typeface="Verdana"/>
              </a:rPr>
              <a:t>Feste Struktur, an den richtigen Stellen KI-Entscheidungen.</a:t>
            </a:r>
          </a:p>
        </p:txBody>
      </p:sp>
      <p:sp>
        <p:nvSpPr>
          <p:cNvPr id="25" name="Rectangle 24"/>
          <p:cNvSpPr/>
          <p:nvPr/>
        </p:nvSpPr>
        <p:spPr>
          <a:xfrm>
            <a:off x="9004554" y="1783080"/>
            <a:ext cx="2635758" cy="4023360"/>
          </a:xfrm>
          <a:prstGeom prst="rect">
            <a:avLst/>
          </a:prstGeom>
          <a:solidFill>
            <a:srgbClr val="24232E"/>
          </a:solidFill>
          <a:ln w="9525">
            <a:solidFill>
              <a:srgbClr val="3A3948"/>
            </a:solidFill>
          </a:ln>
        </p:spPr>
        <p:txBody>
          <a:bodyPr rtlCol="0" anchor="ctr"/>
          <a:lstStyle/>
          <a:p>
            <a:pPr algn="ctr"/>
          </a:p>
        </p:txBody>
      </p:sp>
      <p:sp>
        <p:nvSpPr>
          <p:cNvPr id="26" name="Rectangle 25"/>
          <p:cNvSpPr/>
          <p:nvPr/>
        </p:nvSpPr>
        <p:spPr>
          <a:xfrm>
            <a:off x="9004554" y="1783080"/>
            <a:ext cx="2635758" cy="64008"/>
          </a:xfrm>
          <a:prstGeom prst="rect">
            <a:avLst/>
          </a:prstGeom>
          <a:solidFill>
            <a:srgbClr val="18E979"/>
          </a:solidFill>
          <a:ln>
            <a:noFill/>
          </a:ln>
        </p:spPr>
        <p:txBody>
          <a:bodyPr rtlCol="0" anchor="ctr"/>
          <a:lstStyle/>
          <a:p>
            <a:pPr algn="ctr"/>
          </a:p>
        </p:txBody>
      </p:sp>
      <p:sp>
        <p:nvSpPr>
          <p:cNvPr id="27" name="Oval 26"/>
          <p:cNvSpPr/>
          <p:nvPr/>
        </p:nvSpPr>
        <p:spPr>
          <a:xfrm>
            <a:off x="9233154" y="2057400"/>
            <a:ext cx="566928" cy="566928"/>
          </a:xfrm>
          <a:prstGeom prst="ellipse">
            <a:avLst/>
          </a:prstGeom>
          <a:solidFill>
            <a:srgbClr val="18E979"/>
          </a:solidFill>
          <a:ln>
            <a:noFill/>
          </a:ln>
        </p:spPr>
        <p:txBody>
          <a:bodyPr rtlCol="0" anchor="ctr"/>
          <a:lstStyle/>
          <a:p>
            <a:pPr algn="ctr"/>
          </a:p>
        </p:txBody>
      </p:sp>
      <p:pic>
        <p:nvPicPr>
          <p:cNvPr id="28" name="Picture 27" descr="LuRocket_w.png"/>
          <p:cNvPicPr>
            <a:picLocks noChangeAspect="1"/>
          </p:cNvPicPr>
          <p:nvPr/>
        </p:nvPicPr>
        <p:blipFill>
          <a:blip r:embed="rId6"/>
          <a:stretch>
            <a:fillRect/>
          </a:stretch>
        </p:blipFill>
        <p:spPr>
          <a:xfrm>
            <a:off x="9357878" y="2182124"/>
            <a:ext cx="317479" cy="317479"/>
          </a:xfrm>
          <a:prstGeom prst="rect">
            <a:avLst/>
          </a:prstGeom>
        </p:spPr>
      </p:pic>
      <p:sp>
        <p:nvSpPr>
          <p:cNvPr id="29" name="TextBox 28"/>
          <p:cNvSpPr txBox="1"/>
          <p:nvPr/>
        </p:nvSpPr>
        <p:spPr>
          <a:xfrm>
            <a:off x="9964674" y="2057400"/>
            <a:ext cx="1538478" cy="566928"/>
          </a:xfrm>
          <a:prstGeom prst="rect">
            <a:avLst/>
          </a:prstGeom>
          <a:noFill/>
        </p:spPr>
        <p:txBody>
          <a:bodyPr wrap="square" lIns="0" rIns="0" tIns="0" bIns="0" anchor="ctr">
            <a:spAutoFit/>
          </a:bodyPr>
          <a:lstStyle/>
          <a:p>
            <a:pPr algn="l"/>
            <a:r>
              <a:rPr sz="1200" b="1" i="0" spc="200">
                <a:solidFill>
                  <a:srgbClr val="18E979"/>
                </a:solidFill>
                <a:latin typeface="Verdana"/>
              </a:rPr>
              <a:t>Teil 4</a:t>
            </a:r>
          </a:p>
        </p:txBody>
      </p:sp>
      <p:sp>
        <p:nvSpPr>
          <p:cNvPr id="30" name="TextBox 29"/>
          <p:cNvSpPr txBox="1"/>
          <p:nvPr/>
        </p:nvSpPr>
        <p:spPr>
          <a:xfrm>
            <a:off x="9233154" y="2788920"/>
            <a:ext cx="2178558" cy="548640"/>
          </a:xfrm>
          <a:prstGeom prst="rect">
            <a:avLst/>
          </a:prstGeom>
          <a:noFill/>
        </p:spPr>
        <p:txBody>
          <a:bodyPr wrap="square" lIns="0" rIns="0" tIns="0" bIns="0" anchor="t">
            <a:spAutoFit/>
          </a:bodyPr>
          <a:lstStyle/>
          <a:p>
            <a:pPr algn="l"/>
            <a:r>
              <a:rPr sz="1467" b="1" i="0">
                <a:solidFill>
                  <a:srgbClr val="FFFFFF"/>
                </a:solidFill>
                <a:latin typeface="Verdana"/>
              </a:rPr>
              <a:t>Eure Use Cases</a:t>
            </a:r>
          </a:p>
        </p:txBody>
      </p:sp>
      <p:sp>
        <p:nvSpPr>
          <p:cNvPr id="31" name="TextBox 30"/>
          <p:cNvSpPr txBox="1"/>
          <p:nvPr/>
        </p:nvSpPr>
        <p:spPr>
          <a:xfrm>
            <a:off x="9233154" y="3383280"/>
            <a:ext cx="2178558" cy="914400"/>
          </a:xfrm>
          <a:prstGeom prst="rect">
            <a:avLst/>
          </a:prstGeom>
          <a:noFill/>
        </p:spPr>
        <p:txBody>
          <a:bodyPr wrap="square" lIns="0" rIns="0" tIns="0" bIns="0" anchor="t">
            <a:spAutoFit/>
          </a:bodyPr>
          <a:lstStyle/>
          <a:p>
            <a:pPr algn="l"/>
            <a:r>
              <a:rPr sz="1200" b="0" i="0">
                <a:solidFill>
                  <a:srgbClr val="9A9AAA"/>
                </a:solidFill>
                <a:latin typeface="Verdana"/>
              </a:rPr>
              <a:t>Mit allem, was ihr könnt, an einer eigenen Aufgabe bauen.</a:t>
            </a:r>
          </a:p>
        </p:txBody>
      </p:sp>
      <p:pic>
        <p:nvPicPr>
          <p:cNvPr id="32" name="Picture 31" descr="LuFootprints_m.png"/>
          <p:cNvPicPr>
            <a:picLocks noChangeAspect="1"/>
          </p:cNvPicPr>
          <p:nvPr/>
        </p:nvPicPr>
        <p:blipFill>
          <a:blip r:embed="rId7"/>
          <a:stretch>
            <a:fillRect/>
          </a:stretch>
        </p:blipFill>
        <p:spPr>
          <a:xfrm>
            <a:off x="548640" y="1920240"/>
            <a:ext cx="365760" cy="365760"/>
          </a:xfrm>
          <a:prstGeom prst="rect">
            <a:avLst/>
          </a:prstGeom>
        </p:spPr>
      </p:pic>
      <p:sp>
        <p:nvSpPr>
          <p:cNvPr id="33" name="TextBox 32"/>
          <p:cNvSpPr txBox="1"/>
          <p:nvPr/>
        </p:nvSpPr>
        <p:spPr>
          <a:xfrm>
            <a:off x="1051560" y="1874519"/>
            <a:ext cx="5486400" cy="457200"/>
          </a:xfrm>
          <a:prstGeom prst="rect">
            <a:avLst/>
          </a:prstGeom>
          <a:noFill/>
        </p:spPr>
        <p:txBody>
          <a:bodyPr wrap="square" lIns="0" rIns="0" tIns="0" bIns="0" anchor="ctr">
            <a:spAutoFit/>
          </a:bodyPr>
          <a:lstStyle/>
          <a:p>
            <a:pPr algn="l"/>
            <a:r>
              <a:rPr sz="1267" b="0" i="1">
                <a:solidFill>
                  <a:srgbClr val="9A9AAA"/>
                </a:solidFill>
                <a:latin typeface="Verdana"/>
              </a:rPr>
              <a:t>Jeder Teil: kurze Theorie, dann Aufträge in Langflow.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Stimmt das?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EINSTIEG</a:t>
            </a:r>
          </a:p>
        </p:txBody>
      </p:sp>
      <p:sp>
        <p:nvSpPr>
          <p:cNvPr id="4" name="Rectangle 3"/>
          <p:cNvSpPr/>
          <p:nvPr/>
        </p:nvSpPr>
        <p:spPr>
          <a:xfrm>
            <a:off x="548640" y="1783080"/>
            <a:ext cx="5431536" cy="141732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31536" cy="64008"/>
          </a:xfrm>
          <a:prstGeom prst="rect">
            <a:avLst/>
          </a:prstGeom>
          <a:solidFill>
            <a:srgbClr val="DC640D"/>
          </a:solidFill>
          <a:ln>
            <a:noFill/>
          </a:ln>
        </p:spPr>
        <p:txBody>
          <a:bodyPr rtlCol="0" anchor="ctr"/>
          <a:lstStyle/>
          <a:p>
            <a:pPr algn="ctr"/>
          </a:p>
        </p:txBody>
      </p:sp>
      <p:sp>
        <p:nvSpPr>
          <p:cNvPr id="6" name="TextBox 5"/>
          <p:cNvSpPr txBox="1"/>
          <p:nvPr/>
        </p:nvSpPr>
        <p:spPr>
          <a:xfrm>
            <a:off x="822959" y="2057400"/>
            <a:ext cx="731520" cy="822960"/>
          </a:xfrm>
          <a:prstGeom prst="rect">
            <a:avLst/>
          </a:prstGeom>
          <a:noFill/>
        </p:spPr>
        <p:txBody>
          <a:bodyPr wrap="square" lIns="0" rIns="0" tIns="0" bIns="0" anchor="ctr">
            <a:spAutoFit/>
          </a:bodyPr>
          <a:lstStyle/>
          <a:p>
            <a:pPr algn="l"/>
            <a:r>
              <a:rPr sz="3600" b="1" i="0">
                <a:solidFill>
                  <a:srgbClr val="DC640D"/>
                </a:solidFill>
                <a:latin typeface="Verdana"/>
              </a:rPr>
              <a:t>1</a:t>
            </a:r>
          </a:p>
        </p:txBody>
      </p:sp>
      <p:sp>
        <p:nvSpPr>
          <p:cNvPr id="7" name="TextBox 6"/>
          <p:cNvSpPr txBox="1"/>
          <p:nvPr/>
        </p:nvSpPr>
        <p:spPr>
          <a:xfrm>
            <a:off x="1645919" y="2011680"/>
            <a:ext cx="4059936" cy="1005840"/>
          </a:xfrm>
          <a:prstGeom prst="rect">
            <a:avLst/>
          </a:prstGeom>
          <a:noFill/>
        </p:spPr>
        <p:txBody>
          <a:bodyPr wrap="square" lIns="0" rIns="0" tIns="0" bIns="0" anchor="ctr">
            <a:spAutoFit/>
          </a:bodyPr>
          <a:lstStyle/>
          <a:p>
            <a:pPr algn="l"/>
            <a:r>
              <a:rPr sz="1500" b="0" i="1">
                <a:solidFill>
                  <a:srgbClr val="FFFFFF"/>
                </a:solidFill>
                <a:latin typeface="Verdana"/>
              </a:rPr>
              <a:t>„Ein Sprachmodell schlägt Fakten nach, bevor es antwortet.“</a:t>
            </a:r>
          </a:p>
        </p:txBody>
      </p:sp>
      <p:sp>
        <p:nvSpPr>
          <p:cNvPr id="8" name="Rectangle 7"/>
          <p:cNvSpPr/>
          <p:nvPr/>
        </p:nvSpPr>
        <p:spPr>
          <a:xfrm>
            <a:off x="6208776" y="1783080"/>
            <a:ext cx="5431536" cy="1417320"/>
          </a:xfrm>
          <a:prstGeom prst="rect">
            <a:avLst/>
          </a:prstGeom>
          <a:solidFill>
            <a:srgbClr val="24232E"/>
          </a:solidFill>
          <a:ln w="9525">
            <a:solidFill>
              <a:srgbClr val="3A3948"/>
            </a:solidFill>
          </a:ln>
        </p:spPr>
        <p:txBody>
          <a:bodyPr rtlCol="0" anchor="ctr"/>
          <a:lstStyle/>
          <a:p>
            <a:pPr algn="ctr"/>
          </a:p>
        </p:txBody>
      </p:sp>
      <p:sp>
        <p:nvSpPr>
          <p:cNvPr id="9" name="Rectangle 8"/>
          <p:cNvSpPr/>
          <p:nvPr/>
        </p:nvSpPr>
        <p:spPr>
          <a:xfrm>
            <a:off x="6208776" y="1783080"/>
            <a:ext cx="5431536" cy="64008"/>
          </a:xfrm>
          <a:prstGeom prst="rect">
            <a:avLst/>
          </a:prstGeom>
          <a:solidFill>
            <a:srgbClr val="DC640D"/>
          </a:solidFill>
          <a:ln>
            <a:noFill/>
          </a:ln>
        </p:spPr>
        <p:txBody>
          <a:bodyPr rtlCol="0" anchor="ctr"/>
          <a:lstStyle/>
          <a:p>
            <a:pPr algn="ctr"/>
          </a:p>
        </p:txBody>
      </p:sp>
      <p:sp>
        <p:nvSpPr>
          <p:cNvPr id="10" name="TextBox 9"/>
          <p:cNvSpPr txBox="1"/>
          <p:nvPr/>
        </p:nvSpPr>
        <p:spPr>
          <a:xfrm>
            <a:off x="6483096" y="2057400"/>
            <a:ext cx="731520" cy="822960"/>
          </a:xfrm>
          <a:prstGeom prst="rect">
            <a:avLst/>
          </a:prstGeom>
          <a:noFill/>
        </p:spPr>
        <p:txBody>
          <a:bodyPr wrap="square" lIns="0" rIns="0" tIns="0" bIns="0" anchor="ctr">
            <a:spAutoFit/>
          </a:bodyPr>
          <a:lstStyle/>
          <a:p>
            <a:pPr algn="l"/>
            <a:r>
              <a:rPr sz="3600" b="1" i="0">
                <a:solidFill>
                  <a:srgbClr val="DC640D"/>
                </a:solidFill>
                <a:latin typeface="Verdana"/>
              </a:rPr>
              <a:t>2</a:t>
            </a:r>
          </a:p>
        </p:txBody>
      </p:sp>
      <p:sp>
        <p:nvSpPr>
          <p:cNvPr id="11" name="TextBox 10"/>
          <p:cNvSpPr txBox="1"/>
          <p:nvPr/>
        </p:nvSpPr>
        <p:spPr>
          <a:xfrm>
            <a:off x="7306056" y="2011680"/>
            <a:ext cx="4059936" cy="1005840"/>
          </a:xfrm>
          <a:prstGeom prst="rect">
            <a:avLst/>
          </a:prstGeom>
          <a:noFill/>
        </p:spPr>
        <p:txBody>
          <a:bodyPr wrap="square" lIns="0" rIns="0" tIns="0" bIns="0" anchor="ctr">
            <a:spAutoFit/>
          </a:bodyPr>
          <a:lstStyle/>
          <a:p>
            <a:pPr algn="l"/>
            <a:r>
              <a:rPr sz="1500" b="0" i="1">
                <a:solidFill>
                  <a:srgbClr val="FFFFFF"/>
                </a:solidFill>
                <a:latin typeface="Verdana"/>
              </a:rPr>
              <a:t>„Für eigene KI-Werkzeuge muss man programmieren können.“</a:t>
            </a:r>
          </a:p>
        </p:txBody>
      </p:sp>
      <p:sp>
        <p:nvSpPr>
          <p:cNvPr id="12" name="Rectangle 11"/>
          <p:cNvSpPr/>
          <p:nvPr/>
        </p:nvSpPr>
        <p:spPr>
          <a:xfrm>
            <a:off x="548640" y="3383280"/>
            <a:ext cx="5431536" cy="1417320"/>
          </a:xfrm>
          <a:prstGeom prst="rect">
            <a:avLst/>
          </a:prstGeom>
          <a:solidFill>
            <a:srgbClr val="24232E"/>
          </a:solidFill>
          <a:ln w="9525">
            <a:solidFill>
              <a:srgbClr val="3A3948"/>
            </a:solidFill>
          </a:ln>
        </p:spPr>
        <p:txBody>
          <a:bodyPr rtlCol="0" anchor="ctr"/>
          <a:lstStyle/>
          <a:p>
            <a:pPr algn="ctr"/>
          </a:p>
        </p:txBody>
      </p:sp>
      <p:sp>
        <p:nvSpPr>
          <p:cNvPr id="13" name="Rectangle 12"/>
          <p:cNvSpPr/>
          <p:nvPr/>
        </p:nvSpPr>
        <p:spPr>
          <a:xfrm>
            <a:off x="548640" y="3383280"/>
            <a:ext cx="5431536" cy="64008"/>
          </a:xfrm>
          <a:prstGeom prst="rect">
            <a:avLst/>
          </a:prstGeom>
          <a:solidFill>
            <a:srgbClr val="DC640D"/>
          </a:solidFill>
          <a:ln>
            <a:noFill/>
          </a:ln>
        </p:spPr>
        <p:txBody>
          <a:bodyPr rtlCol="0" anchor="ctr"/>
          <a:lstStyle/>
          <a:p>
            <a:pPr algn="ctr"/>
          </a:p>
        </p:txBody>
      </p:sp>
      <p:sp>
        <p:nvSpPr>
          <p:cNvPr id="14" name="TextBox 13"/>
          <p:cNvSpPr txBox="1"/>
          <p:nvPr/>
        </p:nvSpPr>
        <p:spPr>
          <a:xfrm>
            <a:off x="822959" y="3657600"/>
            <a:ext cx="731520" cy="822960"/>
          </a:xfrm>
          <a:prstGeom prst="rect">
            <a:avLst/>
          </a:prstGeom>
          <a:noFill/>
        </p:spPr>
        <p:txBody>
          <a:bodyPr wrap="square" lIns="0" rIns="0" tIns="0" bIns="0" anchor="ctr">
            <a:spAutoFit/>
          </a:bodyPr>
          <a:lstStyle/>
          <a:p>
            <a:pPr algn="l"/>
            <a:r>
              <a:rPr sz="3600" b="1" i="0">
                <a:solidFill>
                  <a:srgbClr val="DC640D"/>
                </a:solidFill>
                <a:latin typeface="Verdana"/>
              </a:rPr>
              <a:t>3</a:t>
            </a:r>
          </a:p>
        </p:txBody>
      </p:sp>
      <p:sp>
        <p:nvSpPr>
          <p:cNvPr id="15" name="TextBox 14"/>
          <p:cNvSpPr txBox="1"/>
          <p:nvPr/>
        </p:nvSpPr>
        <p:spPr>
          <a:xfrm>
            <a:off x="1645919" y="3611880"/>
            <a:ext cx="4059936" cy="1005840"/>
          </a:xfrm>
          <a:prstGeom prst="rect">
            <a:avLst/>
          </a:prstGeom>
          <a:noFill/>
        </p:spPr>
        <p:txBody>
          <a:bodyPr wrap="square" lIns="0" rIns="0" tIns="0" bIns="0" anchor="ctr">
            <a:spAutoFit/>
          </a:bodyPr>
          <a:lstStyle/>
          <a:p>
            <a:pPr algn="l"/>
            <a:r>
              <a:rPr sz="1500" b="0" i="1">
                <a:solidFill>
                  <a:srgbClr val="FFFFFF"/>
                </a:solidFill>
                <a:latin typeface="Verdana"/>
              </a:rPr>
              <a:t>„Ein Agent ist ein Chatbot mit mehr Rechenleistung.“</a:t>
            </a:r>
          </a:p>
        </p:txBody>
      </p:sp>
      <p:sp>
        <p:nvSpPr>
          <p:cNvPr id="16" name="Rectangle 15"/>
          <p:cNvSpPr/>
          <p:nvPr/>
        </p:nvSpPr>
        <p:spPr>
          <a:xfrm>
            <a:off x="6208776" y="3383280"/>
            <a:ext cx="5431536" cy="1417320"/>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6208776" y="3383280"/>
            <a:ext cx="5431536" cy="64008"/>
          </a:xfrm>
          <a:prstGeom prst="rect">
            <a:avLst/>
          </a:prstGeom>
          <a:solidFill>
            <a:srgbClr val="DC640D"/>
          </a:solidFill>
          <a:ln>
            <a:noFill/>
          </a:ln>
        </p:spPr>
        <p:txBody>
          <a:bodyPr rtlCol="0" anchor="ctr"/>
          <a:lstStyle/>
          <a:p>
            <a:pPr algn="ctr"/>
          </a:p>
        </p:txBody>
      </p:sp>
      <p:sp>
        <p:nvSpPr>
          <p:cNvPr id="18" name="TextBox 17"/>
          <p:cNvSpPr txBox="1"/>
          <p:nvPr/>
        </p:nvSpPr>
        <p:spPr>
          <a:xfrm>
            <a:off x="6483096" y="3657600"/>
            <a:ext cx="731520" cy="822960"/>
          </a:xfrm>
          <a:prstGeom prst="rect">
            <a:avLst/>
          </a:prstGeom>
          <a:noFill/>
        </p:spPr>
        <p:txBody>
          <a:bodyPr wrap="square" lIns="0" rIns="0" tIns="0" bIns="0" anchor="ctr">
            <a:spAutoFit/>
          </a:bodyPr>
          <a:lstStyle/>
          <a:p>
            <a:pPr algn="l"/>
            <a:r>
              <a:rPr sz="3600" b="1" i="0">
                <a:solidFill>
                  <a:srgbClr val="DC640D"/>
                </a:solidFill>
                <a:latin typeface="Verdana"/>
              </a:rPr>
              <a:t>4</a:t>
            </a:r>
          </a:p>
        </p:txBody>
      </p:sp>
      <p:sp>
        <p:nvSpPr>
          <p:cNvPr id="19" name="TextBox 18"/>
          <p:cNvSpPr txBox="1"/>
          <p:nvPr/>
        </p:nvSpPr>
        <p:spPr>
          <a:xfrm>
            <a:off x="7306056" y="3611880"/>
            <a:ext cx="4059936" cy="1005840"/>
          </a:xfrm>
          <a:prstGeom prst="rect">
            <a:avLst/>
          </a:prstGeom>
          <a:noFill/>
        </p:spPr>
        <p:txBody>
          <a:bodyPr wrap="square" lIns="0" rIns="0" tIns="0" bIns="0" anchor="ctr">
            <a:spAutoFit/>
          </a:bodyPr>
          <a:lstStyle/>
          <a:p>
            <a:pPr algn="l"/>
            <a:r>
              <a:rPr sz="1500" b="0" i="1">
                <a:solidFill>
                  <a:srgbClr val="FFFFFF"/>
                </a:solidFill>
                <a:latin typeface="Verdana"/>
              </a:rPr>
              <a:t>„Je mehr die KI selbst entscheidet, desto besser.“</a:t>
            </a:r>
          </a:p>
        </p:txBody>
      </p:sp>
      <p:sp>
        <p:nvSpPr>
          <p:cNvPr id="20" name="Rectangle 19"/>
          <p:cNvSpPr/>
          <p:nvPr/>
        </p:nvSpPr>
        <p:spPr>
          <a:xfrm>
            <a:off x="548640" y="5074920"/>
            <a:ext cx="11091672" cy="731520"/>
          </a:xfrm>
          <a:prstGeom prst="rect">
            <a:avLst/>
          </a:prstGeom>
          <a:noFill/>
          <a:ln w="12700">
            <a:solidFill>
              <a:srgbClr val="DC640D"/>
            </a:solidFill>
          </a:ln>
        </p:spPr>
        <p:txBody>
          <a:bodyPr rtlCol="0" anchor="ctr"/>
          <a:lstStyle/>
          <a:p>
            <a:pPr algn="ctr"/>
          </a:p>
        </p:txBody>
      </p:sp>
      <p:pic>
        <p:nvPicPr>
          <p:cNvPr id="21" name="Picture 20" descr="LuHand_o.png"/>
          <p:cNvPicPr>
            <a:picLocks noChangeAspect="1"/>
          </p:cNvPicPr>
          <p:nvPr/>
        </p:nvPicPr>
        <p:blipFill>
          <a:blip r:embed="rId3"/>
          <a:stretch>
            <a:fillRect/>
          </a:stretch>
        </p:blipFill>
        <p:spPr>
          <a:xfrm>
            <a:off x="777240" y="5230368"/>
            <a:ext cx="411480" cy="411480"/>
          </a:xfrm>
          <a:prstGeom prst="rect">
            <a:avLst/>
          </a:prstGeom>
        </p:spPr>
      </p:pic>
      <p:sp>
        <p:nvSpPr>
          <p:cNvPr id="22" name="TextBox 21"/>
          <p:cNvSpPr txBox="1"/>
          <p:nvPr/>
        </p:nvSpPr>
        <p:spPr>
          <a:xfrm>
            <a:off x="1371600" y="5074920"/>
            <a:ext cx="10085832" cy="731520"/>
          </a:xfrm>
          <a:prstGeom prst="rect">
            <a:avLst/>
          </a:prstGeom>
          <a:noFill/>
        </p:spPr>
        <p:txBody>
          <a:bodyPr wrap="square" lIns="0" rIns="0" tIns="0" bIns="0" anchor="ctr">
            <a:spAutoFit/>
          </a:bodyPr>
          <a:lstStyle/>
          <a:p>
            <a:pPr algn="l"/>
            <a:r>
              <a:rPr sz="1333" b="1" i="0">
                <a:solidFill>
                  <a:srgbClr val="FFFFFF"/>
                </a:solidFill>
                <a:latin typeface="Verdana"/>
              </a:rPr>
              <a:t>Hand hoch, wer zustimmt. </a:t>
            </a:r>
            <a:r>
              <a:rPr sz="1333" b="0" i="0">
                <a:solidFill>
                  <a:srgbClr val="9A9AAA"/>
                </a:solidFill>
                <a:latin typeface="Verdana"/>
              </a:rPr>
              <a:t>Wir merken uns das Ergebnis und schauen heute Nachmittag noch einmal drauf.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600200"/>
            <a:ext cx="8503920" cy="1737360"/>
          </a:xfrm>
        </p:spPr>
        <p:txBody>
          <a:bodyPr wrap="square" anchor="b" lIns="0" rIns="0" tIns="0" bIns="0"/>
          <a:lstStyle/>
          <a:p>
            <a:pPr algn="l"/>
            <a:r>
              <a:rPr sz="4533" b="1" i="0">
                <a:solidFill>
                  <a:srgbClr val="FFFFFF"/>
                </a:solidFill>
                <a:latin typeface="Verdana"/>
              </a:rPr>
              <a:t>Teil 1:</a:t>
            </a:r>
          </a:p>
          <a:p>
            <a:pPr algn="l"/>
            <a:r>
              <a:rPr sz="4533" b="1" i="0">
                <a:solidFill>
                  <a:srgbClr val="DC640D"/>
                </a:solidFill>
                <a:latin typeface="Verdana"/>
              </a:rPr>
              <a:t>LLM-Workflows.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a:t>
            </a:r>
          </a:p>
        </p:txBody>
      </p:sp>
      <p:cxnSp>
        <p:nvCxnSpPr>
          <p:cNvPr id="4" name="Connector 3"/>
          <p:cNvCxnSpPr/>
          <p:nvPr/>
        </p:nvCxnSpPr>
        <p:spPr>
          <a:xfrm>
            <a:off x="548640" y="3611880"/>
            <a:ext cx="1709928" cy="0"/>
          </a:xfrm>
          <a:prstGeom prst="line">
            <a:avLst/>
          </a:prstGeom>
          <a:ln w="57150">
            <a:solidFill>
              <a:srgbClr val="DC640D"/>
            </a:solidFill>
          </a:ln>
        </p:spPr>
      </p:cxnSp>
      <p:sp>
        <p:nvSpPr>
          <p:cNvPr id="5" name="TextBox 4"/>
          <p:cNvSpPr txBox="1"/>
          <p:nvPr/>
        </p:nvSpPr>
        <p:spPr>
          <a:xfrm>
            <a:off x="548640" y="3886200"/>
            <a:ext cx="8046720" cy="1097280"/>
          </a:xfrm>
          <a:prstGeom prst="rect">
            <a:avLst/>
          </a:prstGeom>
          <a:noFill/>
        </p:spPr>
        <p:txBody>
          <a:bodyPr wrap="square" lIns="0" rIns="0" tIns="0" bIns="0" anchor="t">
            <a:spAutoFit/>
          </a:bodyPr>
          <a:lstStyle/>
          <a:p>
            <a:pPr algn="l"/>
            <a:r>
              <a:rPr sz="1732" b="0" i="1">
                <a:solidFill>
                  <a:srgbClr val="9A9AAA"/>
                </a:solidFill>
                <a:latin typeface="Verdana"/>
              </a:rPr>
              <a:t>Was ein Sprachmodell tut, wie man es anspricht und wie daraus ein fester Ablauf wird.</a:t>
            </a:r>
          </a:p>
        </p:txBody>
      </p:sp>
      <p:sp>
        <p:nvSpPr>
          <p:cNvPr id="6" name="Oval 5"/>
          <p:cNvSpPr/>
          <p:nvPr/>
        </p:nvSpPr>
        <p:spPr>
          <a:xfrm>
            <a:off x="9326880" y="1828800"/>
            <a:ext cx="2011680" cy="2011680"/>
          </a:xfrm>
          <a:prstGeom prst="ellipse">
            <a:avLst/>
          </a:prstGeom>
          <a:solidFill>
            <a:srgbClr val="24232E"/>
          </a:solidFill>
          <a:ln w="19050">
            <a:solidFill>
              <a:srgbClr val="DC640D"/>
            </a:solidFill>
          </a:ln>
        </p:spPr>
        <p:txBody>
          <a:bodyPr rtlCol="0" anchor="ctr"/>
          <a:lstStyle/>
          <a:p>
            <a:pPr algn="ctr"/>
          </a:p>
        </p:txBody>
      </p:sp>
      <p:pic>
        <p:nvPicPr>
          <p:cNvPr id="7" name="Picture 6" descr="LuWorkflow_o.png"/>
          <p:cNvPicPr>
            <a:picLocks noChangeAspect="1"/>
          </p:cNvPicPr>
          <p:nvPr/>
        </p:nvPicPr>
        <p:blipFill>
          <a:blip r:embed="rId2"/>
          <a:stretch>
            <a:fillRect/>
          </a:stretch>
        </p:blipFill>
        <p:spPr>
          <a:xfrm>
            <a:off x="9829800" y="2331720"/>
            <a:ext cx="1005840" cy="10058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Ein Sprachmodell rät weiter.</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SPRACHMODELLE</a:t>
            </a:r>
          </a:p>
        </p:txBody>
      </p:sp>
      <p:sp>
        <p:nvSpPr>
          <p:cNvPr id="4" name="TextBox 3"/>
          <p:cNvSpPr txBox="1"/>
          <p:nvPr/>
        </p:nvSpPr>
        <p:spPr>
          <a:xfrm>
            <a:off x="548640" y="1783080"/>
            <a:ext cx="4937760" cy="1188720"/>
          </a:xfrm>
          <a:prstGeom prst="rect">
            <a:avLst/>
          </a:prstGeom>
          <a:noFill/>
        </p:spPr>
        <p:txBody>
          <a:bodyPr wrap="square" lIns="0" rIns="0" tIns="0" bIns="0" anchor="t">
            <a:spAutoFit/>
          </a:bodyPr>
          <a:lstStyle/>
          <a:p>
            <a:pPr algn="l"/>
            <a:r>
              <a:rPr sz="1400" b="1" i="0">
                <a:solidFill>
                  <a:srgbClr val="FFFFFF"/>
                </a:solidFill>
                <a:latin typeface="Verdana"/>
              </a:rPr>
              <a:t>Ein Sprachmodell setzt Text fort. </a:t>
            </a:r>
            <a:r>
              <a:rPr sz="1400" b="0" i="0">
                <a:solidFill>
                  <a:srgbClr val="9A9AAA"/>
                </a:solidFill>
                <a:latin typeface="Verdana"/>
              </a:rPr>
              <a:t>Für jedes nächste Wortstück (Token) berechnet es, wie wahrscheinlich es ist. Gelernt hat es das aus riesigen Textmengen.</a:t>
            </a:r>
          </a:p>
        </p:txBody>
      </p:sp>
      <p:sp>
        <p:nvSpPr>
          <p:cNvPr id="5" name="TextBox 4"/>
          <p:cNvSpPr txBox="1"/>
          <p:nvPr/>
        </p:nvSpPr>
        <p:spPr>
          <a:xfrm>
            <a:off x="548640" y="3154680"/>
            <a:ext cx="4937760" cy="1005840"/>
          </a:xfrm>
          <a:prstGeom prst="rect">
            <a:avLst/>
          </a:prstGeom>
          <a:noFill/>
        </p:spPr>
        <p:txBody>
          <a:bodyPr wrap="square" lIns="0" rIns="0" tIns="0" bIns="0" anchor="t">
            <a:spAutoFit/>
          </a:bodyPr>
          <a:lstStyle/>
          <a:p>
            <a:pPr algn="l"/>
            <a:r>
              <a:rPr sz="1400" b="1" i="0">
                <a:solidFill>
                  <a:srgbClr val="FFFFFF"/>
                </a:solidFill>
                <a:latin typeface="Verdana"/>
              </a:rPr>
              <a:t>Es schlägt nichts nach. </a:t>
            </a:r>
            <a:r>
              <a:rPr sz="1400" b="0" i="0">
                <a:solidFill>
                  <a:srgbClr val="9A9AAA"/>
                </a:solidFill>
                <a:latin typeface="Verdana"/>
              </a:rPr>
              <a:t>Was plausibel klingt, muss nicht stimmen. Erfundene Antworten heißen Halluzinationen.</a:t>
            </a:r>
          </a:p>
        </p:txBody>
      </p:sp>
      <p:sp>
        <p:nvSpPr>
          <p:cNvPr id="6" name="Rectangle 5"/>
          <p:cNvSpPr/>
          <p:nvPr/>
        </p:nvSpPr>
        <p:spPr>
          <a:xfrm>
            <a:off x="548640" y="4434840"/>
            <a:ext cx="4937760" cy="1371600"/>
          </a:xfrm>
          <a:prstGeom prst="rect">
            <a:avLst/>
          </a:prstGeom>
          <a:noFill/>
          <a:ln w="12700">
            <a:solidFill>
              <a:srgbClr val="DC640D"/>
            </a:solidFill>
          </a:ln>
        </p:spPr>
        <p:txBody>
          <a:bodyPr rtlCol="0" anchor="ctr"/>
          <a:lstStyle/>
          <a:p>
            <a:pPr algn="ctr"/>
          </a:p>
        </p:txBody>
      </p:sp>
      <p:pic>
        <p:nvPicPr>
          <p:cNvPr id="7" name="Picture 6" descr="LuLightbulb_o.png"/>
          <p:cNvPicPr>
            <a:picLocks noChangeAspect="1"/>
          </p:cNvPicPr>
          <p:nvPr/>
        </p:nvPicPr>
        <p:blipFill>
          <a:blip r:embed="rId3"/>
          <a:stretch>
            <a:fillRect/>
          </a:stretch>
        </p:blipFill>
        <p:spPr>
          <a:xfrm>
            <a:off x="777240" y="4617720"/>
            <a:ext cx="411480" cy="411480"/>
          </a:xfrm>
          <a:prstGeom prst="rect">
            <a:avLst/>
          </a:prstGeom>
        </p:spPr>
      </p:pic>
      <p:sp>
        <p:nvSpPr>
          <p:cNvPr id="8" name="TextBox 7"/>
          <p:cNvSpPr txBox="1"/>
          <p:nvPr/>
        </p:nvSpPr>
        <p:spPr>
          <a:xfrm>
            <a:off x="1371600" y="4526280"/>
            <a:ext cx="3931920" cy="1188720"/>
          </a:xfrm>
          <a:prstGeom prst="rect">
            <a:avLst/>
          </a:prstGeom>
          <a:noFill/>
        </p:spPr>
        <p:txBody>
          <a:bodyPr wrap="square" lIns="0" rIns="0" tIns="0" bIns="0" anchor="ctr">
            <a:spAutoFit/>
          </a:bodyPr>
          <a:lstStyle/>
          <a:p>
            <a:pPr algn="l"/>
            <a:r>
              <a:rPr sz="1333" b="0" i="0">
                <a:solidFill>
                  <a:srgbClr val="FFFFFF"/>
                </a:solidFill>
                <a:latin typeface="Verdana"/>
              </a:rPr>
              <a:t>Darum geben wir dem Modell in Workflows die Fakten mit: aus Katalog, Datenbank oder Dokument.</a:t>
            </a:r>
          </a:p>
        </p:txBody>
      </p:sp>
      <p:sp>
        <p:nvSpPr>
          <p:cNvPr id="9" name="Rectangle 8"/>
          <p:cNvSpPr/>
          <p:nvPr/>
        </p:nvSpPr>
        <p:spPr>
          <a:xfrm>
            <a:off x="5943600" y="1783080"/>
            <a:ext cx="5696712" cy="4023360"/>
          </a:xfrm>
          <a:prstGeom prst="rect">
            <a:avLst/>
          </a:prstGeom>
          <a:solidFill>
            <a:srgbClr val="24232E"/>
          </a:solidFill>
          <a:ln w="9525">
            <a:solidFill>
              <a:srgbClr val="3A3948"/>
            </a:solidFill>
          </a:ln>
        </p:spPr>
        <p:txBody>
          <a:bodyPr rtlCol="0" anchor="ctr"/>
          <a:lstStyle/>
          <a:p>
            <a:pPr algn="ctr"/>
          </a:p>
        </p:txBody>
      </p:sp>
      <p:sp>
        <p:nvSpPr>
          <p:cNvPr id="10" name="TextBox 9"/>
          <p:cNvSpPr txBox="1"/>
          <p:nvPr/>
        </p:nvSpPr>
        <p:spPr>
          <a:xfrm>
            <a:off x="6263640" y="2057400"/>
            <a:ext cx="5056632" cy="274320"/>
          </a:xfrm>
          <a:prstGeom prst="rect">
            <a:avLst/>
          </a:prstGeom>
          <a:noFill/>
        </p:spPr>
        <p:txBody>
          <a:bodyPr wrap="square" lIns="0" rIns="0" tIns="0" bIns="0" anchor="t">
            <a:spAutoFit/>
          </a:bodyPr>
          <a:lstStyle/>
          <a:p>
            <a:pPr algn="l"/>
            <a:r>
              <a:rPr sz="933" b="1" i="0" spc="300">
                <a:solidFill>
                  <a:srgbClr val="F6A800"/>
                </a:solidFill>
                <a:latin typeface="Verdana"/>
              </a:rPr>
              <a:t>EINGABE</a:t>
            </a:r>
          </a:p>
        </p:txBody>
      </p:sp>
      <p:sp>
        <p:nvSpPr>
          <p:cNvPr id="11" name="TextBox 10"/>
          <p:cNvSpPr txBox="1"/>
          <p:nvPr/>
        </p:nvSpPr>
        <p:spPr>
          <a:xfrm>
            <a:off x="6263640" y="2331720"/>
            <a:ext cx="5056632" cy="457200"/>
          </a:xfrm>
          <a:prstGeom prst="rect">
            <a:avLst/>
          </a:prstGeom>
          <a:noFill/>
        </p:spPr>
        <p:txBody>
          <a:bodyPr wrap="square" lIns="0" rIns="0" tIns="0" bIns="0" anchor="t">
            <a:spAutoFit/>
          </a:bodyPr>
          <a:lstStyle/>
          <a:p>
            <a:pPr algn="l"/>
            <a:r>
              <a:rPr sz="1500" b="0" i="1">
                <a:solidFill>
                  <a:srgbClr val="FFFFFF"/>
                </a:solidFill>
                <a:latin typeface="Verdana"/>
              </a:rPr>
              <a:t>„Die Universitätsbibliothek öffnet morgen um …“</a:t>
            </a:r>
          </a:p>
        </p:txBody>
      </p:sp>
      <p:sp>
        <p:nvSpPr>
          <p:cNvPr id="12" name="TextBox 11"/>
          <p:cNvSpPr txBox="1"/>
          <p:nvPr/>
        </p:nvSpPr>
        <p:spPr>
          <a:xfrm>
            <a:off x="6263640" y="3017520"/>
            <a:ext cx="5056632" cy="274320"/>
          </a:xfrm>
          <a:prstGeom prst="rect">
            <a:avLst/>
          </a:prstGeom>
          <a:noFill/>
        </p:spPr>
        <p:txBody>
          <a:bodyPr wrap="square" lIns="0" rIns="0" tIns="0" bIns="0" anchor="t">
            <a:spAutoFit/>
          </a:bodyPr>
          <a:lstStyle/>
          <a:p>
            <a:pPr algn="l"/>
            <a:r>
              <a:rPr sz="933" b="1" i="0" spc="300">
                <a:solidFill>
                  <a:srgbClr val="F6A800"/>
                </a:solidFill>
                <a:latin typeface="Verdana"/>
              </a:rPr>
              <a:t>WAHRSCHEINLICHSTE FORTSETZUNGEN</a:t>
            </a:r>
          </a:p>
        </p:txBody>
      </p:sp>
      <p:sp>
        <p:nvSpPr>
          <p:cNvPr id="13" name="TextBox 12"/>
          <p:cNvSpPr txBox="1"/>
          <p:nvPr/>
        </p:nvSpPr>
        <p:spPr>
          <a:xfrm>
            <a:off x="6263640" y="3383280"/>
            <a:ext cx="777240" cy="329184"/>
          </a:xfrm>
          <a:prstGeom prst="rect">
            <a:avLst/>
          </a:prstGeom>
          <a:noFill/>
        </p:spPr>
        <p:txBody>
          <a:bodyPr wrap="square" lIns="0" rIns="0" tIns="0" bIns="0" anchor="ctr">
            <a:spAutoFit/>
          </a:bodyPr>
          <a:lstStyle/>
          <a:p>
            <a:pPr algn="r"/>
            <a:r>
              <a:rPr sz="1333" b="1" i="0">
                <a:solidFill>
                  <a:srgbClr val="FFFFFF"/>
                </a:solidFill>
                <a:latin typeface="Verdana"/>
              </a:rPr>
              <a:t>9</a:t>
            </a:r>
          </a:p>
        </p:txBody>
      </p:sp>
      <p:sp>
        <p:nvSpPr>
          <p:cNvPr id="14" name="Rectangle 13"/>
          <p:cNvSpPr/>
          <p:nvPr/>
        </p:nvSpPr>
        <p:spPr>
          <a:xfrm>
            <a:off x="7132320" y="3419856"/>
            <a:ext cx="3319272" cy="256032"/>
          </a:xfrm>
          <a:prstGeom prst="rect">
            <a:avLst/>
          </a:prstGeom>
          <a:solidFill>
            <a:srgbClr val="DC640D"/>
          </a:solidFill>
          <a:ln>
            <a:noFill/>
          </a:ln>
        </p:spPr>
        <p:txBody>
          <a:bodyPr rtlCol="0" anchor="ctr"/>
          <a:lstStyle/>
          <a:p>
            <a:pPr algn="ctr"/>
          </a:p>
        </p:txBody>
      </p:sp>
      <p:sp>
        <p:nvSpPr>
          <p:cNvPr id="15" name="TextBox 14"/>
          <p:cNvSpPr txBox="1"/>
          <p:nvPr/>
        </p:nvSpPr>
        <p:spPr>
          <a:xfrm>
            <a:off x="10561319" y="3383280"/>
            <a:ext cx="822960" cy="329184"/>
          </a:xfrm>
          <a:prstGeom prst="rect">
            <a:avLst/>
          </a:prstGeom>
          <a:noFill/>
        </p:spPr>
        <p:txBody>
          <a:bodyPr wrap="square" lIns="0" rIns="0" tIns="0" bIns="0" anchor="ctr">
            <a:spAutoFit/>
          </a:bodyPr>
          <a:lstStyle/>
          <a:p>
            <a:pPr algn="l"/>
            <a:r>
              <a:rPr sz="1200" b="0" i="0">
                <a:solidFill>
                  <a:srgbClr val="9A9AAA"/>
                </a:solidFill>
                <a:latin typeface="Verdana"/>
              </a:rPr>
              <a:t>46 %</a:t>
            </a:r>
          </a:p>
        </p:txBody>
      </p:sp>
      <p:sp>
        <p:nvSpPr>
          <p:cNvPr id="16" name="TextBox 15"/>
          <p:cNvSpPr txBox="1"/>
          <p:nvPr/>
        </p:nvSpPr>
        <p:spPr>
          <a:xfrm>
            <a:off x="6263640" y="3813048"/>
            <a:ext cx="777240" cy="329184"/>
          </a:xfrm>
          <a:prstGeom prst="rect">
            <a:avLst/>
          </a:prstGeom>
          <a:noFill/>
        </p:spPr>
        <p:txBody>
          <a:bodyPr wrap="square" lIns="0" rIns="0" tIns="0" bIns="0" anchor="ctr">
            <a:spAutoFit/>
          </a:bodyPr>
          <a:lstStyle/>
          <a:p>
            <a:pPr algn="r"/>
            <a:r>
              <a:rPr sz="1333" b="1" i="0">
                <a:solidFill>
                  <a:srgbClr val="FFFFFF"/>
                </a:solidFill>
                <a:latin typeface="Verdana"/>
              </a:rPr>
              <a:t>8</a:t>
            </a:r>
          </a:p>
        </p:txBody>
      </p:sp>
      <p:sp>
        <p:nvSpPr>
          <p:cNvPr id="17" name="Rectangle 16"/>
          <p:cNvSpPr/>
          <p:nvPr/>
        </p:nvSpPr>
        <p:spPr>
          <a:xfrm>
            <a:off x="7132320" y="3849624"/>
            <a:ext cx="2236900" cy="256032"/>
          </a:xfrm>
          <a:prstGeom prst="rect">
            <a:avLst/>
          </a:prstGeom>
          <a:solidFill>
            <a:srgbClr val="3A3948"/>
          </a:solidFill>
          <a:ln>
            <a:noFill/>
          </a:ln>
        </p:spPr>
        <p:txBody>
          <a:bodyPr rtlCol="0" anchor="ctr"/>
          <a:lstStyle/>
          <a:p>
            <a:pPr algn="ctr"/>
          </a:p>
        </p:txBody>
      </p:sp>
      <p:sp>
        <p:nvSpPr>
          <p:cNvPr id="18" name="TextBox 17"/>
          <p:cNvSpPr txBox="1"/>
          <p:nvPr/>
        </p:nvSpPr>
        <p:spPr>
          <a:xfrm>
            <a:off x="9478948" y="3813048"/>
            <a:ext cx="822960" cy="329184"/>
          </a:xfrm>
          <a:prstGeom prst="rect">
            <a:avLst/>
          </a:prstGeom>
          <a:noFill/>
        </p:spPr>
        <p:txBody>
          <a:bodyPr wrap="square" lIns="0" rIns="0" tIns="0" bIns="0" anchor="ctr">
            <a:spAutoFit/>
          </a:bodyPr>
          <a:lstStyle/>
          <a:p>
            <a:pPr algn="l"/>
            <a:r>
              <a:rPr sz="1200" b="0" i="0">
                <a:solidFill>
                  <a:srgbClr val="9A9AAA"/>
                </a:solidFill>
                <a:latin typeface="Verdana"/>
              </a:rPr>
              <a:t>31 %</a:t>
            </a:r>
          </a:p>
        </p:txBody>
      </p:sp>
      <p:sp>
        <p:nvSpPr>
          <p:cNvPr id="19" name="TextBox 18"/>
          <p:cNvSpPr txBox="1"/>
          <p:nvPr/>
        </p:nvSpPr>
        <p:spPr>
          <a:xfrm>
            <a:off x="6263640" y="4242816"/>
            <a:ext cx="777240" cy="329184"/>
          </a:xfrm>
          <a:prstGeom prst="rect">
            <a:avLst/>
          </a:prstGeom>
          <a:noFill/>
        </p:spPr>
        <p:txBody>
          <a:bodyPr wrap="square" lIns="0" rIns="0" tIns="0" bIns="0" anchor="ctr">
            <a:spAutoFit/>
          </a:bodyPr>
          <a:lstStyle/>
          <a:p>
            <a:pPr algn="r"/>
            <a:r>
              <a:rPr sz="1333" b="1" i="0">
                <a:solidFill>
                  <a:srgbClr val="FFFFFF"/>
                </a:solidFill>
                <a:latin typeface="Verdana"/>
              </a:rPr>
              <a:t>10</a:t>
            </a:r>
          </a:p>
        </p:txBody>
      </p:sp>
      <p:sp>
        <p:nvSpPr>
          <p:cNvPr id="20" name="Rectangle 19"/>
          <p:cNvSpPr/>
          <p:nvPr/>
        </p:nvSpPr>
        <p:spPr>
          <a:xfrm>
            <a:off x="7132320" y="4279392"/>
            <a:ext cx="1010213" cy="256032"/>
          </a:xfrm>
          <a:prstGeom prst="rect">
            <a:avLst/>
          </a:prstGeom>
          <a:solidFill>
            <a:srgbClr val="3A3948"/>
          </a:solidFill>
          <a:ln>
            <a:noFill/>
          </a:ln>
        </p:spPr>
        <p:txBody>
          <a:bodyPr rtlCol="0" anchor="ctr"/>
          <a:lstStyle/>
          <a:p>
            <a:pPr algn="ctr"/>
          </a:p>
        </p:txBody>
      </p:sp>
      <p:sp>
        <p:nvSpPr>
          <p:cNvPr id="21" name="TextBox 20"/>
          <p:cNvSpPr txBox="1"/>
          <p:nvPr/>
        </p:nvSpPr>
        <p:spPr>
          <a:xfrm>
            <a:off x="8252261" y="4242816"/>
            <a:ext cx="822960" cy="329184"/>
          </a:xfrm>
          <a:prstGeom prst="rect">
            <a:avLst/>
          </a:prstGeom>
          <a:noFill/>
        </p:spPr>
        <p:txBody>
          <a:bodyPr wrap="square" lIns="0" rIns="0" tIns="0" bIns="0" anchor="ctr">
            <a:spAutoFit/>
          </a:bodyPr>
          <a:lstStyle/>
          <a:p>
            <a:pPr algn="l"/>
            <a:r>
              <a:rPr sz="1200" b="0" i="0">
                <a:solidFill>
                  <a:srgbClr val="9A9AAA"/>
                </a:solidFill>
                <a:latin typeface="Verdana"/>
              </a:rPr>
              <a:t>14 %</a:t>
            </a:r>
          </a:p>
        </p:txBody>
      </p:sp>
      <p:sp>
        <p:nvSpPr>
          <p:cNvPr id="22" name="TextBox 21"/>
          <p:cNvSpPr txBox="1"/>
          <p:nvPr/>
        </p:nvSpPr>
        <p:spPr>
          <a:xfrm>
            <a:off x="6263640" y="4672584"/>
            <a:ext cx="777240" cy="329184"/>
          </a:xfrm>
          <a:prstGeom prst="rect">
            <a:avLst/>
          </a:prstGeom>
          <a:noFill/>
        </p:spPr>
        <p:txBody>
          <a:bodyPr wrap="square" lIns="0" rIns="0" tIns="0" bIns="0" anchor="ctr">
            <a:spAutoFit/>
          </a:bodyPr>
          <a:lstStyle/>
          <a:p>
            <a:pPr algn="r"/>
            <a:r>
              <a:rPr sz="1333" b="1" i="0">
                <a:solidFill>
                  <a:srgbClr val="FFFFFF"/>
                </a:solidFill>
                <a:latin typeface="Verdana"/>
              </a:rPr>
              <a:t>halb</a:t>
            </a:r>
          </a:p>
        </p:txBody>
      </p:sp>
      <p:sp>
        <p:nvSpPr>
          <p:cNvPr id="23" name="Rectangle 22"/>
          <p:cNvSpPr/>
          <p:nvPr/>
        </p:nvSpPr>
        <p:spPr>
          <a:xfrm>
            <a:off x="7132320" y="4709160"/>
            <a:ext cx="432948" cy="256032"/>
          </a:xfrm>
          <a:prstGeom prst="rect">
            <a:avLst/>
          </a:prstGeom>
          <a:solidFill>
            <a:srgbClr val="3A3948"/>
          </a:solidFill>
          <a:ln>
            <a:noFill/>
          </a:ln>
        </p:spPr>
        <p:txBody>
          <a:bodyPr rtlCol="0" anchor="ctr"/>
          <a:lstStyle/>
          <a:p>
            <a:pPr algn="ctr"/>
          </a:p>
        </p:txBody>
      </p:sp>
      <p:sp>
        <p:nvSpPr>
          <p:cNvPr id="24" name="TextBox 23"/>
          <p:cNvSpPr txBox="1"/>
          <p:nvPr/>
        </p:nvSpPr>
        <p:spPr>
          <a:xfrm>
            <a:off x="7674996" y="4672584"/>
            <a:ext cx="822960" cy="329184"/>
          </a:xfrm>
          <a:prstGeom prst="rect">
            <a:avLst/>
          </a:prstGeom>
          <a:noFill/>
        </p:spPr>
        <p:txBody>
          <a:bodyPr wrap="square" lIns="0" rIns="0" tIns="0" bIns="0" anchor="ctr">
            <a:spAutoFit/>
          </a:bodyPr>
          <a:lstStyle/>
          <a:p>
            <a:pPr algn="l"/>
            <a:r>
              <a:rPr sz="1200" b="0" i="0">
                <a:solidFill>
                  <a:srgbClr val="9A9AAA"/>
                </a:solidFill>
                <a:latin typeface="Verdana"/>
              </a:rPr>
              <a:t>6 %</a:t>
            </a:r>
          </a:p>
        </p:txBody>
      </p:sp>
      <p:sp>
        <p:nvSpPr>
          <p:cNvPr id="25" name="TextBox 24"/>
          <p:cNvSpPr txBox="1"/>
          <p:nvPr/>
        </p:nvSpPr>
        <p:spPr>
          <a:xfrm>
            <a:off x="6263640" y="5102352"/>
            <a:ext cx="777240" cy="329184"/>
          </a:xfrm>
          <a:prstGeom prst="rect">
            <a:avLst/>
          </a:prstGeom>
          <a:noFill/>
        </p:spPr>
        <p:txBody>
          <a:bodyPr wrap="square" lIns="0" rIns="0" tIns="0" bIns="0" anchor="ctr">
            <a:spAutoFit/>
          </a:bodyPr>
          <a:lstStyle/>
          <a:p>
            <a:pPr algn="r"/>
            <a:r>
              <a:rPr sz="1333" b="1" i="0">
                <a:solidFill>
                  <a:srgbClr val="FFFFFF"/>
                </a:solidFill>
                <a:latin typeface="Verdana"/>
              </a:rPr>
              <a:t>…</a:t>
            </a:r>
          </a:p>
        </p:txBody>
      </p:sp>
      <p:sp>
        <p:nvSpPr>
          <p:cNvPr id="26" name="Rectangle 25"/>
          <p:cNvSpPr/>
          <p:nvPr/>
        </p:nvSpPr>
        <p:spPr>
          <a:xfrm>
            <a:off x="7132320" y="5138928"/>
            <a:ext cx="216474" cy="256032"/>
          </a:xfrm>
          <a:prstGeom prst="rect">
            <a:avLst/>
          </a:prstGeom>
          <a:solidFill>
            <a:srgbClr val="3A3948"/>
          </a:solidFill>
          <a:ln>
            <a:noFill/>
          </a:ln>
        </p:spPr>
        <p:txBody>
          <a:bodyPr rtlCol="0" anchor="ctr"/>
          <a:lstStyle/>
          <a:p>
            <a:pPr algn="ctr"/>
          </a:p>
        </p:txBody>
      </p:sp>
      <p:sp>
        <p:nvSpPr>
          <p:cNvPr id="27" name="TextBox 26"/>
          <p:cNvSpPr txBox="1"/>
          <p:nvPr/>
        </p:nvSpPr>
        <p:spPr>
          <a:xfrm>
            <a:off x="7458522" y="5102352"/>
            <a:ext cx="822960" cy="329184"/>
          </a:xfrm>
          <a:prstGeom prst="rect">
            <a:avLst/>
          </a:prstGeom>
          <a:noFill/>
        </p:spPr>
        <p:txBody>
          <a:bodyPr wrap="square" lIns="0" rIns="0" tIns="0" bIns="0" anchor="ctr">
            <a:spAutoFit/>
          </a:bodyPr>
          <a:lstStyle/>
          <a:p>
            <a:pPr algn="l"/>
            <a:r>
              <a:rPr sz="1200" b="0" i="0">
                <a:solidFill>
                  <a:srgbClr val="9A9AAA"/>
                </a:solidFill>
                <a:latin typeface="Verdana"/>
              </a:rPr>
              <a:t>3 %</a:t>
            </a:r>
          </a:p>
        </p:txBody>
      </p:sp>
      <p:sp>
        <p:nvSpPr>
          <p:cNvPr id="28" name="TextBox 27"/>
          <p:cNvSpPr txBox="1"/>
          <p:nvPr/>
        </p:nvSpPr>
        <p:spPr>
          <a:xfrm>
            <a:off x="6263640" y="5440680"/>
            <a:ext cx="5056632" cy="274320"/>
          </a:xfrm>
          <a:prstGeom prst="rect">
            <a:avLst/>
          </a:prstGeom>
          <a:noFill/>
        </p:spPr>
        <p:txBody>
          <a:bodyPr wrap="square" lIns="0" rIns="0" tIns="0" bIns="0" anchor="t">
            <a:spAutoFit/>
          </a:bodyPr>
          <a:lstStyle/>
          <a:p>
            <a:pPr algn="l"/>
            <a:r>
              <a:rPr sz="1067" b="0" i="1">
                <a:solidFill>
                  <a:srgbClr val="9A9AAA"/>
                </a:solidFill>
                <a:latin typeface="Verdana"/>
              </a:rPr>
              <a:t>Zahlen zur Veranschaulichung.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Training und Anwendung.</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SPRACHMODELLE</a:t>
            </a:r>
          </a:p>
        </p:txBody>
      </p:sp>
      <p:sp>
        <p:nvSpPr>
          <p:cNvPr id="4" name="Rectangle 3"/>
          <p:cNvSpPr/>
          <p:nvPr/>
        </p:nvSpPr>
        <p:spPr>
          <a:xfrm>
            <a:off x="548640" y="1783080"/>
            <a:ext cx="5134356" cy="283464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134356" cy="64008"/>
          </a:xfrm>
          <a:prstGeom prst="rect">
            <a:avLst/>
          </a:prstGeom>
          <a:solidFill>
            <a:srgbClr val="DC640D"/>
          </a:solidFill>
          <a:ln>
            <a:noFill/>
          </a:ln>
        </p:spPr>
        <p:txBody>
          <a:bodyPr rtlCol="0" anchor="ctr"/>
          <a:lstStyle/>
          <a:p>
            <a:pPr algn="ctr"/>
          </a:p>
        </p:txBody>
      </p:sp>
      <p:sp>
        <p:nvSpPr>
          <p:cNvPr id="6" name="Oval 5"/>
          <p:cNvSpPr/>
          <p:nvPr/>
        </p:nvSpPr>
        <p:spPr>
          <a:xfrm>
            <a:off x="822959" y="2103120"/>
            <a:ext cx="594360" cy="594360"/>
          </a:xfrm>
          <a:prstGeom prst="ellipse">
            <a:avLst/>
          </a:prstGeom>
          <a:solidFill>
            <a:srgbClr val="DC640D"/>
          </a:solidFill>
          <a:ln>
            <a:noFill/>
          </a:ln>
        </p:spPr>
        <p:txBody>
          <a:bodyPr rtlCol="0" anchor="ctr"/>
          <a:lstStyle/>
          <a:p>
            <a:pPr algn="ctr"/>
          </a:p>
        </p:txBody>
      </p:sp>
      <p:pic>
        <p:nvPicPr>
          <p:cNvPr id="7" name="Picture 6" descr="LuCpu_w.png"/>
          <p:cNvPicPr>
            <a:picLocks noChangeAspect="1"/>
          </p:cNvPicPr>
          <p:nvPr/>
        </p:nvPicPr>
        <p:blipFill>
          <a:blip r:embed="rId3"/>
          <a:stretch>
            <a:fillRect/>
          </a:stretch>
        </p:blipFill>
        <p:spPr>
          <a:xfrm>
            <a:off x="953719" y="2233879"/>
            <a:ext cx="332841" cy="332841"/>
          </a:xfrm>
          <a:prstGeom prst="rect">
            <a:avLst/>
          </a:prstGeom>
        </p:spPr>
      </p:pic>
      <p:sp>
        <p:nvSpPr>
          <p:cNvPr id="8" name="TextBox 7"/>
          <p:cNvSpPr txBox="1"/>
          <p:nvPr/>
        </p:nvSpPr>
        <p:spPr>
          <a:xfrm>
            <a:off x="1600200" y="2057400"/>
            <a:ext cx="3854196" cy="365760"/>
          </a:xfrm>
          <a:prstGeom prst="rect">
            <a:avLst/>
          </a:prstGeom>
          <a:noFill/>
        </p:spPr>
        <p:txBody>
          <a:bodyPr wrap="square" lIns="0" rIns="0" tIns="0" bIns="0" anchor="t">
            <a:spAutoFit/>
          </a:bodyPr>
          <a:lstStyle/>
          <a:p>
            <a:pPr algn="l"/>
            <a:r>
              <a:rPr sz="1732" b="1" i="0">
                <a:solidFill>
                  <a:srgbClr val="FFFFFF"/>
                </a:solidFill>
                <a:latin typeface="Verdana"/>
              </a:rPr>
              <a:t>Training</a:t>
            </a:r>
          </a:p>
        </p:txBody>
      </p:sp>
      <p:sp>
        <p:nvSpPr>
          <p:cNvPr id="9" name="TextBox 8"/>
          <p:cNvSpPr txBox="1"/>
          <p:nvPr/>
        </p:nvSpPr>
        <p:spPr>
          <a:xfrm>
            <a:off x="1600200" y="2441448"/>
            <a:ext cx="3854196" cy="274320"/>
          </a:xfrm>
          <a:prstGeom prst="rect">
            <a:avLst/>
          </a:prstGeom>
          <a:noFill/>
        </p:spPr>
        <p:txBody>
          <a:bodyPr wrap="square" lIns="0" rIns="0" tIns="0" bIns="0" anchor="t">
            <a:spAutoFit/>
          </a:bodyPr>
          <a:lstStyle/>
          <a:p>
            <a:pPr algn="l"/>
            <a:r>
              <a:rPr sz="1200" b="0" i="1">
                <a:solidFill>
                  <a:srgbClr val="DC640D"/>
                </a:solidFill>
                <a:latin typeface="Verdana"/>
              </a:rPr>
              <a:t>einmal, beim Hersteller</a:t>
            </a:r>
          </a:p>
        </p:txBody>
      </p:sp>
      <p:sp>
        <p:nvSpPr>
          <p:cNvPr id="10" name="Oval 9"/>
          <p:cNvSpPr/>
          <p:nvPr/>
        </p:nvSpPr>
        <p:spPr>
          <a:xfrm>
            <a:off x="868680" y="3145536"/>
            <a:ext cx="109728" cy="109728"/>
          </a:xfrm>
          <a:prstGeom prst="ellipse">
            <a:avLst/>
          </a:prstGeom>
          <a:solidFill>
            <a:srgbClr val="DC640D"/>
          </a:solidFill>
          <a:ln>
            <a:noFill/>
          </a:ln>
        </p:spPr>
        <p:txBody>
          <a:bodyPr rtlCol="0" anchor="ctr"/>
          <a:lstStyle/>
          <a:p>
            <a:pPr algn="ctr"/>
          </a:p>
        </p:txBody>
      </p:sp>
      <p:sp>
        <p:nvSpPr>
          <p:cNvPr id="11" name="TextBox 10"/>
          <p:cNvSpPr txBox="1"/>
          <p:nvPr/>
        </p:nvSpPr>
        <p:spPr>
          <a:xfrm>
            <a:off x="1143000" y="3017520"/>
            <a:ext cx="4265676" cy="411480"/>
          </a:xfrm>
          <a:prstGeom prst="rect">
            <a:avLst/>
          </a:prstGeom>
          <a:noFill/>
        </p:spPr>
        <p:txBody>
          <a:bodyPr wrap="square" lIns="0" rIns="0" tIns="0" bIns="0" anchor="ctr">
            <a:spAutoFit/>
          </a:bodyPr>
          <a:lstStyle/>
          <a:p>
            <a:pPr algn="l"/>
            <a:r>
              <a:rPr sz="1333" b="0" i="0">
                <a:solidFill>
                  <a:srgbClr val="FFFFFF"/>
                </a:solidFill>
                <a:latin typeface="Verdana"/>
              </a:rPr>
              <a:t>Riesige Textmengen aus Web, Büchern, Code</a:t>
            </a:r>
          </a:p>
        </p:txBody>
      </p:sp>
      <p:sp>
        <p:nvSpPr>
          <p:cNvPr id="12" name="Oval 11"/>
          <p:cNvSpPr/>
          <p:nvPr/>
        </p:nvSpPr>
        <p:spPr>
          <a:xfrm>
            <a:off x="868680" y="3648456"/>
            <a:ext cx="109728" cy="109728"/>
          </a:xfrm>
          <a:prstGeom prst="ellipse">
            <a:avLst/>
          </a:prstGeom>
          <a:solidFill>
            <a:srgbClr val="DC640D"/>
          </a:solidFill>
          <a:ln>
            <a:noFill/>
          </a:ln>
        </p:spPr>
        <p:txBody>
          <a:bodyPr rtlCol="0" anchor="ctr"/>
          <a:lstStyle/>
          <a:p>
            <a:pPr algn="ctr"/>
          </a:p>
        </p:txBody>
      </p:sp>
      <p:sp>
        <p:nvSpPr>
          <p:cNvPr id="13" name="TextBox 12"/>
          <p:cNvSpPr txBox="1"/>
          <p:nvPr/>
        </p:nvSpPr>
        <p:spPr>
          <a:xfrm>
            <a:off x="1143000" y="3520439"/>
            <a:ext cx="4265676" cy="411480"/>
          </a:xfrm>
          <a:prstGeom prst="rect">
            <a:avLst/>
          </a:prstGeom>
          <a:noFill/>
        </p:spPr>
        <p:txBody>
          <a:bodyPr wrap="square" lIns="0" rIns="0" tIns="0" bIns="0" anchor="ctr">
            <a:spAutoFit/>
          </a:bodyPr>
          <a:lstStyle/>
          <a:p>
            <a:pPr algn="l"/>
            <a:r>
              <a:rPr sz="1333" b="0" i="0">
                <a:solidFill>
                  <a:srgbClr val="FFFFFF"/>
                </a:solidFill>
                <a:latin typeface="Verdana"/>
              </a:rPr>
              <a:t>Wochen bis Monate auf vielen Grafikkarten</a:t>
            </a:r>
          </a:p>
        </p:txBody>
      </p:sp>
      <p:sp>
        <p:nvSpPr>
          <p:cNvPr id="14" name="Oval 13"/>
          <p:cNvSpPr/>
          <p:nvPr/>
        </p:nvSpPr>
        <p:spPr>
          <a:xfrm>
            <a:off x="868680" y="4151376"/>
            <a:ext cx="109728" cy="109728"/>
          </a:xfrm>
          <a:prstGeom prst="ellipse">
            <a:avLst/>
          </a:prstGeom>
          <a:solidFill>
            <a:srgbClr val="DC640D"/>
          </a:solidFill>
          <a:ln>
            <a:noFill/>
          </a:ln>
        </p:spPr>
        <p:txBody>
          <a:bodyPr rtlCol="0" anchor="ctr"/>
          <a:lstStyle/>
          <a:p>
            <a:pPr algn="ctr"/>
          </a:p>
        </p:txBody>
      </p:sp>
      <p:sp>
        <p:nvSpPr>
          <p:cNvPr id="15" name="TextBox 14"/>
          <p:cNvSpPr txBox="1"/>
          <p:nvPr/>
        </p:nvSpPr>
        <p:spPr>
          <a:xfrm>
            <a:off x="1143000" y="4023360"/>
            <a:ext cx="4265676" cy="411480"/>
          </a:xfrm>
          <a:prstGeom prst="rect">
            <a:avLst/>
          </a:prstGeom>
          <a:noFill/>
        </p:spPr>
        <p:txBody>
          <a:bodyPr wrap="square" lIns="0" rIns="0" tIns="0" bIns="0" anchor="ctr">
            <a:spAutoFit/>
          </a:bodyPr>
          <a:lstStyle/>
          <a:p>
            <a:pPr algn="l"/>
            <a:r>
              <a:rPr sz="1333" b="0" i="0">
                <a:solidFill>
                  <a:srgbClr val="FFFFFF"/>
                </a:solidFill>
                <a:latin typeface="Verdana"/>
              </a:rPr>
              <a:t>Wissen endet an einem Stichtag</a:t>
            </a:r>
          </a:p>
        </p:txBody>
      </p:sp>
      <p:sp>
        <p:nvSpPr>
          <p:cNvPr id="16" name="Rectangle 15"/>
          <p:cNvSpPr/>
          <p:nvPr/>
        </p:nvSpPr>
        <p:spPr>
          <a:xfrm>
            <a:off x="6505956" y="1783080"/>
            <a:ext cx="5134356" cy="2834640"/>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6505956" y="1783080"/>
            <a:ext cx="5134356" cy="64008"/>
          </a:xfrm>
          <a:prstGeom prst="rect">
            <a:avLst/>
          </a:prstGeom>
          <a:solidFill>
            <a:srgbClr val="F6A800"/>
          </a:solidFill>
          <a:ln>
            <a:noFill/>
          </a:ln>
        </p:spPr>
        <p:txBody>
          <a:bodyPr rtlCol="0" anchor="ctr"/>
          <a:lstStyle/>
          <a:p>
            <a:pPr algn="ctr"/>
          </a:p>
        </p:txBody>
      </p:sp>
      <p:sp>
        <p:nvSpPr>
          <p:cNvPr id="18" name="Oval 17"/>
          <p:cNvSpPr/>
          <p:nvPr/>
        </p:nvSpPr>
        <p:spPr>
          <a:xfrm>
            <a:off x="6780276" y="2103120"/>
            <a:ext cx="594360" cy="594360"/>
          </a:xfrm>
          <a:prstGeom prst="ellipse">
            <a:avLst/>
          </a:prstGeom>
          <a:solidFill>
            <a:srgbClr val="F6A800"/>
          </a:solidFill>
          <a:ln>
            <a:noFill/>
          </a:ln>
        </p:spPr>
        <p:txBody>
          <a:bodyPr rtlCol="0" anchor="ctr"/>
          <a:lstStyle/>
          <a:p>
            <a:pPr algn="ctr"/>
          </a:p>
        </p:txBody>
      </p:sp>
      <p:pic>
        <p:nvPicPr>
          <p:cNvPr id="19" name="Picture 18" descr="LuMessageSquareText_w.png"/>
          <p:cNvPicPr>
            <a:picLocks noChangeAspect="1"/>
          </p:cNvPicPr>
          <p:nvPr/>
        </p:nvPicPr>
        <p:blipFill>
          <a:blip r:embed="rId4"/>
          <a:stretch>
            <a:fillRect/>
          </a:stretch>
        </p:blipFill>
        <p:spPr>
          <a:xfrm>
            <a:off x="6911035" y="2233879"/>
            <a:ext cx="332841" cy="332841"/>
          </a:xfrm>
          <a:prstGeom prst="rect">
            <a:avLst/>
          </a:prstGeom>
        </p:spPr>
      </p:pic>
      <p:sp>
        <p:nvSpPr>
          <p:cNvPr id="20" name="TextBox 19"/>
          <p:cNvSpPr txBox="1"/>
          <p:nvPr/>
        </p:nvSpPr>
        <p:spPr>
          <a:xfrm>
            <a:off x="7557516" y="2057400"/>
            <a:ext cx="3854196" cy="365760"/>
          </a:xfrm>
          <a:prstGeom prst="rect">
            <a:avLst/>
          </a:prstGeom>
          <a:noFill/>
        </p:spPr>
        <p:txBody>
          <a:bodyPr wrap="square" lIns="0" rIns="0" tIns="0" bIns="0" anchor="t">
            <a:spAutoFit/>
          </a:bodyPr>
          <a:lstStyle/>
          <a:p>
            <a:pPr algn="l"/>
            <a:r>
              <a:rPr sz="1732" b="1" i="0">
                <a:solidFill>
                  <a:srgbClr val="FFFFFF"/>
                </a:solidFill>
                <a:latin typeface="Verdana"/>
              </a:rPr>
              <a:t>Anwendung</a:t>
            </a:r>
          </a:p>
        </p:txBody>
      </p:sp>
      <p:sp>
        <p:nvSpPr>
          <p:cNvPr id="21" name="TextBox 20"/>
          <p:cNvSpPr txBox="1"/>
          <p:nvPr/>
        </p:nvSpPr>
        <p:spPr>
          <a:xfrm>
            <a:off x="7557516" y="2441448"/>
            <a:ext cx="3854196" cy="274320"/>
          </a:xfrm>
          <a:prstGeom prst="rect">
            <a:avLst/>
          </a:prstGeom>
          <a:noFill/>
        </p:spPr>
        <p:txBody>
          <a:bodyPr wrap="square" lIns="0" rIns="0" tIns="0" bIns="0" anchor="t">
            <a:spAutoFit/>
          </a:bodyPr>
          <a:lstStyle/>
          <a:p>
            <a:pPr algn="l"/>
            <a:r>
              <a:rPr sz="1200" b="0" i="1">
                <a:solidFill>
                  <a:srgbClr val="F6A800"/>
                </a:solidFill>
                <a:latin typeface="Verdana"/>
              </a:rPr>
              <a:t>bei jeder Anfrage, in Sekunden</a:t>
            </a:r>
          </a:p>
        </p:txBody>
      </p:sp>
      <p:sp>
        <p:nvSpPr>
          <p:cNvPr id="22" name="Oval 21"/>
          <p:cNvSpPr/>
          <p:nvPr/>
        </p:nvSpPr>
        <p:spPr>
          <a:xfrm>
            <a:off x="6825996" y="3145536"/>
            <a:ext cx="109728" cy="109728"/>
          </a:xfrm>
          <a:prstGeom prst="ellipse">
            <a:avLst/>
          </a:prstGeom>
          <a:solidFill>
            <a:srgbClr val="F6A800"/>
          </a:solidFill>
          <a:ln>
            <a:noFill/>
          </a:ln>
        </p:spPr>
        <p:txBody>
          <a:bodyPr rtlCol="0" anchor="ctr"/>
          <a:lstStyle/>
          <a:p>
            <a:pPr algn="ctr"/>
          </a:p>
        </p:txBody>
      </p:sp>
      <p:sp>
        <p:nvSpPr>
          <p:cNvPr id="23" name="TextBox 22"/>
          <p:cNvSpPr txBox="1"/>
          <p:nvPr/>
        </p:nvSpPr>
        <p:spPr>
          <a:xfrm>
            <a:off x="7100316" y="3017520"/>
            <a:ext cx="4265676" cy="411480"/>
          </a:xfrm>
          <a:prstGeom prst="rect">
            <a:avLst/>
          </a:prstGeom>
          <a:noFill/>
        </p:spPr>
        <p:txBody>
          <a:bodyPr wrap="square" lIns="0" rIns="0" tIns="0" bIns="0" anchor="ctr">
            <a:spAutoFit/>
          </a:bodyPr>
          <a:lstStyle/>
          <a:p>
            <a:pPr algn="l"/>
            <a:r>
              <a:rPr sz="1333" b="0" i="0">
                <a:solidFill>
                  <a:srgbClr val="FFFFFF"/>
                </a:solidFill>
                <a:latin typeface="Verdana"/>
              </a:rPr>
              <a:t>Das fertige Modell beantwortet euren Prompt</a:t>
            </a:r>
          </a:p>
        </p:txBody>
      </p:sp>
      <p:sp>
        <p:nvSpPr>
          <p:cNvPr id="24" name="Oval 23"/>
          <p:cNvSpPr/>
          <p:nvPr/>
        </p:nvSpPr>
        <p:spPr>
          <a:xfrm>
            <a:off x="6825996" y="3648456"/>
            <a:ext cx="109728" cy="109728"/>
          </a:xfrm>
          <a:prstGeom prst="ellipse">
            <a:avLst/>
          </a:prstGeom>
          <a:solidFill>
            <a:srgbClr val="F6A800"/>
          </a:solidFill>
          <a:ln>
            <a:noFill/>
          </a:ln>
        </p:spPr>
        <p:txBody>
          <a:bodyPr rtlCol="0" anchor="ctr"/>
          <a:lstStyle/>
          <a:p>
            <a:pPr algn="ctr"/>
          </a:p>
        </p:txBody>
      </p:sp>
      <p:sp>
        <p:nvSpPr>
          <p:cNvPr id="25" name="TextBox 24"/>
          <p:cNvSpPr txBox="1"/>
          <p:nvPr/>
        </p:nvSpPr>
        <p:spPr>
          <a:xfrm>
            <a:off x="7100316" y="3520439"/>
            <a:ext cx="4265676" cy="411480"/>
          </a:xfrm>
          <a:prstGeom prst="rect">
            <a:avLst/>
          </a:prstGeom>
          <a:noFill/>
        </p:spPr>
        <p:txBody>
          <a:bodyPr wrap="square" lIns="0" rIns="0" tIns="0" bIns="0" anchor="ctr">
            <a:spAutoFit/>
          </a:bodyPr>
          <a:lstStyle/>
          <a:p>
            <a:pPr algn="l"/>
            <a:r>
              <a:rPr sz="1333" b="0" i="0">
                <a:solidFill>
                  <a:srgbClr val="FFFFFF"/>
                </a:solidFill>
                <a:latin typeface="Verdana"/>
              </a:rPr>
              <a:t>Es lernt dabei nicht dazu</a:t>
            </a:r>
          </a:p>
        </p:txBody>
      </p:sp>
      <p:sp>
        <p:nvSpPr>
          <p:cNvPr id="26" name="Oval 25"/>
          <p:cNvSpPr/>
          <p:nvPr/>
        </p:nvSpPr>
        <p:spPr>
          <a:xfrm>
            <a:off x="6825996" y="4151376"/>
            <a:ext cx="109728" cy="109728"/>
          </a:xfrm>
          <a:prstGeom prst="ellipse">
            <a:avLst/>
          </a:prstGeom>
          <a:solidFill>
            <a:srgbClr val="F6A800"/>
          </a:solidFill>
          <a:ln>
            <a:noFill/>
          </a:ln>
        </p:spPr>
        <p:txBody>
          <a:bodyPr rtlCol="0" anchor="ctr"/>
          <a:lstStyle/>
          <a:p>
            <a:pPr algn="ctr"/>
          </a:p>
        </p:txBody>
      </p:sp>
      <p:sp>
        <p:nvSpPr>
          <p:cNvPr id="27" name="TextBox 26"/>
          <p:cNvSpPr txBox="1"/>
          <p:nvPr/>
        </p:nvSpPr>
        <p:spPr>
          <a:xfrm>
            <a:off x="7100316" y="4023360"/>
            <a:ext cx="4265676" cy="411480"/>
          </a:xfrm>
          <a:prstGeom prst="rect">
            <a:avLst/>
          </a:prstGeom>
          <a:noFill/>
        </p:spPr>
        <p:txBody>
          <a:bodyPr wrap="square" lIns="0" rIns="0" tIns="0" bIns="0" anchor="ctr">
            <a:spAutoFit/>
          </a:bodyPr>
          <a:lstStyle/>
          <a:p>
            <a:pPr algn="l"/>
            <a:r>
              <a:rPr sz="1333" b="0" i="0">
                <a:solidFill>
                  <a:srgbClr val="FFFFFF"/>
                </a:solidFill>
                <a:latin typeface="Verdana"/>
              </a:rPr>
              <a:t>Es kennt nur, was im Training war oder im Prompt steht</a:t>
            </a:r>
          </a:p>
        </p:txBody>
      </p:sp>
      <p:cxnSp>
        <p:nvCxnSpPr>
          <p:cNvPr id="28" name="Connector 27"/>
          <p:cNvCxnSpPr/>
          <p:nvPr/>
        </p:nvCxnSpPr>
        <p:spPr>
          <a:xfrm>
            <a:off x="5820156" y="3200400"/>
            <a:ext cx="548640" cy="0"/>
          </a:xfrm>
          <a:prstGeom prst="line">
            <a:avLst/>
          </a:prstGeom>
          <a:ln w="31750">
            <a:solidFill>
              <a:srgbClr val="DC640D"/>
            </a:solidFill>
            <a:tailEnd type="triangle" w="med" len="med"/>
          </a:ln>
        </p:spPr>
      </p:cxnSp>
      <p:sp>
        <p:nvSpPr>
          <p:cNvPr id="29" name="Rectangle 28"/>
          <p:cNvSpPr/>
          <p:nvPr/>
        </p:nvSpPr>
        <p:spPr>
          <a:xfrm>
            <a:off x="548640" y="4892040"/>
            <a:ext cx="11091672" cy="914400"/>
          </a:xfrm>
          <a:prstGeom prst="rect">
            <a:avLst/>
          </a:prstGeom>
          <a:noFill/>
          <a:ln w="12700">
            <a:solidFill>
              <a:srgbClr val="DC640D"/>
            </a:solidFill>
          </a:ln>
        </p:spPr>
        <p:txBody>
          <a:bodyPr rtlCol="0" anchor="ctr"/>
          <a:lstStyle/>
          <a:p>
            <a:pPr algn="ctr"/>
          </a:p>
        </p:txBody>
      </p:sp>
      <p:pic>
        <p:nvPicPr>
          <p:cNvPr id="30" name="Picture 29" descr="LuLibrary_o.png"/>
          <p:cNvPicPr>
            <a:picLocks noChangeAspect="1"/>
          </p:cNvPicPr>
          <p:nvPr/>
        </p:nvPicPr>
        <p:blipFill>
          <a:blip r:embed="rId5"/>
          <a:stretch>
            <a:fillRect/>
          </a:stretch>
        </p:blipFill>
        <p:spPr>
          <a:xfrm>
            <a:off x="777240" y="5138928"/>
            <a:ext cx="411480" cy="411480"/>
          </a:xfrm>
          <a:prstGeom prst="rect">
            <a:avLst/>
          </a:prstGeom>
        </p:spPr>
      </p:pic>
      <p:sp>
        <p:nvSpPr>
          <p:cNvPr id="31" name="TextBox 30"/>
          <p:cNvSpPr txBox="1"/>
          <p:nvPr/>
        </p:nvSpPr>
        <p:spPr>
          <a:xfrm>
            <a:off x="1371600" y="4892040"/>
            <a:ext cx="10085832" cy="914400"/>
          </a:xfrm>
          <a:prstGeom prst="rect">
            <a:avLst/>
          </a:prstGeom>
          <a:noFill/>
        </p:spPr>
        <p:txBody>
          <a:bodyPr wrap="square" lIns="0" rIns="0" tIns="0" bIns="0" anchor="ctr">
            <a:spAutoFit/>
          </a:bodyPr>
          <a:lstStyle/>
          <a:p>
            <a:pPr algn="l"/>
            <a:r>
              <a:rPr sz="1333" b="1" i="0">
                <a:solidFill>
                  <a:srgbClr val="FFFFFF"/>
                </a:solidFill>
                <a:latin typeface="Verdana"/>
              </a:rPr>
              <a:t>Euren Katalog, neue Publikationen und eure Hausregeln kennt kein Modell. </a:t>
            </a:r>
            <a:r>
              <a:rPr sz="1333" b="0" i="0">
                <a:solidFill>
                  <a:srgbClr val="9A9AAA"/>
                </a:solidFill>
                <a:latin typeface="Verdana"/>
              </a:rPr>
              <a:t>Ein Workflow holt diese Informationen und gibt sie dem Modell im Prompt mit.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Ein Prompt hat Bausteine.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PROMPTS</a:t>
            </a:r>
          </a:p>
        </p:txBody>
      </p:sp>
      <p:sp>
        <p:nvSpPr>
          <p:cNvPr id="4" name="Rectangle 3"/>
          <p:cNvSpPr/>
          <p:nvPr/>
        </p:nvSpPr>
        <p:spPr>
          <a:xfrm>
            <a:off x="548640" y="1783080"/>
            <a:ext cx="1828800" cy="621792"/>
          </a:xfrm>
          <a:prstGeom prst="rect">
            <a:avLst/>
          </a:prstGeom>
          <a:solidFill>
            <a:srgbClr val="DC640D"/>
          </a:solidFill>
          <a:ln>
            <a:noFill/>
          </a:ln>
        </p:spPr>
        <p:txBody>
          <a:bodyPr rtlCol="0" anchor="ctr"/>
          <a:lstStyle/>
          <a:p>
            <a:pPr algn="ctr"/>
          </a:p>
        </p:txBody>
      </p:sp>
      <p:sp>
        <p:nvSpPr>
          <p:cNvPr id="5" name="TextBox 4"/>
          <p:cNvSpPr txBox="1"/>
          <p:nvPr/>
        </p:nvSpPr>
        <p:spPr>
          <a:xfrm>
            <a:off x="548640" y="1783080"/>
            <a:ext cx="1828800" cy="621792"/>
          </a:xfrm>
          <a:prstGeom prst="rect">
            <a:avLst/>
          </a:prstGeom>
          <a:noFill/>
        </p:spPr>
        <p:txBody>
          <a:bodyPr wrap="square" lIns="0" rIns="0" tIns="0" bIns="0" anchor="ctr">
            <a:spAutoFit/>
          </a:bodyPr>
          <a:lstStyle/>
          <a:p>
            <a:pPr algn="ctr"/>
            <a:r>
              <a:rPr sz="1333" b="1" i="0">
                <a:solidFill>
                  <a:srgbClr val="FFFFFF"/>
                </a:solidFill>
                <a:latin typeface="Verdana"/>
              </a:rPr>
              <a:t>Rolle</a:t>
            </a:r>
          </a:p>
        </p:txBody>
      </p:sp>
      <p:sp>
        <p:nvSpPr>
          <p:cNvPr id="6" name="Rectangle 5"/>
          <p:cNvSpPr/>
          <p:nvPr/>
        </p:nvSpPr>
        <p:spPr>
          <a:xfrm>
            <a:off x="2377440" y="1783080"/>
            <a:ext cx="5577840" cy="621792"/>
          </a:xfrm>
          <a:prstGeom prst="rect">
            <a:avLst/>
          </a:prstGeom>
          <a:solidFill>
            <a:srgbClr val="24232E"/>
          </a:solidFill>
          <a:ln w="9525">
            <a:solidFill>
              <a:srgbClr val="3A3948"/>
            </a:solidFill>
          </a:ln>
        </p:spPr>
        <p:txBody>
          <a:bodyPr rtlCol="0" anchor="ctr"/>
          <a:lstStyle/>
          <a:p>
            <a:pPr algn="ctr"/>
          </a:p>
        </p:txBody>
      </p:sp>
      <p:sp>
        <p:nvSpPr>
          <p:cNvPr id="7" name="TextBox 6"/>
          <p:cNvSpPr txBox="1"/>
          <p:nvPr/>
        </p:nvSpPr>
        <p:spPr>
          <a:xfrm>
            <a:off x="2606040" y="1783080"/>
            <a:ext cx="5212080" cy="621792"/>
          </a:xfrm>
          <a:prstGeom prst="rect">
            <a:avLst/>
          </a:prstGeom>
          <a:noFill/>
        </p:spPr>
        <p:txBody>
          <a:bodyPr wrap="square" lIns="0" rIns="0" tIns="0" bIns="0" anchor="ctr">
            <a:spAutoFit/>
          </a:bodyPr>
          <a:lstStyle/>
          <a:p>
            <a:pPr algn="l"/>
            <a:r>
              <a:rPr sz="1267" b="0" i="1">
                <a:solidFill>
                  <a:srgbClr val="FFFFFF"/>
                </a:solidFill>
                <a:latin typeface="Verdana"/>
              </a:rPr>
              <a:t>Du bist Fachreferent:in für Bibliothekswissenschaft.</a:t>
            </a:r>
          </a:p>
        </p:txBody>
      </p:sp>
      <p:sp>
        <p:nvSpPr>
          <p:cNvPr id="8" name="Rectangle 7"/>
          <p:cNvSpPr/>
          <p:nvPr/>
        </p:nvSpPr>
        <p:spPr>
          <a:xfrm>
            <a:off x="548640" y="2514600"/>
            <a:ext cx="1828800" cy="621792"/>
          </a:xfrm>
          <a:prstGeom prst="rect">
            <a:avLst/>
          </a:prstGeom>
          <a:solidFill>
            <a:srgbClr val="F6A800"/>
          </a:solidFill>
          <a:ln>
            <a:noFill/>
          </a:ln>
        </p:spPr>
        <p:txBody>
          <a:bodyPr rtlCol="0" anchor="ctr"/>
          <a:lstStyle/>
          <a:p>
            <a:pPr algn="ctr"/>
          </a:p>
        </p:txBody>
      </p:sp>
      <p:sp>
        <p:nvSpPr>
          <p:cNvPr id="9" name="TextBox 8"/>
          <p:cNvSpPr txBox="1"/>
          <p:nvPr/>
        </p:nvSpPr>
        <p:spPr>
          <a:xfrm>
            <a:off x="548640" y="2514600"/>
            <a:ext cx="1828800" cy="621792"/>
          </a:xfrm>
          <a:prstGeom prst="rect">
            <a:avLst/>
          </a:prstGeom>
          <a:noFill/>
        </p:spPr>
        <p:txBody>
          <a:bodyPr wrap="square" lIns="0" rIns="0" tIns="0" bIns="0" anchor="ctr">
            <a:spAutoFit/>
          </a:bodyPr>
          <a:lstStyle/>
          <a:p>
            <a:pPr algn="ctr"/>
            <a:r>
              <a:rPr sz="1333" b="1" i="0">
                <a:solidFill>
                  <a:srgbClr val="17161C"/>
                </a:solidFill>
                <a:latin typeface="Verdana"/>
              </a:rPr>
              <a:t>Aufgabe</a:t>
            </a:r>
          </a:p>
        </p:txBody>
      </p:sp>
      <p:sp>
        <p:nvSpPr>
          <p:cNvPr id="10" name="Rectangle 9"/>
          <p:cNvSpPr/>
          <p:nvPr/>
        </p:nvSpPr>
        <p:spPr>
          <a:xfrm>
            <a:off x="2377440" y="2514600"/>
            <a:ext cx="5577840" cy="621792"/>
          </a:xfrm>
          <a:prstGeom prst="rect">
            <a:avLst/>
          </a:prstGeom>
          <a:solidFill>
            <a:srgbClr val="24232E"/>
          </a:solidFill>
          <a:ln w="9525">
            <a:solidFill>
              <a:srgbClr val="3A3948"/>
            </a:solidFill>
          </a:ln>
        </p:spPr>
        <p:txBody>
          <a:bodyPr rtlCol="0" anchor="ctr"/>
          <a:lstStyle/>
          <a:p>
            <a:pPr algn="ctr"/>
          </a:p>
        </p:txBody>
      </p:sp>
      <p:sp>
        <p:nvSpPr>
          <p:cNvPr id="11" name="TextBox 10"/>
          <p:cNvSpPr txBox="1"/>
          <p:nvPr/>
        </p:nvSpPr>
        <p:spPr>
          <a:xfrm>
            <a:off x="2606040" y="2514600"/>
            <a:ext cx="5212080" cy="621792"/>
          </a:xfrm>
          <a:prstGeom prst="rect">
            <a:avLst/>
          </a:prstGeom>
          <a:noFill/>
        </p:spPr>
        <p:txBody>
          <a:bodyPr wrap="square" lIns="0" rIns="0" tIns="0" bIns="0" anchor="ctr">
            <a:spAutoFit/>
          </a:bodyPr>
          <a:lstStyle/>
          <a:p>
            <a:pPr algn="l"/>
            <a:r>
              <a:rPr sz="1267" b="0" i="1">
                <a:solidFill>
                  <a:srgbClr val="FFFFFF"/>
                </a:solidFill>
                <a:latin typeface="Verdana"/>
              </a:rPr>
              <a:t>Schlage fünf Schlagwörter für den folgenden Abstract vor.</a:t>
            </a:r>
          </a:p>
        </p:txBody>
      </p:sp>
      <p:sp>
        <p:nvSpPr>
          <p:cNvPr id="12" name="Rectangle 11"/>
          <p:cNvSpPr/>
          <p:nvPr/>
        </p:nvSpPr>
        <p:spPr>
          <a:xfrm>
            <a:off x="548640" y="3246120"/>
            <a:ext cx="1828800" cy="621792"/>
          </a:xfrm>
          <a:prstGeom prst="rect">
            <a:avLst/>
          </a:prstGeom>
          <a:solidFill>
            <a:srgbClr val="B1063A"/>
          </a:solidFill>
          <a:ln>
            <a:noFill/>
          </a:ln>
        </p:spPr>
        <p:txBody>
          <a:bodyPr rtlCol="0" anchor="ctr"/>
          <a:lstStyle/>
          <a:p>
            <a:pPr algn="ctr"/>
          </a:p>
        </p:txBody>
      </p:sp>
      <p:sp>
        <p:nvSpPr>
          <p:cNvPr id="13" name="TextBox 12"/>
          <p:cNvSpPr txBox="1"/>
          <p:nvPr/>
        </p:nvSpPr>
        <p:spPr>
          <a:xfrm>
            <a:off x="548640" y="3246120"/>
            <a:ext cx="1828800" cy="621792"/>
          </a:xfrm>
          <a:prstGeom prst="rect">
            <a:avLst/>
          </a:prstGeom>
          <a:noFill/>
        </p:spPr>
        <p:txBody>
          <a:bodyPr wrap="square" lIns="0" rIns="0" tIns="0" bIns="0" anchor="ctr">
            <a:spAutoFit/>
          </a:bodyPr>
          <a:lstStyle/>
          <a:p>
            <a:pPr algn="ctr"/>
            <a:r>
              <a:rPr sz="1333" b="1" i="0">
                <a:solidFill>
                  <a:srgbClr val="FFFFFF"/>
                </a:solidFill>
                <a:latin typeface="Verdana"/>
              </a:rPr>
              <a:t>Daten</a:t>
            </a:r>
          </a:p>
        </p:txBody>
      </p:sp>
      <p:sp>
        <p:nvSpPr>
          <p:cNvPr id="14" name="Rectangle 13"/>
          <p:cNvSpPr/>
          <p:nvPr/>
        </p:nvSpPr>
        <p:spPr>
          <a:xfrm>
            <a:off x="2377440" y="3246120"/>
            <a:ext cx="5577840" cy="621792"/>
          </a:xfrm>
          <a:prstGeom prst="rect">
            <a:avLst/>
          </a:prstGeom>
          <a:solidFill>
            <a:srgbClr val="24232E"/>
          </a:solidFill>
          <a:ln w="9525">
            <a:solidFill>
              <a:srgbClr val="3A3948"/>
            </a:solidFill>
          </a:ln>
        </p:spPr>
        <p:txBody>
          <a:bodyPr rtlCol="0" anchor="ctr"/>
          <a:lstStyle/>
          <a:p>
            <a:pPr algn="ctr"/>
          </a:p>
        </p:txBody>
      </p:sp>
      <p:sp>
        <p:nvSpPr>
          <p:cNvPr id="15" name="TextBox 14"/>
          <p:cNvSpPr txBox="1"/>
          <p:nvPr/>
        </p:nvSpPr>
        <p:spPr>
          <a:xfrm>
            <a:off x="2606040" y="3246120"/>
            <a:ext cx="5212080" cy="621792"/>
          </a:xfrm>
          <a:prstGeom prst="rect">
            <a:avLst/>
          </a:prstGeom>
          <a:noFill/>
        </p:spPr>
        <p:txBody>
          <a:bodyPr wrap="square" lIns="0" rIns="0" tIns="0" bIns="0" anchor="ctr">
            <a:spAutoFit/>
          </a:bodyPr>
          <a:lstStyle/>
          <a:p>
            <a:pPr algn="l"/>
            <a:r>
              <a:rPr sz="1267" b="0" i="1">
                <a:solidFill>
                  <a:srgbClr val="FFFFFF"/>
                </a:solidFill>
                <a:latin typeface="Verdana"/>
              </a:rPr>
              <a:t>Abstract: {abstract}</a:t>
            </a:r>
          </a:p>
        </p:txBody>
      </p:sp>
      <p:sp>
        <p:nvSpPr>
          <p:cNvPr id="16" name="Rectangle 15"/>
          <p:cNvSpPr/>
          <p:nvPr/>
        </p:nvSpPr>
        <p:spPr>
          <a:xfrm>
            <a:off x="548640" y="3977640"/>
            <a:ext cx="1828800" cy="621792"/>
          </a:xfrm>
          <a:prstGeom prst="rect">
            <a:avLst/>
          </a:prstGeom>
          <a:solidFill>
            <a:srgbClr val="007A9E"/>
          </a:solidFill>
          <a:ln>
            <a:noFill/>
          </a:ln>
        </p:spPr>
        <p:txBody>
          <a:bodyPr rtlCol="0" anchor="ctr"/>
          <a:lstStyle/>
          <a:p>
            <a:pPr algn="ctr"/>
          </a:p>
        </p:txBody>
      </p:sp>
      <p:sp>
        <p:nvSpPr>
          <p:cNvPr id="17" name="TextBox 16"/>
          <p:cNvSpPr txBox="1"/>
          <p:nvPr/>
        </p:nvSpPr>
        <p:spPr>
          <a:xfrm>
            <a:off x="548640" y="3977640"/>
            <a:ext cx="1828800" cy="621792"/>
          </a:xfrm>
          <a:prstGeom prst="rect">
            <a:avLst/>
          </a:prstGeom>
          <a:noFill/>
        </p:spPr>
        <p:txBody>
          <a:bodyPr wrap="square" lIns="0" rIns="0" tIns="0" bIns="0" anchor="ctr">
            <a:spAutoFit/>
          </a:bodyPr>
          <a:lstStyle/>
          <a:p>
            <a:pPr algn="ctr"/>
            <a:r>
              <a:rPr sz="1333" b="1" i="0">
                <a:solidFill>
                  <a:srgbClr val="FFFFFF"/>
                </a:solidFill>
                <a:latin typeface="Verdana"/>
              </a:rPr>
              <a:t>Format</a:t>
            </a:r>
          </a:p>
        </p:txBody>
      </p:sp>
      <p:sp>
        <p:nvSpPr>
          <p:cNvPr id="18" name="Rectangle 17"/>
          <p:cNvSpPr/>
          <p:nvPr/>
        </p:nvSpPr>
        <p:spPr>
          <a:xfrm>
            <a:off x="2377440" y="3977640"/>
            <a:ext cx="5577840" cy="621792"/>
          </a:xfrm>
          <a:prstGeom prst="rect">
            <a:avLst/>
          </a:prstGeom>
          <a:solidFill>
            <a:srgbClr val="24232E"/>
          </a:solidFill>
          <a:ln w="9525">
            <a:solidFill>
              <a:srgbClr val="3A3948"/>
            </a:solidFill>
          </a:ln>
        </p:spPr>
        <p:txBody>
          <a:bodyPr rtlCol="0" anchor="ctr"/>
          <a:lstStyle/>
          <a:p>
            <a:pPr algn="ctr"/>
          </a:p>
        </p:txBody>
      </p:sp>
      <p:sp>
        <p:nvSpPr>
          <p:cNvPr id="19" name="TextBox 18"/>
          <p:cNvSpPr txBox="1"/>
          <p:nvPr/>
        </p:nvSpPr>
        <p:spPr>
          <a:xfrm>
            <a:off x="2606040" y="3977640"/>
            <a:ext cx="5212080" cy="621792"/>
          </a:xfrm>
          <a:prstGeom prst="rect">
            <a:avLst/>
          </a:prstGeom>
          <a:noFill/>
        </p:spPr>
        <p:txBody>
          <a:bodyPr wrap="square" lIns="0" rIns="0" tIns="0" bIns="0" anchor="ctr">
            <a:spAutoFit/>
          </a:bodyPr>
          <a:lstStyle/>
          <a:p>
            <a:pPr algn="l"/>
            <a:r>
              <a:rPr sz="1267" b="0" i="1">
                <a:solidFill>
                  <a:srgbClr val="FFFFFF"/>
                </a:solidFill>
                <a:latin typeface="Verdana"/>
              </a:rPr>
              <a:t>Antworte nur mit einer Liste, ein Schlagwort pro Zeile.</a:t>
            </a:r>
          </a:p>
        </p:txBody>
      </p:sp>
      <p:sp>
        <p:nvSpPr>
          <p:cNvPr id="20" name="Rectangle 19"/>
          <p:cNvSpPr/>
          <p:nvPr/>
        </p:nvSpPr>
        <p:spPr>
          <a:xfrm>
            <a:off x="548640" y="4709160"/>
            <a:ext cx="1828800" cy="621792"/>
          </a:xfrm>
          <a:prstGeom prst="rect">
            <a:avLst/>
          </a:prstGeom>
          <a:solidFill>
            <a:srgbClr val="18E979"/>
          </a:solidFill>
          <a:ln>
            <a:noFill/>
          </a:ln>
        </p:spPr>
        <p:txBody>
          <a:bodyPr rtlCol="0" anchor="ctr"/>
          <a:lstStyle/>
          <a:p>
            <a:pPr algn="ctr"/>
          </a:p>
        </p:txBody>
      </p:sp>
      <p:sp>
        <p:nvSpPr>
          <p:cNvPr id="21" name="TextBox 20"/>
          <p:cNvSpPr txBox="1"/>
          <p:nvPr/>
        </p:nvSpPr>
        <p:spPr>
          <a:xfrm>
            <a:off x="548640" y="4709160"/>
            <a:ext cx="1828800" cy="621792"/>
          </a:xfrm>
          <a:prstGeom prst="rect">
            <a:avLst/>
          </a:prstGeom>
          <a:noFill/>
        </p:spPr>
        <p:txBody>
          <a:bodyPr wrap="square" lIns="0" rIns="0" tIns="0" bIns="0" anchor="ctr">
            <a:spAutoFit/>
          </a:bodyPr>
          <a:lstStyle/>
          <a:p>
            <a:pPr algn="ctr"/>
            <a:r>
              <a:rPr sz="1333" b="1" i="0">
                <a:solidFill>
                  <a:srgbClr val="17161C"/>
                </a:solidFill>
                <a:latin typeface="Verdana"/>
              </a:rPr>
              <a:t>Grenzen</a:t>
            </a:r>
          </a:p>
        </p:txBody>
      </p:sp>
      <p:sp>
        <p:nvSpPr>
          <p:cNvPr id="22" name="Rectangle 21"/>
          <p:cNvSpPr/>
          <p:nvPr/>
        </p:nvSpPr>
        <p:spPr>
          <a:xfrm>
            <a:off x="2377440" y="4709160"/>
            <a:ext cx="5577840" cy="621792"/>
          </a:xfrm>
          <a:prstGeom prst="rect">
            <a:avLst/>
          </a:prstGeom>
          <a:solidFill>
            <a:srgbClr val="24232E"/>
          </a:solidFill>
          <a:ln w="9525">
            <a:solidFill>
              <a:srgbClr val="3A3948"/>
            </a:solidFill>
          </a:ln>
        </p:spPr>
        <p:txBody>
          <a:bodyPr rtlCol="0" anchor="ctr"/>
          <a:lstStyle/>
          <a:p>
            <a:pPr algn="ctr"/>
          </a:p>
        </p:txBody>
      </p:sp>
      <p:sp>
        <p:nvSpPr>
          <p:cNvPr id="23" name="TextBox 22"/>
          <p:cNvSpPr txBox="1"/>
          <p:nvPr/>
        </p:nvSpPr>
        <p:spPr>
          <a:xfrm>
            <a:off x="2606040" y="4709160"/>
            <a:ext cx="5212080" cy="621792"/>
          </a:xfrm>
          <a:prstGeom prst="rect">
            <a:avLst/>
          </a:prstGeom>
          <a:noFill/>
        </p:spPr>
        <p:txBody>
          <a:bodyPr wrap="square" lIns="0" rIns="0" tIns="0" bIns="0" anchor="ctr">
            <a:spAutoFit/>
          </a:bodyPr>
          <a:lstStyle/>
          <a:p>
            <a:pPr algn="l"/>
            <a:r>
              <a:rPr sz="1267" b="0" i="1">
                <a:solidFill>
                  <a:srgbClr val="FFFFFF"/>
                </a:solidFill>
                <a:latin typeface="Verdana"/>
              </a:rPr>
              <a:t>Verwende nur Begriffe, die zum Text passen. Erfinde nichts.</a:t>
            </a:r>
          </a:p>
        </p:txBody>
      </p:sp>
      <p:sp>
        <p:nvSpPr>
          <p:cNvPr id="24" name="Rectangle 23"/>
          <p:cNvSpPr/>
          <p:nvPr/>
        </p:nvSpPr>
        <p:spPr>
          <a:xfrm>
            <a:off x="8321040" y="1783080"/>
            <a:ext cx="3319272" cy="1737360"/>
          </a:xfrm>
          <a:prstGeom prst="rect">
            <a:avLst/>
          </a:prstGeom>
          <a:solidFill>
            <a:srgbClr val="24232E"/>
          </a:solidFill>
          <a:ln w="9525">
            <a:solidFill>
              <a:srgbClr val="3A3948"/>
            </a:solidFill>
          </a:ln>
        </p:spPr>
        <p:txBody>
          <a:bodyPr rtlCol="0" anchor="ctr"/>
          <a:lstStyle/>
          <a:p>
            <a:pPr algn="ctr"/>
          </a:p>
        </p:txBody>
      </p:sp>
      <p:sp>
        <p:nvSpPr>
          <p:cNvPr id="25" name="Rectangle 24"/>
          <p:cNvSpPr/>
          <p:nvPr/>
        </p:nvSpPr>
        <p:spPr>
          <a:xfrm>
            <a:off x="8321040" y="1783080"/>
            <a:ext cx="3319272" cy="64008"/>
          </a:xfrm>
          <a:prstGeom prst="rect">
            <a:avLst/>
          </a:prstGeom>
          <a:solidFill>
            <a:srgbClr val="F6A800"/>
          </a:solidFill>
          <a:ln>
            <a:noFill/>
          </a:ln>
        </p:spPr>
        <p:txBody>
          <a:bodyPr rtlCol="0" anchor="ctr"/>
          <a:lstStyle/>
          <a:p>
            <a:pPr algn="ctr"/>
          </a:p>
        </p:txBody>
      </p:sp>
      <p:sp>
        <p:nvSpPr>
          <p:cNvPr id="26" name="TextBox 25"/>
          <p:cNvSpPr txBox="1"/>
          <p:nvPr/>
        </p:nvSpPr>
        <p:spPr>
          <a:xfrm>
            <a:off x="8522208" y="1938528"/>
            <a:ext cx="2916936" cy="228600"/>
          </a:xfrm>
          <a:prstGeom prst="rect">
            <a:avLst/>
          </a:prstGeom>
          <a:noFill/>
        </p:spPr>
        <p:txBody>
          <a:bodyPr wrap="square" lIns="0" rIns="0" tIns="0" bIns="0" anchor="t">
            <a:spAutoFit/>
          </a:bodyPr>
          <a:lstStyle/>
          <a:p>
            <a:pPr algn="l"/>
            <a:r>
              <a:rPr sz="933" b="1" i="0" spc="300">
                <a:solidFill>
                  <a:srgbClr val="F6A800"/>
                </a:solidFill>
                <a:latin typeface="Verdana"/>
              </a:rPr>
              <a:t>PLATZHALTER</a:t>
            </a:r>
          </a:p>
        </p:txBody>
      </p:sp>
      <p:sp>
        <p:nvSpPr>
          <p:cNvPr id="27" name="TextBox 26"/>
          <p:cNvSpPr txBox="1"/>
          <p:nvPr/>
        </p:nvSpPr>
        <p:spPr>
          <a:xfrm>
            <a:off x="8522208" y="2194560"/>
            <a:ext cx="2916936" cy="1234439"/>
          </a:xfrm>
          <a:prstGeom prst="rect">
            <a:avLst/>
          </a:prstGeom>
          <a:noFill/>
        </p:spPr>
        <p:txBody>
          <a:bodyPr wrap="square" lIns="0" rIns="0" tIns="0" bIns="0" anchor="t">
            <a:spAutoFit/>
          </a:bodyPr>
          <a:lstStyle/>
          <a:p>
            <a:pPr algn="l"/>
            <a:r>
              <a:rPr sz="1200" b="0" i="0">
                <a:solidFill>
                  <a:srgbClr val="FFFFFF"/>
                </a:solidFill>
                <a:latin typeface="Verdana"/>
              </a:rPr>
              <a:t>{abstract} wird in Langflow zu einem Eingang am Prompt Template. Dort schließt ihr z. B. den Chat Input an.</a:t>
            </a:r>
          </a:p>
        </p:txBody>
      </p:sp>
      <p:sp>
        <p:nvSpPr>
          <p:cNvPr id="28" name="Rectangle 27"/>
          <p:cNvSpPr/>
          <p:nvPr/>
        </p:nvSpPr>
        <p:spPr>
          <a:xfrm>
            <a:off x="8321040" y="3657600"/>
            <a:ext cx="3319272" cy="1143000"/>
          </a:xfrm>
          <a:prstGeom prst="rect">
            <a:avLst/>
          </a:prstGeom>
          <a:noFill/>
          <a:ln w="12700">
            <a:solidFill>
              <a:srgbClr val="DC640D"/>
            </a:solidFill>
          </a:ln>
        </p:spPr>
        <p:txBody>
          <a:bodyPr rtlCol="0" anchor="ctr"/>
          <a:lstStyle/>
          <a:p>
            <a:pPr algn="ctr"/>
          </a:p>
        </p:txBody>
      </p:sp>
      <p:sp>
        <p:nvSpPr>
          <p:cNvPr id="29" name="TextBox 28"/>
          <p:cNvSpPr txBox="1"/>
          <p:nvPr/>
        </p:nvSpPr>
        <p:spPr>
          <a:xfrm>
            <a:off x="8522208" y="3813048"/>
            <a:ext cx="2916936" cy="228600"/>
          </a:xfrm>
          <a:prstGeom prst="rect">
            <a:avLst/>
          </a:prstGeom>
          <a:noFill/>
        </p:spPr>
        <p:txBody>
          <a:bodyPr wrap="square" lIns="0" rIns="0" tIns="0" bIns="0" anchor="t">
            <a:spAutoFit/>
          </a:bodyPr>
          <a:lstStyle/>
          <a:p>
            <a:pPr algn="l"/>
            <a:r>
              <a:rPr sz="933" b="1" i="0" spc="300">
                <a:solidFill>
                  <a:srgbClr val="DC640D"/>
                </a:solidFill>
                <a:latin typeface="Verdana"/>
              </a:rPr>
              <a:t>SYSTEM MESSAGE</a:t>
            </a:r>
          </a:p>
        </p:txBody>
      </p:sp>
      <p:sp>
        <p:nvSpPr>
          <p:cNvPr id="30" name="TextBox 29"/>
          <p:cNvSpPr txBox="1"/>
          <p:nvPr/>
        </p:nvSpPr>
        <p:spPr>
          <a:xfrm>
            <a:off x="8522208" y="4069080"/>
            <a:ext cx="2916936" cy="640080"/>
          </a:xfrm>
          <a:prstGeom prst="rect">
            <a:avLst/>
          </a:prstGeom>
          <a:noFill/>
        </p:spPr>
        <p:txBody>
          <a:bodyPr wrap="square" lIns="0" rIns="0" tIns="0" bIns="0" anchor="t">
            <a:spAutoFit/>
          </a:bodyPr>
          <a:lstStyle/>
          <a:p>
            <a:pPr algn="l"/>
            <a:r>
              <a:rPr sz="1200" b="0" i="0">
                <a:solidFill>
                  <a:srgbClr val="9A9AAA"/>
                </a:solidFill>
                <a:latin typeface="Verdana"/>
              </a:rPr>
              <a:t>Rolle und Grenzen können auch fest ins KI-Modell.</a:t>
            </a:r>
          </a:p>
        </p:txBody>
      </p:sp>
      <p:sp>
        <p:nvSpPr>
          <p:cNvPr id="31" name="TextBox 30"/>
          <p:cNvSpPr txBox="1"/>
          <p:nvPr/>
        </p:nvSpPr>
        <p:spPr>
          <a:xfrm>
            <a:off x="548640" y="5532120"/>
            <a:ext cx="11091672" cy="365760"/>
          </a:xfrm>
          <a:prstGeom prst="rect">
            <a:avLst/>
          </a:prstGeom>
          <a:noFill/>
        </p:spPr>
        <p:txBody>
          <a:bodyPr wrap="square" lIns="0" rIns="0" tIns="0" bIns="0" anchor="t">
            <a:spAutoFit/>
          </a:bodyPr>
          <a:lstStyle/>
          <a:p>
            <a:pPr algn="l"/>
            <a:r>
              <a:rPr sz="1333" b="1" i="0">
                <a:solidFill>
                  <a:srgbClr val="FFFFFF"/>
                </a:solidFill>
                <a:latin typeface="Verdana"/>
              </a:rPr>
              <a:t>Nicht jeder Prompt braucht alle Teile. </a:t>
            </a:r>
            <a:r>
              <a:rPr sz="1333" b="0" i="0">
                <a:solidFill>
                  <a:srgbClr val="9A9AAA"/>
                </a:solidFill>
                <a:latin typeface="Verdana"/>
              </a:rPr>
              <a:t>Aber wenn ein Ergebnis nicht passt, fehlt meistens einer davon.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Tipps für gute Prompts.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PROMPTS</a:t>
            </a:r>
          </a:p>
        </p:txBody>
      </p:sp>
      <p:sp>
        <p:nvSpPr>
          <p:cNvPr id="4" name="Rectangle 3"/>
          <p:cNvSpPr/>
          <p:nvPr/>
        </p:nvSpPr>
        <p:spPr>
          <a:xfrm>
            <a:off x="548640" y="1783080"/>
            <a:ext cx="5431536" cy="1188720"/>
          </a:xfrm>
          <a:prstGeom prst="rect">
            <a:avLst/>
          </a:prstGeom>
          <a:solidFill>
            <a:srgbClr val="24232E"/>
          </a:solidFill>
          <a:ln w="9525">
            <a:solidFill>
              <a:srgbClr val="3A3948"/>
            </a:solidFill>
          </a:ln>
        </p:spPr>
        <p:txBody>
          <a:bodyPr rtlCol="0" anchor="ctr"/>
          <a:lstStyle/>
          <a:p>
            <a:pPr algn="ctr"/>
          </a:p>
        </p:txBody>
      </p:sp>
      <p:sp>
        <p:nvSpPr>
          <p:cNvPr id="5" name="Oval 4"/>
          <p:cNvSpPr/>
          <p:nvPr/>
        </p:nvSpPr>
        <p:spPr>
          <a:xfrm>
            <a:off x="822959" y="2057400"/>
            <a:ext cx="640080" cy="640080"/>
          </a:xfrm>
          <a:prstGeom prst="ellipse">
            <a:avLst/>
          </a:prstGeom>
          <a:solidFill>
            <a:srgbClr val="DC640D"/>
          </a:solidFill>
          <a:ln>
            <a:noFill/>
          </a:ln>
        </p:spPr>
        <p:txBody>
          <a:bodyPr rtlCol="0" anchor="ctr"/>
          <a:lstStyle/>
          <a:p>
            <a:pPr algn="ctr"/>
          </a:p>
        </p:txBody>
      </p:sp>
      <p:pic>
        <p:nvPicPr>
          <p:cNvPr id="6" name="Picture 5" descr="LuUser_w.png"/>
          <p:cNvPicPr>
            <a:picLocks noChangeAspect="1"/>
          </p:cNvPicPr>
          <p:nvPr/>
        </p:nvPicPr>
        <p:blipFill>
          <a:blip r:embed="rId3"/>
          <a:stretch>
            <a:fillRect/>
          </a:stretch>
        </p:blipFill>
        <p:spPr>
          <a:xfrm>
            <a:off x="963777" y="2198217"/>
            <a:ext cx="358444" cy="358444"/>
          </a:xfrm>
          <a:prstGeom prst="rect">
            <a:avLst/>
          </a:prstGeom>
        </p:spPr>
      </p:pic>
      <p:sp>
        <p:nvSpPr>
          <p:cNvPr id="7" name="TextBox 6"/>
          <p:cNvSpPr txBox="1"/>
          <p:nvPr/>
        </p:nvSpPr>
        <p:spPr>
          <a:xfrm>
            <a:off x="1691640" y="1984248"/>
            <a:ext cx="4059936" cy="320040"/>
          </a:xfrm>
          <a:prstGeom prst="rect">
            <a:avLst/>
          </a:prstGeom>
          <a:noFill/>
        </p:spPr>
        <p:txBody>
          <a:bodyPr wrap="square" lIns="0" rIns="0" tIns="0" bIns="0" anchor="t">
            <a:spAutoFit/>
          </a:bodyPr>
          <a:lstStyle/>
          <a:p>
            <a:pPr algn="l"/>
            <a:r>
              <a:rPr sz="1467" b="1" i="0">
                <a:solidFill>
                  <a:srgbClr val="FFFFFF"/>
                </a:solidFill>
                <a:latin typeface="Verdana"/>
              </a:rPr>
              <a:t>Rolle geben</a:t>
            </a:r>
          </a:p>
        </p:txBody>
      </p:sp>
      <p:sp>
        <p:nvSpPr>
          <p:cNvPr id="8" name="TextBox 7"/>
          <p:cNvSpPr txBox="1"/>
          <p:nvPr/>
        </p:nvSpPr>
        <p:spPr>
          <a:xfrm>
            <a:off x="1691640" y="2350008"/>
            <a:ext cx="4059936" cy="548640"/>
          </a:xfrm>
          <a:prstGeom prst="rect">
            <a:avLst/>
          </a:prstGeom>
          <a:noFill/>
        </p:spPr>
        <p:txBody>
          <a:bodyPr wrap="square" lIns="0" rIns="0" tIns="0" bIns="0" anchor="t">
            <a:spAutoFit/>
          </a:bodyPr>
          <a:lstStyle/>
          <a:p>
            <a:pPr algn="l"/>
            <a:r>
              <a:rPr sz="1267" b="0" i="1">
                <a:solidFill>
                  <a:srgbClr val="9A9AAA"/>
                </a:solidFill>
                <a:latin typeface="Verdana"/>
              </a:rPr>
              <a:t>„Du bist Fachreferent:in für Geschichte …“</a:t>
            </a:r>
          </a:p>
        </p:txBody>
      </p:sp>
      <p:sp>
        <p:nvSpPr>
          <p:cNvPr id="9" name="Rectangle 8"/>
          <p:cNvSpPr/>
          <p:nvPr/>
        </p:nvSpPr>
        <p:spPr>
          <a:xfrm>
            <a:off x="6208776" y="1783080"/>
            <a:ext cx="5431536" cy="1188720"/>
          </a:xfrm>
          <a:prstGeom prst="rect">
            <a:avLst/>
          </a:prstGeom>
          <a:solidFill>
            <a:srgbClr val="24232E"/>
          </a:solidFill>
          <a:ln w="9525">
            <a:solidFill>
              <a:srgbClr val="3A3948"/>
            </a:solidFill>
          </a:ln>
        </p:spPr>
        <p:txBody>
          <a:bodyPr rtlCol="0" anchor="ctr"/>
          <a:lstStyle/>
          <a:p>
            <a:pPr algn="ctr"/>
          </a:p>
        </p:txBody>
      </p:sp>
      <p:sp>
        <p:nvSpPr>
          <p:cNvPr id="10" name="Oval 9"/>
          <p:cNvSpPr/>
          <p:nvPr/>
        </p:nvSpPr>
        <p:spPr>
          <a:xfrm>
            <a:off x="6483096" y="2057400"/>
            <a:ext cx="640080" cy="640080"/>
          </a:xfrm>
          <a:prstGeom prst="ellipse">
            <a:avLst/>
          </a:prstGeom>
          <a:solidFill>
            <a:srgbClr val="DC640D"/>
          </a:solidFill>
          <a:ln>
            <a:noFill/>
          </a:ln>
        </p:spPr>
        <p:txBody>
          <a:bodyPr rtlCol="0" anchor="ctr"/>
          <a:lstStyle/>
          <a:p>
            <a:pPr algn="ctr"/>
          </a:p>
        </p:txBody>
      </p:sp>
      <p:pic>
        <p:nvPicPr>
          <p:cNvPr id="11" name="Picture 10" descr="LuTarget_w.png"/>
          <p:cNvPicPr>
            <a:picLocks noChangeAspect="1"/>
          </p:cNvPicPr>
          <p:nvPr/>
        </p:nvPicPr>
        <p:blipFill>
          <a:blip r:embed="rId4"/>
          <a:stretch>
            <a:fillRect/>
          </a:stretch>
        </p:blipFill>
        <p:spPr>
          <a:xfrm>
            <a:off x="6623913" y="2198217"/>
            <a:ext cx="358444" cy="358444"/>
          </a:xfrm>
          <a:prstGeom prst="rect">
            <a:avLst/>
          </a:prstGeom>
        </p:spPr>
      </p:pic>
      <p:sp>
        <p:nvSpPr>
          <p:cNvPr id="12" name="TextBox 11"/>
          <p:cNvSpPr txBox="1"/>
          <p:nvPr/>
        </p:nvSpPr>
        <p:spPr>
          <a:xfrm>
            <a:off x="7351775" y="1984248"/>
            <a:ext cx="4059936" cy="320040"/>
          </a:xfrm>
          <a:prstGeom prst="rect">
            <a:avLst/>
          </a:prstGeom>
          <a:noFill/>
        </p:spPr>
        <p:txBody>
          <a:bodyPr wrap="square" lIns="0" rIns="0" tIns="0" bIns="0" anchor="t">
            <a:spAutoFit/>
          </a:bodyPr>
          <a:lstStyle/>
          <a:p>
            <a:pPr algn="l"/>
            <a:r>
              <a:rPr sz="1467" b="1" i="0">
                <a:solidFill>
                  <a:srgbClr val="FFFFFF"/>
                </a:solidFill>
                <a:latin typeface="Verdana"/>
              </a:rPr>
              <a:t>Aufgabe klar benennen</a:t>
            </a:r>
          </a:p>
        </p:txBody>
      </p:sp>
      <p:sp>
        <p:nvSpPr>
          <p:cNvPr id="13" name="TextBox 12"/>
          <p:cNvSpPr txBox="1"/>
          <p:nvPr/>
        </p:nvSpPr>
        <p:spPr>
          <a:xfrm>
            <a:off x="7351775" y="2350008"/>
            <a:ext cx="4059936" cy="548640"/>
          </a:xfrm>
          <a:prstGeom prst="rect">
            <a:avLst/>
          </a:prstGeom>
          <a:noFill/>
        </p:spPr>
        <p:txBody>
          <a:bodyPr wrap="square" lIns="0" rIns="0" tIns="0" bIns="0" anchor="t">
            <a:spAutoFit/>
          </a:bodyPr>
          <a:lstStyle/>
          <a:p>
            <a:pPr algn="l"/>
            <a:r>
              <a:rPr sz="1267" b="0" i="1">
                <a:solidFill>
                  <a:srgbClr val="9A9AAA"/>
                </a:solidFill>
                <a:latin typeface="Verdana"/>
              </a:rPr>
              <a:t>„Schreibe einen Prüfbericht mit genau drei Abschnitten.“</a:t>
            </a:r>
          </a:p>
        </p:txBody>
      </p:sp>
      <p:sp>
        <p:nvSpPr>
          <p:cNvPr id="14" name="Rectangle 13"/>
          <p:cNvSpPr/>
          <p:nvPr/>
        </p:nvSpPr>
        <p:spPr>
          <a:xfrm>
            <a:off x="548640" y="3154680"/>
            <a:ext cx="5431536" cy="1188720"/>
          </a:xfrm>
          <a:prstGeom prst="rect">
            <a:avLst/>
          </a:prstGeom>
          <a:solidFill>
            <a:srgbClr val="24232E"/>
          </a:solidFill>
          <a:ln w="9525">
            <a:solidFill>
              <a:srgbClr val="3A3948"/>
            </a:solidFill>
          </a:ln>
        </p:spPr>
        <p:txBody>
          <a:bodyPr rtlCol="0" anchor="ctr"/>
          <a:lstStyle/>
          <a:p>
            <a:pPr algn="ctr"/>
          </a:p>
        </p:txBody>
      </p:sp>
      <p:sp>
        <p:nvSpPr>
          <p:cNvPr id="15" name="Oval 14"/>
          <p:cNvSpPr/>
          <p:nvPr/>
        </p:nvSpPr>
        <p:spPr>
          <a:xfrm>
            <a:off x="822959" y="3429000"/>
            <a:ext cx="640080" cy="640080"/>
          </a:xfrm>
          <a:prstGeom prst="ellipse">
            <a:avLst/>
          </a:prstGeom>
          <a:solidFill>
            <a:srgbClr val="DC640D"/>
          </a:solidFill>
          <a:ln>
            <a:noFill/>
          </a:ln>
        </p:spPr>
        <p:txBody>
          <a:bodyPr rtlCol="0" anchor="ctr"/>
          <a:lstStyle/>
          <a:p>
            <a:pPr algn="ctr"/>
          </a:p>
        </p:txBody>
      </p:sp>
      <p:pic>
        <p:nvPicPr>
          <p:cNvPr id="16" name="Picture 15" descr="LuListChecks_w.png"/>
          <p:cNvPicPr>
            <a:picLocks noChangeAspect="1"/>
          </p:cNvPicPr>
          <p:nvPr/>
        </p:nvPicPr>
        <p:blipFill>
          <a:blip r:embed="rId5"/>
          <a:stretch>
            <a:fillRect/>
          </a:stretch>
        </p:blipFill>
        <p:spPr>
          <a:xfrm>
            <a:off x="963777" y="3569817"/>
            <a:ext cx="358444" cy="358444"/>
          </a:xfrm>
          <a:prstGeom prst="rect">
            <a:avLst/>
          </a:prstGeom>
        </p:spPr>
      </p:pic>
      <p:sp>
        <p:nvSpPr>
          <p:cNvPr id="17" name="TextBox 16"/>
          <p:cNvSpPr txBox="1"/>
          <p:nvPr/>
        </p:nvSpPr>
        <p:spPr>
          <a:xfrm>
            <a:off x="1691640" y="3355848"/>
            <a:ext cx="4059936" cy="320040"/>
          </a:xfrm>
          <a:prstGeom prst="rect">
            <a:avLst/>
          </a:prstGeom>
          <a:noFill/>
        </p:spPr>
        <p:txBody>
          <a:bodyPr wrap="square" lIns="0" rIns="0" tIns="0" bIns="0" anchor="t">
            <a:spAutoFit/>
          </a:bodyPr>
          <a:lstStyle/>
          <a:p>
            <a:pPr algn="l"/>
            <a:r>
              <a:rPr sz="1467" b="1" i="0">
                <a:solidFill>
                  <a:srgbClr val="FFFFFF"/>
                </a:solidFill>
                <a:latin typeface="Verdana"/>
              </a:rPr>
              <a:t>Format vorgeben</a:t>
            </a:r>
          </a:p>
        </p:txBody>
      </p:sp>
      <p:sp>
        <p:nvSpPr>
          <p:cNvPr id="18" name="TextBox 17"/>
          <p:cNvSpPr txBox="1"/>
          <p:nvPr/>
        </p:nvSpPr>
        <p:spPr>
          <a:xfrm>
            <a:off x="1691640" y="3721608"/>
            <a:ext cx="4059936" cy="548640"/>
          </a:xfrm>
          <a:prstGeom prst="rect">
            <a:avLst/>
          </a:prstGeom>
          <a:noFill/>
        </p:spPr>
        <p:txBody>
          <a:bodyPr wrap="square" lIns="0" rIns="0" tIns="0" bIns="0" anchor="t">
            <a:spAutoFit/>
          </a:bodyPr>
          <a:lstStyle/>
          <a:p>
            <a:pPr algn="l"/>
            <a:r>
              <a:rPr sz="1267" b="0" i="1">
                <a:solidFill>
                  <a:srgbClr val="9A9AAA"/>
                </a:solidFill>
                <a:latin typeface="Verdana"/>
              </a:rPr>
              <a:t>„Antworte als Tabelle mit den Spalten Nr., Problem, Vorschlag.“</a:t>
            </a:r>
          </a:p>
        </p:txBody>
      </p:sp>
      <p:sp>
        <p:nvSpPr>
          <p:cNvPr id="19" name="Rectangle 18"/>
          <p:cNvSpPr/>
          <p:nvPr/>
        </p:nvSpPr>
        <p:spPr>
          <a:xfrm>
            <a:off x="6208776" y="3154680"/>
            <a:ext cx="5431536" cy="1188720"/>
          </a:xfrm>
          <a:prstGeom prst="rect">
            <a:avLst/>
          </a:prstGeom>
          <a:solidFill>
            <a:srgbClr val="24232E"/>
          </a:solidFill>
          <a:ln w="9525">
            <a:solidFill>
              <a:srgbClr val="3A3948"/>
            </a:solidFill>
          </a:ln>
        </p:spPr>
        <p:txBody>
          <a:bodyPr rtlCol="0" anchor="ctr"/>
          <a:lstStyle/>
          <a:p>
            <a:pPr algn="ctr"/>
          </a:p>
        </p:txBody>
      </p:sp>
      <p:sp>
        <p:nvSpPr>
          <p:cNvPr id="20" name="Oval 19"/>
          <p:cNvSpPr/>
          <p:nvPr/>
        </p:nvSpPr>
        <p:spPr>
          <a:xfrm>
            <a:off x="6483096" y="3429000"/>
            <a:ext cx="640080" cy="640080"/>
          </a:xfrm>
          <a:prstGeom prst="ellipse">
            <a:avLst/>
          </a:prstGeom>
          <a:solidFill>
            <a:srgbClr val="DC640D"/>
          </a:solidFill>
          <a:ln>
            <a:noFill/>
          </a:ln>
        </p:spPr>
        <p:txBody>
          <a:bodyPr rtlCol="0" anchor="ctr"/>
          <a:lstStyle/>
          <a:p>
            <a:pPr algn="ctr"/>
          </a:p>
        </p:txBody>
      </p:sp>
      <p:pic>
        <p:nvPicPr>
          <p:cNvPr id="21" name="Picture 20" descr="LuShieldCheck_w.png"/>
          <p:cNvPicPr>
            <a:picLocks noChangeAspect="1"/>
          </p:cNvPicPr>
          <p:nvPr/>
        </p:nvPicPr>
        <p:blipFill>
          <a:blip r:embed="rId6"/>
          <a:stretch>
            <a:fillRect/>
          </a:stretch>
        </p:blipFill>
        <p:spPr>
          <a:xfrm>
            <a:off x="6623913" y="3569817"/>
            <a:ext cx="358444" cy="358444"/>
          </a:xfrm>
          <a:prstGeom prst="rect">
            <a:avLst/>
          </a:prstGeom>
        </p:spPr>
      </p:pic>
      <p:sp>
        <p:nvSpPr>
          <p:cNvPr id="22" name="TextBox 21"/>
          <p:cNvSpPr txBox="1"/>
          <p:nvPr/>
        </p:nvSpPr>
        <p:spPr>
          <a:xfrm>
            <a:off x="7351775" y="3355848"/>
            <a:ext cx="4059936" cy="320040"/>
          </a:xfrm>
          <a:prstGeom prst="rect">
            <a:avLst/>
          </a:prstGeom>
          <a:noFill/>
        </p:spPr>
        <p:txBody>
          <a:bodyPr wrap="square" lIns="0" rIns="0" tIns="0" bIns="0" anchor="t">
            <a:spAutoFit/>
          </a:bodyPr>
          <a:lstStyle/>
          <a:p>
            <a:pPr algn="l"/>
            <a:r>
              <a:rPr sz="1467" b="1" i="0">
                <a:solidFill>
                  <a:srgbClr val="FFFFFF"/>
                </a:solidFill>
                <a:latin typeface="Verdana"/>
              </a:rPr>
              <a:t>Grenzen setzen</a:t>
            </a:r>
          </a:p>
        </p:txBody>
      </p:sp>
      <p:sp>
        <p:nvSpPr>
          <p:cNvPr id="23" name="TextBox 22"/>
          <p:cNvSpPr txBox="1"/>
          <p:nvPr/>
        </p:nvSpPr>
        <p:spPr>
          <a:xfrm>
            <a:off x="7351775" y="3721608"/>
            <a:ext cx="4059936" cy="548640"/>
          </a:xfrm>
          <a:prstGeom prst="rect">
            <a:avLst/>
          </a:prstGeom>
          <a:noFill/>
        </p:spPr>
        <p:txBody>
          <a:bodyPr wrap="square" lIns="0" rIns="0" tIns="0" bIns="0" anchor="t">
            <a:spAutoFit/>
          </a:bodyPr>
          <a:lstStyle/>
          <a:p>
            <a:pPr algn="l"/>
            <a:r>
              <a:rPr sz="1267" b="0" i="1">
                <a:solidFill>
                  <a:srgbClr val="9A9AAA"/>
                </a:solidFill>
                <a:latin typeface="Verdana"/>
              </a:rPr>
              <a:t>„Verwende nur die Informationen oben. Erfinde nichts.“</a:t>
            </a:r>
          </a:p>
        </p:txBody>
      </p:sp>
      <p:sp>
        <p:nvSpPr>
          <p:cNvPr id="24" name="Rectangle 23"/>
          <p:cNvSpPr/>
          <p:nvPr/>
        </p:nvSpPr>
        <p:spPr>
          <a:xfrm>
            <a:off x="548640" y="4526280"/>
            <a:ext cx="5431536" cy="1188720"/>
          </a:xfrm>
          <a:prstGeom prst="rect">
            <a:avLst/>
          </a:prstGeom>
          <a:solidFill>
            <a:srgbClr val="24232E"/>
          </a:solidFill>
          <a:ln w="9525">
            <a:solidFill>
              <a:srgbClr val="3A3948"/>
            </a:solidFill>
          </a:ln>
        </p:spPr>
        <p:txBody>
          <a:bodyPr rtlCol="0" anchor="ctr"/>
          <a:lstStyle/>
          <a:p>
            <a:pPr algn="ctr"/>
          </a:p>
        </p:txBody>
      </p:sp>
      <p:sp>
        <p:nvSpPr>
          <p:cNvPr id="25" name="Oval 24"/>
          <p:cNvSpPr/>
          <p:nvPr/>
        </p:nvSpPr>
        <p:spPr>
          <a:xfrm>
            <a:off x="822959" y="4800600"/>
            <a:ext cx="640080" cy="640080"/>
          </a:xfrm>
          <a:prstGeom prst="ellipse">
            <a:avLst/>
          </a:prstGeom>
          <a:solidFill>
            <a:srgbClr val="DC640D"/>
          </a:solidFill>
          <a:ln>
            <a:noFill/>
          </a:ln>
        </p:spPr>
        <p:txBody>
          <a:bodyPr rtlCol="0" anchor="ctr"/>
          <a:lstStyle/>
          <a:p>
            <a:pPr algn="ctr"/>
          </a:p>
        </p:txBody>
      </p:sp>
      <p:pic>
        <p:nvPicPr>
          <p:cNvPr id="26" name="Picture 25" descr="LuUsers_w.png"/>
          <p:cNvPicPr>
            <a:picLocks noChangeAspect="1"/>
          </p:cNvPicPr>
          <p:nvPr/>
        </p:nvPicPr>
        <p:blipFill>
          <a:blip r:embed="rId7"/>
          <a:stretch>
            <a:fillRect/>
          </a:stretch>
        </p:blipFill>
        <p:spPr>
          <a:xfrm>
            <a:off x="963777" y="4941417"/>
            <a:ext cx="358444" cy="358444"/>
          </a:xfrm>
          <a:prstGeom prst="rect">
            <a:avLst/>
          </a:prstGeom>
        </p:spPr>
      </p:pic>
      <p:sp>
        <p:nvSpPr>
          <p:cNvPr id="27" name="TextBox 26"/>
          <p:cNvSpPr txBox="1"/>
          <p:nvPr/>
        </p:nvSpPr>
        <p:spPr>
          <a:xfrm>
            <a:off x="1691640" y="4727448"/>
            <a:ext cx="4059936" cy="320040"/>
          </a:xfrm>
          <a:prstGeom prst="rect">
            <a:avLst/>
          </a:prstGeom>
          <a:noFill/>
        </p:spPr>
        <p:txBody>
          <a:bodyPr wrap="square" lIns="0" rIns="0" tIns="0" bIns="0" anchor="t">
            <a:spAutoFit/>
          </a:bodyPr>
          <a:lstStyle/>
          <a:p>
            <a:pPr algn="l"/>
            <a:r>
              <a:rPr sz="1467" b="1" i="0">
                <a:solidFill>
                  <a:srgbClr val="FFFFFF"/>
                </a:solidFill>
                <a:latin typeface="Verdana"/>
              </a:rPr>
              <a:t>Zielgruppe nennen</a:t>
            </a:r>
          </a:p>
        </p:txBody>
      </p:sp>
      <p:sp>
        <p:nvSpPr>
          <p:cNvPr id="28" name="TextBox 27"/>
          <p:cNvSpPr txBox="1"/>
          <p:nvPr/>
        </p:nvSpPr>
        <p:spPr>
          <a:xfrm>
            <a:off x="1691640" y="5093208"/>
            <a:ext cx="4059936" cy="548640"/>
          </a:xfrm>
          <a:prstGeom prst="rect">
            <a:avLst/>
          </a:prstGeom>
          <a:noFill/>
        </p:spPr>
        <p:txBody>
          <a:bodyPr wrap="square" lIns="0" rIns="0" tIns="0" bIns="0" anchor="t">
            <a:spAutoFit/>
          </a:bodyPr>
          <a:lstStyle/>
          <a:p>
            <a:pPr algn="l"/>
            <a:r>
              <a:rPr sz="1267" b="0" i="1">
                <a:solidFill>
                  <a:srgbClr val="9A9AAA"/>
                </a:solidFill>
                <a:latin typeface="Verdana"/>
              </a:rPr>
              <a:t>„Für Studierende im ersten Semester, in einfacher Sprache.“</a:t>
            </a:r>
          </a:p>
        </p:txBody>
      </p:sp>
      <p:sp>
        <p:nvSpPr>
          <p:cNvPr id="29" name="Rectangle 28"/>
          <p:cNvSpPr/>
          <p:nvPr/>
        </p:nvSpPr>
        <p:spPr>
          <a:xfrm>
            <a:off x="6208776" y="4526280"/>
            <a:ext cx="5431536" cy="1188720"/>
          </a:xfrm>
          <a:prstGeom prst="rect">
            <a:avLst/>
          </a:prstGeom>
          <a:solidFill>
            <a:srgbClr val="24232E"/>
          </a:solidFill>
          <a:ln w="9525">
            <a:solidFill>
              <a:srgbClr val="3A3948"/>
            </a:solidFill>
          </a:ln>
        </p:spPr>
        <p:txBody>
          <a:bodyPr rtlCol="0" anchor="ctr"/>
          <a:lstStyle/>
          <a:p>
            <a:pPr algn="ctr"/>
          </a:p>
        </p:txBody>
      </p:sp>
      <p:sp>
        <p:nvSpPr>
          <p:cNvPr id="30" name="Oval 29"/>
          <p:cNvSpPr/>
          <p:nvPr/>
        </p:nvSpPr>
        <p:spPr>
          <a:xfrm>
            <a:off x="6483096" y="4800600"/>
            <a:ext cx="640080" cy="640080"/>
          </a:xfrm>
          <a:prstGeom prst="ellipse">
            <a:avLst/>
          </a:prstGeom>
          <a:solidFill>
            <a:srgbClr val="DC640D"/>
          </a:solidFill>
          <a:ln>
            <a:noFill/>
          </a:ln>
        </p:spPr>
        <p:txBody>
          <a:bodyPr rtlCol="0" anchor="ctr"/>
          <a:lstStyle/>
          <a:p>
            <a:pPr algn="ctr"/>
          </a:p>
        </p:txBody>
      </p:sp>
      <p:pic>
        <p:nvPicPr>
          <p:cNvPr id="31" name="Picture 30" descr="LuFileText_w.png"/>
          <p:cNvPicPr>
            <a:picLocks noChangeAspect="1"/>
          </p:cNvPicPr>
          <p:nvPr/>
        </p:nvPicPr>
        <p:blipFill>
          <a:blip r:embed="rId8"/>
          <a:stretch>
            <a:fillRect/>
          </a:stretch>
        </p:blipFill>
        <p:spPr>
          <a:xfrm>
            <a:off x="6623913" y="4941417"/>
            <a:ext cx="358444" cy="358444"/>
          </a:xfrm>
          <a:prstGeom prst="rect">
            <a:avLst/>
          </a:prstGeom>
        </p:spPr>
      </p:pic>
      <p:sp>
        <p:nvSpPr>
          <p:cNvPr id="32" name="TextBox 31"/>
          <p:cNvSpPr txBox="1"/>
          <p:nvPr/>
        </p:nvSpPr>
        <p:spPr>
          <a:xfrm>
            <a:off x="7351775" y="4727448"/>
            <a:ext cx="4059936" cy="320040"/>
          </a:xfrm>
          <a:prstGeom prst="rect">
            <a:avLst/>
          </a:prstGeom>
          <a:noFill/>
        </p:spPr>
        <p:txBody>
          <a:bodyPr wrap="square" lIns="0" rIns="0" tIns="0" bIns="0" anchor="t">
            <a:spAutoFit/>
          </a:bodyPr>
          <a:lstStyle/>
          <a:p>
            <a:pPr algn="l"/>
            <a:r>
              <a:rPr sz="1467" b="1" i="0">
                <a:solidFill>
                  <a:srgbClr val="FFFFFF"/>
                </a:solidFill>
                <a:latin typeface="Verdana"/>
              </a:rPr>
              <a:t>Daten zuerst</a:t>
            </a:r>
          </a:p>
        </p:txBody>
      </p:sp>
      <p:sp>
        <p:nvSpPr>
          <p:cNvPr id="33" name="TextBox 32"/>
          <p:cNvSpPr txBox="1"/>
          <p:nvPr/>
        </p:nvSpPr>
        <p:spPr>
          <a:xfrm>
            <a:off x="7351775" y="5093208"/>
            <a:ext cx="4059936" cy="548640"/>
          </a:xfrm>
          <a:prstGeom prst="rect">
            <a:avLst/>
          </a:prstGeom>
          <a:noFill/>
        </p:spPr>
        <p:txBody>
          <a:bodyPr wrap="square" lIns="0" rIns="0" tIns="0" bIns="0" anchor="t">
            <a:spAutoFit/>
          </a:bodyPr>
          <a:lstStyle/>
          <a:p>
            <a:pPr algn="l"/>
            <a:r>
              <a:rPr sz="1267" b="0" i="0">
                <a:solidFill>
                  <a:srgbClr val="9A9AAA"/>
                </a:solidFill>
                <a:latin typeface="Verdana"/>
              </a:rPr>
              <a:t>Bei viel Text die Daten oben und die Anweisung unten in den Prompt schreiben.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Zwei Regler, die viel ändern.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EINSTELLUNGEN</a:t>
            </a:r>
          </a:p>
        </p:txBody>
      </p:sp>
      <p:sp>
        <p:nvSpPr>
          <p:cNvPr id="4" name="Rectangle 3"/>
          <p:cNvSpPr/>
          <p:nvPr/>
        </p:nvSpPr>
        <p:spPr>
          <a:xfrm>
            <a:off x="548640" y="1783080"/>
            <a:ext cx="5408676" cy="40233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08676" cy="64008"/>
          </a:xfrm>
          <a:prstGeom prst="rect">
            <a:avLst/>
          </a:prstGeom>
          <a:solidFill>
            <a:srgbClr val="DC640D"/>
          </a:solidFill>
          <a:ln>
            <a:noFill/>
          </a:ln>
        </p:spPr>
        <p:txBody>
          <a:bodyPr rtlCol="0" anchor="ctr"/>
          <a:lstStyle/>
          <a:p>
            <a:pPr algn="ctr"/>
          </a:p>
        </p:txBody>
      </p:sp>
      <p:sp>
        <p:nvSpPr>
          <p:cNvPr id="6" name="Oval 5"/>
          <p:cNvSpPr/>
          <p:nvPr/>
        </p:nvSpPr>
        <p:spPr>
          <a:xfrm>
            <a:off x="822959" y="2103120"/>
            <a:ext cx="594360" cy="594360"/>
          </a:xfrm>
          <a:prstGeom prst="ellipse">
            <a:avLst/>
          </a:prstGeom>
          <a:solidFill>
            <a:srgbClr val="DC640D"/>
          </a:solidFill>
          <a:ln>
            <a:noFill/>
          </a:ln>
        </p:spPr>
        <p:txBody>
          <a:bodyPr rtlCol="0" anchor="ctr"/>
          <a:lstStyle/>
          <a:p>
            <a:pPr algn="ctr"/>
          </a:p>
        </p:txBody>
      </p:sp>
      <p:pic>
        <p:nvPicPr>
          <p:cNvPr id="7" name="Picture 6" descr="LuThermometer_w.png"/>
          <p:cNvPicPr>
            <a:picLocks noChangeAspect="1"/>
          </p:cNvPicPr>
          <p:nvPr/>
        </p:nvPicPr>
        <p:blipFill>
          <a:blip r:embed="rId3"/>
          <a:stretch>
            <a:fillRect/>
          </a:stretch>
        </p:blipFill>
        <p:spPr>
          <a:xfrm>
            <a:off x="953719" y="2233879"/>
            <a:ext cx="332841" cy="332841"/>
          </a:xfrm>
          <a:prstGeom prst="rect">
            <a:avLst/>
          </a:prstGeom>
        </p:spPr>
      </p:pic>
      <p:sp>
        <p:nvSpPr>
          <p:cNvPr id="8" name="TextBox 7"/>
          <p:cNvSpPr txBox="1"/>
          <p:nvPr/>
        </p:nvSpPr>
        <p:spPr>
          <a:xfrm>
            <a:off x="1600200" y="2057400"/>
            <a:ext cx="4128516" cy="365760"/>
          </a:xfrm>
          <a:prstGeom prst="rect">
            <a:avLst/>
          </a:prstGeom>
          <a:noFill/>
        </p:spPr>
        <p:txBody>
          <a:bodyPr wrap="square" lIns="0" rIns="0" tIns="0" bIns="0" anchor="t">
            <a:spAutoFit/>
          </a:bodyPr>
          <a:lstStyle/>
          <a:p>
            <a:pPr algn="l"/>
            <a:r>
              <a:rPr sz="1600" b="1" i="0">
                <a:solidFill>
                  <a:srgbClr val="FFFFFF"/>
                </a:solidFill>
                <a:latin typeface="Verdana"/>
              </a:rPr>
              <a:t>Kreativität (Temperatur)</a:t>
            </a:r>
          </a:p>
        </p:txBody>
      </p:sp>
      <p:sp>
        <p:nvSpPr>
          <p:cNvPr id="9" name="TextBox 8"/>
          <p:cNvSpPr txBox="1"/>
          <p:nvPr/>
        </p:nvSpPr>
        <p:spPr>
          <a:xfrm>
            <a:off x="1600200" y="2441448"/>
            <a:ext cx="4128516" cy="274320"/>
          </a:xfrm>
          <a:prstGeom prst="rect">
            <a:avLst/>
          </a:prstGeom>
          <a:noFill/>
        </p:spPr>
        <p:txBody>
          <a:bodyPr wrap="square" lIns="0" rIns="0" tIns="0" bIns="0" anchor="t">
            <a:spAutoFit/>
          </a:bodyPr>
          <a:lstStyle/>
          <a:p>
            <a:pPr algn="l"/>
            <a:r>
              <a:rPr sz="1200" b="0" i="1">
                <a:solidFill>
                  <a:srgbClr val="DC640D"/>
                </a:solidFill>
                <a:latin typeface="Verdana"/>
              </a:rPr>
              <a:t>im Baustein KI-Modell</a:t>
            </a:r>
          </a:p>
        </p:txBody>
      </p:sp>
      <p:sp>
        <p:nvSpPr>
          <p:cNvPr id="10" name="Rectangle 9"/>
          <p:cNvSpPr/>
          <p:nvPr/>
        </p:nvSpPr>
        <p:spPr>
          <a:xfrm>
            <a:off x="1005840" y="3383280"/>
            <a:ext cx="4494276" cy="91440"/>
          </a:xfrm>
          <a:prstGeom prst="rect">
            <a:avLst/>
          </a:prstGeom>
          <a:solidFill>
            <a:srgbClr val="3A3948"/>
          </a:solidFill>
          <a:ln>
            <a:noFill/>
          </a:ln>
        </p:spPr>
        <p:txBody>
          <a:bodyPr rtlCol="0" anchor="ctr"/>
          <a:lstStyle/>
          <a:p>
            <a:pPr algn="ctr"/>
          </a:p>
        </p:txBody>
      </p:sp>
      <p:sp>
        <p:nvSpPr>
          <p:cNvPr id="11" name="Rectangle 10"/>
          <p:cNvSpPr/>
          <p:nvPr/>
        </p:nvSpPr>
        <p:spPr>
          <a:xfrm>
            <a:off x="1005840" y="3383280"/>
            <a:ext cx="1123569" cy="91440"/>
          </a:xfrm>
          <a:prstGeom prst="rect">
            <a:avLst/>
          </a:prstGeom>
          <a:solidFill>
            <a:srgbClr val="DC640D"/>
          </a:solidFill>
          <a:ln>
            <a:noFill/>
          </a:ln>
        </p:spPr>
        <p:txBody>
          <a:bodyPr rtlCol="0" anchor="ctr"/>
          <a:lstStyle/>
          <a:p>
            <a:pPr algn="ctr"/>
          </a:p>
        </p:txBody>
      </p:sp>
      <p:sp>
        <p:nvSpPr>
          <p:cNvPr id="12" name="TextBox 11"/>
          <p:cNvSpPr txBox="1"/>
          <p:nvPr/>
        </p:nvSpPr>
        <p:spPr>
          <a:xfrm>
            <a:off x="640080" y="3566160"/>
            <a:ext cx="731520" cy="274320"/>
          </a:xfrm>
          <a:prstGeom prst="rect">
            <a:avLst/>
          </a:prstGeom>
          <a:noFill/>
        </p:spPr>
        <p:txBody>
          <a:bodyPr wrap="square" lIns="0" rIns="0" tIns="0" bIns="0" anchor="t">
            <a:spAutoFit/>
          </a:bodyPr>
          <a:lstStyle/>
          <a:p>
            <a:pPr algn="ctr"/>
            <a:r>
              <a:rPr sz="1200" b="1" i="0">
                <a:solidFill>
                  <a:srgbClr val="FFFFFF"/>
                </a:solidFill>
                <a:latin typeface="Verdana"/>
              </a:rPr>
              <a:t>0</a:t>
            </a:r>
          </a:p>
        </p:txBody>
      </p:sp>
      <p:sp>
        <p:nvSpPr>
          <p:cNvPr id="13" name="TextBox 12"/>
          <p:cNvSpPr txBox="1"/>
          <p:nvPr/>
        </p:nvSpPr>
        <p:spPr>
          <a:xfrm>
            <a:off x="2887218" y="3566160"/>
            <a:ext cx="731520" cy="274320"/>
          </a:xfrm>
          <a:prstGeom prst="rect">
            <a:avLst/>
          </a:prstGeom>
          <a:noFill/>
        </p:spPr>
        <p:txBody>
          <a:bodyPr wrap="square" lIns="0" rIns="0" tIns="0" bIns="0" anchor="t">
            <a:spAutoFit/>
          </a:bodyPr>
          <a:lstStyle/>
          <a:p>
            <a:pPr algn="ctr"/>
            <a:r>
              <a:rPr sz="1200" b="1" i="0">
                <a:solidFill>
                  <a:srgbClr val="FFFFFF"/>
                </a:solidFill>
                <a:latin typeface="Verdana"/>
              </a:rPr>
              <a:t>0,5</a:t>
            </a:r>
          </a:p>
        </p:txBody>
      </p:sp>
      <p:sp>
        <p:nvSpPr>
          <p:cNvPr id="14" name="TextBox 13"/>
          <p:cNvSpPr txBox="1"/>
          <p:nvPr/>
        </p:nvSpPr>
        <p:spPr>
          <a:xfrm>
            <a:off x="5134356" y="3566160"/>
            <a:ext cx="731520" cy="274320"/>
          </a:xfrm>
          <a:prstGeom prst="rect">
            <a:avLst/>
          </a:prstGeom>
          <a:noFill/>
        </p:spPr>
        <p:txBody>
          <a:bodyPr wrap="square" lIns="0" rIns="0" tIns="0" bIns="0" anchor="t">
            <a:spAutoFit/>
          </a:bodyPr>
          <a:lstStyle/>
          <a:p>
            <a:pPr algn="ctr"/>
            <a:r>
              <a:rPr sz="1200" b="1" i="0">
                <a:solidFill>
                  <a:srgbClr val="FFFFFF"/>
                </a:solidFill>
                <a:latin typeface="Verdana"/>
              </a:rPr>
              <a:t>1</a:t>
            </a:r>
          </a:p>
        </p:txBody>
      </p:sp>
      <p:sp>
        <p:nvSpPr>
          <p:cNvPr id="15" name="TextBox 14"/>
          <p:cNvSpPr txBox="1"/>
          <p:nvPr/>
        </p:nvSpPr>
        <p:spPr>
          <a:xfrm>
            <a:off x="1005840" y="4023360"/>
            <a:ext cx="4494276" cy="320040"/>
          </a:xfrm>
          <a:prstGeom prst="rect">
            <a:avLst/>
          </a:prstGeom>
          <a:noFill/>
        </p:spPr>
        <p:txBody>
          <a:bodyPr wrap="square" lIns="0" rIns="0" tIns="0" bIns="0" anchor="t">
            <a:spAutoFit/>
          </a:bodyPr>
          <a:lstStyle/>
          <a:p>
            <a:pPr algn="l"/>
            <a:r>
              <a:rPr sz="1333" b="1" i="0">
                <a:solidFill>
                  <a:srgbClr val="FFFFFF"/>
                </a:solidFill>
                <a:latin typeface="Verdana"/>
              </a:rPr>
              <a:t>0: sachlich, wiederholbar</a:t>
            </a:r>
          </a:p>
        </p:txBody>
      </p:sp>
      <p:sp>
        <p:nvSpPr>
          <p:cNvPr id="16" name="TextBox 15"/>
          <p:cNvSpPr txBox="1"/>
          <p:nvPr/>
        </p:nvSpPr>
        <p:spPr>
          <a:xfrm>
            <a:off x="1005840" y="4370832"/>
            <a:ext cx="4494276" cy="411480"/>
          </a:xfrm>
          <a:prstGeom prst="rect">
            <a:avLst/>
          </a:prstGeom>
          <a:noFill/>
        </p:spPr>
        <p:txBody>
          <a:bodyPr wrap="square" lIns="0" rIns="0" tIns="0" bIns="0" anchor="t">
            <a:spAutoFit/>
          </a:bodyPr>
          <a:lstStyle/>
          <a:p>
            <a:pPr algn="l"/>
            <a:r>
              <a:rPr sz="1267" b="0" i="0">
                <a:solidFill>
                  <a:srgbClr val="9A9AAA"/>
                </a:solidFill>
                <a:latin typeface="Verdana"/>
              </a:rPr>
              <a:t>Prüfen, Extrahieren, Suchbegriffe, Zusammenfassen</a:t>
            </a:r>
          </a:p>
        </p:txBody>
      </p:sp>
      <p:sp>
        <p:nvSpPr>
          <p:cNvPr id="17" name="TextBox 16"/>
          <p:cNvSpPr txBox="1"/>
          <p:nvPr/>
        </p:nvSpPr>
        <p:spPr>
          <a:xfrm>
            <a:off x="1005840" y="4846320"/>
            <a:ext cx="4494276" cy="320040"/>
          </a:xfrm>
          <a:prstGeom prst="rect">
            <a:avLst/>
          </a:prstGeom>
          <a:noFill/>
        </p:spPr>
        <p:txBody>
          <a:bodyPr wrap="square" lIns="0" rIns="0" tIns="0" bIns="0" anchor="t">
            <a:spAutoFit/>
          </a:bodyPr>
          <a:lstStyle/>
          <a:p>
            <a:pPr algn="l"/>
            <a:r>
              <a:rPr sz="1333" b="1" i="0">
                <a:solidFill>
                  <a:srgbClr val="FFFFFF"/>
                </a:solidFill>
                <a:latin typeface="Verdana"/>
              </a:rPr>
              <a:t>höher: abwechslungsreich</a:t>
            </a:r>
          </a:p>
        </p:txBody>
      </p:sp>
      <p:sp>
        <p:nvSpPr>
          <p:cNvPr id="18" name="TextBox 17"/>
          <p:cNvSpPr txBox="1"/>
          <p:nvPr/>
        </p:nvSpPr>
        <p:spPr>
          <a:xfrm>
            <a:off x="1005840" y="5193792"/>
            <a:ext cx="4494276" cy="411480"/>
          </a:xfrm>
          <a:prstGeom prst="rect">
            <a:avLst/>
          </a:prstGeom>
          <a:noFill/>
        </p:spPr>
        <p:txBody>
          <a:bodyPr wrap="square" lIns="0" rIns="0" tIns="0" bIns="0" anchor="t">
            <a:spAutoFit/>
          </a:bodyPr>
          <a:lstStyle/>
          <a:p>
            <a:pPr algn="l"/>
            <a:r>
              <a:rPr sz="1267" b="0" i="0">
                <a:solidFill>
                  <a:srgbClr val="9A9AAA"/>
                </a:solidFill>
                <a:latin typeface="Verdana"/>
              </a:rPr>
              <a:t>Ideen sammeln, Werbetexte, Social-Media-Posts</a:t>
            </a:r>
          </a:p>
        </p:txBody>
      </p:sp>
      <p:sp>
        <p:nvSpPr>
          <p:cNvPr id="19" name="Rectangle 18"/>
          <p:cNvSpPr/>
          <p:nvPr/>
        </p:nvSpPr>
        <p:spPr>
          <a:xfrm>
            <a:off x="6231636" y="1783080"/>
            <a:ext cx="5408676" cy="402336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6231636" y="1783080"/>
            <a:ext cx="5408676" cy="64008"/>
          </a:xfrm>
          <a:prstGeom prst="rect">
            <a:avLst/>
          </a:prstGeom>
          <a:solidFill>
            <a:srgbClr val="F6A800"/>
          </a:solidFill>
          <a:ln>
            <a:noFill/>
          </a:ln>
        </p:spPr>
        <p:txBody>
          <a:bodyPr rtlCol="0" anchor="ctr"/>
          <a:lstStyle/>
          <a:p>
            <a:pPr algn="ctr"/>
          </a:p>
        </p:txBody>
      </p:sp>
      <p:sp>
        <p:nvSpPr>
          <p:cNvPr id="21" name="Oval 20"/>
          <p:cNvSpPr/>
          <p:nvPr/>
        </p:nvSpPr>
        <p:spPr>
          <a:xfrm>
            <a:off x="6505955" y="2103120"/>
            <a:ext cx="594360" cy="594360"/>
          </a:xfrm>
          <a:prstGeom prst="ellipse">
            <a:avLst/>
          </a:prstGeom>
          <a:solidFill>
            <a:srgbClr val="F6A800"/>
          </a:solidFill>
          <a:ln>
            <a:noFill/>
          </a:ln>
        </p:spPr>
        <p:txBody>
          <a:bodyPr rtlCol="0" anchor="ctr"/>
          <a:lstStyle/>
          <a:p>
            <a:pPr algn="ctr"/>
          </a:p>
        </p:txBody>
      </p:sp>
      <p:pic>
        <p:nvPicPr>
          <p:cNvPr id="22" name="Picture 21" descr="LuScrollText_w.png"/>
          <p:cNvPicPr>
            <a:picLocks noChangeAspect="1"/>
          </p:cNvPicPr>
          <p:nvPr/>
        </p:nvPicPr>
        <p:blipFill>
          <a:blip r:embed="rId4"/>
          <a:stretch>
            <a:fillRect/>
          </a:stretch>
        </p:blipFill>
        <p:spPr>
          <a:xfrm>
            <a:off x="6636715" y="2233879"/>
            <a:ext cx="332841" cy="332841"/>
          </a:xfrm>
          <a:prstGeom prst="rect">
            <a:avLst/>
          </a:prstGeom>
        </p:spPr>
      </p:pic>
      <p:sp>
        <p:nvSpPr>
          <p:cNvPr id="23" name="TextBox 22"/>
          <p:cNvSpPr txBox="1"/>
          <p:nvPr/>
        </p:nvSpPr>
        <p:spPr>
          <a:xfrm>
            <a:off x="7283196" y="2057400"/>
            <a:ext cx="4128516" cy="365760"/>
          </a:xfrm>
          <a:prstGeom prst="rect">
            <a:avLst/>
          </a:prstGeom>
          <a:noFill/>
        </p:spPr>
        <p:txBody>
          <a:bodyPr wrap="square" lIns="0" rIns="0" tIns="0" bIns="0" anchor="t">
            <a:spAutoFit/>
          </a:bodyPr>
          <a:lstStyle/>
          <a:p>
            <a:pPr algn="l"/>
            <a:r>
              <a:rPr sz="1600" b="1" i="0">
                <a:solidFill>
                  <a:srgbClr val="FFFFFF"/>
                </a:solidFill>
                <a:latin typeface="Verdana"/>
              </a:rPr>
              <a:t>Kontextfenster</a:t>
            </a:r>
          </a:p>
        </p:txBody>
      </p:sp>
      <p:sp>
        <p:nvSpPr>
          <p:cNvPr id="24" name="TextBox 23"/>
          <p:cNvSpPr txBox="1"/>
          <p:nvPr/>
        </p:nvSpPr>
        <p:spPr>
          <a:xfrm>
            <a:off x="7283196" y="2441448"/>
            <a:ext cx="4128516" cy="274320"/>
          </a:xfrm>
          <a:prstGeom prst="rect">
            <a:avLst/>
          </a:prstGeom>
          <a:noFill/>
        </p:spPr>
        <p:txBody>
          <a:bodyPr wrap="square" lIns="0" rIns="0" tIns="0" bIns="0" anchor="t">
            <a:spAutoFit/>
          </a:bodyPr>
          <a:lstStyle/>
          <a:p>
            <a:pPr algn="l"/>
            <a:r>
              <a:rPr sz="1200" b="0" i="1">
                <a:solidFill>
                  <a:srgbClr val="F6A800"/>
                </a:solidFill>
                <a:latin typeface="Verdana"/>
              </a:rPr>
              <a:t>wie viel Text auf einmal passt</a:t>
            </a:r>
          </a:p>
        </p:txBody>
      </p:sp>
      <p:sp>
        <p:nvSpPr>
          <p:cNvPr id="25" name="TextBox 24"/>
          <p:cNvSpPr txBox="1"/>
          <p:nvPr/>
        </p:nvSpPr>
        <p:spPr>
          <a:xfrm>
            <a:off x="6688836" y="3063239"/>
            <a:ext cx="4494276" cy="731520"/>
          </a:xfrm>
          <a:prstGeom prst="rect">
            <a:avLst/>
          </a:prstGeom>
          <a:noFill/>
        </p:spPr>
        <p:txBody>
          <a:bodyPr wrap="square" lIns="0" rIns="0" tIns="0" bIns="0" anchor="t">
            <a:spAutoFit/>
          </a:bodyPr>
          <a:lstStyle/>
          <a:p>
            <a:pPr algn="l"/>
            <a:r>
              <a:rPr sz="1267" b="0" i="0">
                <a:solidFill>
                  <a:srgbClr val="FFFFFF"/>
                </a:solidFill>
                <a:latin typeface="Verdana"/>
              </a:rPr>
              <a:t>Gemessen in Tokens: ein Token ist etwa ein dreiviertel Wort. Prompt, Daten und Antwort zählen zusammen.</a:t>
            </a:r>
          </a:p>
        </p:txBody>
      </p:sp>
      <p:sp>
        <p:nvSpPr>
          <p:cNvPr id="26" name="TextBox 25"/>
          <p:cNvSpPr txBox="1"/>
          <p:nvPr/>
        </p:nvSpPr>
        <p:spPr>
          <a:xfrm>
            <a:off x="6688836" y="4023360"/>
            <a:ext cx="4494276" cy="320040"/>
          </a:xfrm>
          <a:prstGeom prst="rect">
            <a:avLst/>
          </a:prstGeom>
          <a:noFill/>
        </p:spPr>
        <p:txBody>
          <a:bodyPr wrap="square" lIns="0" rIns="0" tIns="0" bIns="0" anchor="t">
            <a:spAutoFit/>
          </a:bodyPr>
          <a:lstStyle/>
          <a:p>
            <a:pPr algn="l"/>
            <a:r>
              <a:rPr sz="1333" b="1" i="0">
                <a:solidFill>
                  <a:srgbClr val="FFFFFF"/>
                </a:solidFill>
                <a:latin typeface="Verdana"/>
              </a:rPr>
              <a:t>Kleines lokales Modell</a:t>
            </a:r>
          </a:p>
        </p:txBody>
      </p:sp>
      <p:sp>
        <p:nvSpPr>
          <p:cNvPr id="27" name="TextBox 26"/>
          <p:cNvSpPr txBox="1"/>
          <p:nvPr/>
        </p:nvSpPr>
        <p:spPr>
          <a:xfrm>
            <a:off x="6688836" y="4370832"/>
            <a:ext cx="4494276" cy="411480"/>
          </a:xfrm>
          <a:prstGeom prst="rect">
            <a:avLst/>
          </a:prstGeom>
          <a:noFill/>
        </p:spPr>
        <p:txBody>
          <a:bodyPr wrap="square" lIns="0" rIns="0" tIns="0" bIns="0" anchor="t">
            <a:spAutoFit/>
          </a:bodyPr>
          <a:lstStyle/>
          <a:p>
            <a:pPr algn="l"/>
            <a:r>
              <a:rPr sz="1267" b="0" i="0">
                <a:solidFill>
                  <a:srgbClr val="9A9AAA"/>
                </a:solidFill>
                <a:latin typeface="Verdana"/>
              </a:rPr>
              <a:t>ein paar Seiten, z. B. ein Artikel</a:t>
            </a:r>
          </a:p>
        </p:txBody>
      </p:sp>
      <p:sp>
        <p:nvSpPr>
          <p:cNvPr id="28" name="TextBox 27"/>
          <p:cNvSpPr txBox="1"/>
          <p:nvPr/>
        </p:nvSpPr>
        <p:spPr>
          <a:xfrm>
            <a:off x="6688836" y="4846320"/>
            <a:ext cx="4494276" cy="320040"/>
          </a:xfrm>
          <a:prstGeom prst="rect">
            <a:avLst/>
          </a:prstGeom>
          <a:noFill/>
        </p:spPr>
        <p:txBody>
          <a:bodyPr wrap="square" lIns="0" rIns="0" tIns="0" bIns="0" anchor="t">
            <a:spAutoFit/>
          </a:bodyPr>
          <a:lstStyle/>
          <a:p>
            <a:pPr algn="l"/>
            <a:r>
              <a:rPr sz="1333" b="1" i="0">
                <a:solidFill>
                  <a:srgbClr val="FFFFFF"/>
                </a:solidFill>
                <a:latin typeface="Verdana"/>
              </a:rPr>
              <a:t>Großes Modell im Cluster</a:t>
            </a:r>
          </a:p>
        </p:txBody>
      </p:sp>
      <p:sp>
        <p:nvSpPr>
          <p:cNvPr id="29" name="TextBox 28"/>
          <p:cNvSpPr txBox="1"/>
          <p:nvPr/>
        </p:nvSpPr>
        <p:spPr>
          <a:xfrm>
            <a:off x="6688836" y="5193792"/>
            <a:ext cx="4494276" cy="411480"/>
          </a:xfrm>
          <a:prstGeom prst="rect">
            <a:avLst/>
          </a:prstGeom>
          <a:noFill/>
        </p:spPr>
        <p:txBody>
          <a:bodyPr wrap="square" lIns="0" rIns="0" tIns="0" bIns="0" anchor="t">
            <a:spAutoFit/>
          </a:bodyPr>
          <a:lstStyle/>
          <a:p>
            <a:pPr algn="l"/>
            <a:r>
              <a:rPr sz="1267" b="0" i="0">
                <a:solidFill>
                  <a:srgbClr val="9A9AAA"/>
                </a:solidFill>
                <a:latin typeface="Verdana"/>
              </a:rPr>
              <a:t>sehr viel mehr, z. B. mehrere Volltexte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Modell, Backend, Schnittstelle.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MODELLE</a:t>
            </a:r>
          </a:p>
        </p:txBody>
      </p:sp>
      <p:sp>
        <p:nvSpPr>
          <p:cNvPr id="4" name="Rectangle 3"/>
          <p:cNvSpPr/>
          <p:nvPr/>
        </p:nvSpPr>
        <p:spPr>
          <a:xfrm>
            <a:off x="548640" y="1783080"/>
            <a:ext cx="4206240" cy="123444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4206240" cy="64008"/>
          </a:xfrm>
          <a:prstGeom prst="rect">
            <a:avLst/>
          </a:prstGeom>
          <a:solidFill>
            <a:srgbClr val="DC640D"/>
          </a:solidFill>
          <a:ln>
            <a:noFill/>
          </a:ln>
        </p:spPr>
        <p:txBody>
          <a:bodyPr rtlCol="0" anchor="ctr"/>
          <a:lstStyle/>
          <a:p>
            <a:pPr algn="ctr"/>
          </a:p>
        </p:txBody>
      </p:sp>
      <p:sp>
        <p:nvSpPr>
          <p:cNvPr id="6" name="Oval 5"/>
          <p:cNvSpPr/>
          <p:nvPr/>
        </p:nvSpPr>
        <p:spPr>
          <a:xfrm>
            <a:off x="777240" y="2057400"/>
            <a:ext cx="548640" cy="548640"/>
          </a:xfrm>
          <a:prstGeom prst="ellipse">
            <a:avLst/>
          </a:prstGeom>
          <a:solidFill>
            <a:srgbClr val="DC640D"/>
          </a:solidFill>
          <a:ln>
            <a:noFill/>
          </a:ln>
        </p:spPr>
        <p:txBody>
          <a:bodyPr rtlCol="0" anchor="ctr"/>
          <a:lstStyle/>
          <a:p>
            <a:pPr algn="ctr"/>
          </a:p>
        </p:txBody>
      </p:sp>
      <p:pic>
        <p:nvPicPr>
          <p:cNvPr id="7" name="Picture 6" descr="LuBrainCircuit_w.png"/>
          <p:cNvPicPr>
            <a:picLocks noChangeAspect="1"/>
          </p:cNvPicPr>
          <p:nvPr/>
        </p:nvPicPr>
        <p:blipFill>
          <a:blip r:embed="rId3"/>
          <a:stretch>
            <a:fillRect/>
          </a:stretch>
        </p:blipFill>
        <p:spPr>
          <a:xfrm>
            <a:off x="897940" y="2178100"/>
            <a:ext cx="307238" cy="307238"/>
          </a:xfrm>
          <a:prstGeom prst="rect">
            <a:avLst/>
          </a:prstGeom>
        </p:spPr>
      </p:pic>
      <p:sp>
        <p:nvSpPr>
          <p:cNvPr id="8" name="TextBox 7"/>
          <p:cNvSpPr txBox="1"/>
          <p:nvPr/>
        </p:nvSpPr>
        <p:spPr>
          <a:xfrm>
            <a:off x="1508760" y="2011680"/>
            <a:ext cx="3017520" cy="320040"/>
          </a:xfrm>
          <a:prstGeom prst="rect">
            <a:avLst/>
          </a:prstGeom>
          <a:noFill/>
        </p:spPr>
        <p:txBody>
          <a:bodyPr wrap="square" lIns="0" rIns="0" tIns="0" bIns="0" anchor="t">
            <a:spAutoFit/>
          </a:bodyPr>
          <a:lstStyle/>
          <a:p>
            <a:pPr algn="l"/>
            <a:r>
              <a:rPr sz="1467" b="1" i="0">
                <a:solidFill>
                  <a:srgbClr val="FFFFFF"/>
                </a:solidFill>
                <a:latin typeface="Verdana"/>
              </a:rPr>
              <a:t>Modell</a:t>
            </a:r>
          </a:p>
        </p:txBody>
      </p:sp>
      <p:sp>
        <p:nvSpPr>
          <p:cNvPr id="9" name="TextBox 8"/>
          <p:cNvSpPr txBox="1"/>
          <p:nvPr/>
        </p:nvSpPr>
        <p:spPr>
          <a:xfrm>
            <a:off x="1508760" y="2350008"/>
            <a:ext cx="3017520" cy="594360"/>
          </a:xfrm>
          <a:prstGeom prst="rect">
            <a:avLst/>
          </a:prstGeom>
          <a:noFill/>
        </p:spPr>
        <p:txBody>
          <a:bodyPr wrap="square" lIns="0" rIns="0" tIns="0" bIns="0" anchor="t">
            <a:spAutoFit/>
          </a:bodyPr>
          <a:lstStyle/>
          <a:p>
            <a:pPr algn="l"/>
            <a:r>
              <a:rPr sz="1200" b="0" i="0">
                <a:solidFill>
                  <a:srgbClr val="9A9AAA"/>
                </a:solidFill>
                <a:latin typeface="Verdana"/>
              </a:rPr>
              <a:t>die trainierten Gewichte, z. B. gpt-oss-120b oder qwen3.5:4b</a:t>
            </a:r>
          </a:p>
        </p:txBody>
      </p:sp>
      <p:sp>
        <p:nvSpPr>
          <p:cNvPr id="10" name="Rectangle 9"/>
          <p:cNvSpPr/>
          <p:nvPr/>
        </p:nvSpPr>
        <p:spPr>
          <a:xfrm>
            <a:off x="548640" y="3154680"/>
            <a:ext cx="4206240" cy="1234440"/>
          </a:xfrm>
          <a:prstGeom prst="rect">
            <a:avLst/>
          </a:prstGeom>
          <a:solidFill>
            <a:srgbClr val="24232E"/>
          </a:solidFill>
          <a:ln w="9525">
            <a:solidFill>
              <a:srgbClr val="3A3948"/>
            </a:solidFill>
          </a:ln>
        </p:spPr>
        <p:txBody>
          <a:bodyPr rtlCol="0" anchor="ctr"/>
          <a:lstStyle/>
          <a:p>
            <a:pPr algn="ctr"/>
          </a:p>
        </p:txBody>
      </p:sp>
      <p:sp>
        <p:nvSpPr>
          <p:cNvPr id="11" name="Rectangle 10"/>
          <p:cNvSpPr/>
          <p:nvPr/>
        </p:nvSpPr>
        <p:spPr>
          <a:xfrm>
            <a:off x="548640" y="3154680"/>
            <a:ext cx="4206240" cy="64008"/>
          </a:xfrm>
          <a:prstGeom prst="rect">
            <a:avLst/>
          </a:prstGeom>
          <a:solidFill>
            <a:srgbClr val="F6A800"/>
          </a:solidFill>
          <a:ln>
            <a:noFill/>
          </a:ln>
        </p:spPr>
        <p:txBody>
          <a:bodyPr rtlCol="0" anchor="ctr"/>
          <a:lstStyle/>
          <a:p>
            <a:pPr algn="ctr"/>
          </a:p>
        </p:txBody>
      </p:sp>
      <p:sp>
        <p:nvSpPr>
          <p:cNvPr id="12" name="Oval 11"/>
          <p:cNvSpPr/>
          <p:nvPr/>
        </p:nvSpPr>
        <p:spPr>
          <a:xfrm>
            <a:off x="777240" y="3429000"/>
            <a:ext cx="548640" cy="548640"/>
          </a:xfrm>
          <a:prstGeom prst="ellipse">
            <a:avLst/>
          </a:prstGeom>
          <a:solidFill>
            <a:srgbClr val="F6A800"/>
          </a:solidFill>
          <a:ln>
            <a:noFill/>
          </a:ln>
        </p:spPr>
        <p:txBody>
          <a:bodyPr rtlCol="0" anchor="ctr"/>
          <a:lstStyle/>
          <a:p>
            <a:pPr algn="ctr"/>
          </a:p>
        </p:txBody>
      </p:sp>
      <p:pic>
        <p:nvPicPr>
          <p:cNvPr id="13" name="Picture 12" descr="LuServer_w.png"/>
          <p:cNvPicPr>
            <a:picLocks noChangeAspect="1"/>
          </p:cNvPicPr>
          <p:nvPr/>
        </p:nvPicPr>
        <p:blipFill>
          <a:blip r:embed="rId4"/>
          <a:stretch>
            <a:fillRect/>
          </a:stretch>
        </p:blipFill>
        <p:spPr>
          <a:xfrm>
            <a:off x="897940" y="3549700"/>
            <a:ext cx="307238" cy="307238"/>
          </a:xfrm>
          <a:prstGeom prst="rect">
            <a:avLst/>
          </a:prstGeom>
        </p:spPr>
      </p:pic>
      <p:sp>
        <p:nvSpPr>
          <p:cNvPr id="14" name="TextBox 13"/>
          <p:cNvSpPr txBox="1"/>
          <p:nvPr/>
        </p:nvSpPr>
        <p:spPr>
          <a:xfrm>
            <a:off x="1508760" y="3383280"/>
            <a:ext cx="3017520" cy="320040"/>
          </a:xfrm>
          <a:prstGeom prst="rect">
            <a:avLst/>
          </a:prstGeom>
          <a:noFill/>
        </p:spPr>
        <p:txBody>
          <a:bodyPr wrap="square" lIns="0" rIns="0" tIns="0" bIns="0" anchor="t">
            <a:spAutoFit/>
          </a:bodyPr>
          <a:lstStyle/>
          <a:p>
            <a:pPr algn="l"/>
            <a:r>
              <a:rPr sz="1467" b="1" i="0">
                <a:solidFill>
                  <a:srgbClr val="FFFFFF"/>
                </a:solidFill>
                <a:latin typeface="Verdana"/>
              </a:rPr>
              <a:t>Backend</a:t>
            </a:r>
          </a:p>
        </p:txBody>
      </p:sp>
      <p:sp>
        <p:nvSpPr>
          <p:cNvPr id="15" name="TextBox 14"/>
          <p:cNvSpPr txBox="1"/>
          <p:nvPr/>
        </p:nvSpPr>
        <p:spPr>
          <a:xfrm>
            <a:off x="1508760" y="3721608"/>
            <a:ext cx="3017520" cy="594360"/>
          </a:xfrm>
          <a:prstGeom prst="rect">
            <a:avLst/>
          </a:prstGeom>
          <a:noFill/>
        </p:spPr>
        <p:txBody>
          <a:bodyPr wrap="square" lIns="0" rIns="0" tIns="0" bIns="0" anchor="t">
            <a:spAutoFit/>
          </a:bodyPr>
          <a:lstStyle/>
          <a:p>
            <a:pPr algn="l"/>
            <a:r>
              <a:rPr sz="1200" b="0" i="0">
                <a:solidFill>
                  <a:srgbClr val="9A9AAA"/>
                </a:solidFill>
                <a:latin typeface="Verdana"/>
              </a:rPr>
              <a:t>führt das Modell aus und nimmt Anfragen an, z. B. LiteLLM oder Ollama</a:t>
            </a:r>
          </a:p>
        </p:txBody>
      </p:sp>
      <p:sp>
        <p:nvSpPr>
          <p:cNvPr id="16" name="Rectangle 15"/>
          <p:cNvSpPr/>
          <p:nvPr/>
        </p:nvSpPr>
        <p:spPr>
          <a:xfrm>
            <a:off x="548640" y="4526280"/>
            <a:ext cx="4206240" cy="1234440"/>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548640" y="4526280"/>
            <a:ext cx="4206240" cy="64008"/>
          </a:xfrm>
          <a:prstGeom prst="rect">
            <a:avLst/>
          </a:prstGeom>
          <a:solidFill>
            <a:srgbClr val="B1063A"/>
          </a:solidFill>
          <a:ln>
            <a:noFill/>
          </a:ln>
        </p:spPr>
        <p:txBody>
          <a:bodyPr rtlCol="0" anchor="ctr"/>
          <a:lstStyle/>
          <a:p>
            <a:pPr algn="ctr"/>
          </a:p>
        </p:txBody>
      </p:sp>
      <p:sp>
        <p:nvSpPr>
          <p:cNvPr id="18" name="Oval 17"/>
          <p:cNvSpPr/>
          <p:nvPr/>
        </p:nvSpPr>
        <p:spPr>
          <a:xfrm>
            <a:off x="777240" y="4800600"/>
            <a:ext cx="548640" cy="548640"/>
          </a:xfrm>
          <a:prstGeom prst="ellipse">
            <a:avLst/>
          </a:prstGeom>
          <a:solidFill>
            <a:srgbClr val="B1063A"/>
          </a:solidFill>
          <a:ln>
            <a:noFill/>
          </a:ln>
        </p:spPr>
        <p:txBody>
          <a:bodyPr rtlCol="0" anchor="ctr"/>
          <a:lstStyle/>
          <a:p>
            <a:pPr algn="ctr"/>
          </a:p>
        </p:txBody>
      </p:sp>
      <p:pic>
        <p:nvPicPr>
          <p:cNvPr id="19" name="Picture 18" descr="LuPlug_w.png"/>
          <p:cNvPicPr>
            <a:picLocks noChangeAspect="1"/>
          </p:cNvPicPr>
          <p:nvPr/>
        </p:nvPicPr>
        <p:blipFill>
          <a:blip r:embed="rId5"/>
          <a:stretch>
            <a:fillRect/>
          </a:stretch>
        </p:blipFill>
        <p:spPr>
          <a:xfrm>
            <a:off x="897940" y="4921300"/>
            <a:ext cx="307238" cy="307238"/>
          </a:xfrm>
          <a:prstGeom prst="rect">
            <a:avLst/>
          </a:prstGeom>
        </p:spPr>
      </p:pic>
      <p:sp>
        <p:nvSpPr>
          <p:cNvPr id="20" name="TextBox 19"/>
          <p:cNvSpPr txBox="1"/>
          <p:nvPr/>
        </p:nvSpPr>
        <p:spPr>
          <a:xfrm>
            <a:off x="1508760" y="4754880"/>
            <a:ext cx="3017520" cy="320040"/>
          </a:xfrm>
          <a:prstGeom prst="rect">
            <a:avLst/>
          </a:prstGeom>
          <a:noFill/>
        </p:spPr>
        <p:txBody>
          <a:bodyPr wrap="square" lIns="0" rIns="0" tIns="0" bIns="0" anchor="t">
            <a:spAutoFit/>
          </a:bodyPr>
          <a:lstStyle/>
          <a:p>
            <a:pPr algn="l"/>
            <a:r>
              <a:rPr sz="1467" b="1" i="0">
                <a:solidFill>
                  <a:srgbClr val="FFFFFF"/>
                </a:solidFill>
                <a:latin typeface="Verdana"/>
              </a:rPr>
              <a:t>Schnittstelle</a:t>
            </a:r>
          </a:p>
        </p:txBody>
      </p:sp>
      <p:sp>
        <p:nvSpPr>
          <p:cNvPr id="21" name="TextBox 20"/>
          <p:cNvSpPr txBox="1"/>
          <p:nvPr/>
        </p:nvSpPr>
        <p:spPr>
          <a:xfrm>
            <a:off x="1508760" y="5093208"/>
            <a:ext cx="3017520" cy="594360"/>
          </a:xfrm>
          <a:prstGeom prst="rect">
            <a:avLst/>
          </a:prstGeom>
          <a:noFill/>
        </p:spPr>
        <p:txBody>
          <a:bodyPr wrap="square" lIns="0" rIns="0" tIns="0" bIns="0" anchor="t">
            <a:spAutoFit/>
          </a:bodyPr>
          <a:lstStyle/>
          <a:p>
            <a:pPr algn="l"/>
            <a:r>
              <a:rPr sz="1200" b="0" i="0">
                <a:solidFill>
                  <a:srgbClr val="9A9AAA"/>
                </a:solidFill>
                <a:latin typeface="Verdana"/>
              </a:rPr>
              <a:t>wie Langflow mit dem Backend spricht: eine OpenAI-kompatible API</a:t>
            </a:r>
          </a:p>
        </p:txBody>
      </p:sp>
      <p:sp>
        <p:nvSpPr>
          <p:cNvPr id="22" name="Rectangle 21"/>
          <p:cNvSpPr/>
          <p:nvPr/>
        </p:nvSpPr>
        <p:spPr>
          <a:xfrm>
            <a:off x="5212079" y="3246120"/>
            <a:ext cx="1920240" cy="914400"/>
          </a:xfrm>
          <a:prstGeom prst="rect">
            <a:avLst/>
          </a:prstGeom>
          <a:solidFill>
            <a:srgbClr val="24232E"/>
          </a:solidFill>
          <a:ln w="19050">
            <a:solidFill>
              <a:srgbClr val="9A9AAA"/>
            </a:solidFill>
          </a:ln>
        </p:spPr>
        <p:txBody>
          <a:bodyPr rtlCol="0" anchor="ctr"/>
          <a:lstStyle/>
          <a:p>
            <a:pPr algn="ctr"/>
          </a:p>
        </p:txBody>
      </p:sp>
      <p:sp>
        <p:nvSpPr>
          <p:cNvPr id="23" name="TextBox 22"/>
          <p:cNvSpPr txBox="1"/>
          <p:nvPr/>
        </p:nvSpPr>
        <p:spPr>
          <a:xfrm>
            <a:off x="5285231" y="3291839"/>
            <a:ext cx="1773936" cy="502920"/>
          </a:xfrm>
          <a:prstGeom prst="rect">
            <a:avLst/>
          </a:prstGeom>
          <a:noFill/>
        </p:spPr>
        <p:txBody>
          <a:bodyPr wrap="square" lIns="0" rIns="0" tIns="0" bIns="0" anchor="b">
            <a:spAutoFit/>
          </a:bodyPr>
          <a:lstStyle/>
          <a:p>
            <a:pPr algn="ctr"/>
            <a:r>
              <a:rPr sz="1067" b="1" i="0">
                <a:solidFill>
                  <a:srgbClr val="FFFFFF"/>
                </a:solidFill>
                <a:latin typeface="Verdana"/>
              </a:rPr>
              <a:t>Langflow</a:t>
            </a:r>
          </a:p>
        </p:txBody>
      </p:sp>
      <p:sp>
        <p:nvSpPr>
          <p:cNvPr id="24" name="TextBox 23"/>
          <p:cNvSpPr txBox="1"/>
          <p:nvPr/>
        </p:nvSpPr>
        <p:spPr>
          <a:xfrm>
            <a:off x="5285231" y="3776472"/>
            <a:ext cx="1773936" cy="365760"/>
          </a:xfrm>
          <a:prstGeom prst="rect">
            <a:avLst/>
          </a:prstGeom>
          <a:noFill/>
        </p:spPr>
        <p:txBody>
          <a:bodyPr wrap="square" lIns="0" rIns="0" tIns="0" bIns="0" anchor="t">
            <a:spAutoFit/>
          </a:bodyPr>
          <a:lstStyle/>
          <a:p>
            <a:pPr algn="ctr"/>
            <a:r>
              <a:rPr sz="933" b="0" i="1">
                <a:solidFill>
                  <a:srgbClr val="9A9AAA"/>
                </a:solidFill>
                <a:latin typeface="Verdana"/>
              </a:rPr>
              <a:t>Baustein KI-Modell</a:t>
            </a:r>
          </a:p>
        </p:txBody>
      </p:sp>
      <p:cxnSp>
        <p:nvCxnSpPr>
          <p:cNvPr id="25" name="Connector 24"/>
          <p:cNvCxnSpPr/>
          <p:nvPr/>
        </p:nvCxnSpPr>
        <p:spPr>
          <a:xfrm flipV="1">
            <a:off x="7132319" y="2944368"/>
            <a:ext cx="685800" cy="621792"/>
          </a:xfrm>
          <a:prstGeom prst="line">
            <a:avLst/>
          </a:prstGeom>
          <a:ln w="25400">
            <a:solidFill>
              <a:srgbClr val="B1063A"/>
            </a:solidFill>
            <a:tailEnd type="triangle" w="med" len="med"/>
          </a:ln>
        </p:spPr>
      </p:cxnSp>
      <p:cxnSp>
        <p:nvCxnSpPr>
          <p:cNvPr id="26" name="Connector 25"/>
          <p:cNvCxnSpPr/>
          <p:nvPr/>
        </p:nvCxnSpPr>
        <p:spPr>
          <a:xfrm>
            <a:off x="7132319" y="3840480"/>
            <a:ext cx="685800" cy="1161288"/>
          </a:xfrm>
          <a:prstGeom prst="line">
            <a:avLst/>
          </a:prstGeom>
          <a:ln w="25400">
            <a:solidFill>
              <a:srgbClr val="B1063A"/>
            </a:solidFill>
            <a:tailEnd type="triangle" w="med" len="med"/>
          </a:ln>
        </p:spPr>
      </p:cxnSp>
      <p:sp>
        <p:nvSpPr>
          <p:cNvPr id="27" name="TextBox 26"/>
          <p:cNvSpPr txBox="1"/>
          <p:nvPr/>
        </p:nvSpPr>
        <p:spPr>
          <a:xfrm>
            <a:off x="5212079" y="2926080"/>
            <a:ext cx="1920240" cy="274320"/>
          </a:xfrm>
          <a:prstGeom prst="rect">
            <a:avLst/>
          </a:prstGeom>
          <a:noFill/>
        </p:spPr>
        <p:txBody>
          <a:bodyPr wrap="square" lIns="0" rIns="0" tIns="0" bIns="0" anchor="t">
            <a:spAutoFit/>
          </a:bodyPr>
          <a:lstStyle/>
          <a:p>
            <a:pPr algn="ctr"/>
            <a:r>
              <a:rPr sz="1067" b="1" i="0">
                <a:solidFill>
                  <a:srgbClr val="B1063A"/>
                </a:solidFill>
                <a:latin typeface="Verdana"/>
              </a:rPr>
              <a:t>spricht per API mit</a:t>
            </a:r>
          </a:p>
        </p:txBody>
      </p:sp>
      <p:sp>
        <p:nvSpPr>
          <p:cNvPr id="28" name="Rectangle 27"/>
          <p:cNvSpPr/>
          <p:nvPr/>
        </p:nvSpPr>
        <p:spPr>
          <a:xfrm>
            <a:off x="7818119" y="2103120"/>
            <a:ext cx="3822192" cy="1691640"/>
          </a:xfrm>
          <a:prstGeom prst="rect">
            <a:avLst/>
          </a:prstGeom>
          <a:solidFill>
            <a:srgbClr val="24232E"/>
          </a:solidFill>
          <a:ln w="19050">
            <a:solidFill>
              <a:srgbClr val="DC640D"/>
            </a:solidFill>
          </a:ln>
        </p:spPr>
        <p:txBody>
          <a:bodyPr rtlCol="0" anchor="ctr"/>
          <a:lstStyle/>
          <a:p>
            <a:pPr algn="ctr"/>
          </a:p>
        </p:txBody>
      </p:sp>
      <p:pic>
        <p:nvPicPr>
          <p:cNvPr id="29" name="Picture 28" descr="LuCloud_o.png"/>
          <p:cNvPicPr>
            <a:picLocks noChangeAspect="1"/>
          </p:cNvPicPr>
          <p:nvPr/>
        </p:nvPicPr>
        <p:blipFill>
          <a:blip r:embed="rId6"/>
          <a:stretch>
            <a:fillRect/>
          </a:stretch>
        </p:blipFill>
        <p:spPr>
          <a:xfrm>
            <a:off x="8046719" y="2331720"/>
            <a:ext cx="457200" cy="457200"/>
          </a:xfrm>
          <a:prstGeom prst="rect">
            <a:avLst/>
          </a:prstGeom>
        </p:spPr>
      </p:pic>
      <p:sp>
        <p:nvSpPr>
          <p:cNvPr id="30" name="TextBox 29"/>
          <p:cNvSpPr txBox="1"/>
          <p:nvPr/>
        </p:nvSpPr>
        <p:spPr>
          <a:xfrm>
            <a:off x="8641080" y="2286000"/>
            <a:ext cx="2816352" cy="320040"/>
          </a:xfrm>
          <a:prstGeom prst="rect">
            <a:avLst/>
          </a:prstGeom>
          <a:noFill/>
        </p:spPr>
        <p:txBody>
          <a:bodyPr wrap="square" lIns="0" rIns="0" tIns="0" bIns="0" anchor="t">
            <a:spAutoFit/>
          </a:bodyPr>
          <a:lstStyle/>
          <a:p>
            <a:pPr algn="l"/>
            <a:r>
              <a:rPr sz="1467" b="1" i="0">
                <a:solidFill>
                  <a:srgbClr val="FFFFFF"/>
                </a:solidFill>
                <a:latin typeface="Verdana"/>
              </a:rPr>
              <a:t>LiteLLM-Cluster</a:t>
            </a:r>
          </a:p>
        </p:txBody>
      </p:sp>
      <p:sp>
        <p:nvSpPr>
          <p:cNvPr id="31" name="TextBox 30"/>
          <p:cNvSpPr txBox="1"/>
          <p:nvPr/>
        </p:nvSpPr>
        <p:spPr>
          <a:xfrm>
            <a:off x="8641080" y="2633472"/>
            <a:ext cx="2816352" cy="274320"/>
          </a:xfrm>
          <a:prstGeom prst="rect">
            <a:avLst/>
          </a:prstGeom>
          <a:noFill/>
        </p:spPr>
        <p:txBody>
          <a:bodyPr wrap="square" lIns="0" rIns="0" tIns="0" bIns="0" anchor="t">
            <a:spAutoFit/>
          </a:bodyPr>
          <a:lstStyle/>
          <a:p>
            <a:pPr algn="l"/>
            <a:r>
              <a:rPr sz="1200" b="0" i="0">
                <a:solidFill>
                  <a:srgbClr val="9A9AAA"/>
                </a:solidFill>
                <a:latin typeface="Verdana"/>
              </a:rPr>
              <a:t>Modelle im Rechenzentrum</a:t>
            </a:r>
          </a:p>
        </p:txBody>
      </p:sp>
      <p:sp>
        <p:nvSpPr>
          <p:cNvPr id="32" name="TextBox 31"/>
          <p:cNvSpPr txBox="1"/>
          <p:nvPr/>
        </p:nvSpPr>
        <p:spPr>
          <a:xfrm>
            <a:off x="8046719" y="3017520"/>
            <a:ext cx="3319272" cy="640080"/>
          </a:xfrm>
          <a:prstGeom prst="rect">
            <a:avLst/>
          </a:prstGeom>
          <a:noFill/>
        </p:spPr>
        <p:txBody>
          <a:bodyPr wrap="square" lIns="0" rIns="0" tIns="0" bIns="0" anchor="t">
            <a:spAutoFit/>
          </a:bodyPr>
          <a:lstStyle/>
          <a:p>
            <a:pPr algn="l"/>
            <a:r>
              <a:rPr sz="1200" b="0" i="0">
                <a:solidFill>
                  <a:srgbClr val="DC640D"/>
                </a:solidFill>
                <a:latin typeface="Verdana"/>
              </a:rPr>
              <a:t>Quelle im KI-Modell: Cluster. Daten verlassen den Laptop.</a:t>
            </a:r>
          </a:p>
        </p:txBody>
      </p:sp>
      <p:sp>
        <p:nvSpPr>
          <p:cNvPr id="33" name="Rectangle 32"/>
          <p:cNvSpPr/>
          <p:nvPr/>
        </p:nvSpPr>
        <p:spPr>
          <a:xfrm>
            <a:off x="7818119" y="4160520"/>
            <a:ext cx="3822192" cy="1691640"/>
          </a:xfrm>
          <a:prstGeom prst="rect">
            <a:avLst/>
          </a:prstGeom>
          <a:solidFill>
            <a:srgbClr val="24232E"/>
          </a:solidFill>
          <a:ln w="19050">
            <a:solidFill>
              <a:srgbClr val="F6A800"/>
            </a:solidFill>
          </a:ln>
        </p:spPr>
        <p:txBody>
          <a:bodyPr rtlCol="0" anchor="ctr"/>
          <a:lstStyle/>
          <a:p>
            <a:pPr algn="ctr"/>
          </a:p>
        </p:txBody>
      </p:sp>
      <p:pic>
        <p:nvPicPr>
          <p:cNvPr id="34" name="Picture 33" descr="LuHouse_y.png"/>
          <p:cNvPicPr>
            <a:picLocks noChangeAspect="1"/>
          </p:cNvPicPr>
          <p:nvPr/>
        </p:nvPicPr>
        <p:blipFill>
          <a:blip r:embed="rId7"/>
          <a:stretch>
            <a:fillRect/>
          </a:stretch>
        </p:blipFill>
        <p:spPr>
          <a:xfrm>
            <a:off x="8046719" y="4389120"/>
            <a:ext cx="457200" cy="457200"/>
          </a:xfrm>
          <a:prstGeom prst="rect">
            <a:avLst/>
          </a:prstGeom>
        </p:spPr>
      </p:pic>
      <p:sp>
        <p:nvSpPr>
          <p:cNvPr id="35" name="TextBox 34"/>
          <p:cNvSpPr txBox="1"/>
          <p:nvPr/>
        </p:nvSpPr>
        <p:spPr>
          <a:xfrm>
            <a:off x="8641080" y="4343400"/>
            <a:ext cx="2816352" cy="320040"/>
          </a:xfrm>
          <a:prstGeom prst="rect">
            <a:avLst/>
          </a:prstGeom>
          <a:noFill/>
        </p:spPr>
        <p:txBody>
          <a:bodyPr wrap="square" lIns="0" rIns="0" tIns="0" bIns="0" anchor="t">
            <a:spAutoFit/>
          </a:bodyPr>
          <a:lstStyle/>
          <a:p>
            <a:pPr algn="l"/>
            <a:r>
              <a:rPr sz="1467" b="1" i="0">
                <a:solidFill>
                  <a:srgbClr val="FFFFFF"/>
                </a:solidFill>
                <a:latin typeface="Verdana"/>
              </a:rPr>
              <a:t>Ollama</a:t>
            </a:r>
          </a:p>
        </p:txBody>
      </p:sp>
      <p:sp>
        <p:nvSpPr>
          <p:cNvPr id="36" name="TextBox 35"/>
          <p:cNvSpPr txBox="1"/>
          <p:nvPr/>
        </p:nvSpPr>
        <p:spPr>
          <a:xfrm>
            <a:off x="8641080" y="4690872"/>
            <a:ext cx="2816352" cy="274320"/>
          </a:xfrm>
          <a:prstGeom prst="rect">
            <a:avLst/>
          </a:prstGeom>
          <a:noFill/>
        </p:spPr>
        <p:txBody>
          <a:bodyPr wrap="square" lIns="0" rIns="0" tIns="0" bIns="0" anchor="t">
            <a:spAutoFit/>
          </a:bodyPr>
          <a:lstStyle/>
          <a:p>
            <a:pPr algn="l"/>
            <a:r>
              <a:rPr sz="1200" b="0" i="0">
                <a:solidFill>
                  <a:srgbClr val="9A9AAA"/>
                </a:solidFill>
                <a:latin typeface="Verdana"/>
              </a:rPr>
              <a:t>Modell auf eurem Laptop</a:t>
            </a:r>
          </a:p>
        </p:txBody>
      </p:sp>
      <p:sp>
        <p:nvSpPr>
          <p:cNvPr id="37" name="TextBox 36"/>
          <p:cNvSpPr txBox="1"/>
          <p:nvPr/>
        </p:nvSpPr>
        <p:spPr>
          <a:xfrm>
            <a:off x="8046719" y="5074920"/>
            <a:ext cx="3319272" cy="640080"/>
          </a:xfrm>
          <a:prstGeom prst="rect">
            <a:avLst/>
          </a:prstGeom>
          <a:noFill/>
        </p:spPr>
        <p:txBody>
          <a:bodyPr wrap="square" lIns="0" rIns="0" tIns="0" bIns="0" anchor="t">
            <a:spAutoFit/>
          </a:bodyPr>
          <a:lstStyle/>
          <a:p>
            <a:pPr algn="l"/>
            <a:r>
              <a:rPr sz="1200" b="0" i="0">
                <a:solidFill>
                  <a:srgbClr val="F6A800"/>
                </a:solidFill>
                <a:latin typeface="Verdana"/>
              </a:rPr>
              <a:t>Quelle im KI-Modell: Lokal. Daten bleiben auf dem Laptop.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Cluster oder lokal?</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MODELLE</a:t>
            </a:r>
          </a:p>
        </p:txBody>
      </p:sp>
      <p:sp>
        <p:nvSpPr>
          <p:cNvPr id="4" name="Rectangle 3"/>
          <p:cNvSpPr/>
          <p:nvPr/>
        </p:nvSpPr>
        <p:spPr>
          <a:xfrm>
            <a:off x="2651760" y="1783080"/>
            <a:ext cx="4402836" cy="914400"/>
          </a:xfrm>
          <a:prstGeom prst="rect">
            <a:avLst/>
          </a:prstGeom>
          <a:solidFill>
            <a:srgbClr val="DC640D"/>
          </a:solidFill>
          <a:ln>
            <a:noFill/>
          </a:ln>
        </p:spPr>
        <p:txBody>
          <a:bodyPr rtlCol="0" anchor="ctr"/>
          <a:lstStyle/>
          <a:p>
            <a:pPr algn="ctr"/>
          </a:p>
        </p:txBody>
      </p:sp>
      <p:pic>
        <p:nvPicPr>
          <p:cNvPr id="5" name="Picture 4" descr="LuServer_w.png"/>
          <p:cNvPicPr>
            <a:picLocks noChangeAspect="1"/>
          </p:cNvPicPr>
          <p:nvPr/>
        </p:nvPicPr>
        <p:blipFill>
          <a:blip r:embed="rId3"/>
          <a:stretch>
            <a:fillRect/>
          </a:stretch>
        </p:blipFill>
        <p:spPr>
          <a:xfrm>
            <a:off x="2926080" y="2011680"/>
            <a:ext cx="457200" cy="457200"/>
          </a:xfrm>
          <a:prstGeom prst="rect">
            <a:avLst/>
          </a:prstGeom>
        </p:spPr>
      </p:pic>
      <p:sp>
        <p:nvSpPr>
          <p:cNvPr id="6" name="TextBox 5"/>
          <p:cNvSpPr txBox="1"/>
          <p:nvPr/>
        </p:nvSpPr>
        <p:spPr>
          <a:xfrm>
            <a:off x="3611880" y="1938528"/>
            <a:ext cx="3305556" cy="365760"/>
          </a:xfrm>
          <a:prstGeom prst="rect">
            <a:avLst/>
          </a:prstGeom>
          <a:noFill/>
        </p:spPr>
        <p:txBody>
          <a:bodyPr wrap="square" lIns="0" rIns="0" tIns="0" bIns="0" anchor="t">
            <a:spAutoFit/>
          </a:bodyPr>
          <a:lstStyle/>
          <a:p>
            <a:pPr algn="l"/>
            <a:r>
              <a:rPr sz="1600" b="1" i="0">
                <a:solidFill>
                  <a:srgbClr val="FFFFFF"/>
                </a:solidFill>
                <a:latin typeface="Verdana"/>
              </a:rPr>
              <a:t>Cluster (LiteLLM)</a:t>
            </a:r>
          </a:p>
        </p:txBody>
      </p:sp>
      <p:sp>
        <p:nvSpPr>
          <p:cNvPr id="7" name="TextBox 6"/>
          <p:cNvSpPr txBox="1"/>
          <p:nvPr/>
        </p:nvSpPr>
        <p:spPr>
          <a:xfrm>
            <a:off x="3611880" y="2304288"/>
            <a:ext cx="3305556" cy="274320"/>
          </a:xfrm>
          <a:prstGeom prst="rect">
            <a:avLst/>
          </a:prstGeom>
          <a:noFill/>
        </p:spPr>
        <p:txBody>
          <a:bodyPr wrap="square" lIns="0" rIns="0" tIns="0" bIns="0" anchor="t">
            <a:spAutoFit/>
          </a:bodyPr>
          <a:lstStyle/>
          <a:p>
            <a:pPr algn="l"/>
            <a:r>
              <a:rPr sz="1200" b="0" i="0">
                <a:solidFill>
                  <a:srgbClr val="FFFFFF"/>
                </a:solidFill>
                <a:latin typeface="Verdana"/>
              </a:rPr>
              <a:t>Rechenzentrum der Orga</a:t>
            </a:r>
          </a:p>
        </p:txBody>
      </p:sp>
      <p:sp>
        <p:nvSpPr>
          <p:cNvPr id="8" name="Rectangle 7"/>
          <p:cNvSpPr/>
          <p:nvPr/>
        </p:nvSpPr>
        <p:spPr>
          <a:xfrm>
            <a:off x="7237476" y="1783080"/>
            <a:ext cx="4402836" cy="914400"/>
          </a:xfrm>
          <a:prstGeom prst="rect">
            <a:avLst/>
          </a:prstGeom>
          <a:solidFill>
            <a:srgbClr val="24232E"/>
          </a:solidFill>
          <a:ln w="12700">
            <a:solidFill>
              <a:srgbClr val="DC640D"/>
            </a:solidFill>
          </a:ln>
        </p:spPr>
        <p:txBody>
          <a:bodyPr rtlCol="0" anchor="ctr"/>
          <a:lstStyle/>
          <a:p>
            <a:pPr algn="ctr"/>
          </a:p>
        </p:txBody>
      </p:sp>
      <p:pic>
        <p:nvPicPr>
          <p:cNvPr id="9" name="Picture 8" descr="LuLaptop_w.png"/>
          <p:cNvPicPr>
            <a:picLocks noChangeAspect="1"/>
          </p:cNvPicPr>
          <p:nvPr/>
        </p:nvPicPr>
        <p:blipFill>
          <a:blip r:embed="rId4"/>
          <a:stretch>
            <a:fillRect/>
          </a:stretch>
        </p:blipFill>
        <p:spPr>
          <a:xfrm>
            <a:off x="7511796" y="2011680"/>
            <a:ext cx="457200" cy="457200"/>
          </a:xfrm>
          <a:prstGeom prst="rect">
            <a:avLst/>
          </a:prstGeom>
        </p:spPr>
      </p:pic>
      <p:sp>
        <p:nvSpPr>
          <p:cNvPr id="10" name="TextBox 9"/>
          <p:cNvSpPr txBox="1"/>
          <p:nvPr/>
        </p:nvSpPr>
        <p:spPr>
          <a:xfrm>
            <a:off x="8197596" y="1938528"/>
            <a:ext cx="3305556" cy="365760"/>
          </a:xfrm>
          <a:prstGeom prst="rect">
            <a:avLst/>
          </a:prstGeom>
          <a:noFill/>
        </p:spPr>
        <p:txBody>
          <a:bodyPr wrap="square" lIns="0" rIns="0" tIns="0" bIns="0" anchor="t">
            <a:spAutoFit/>
          </a:bodyPr>
          <a:lstStyle/>
          <a:p>
            <a:pPr algn="l"/>
            <a:r>
              <a:rPr sz="1600" b="1" i="0">
                <a:solidFill>
                  <a:srgbClr val="FFFFFF"/>
                </a:solidFill>
                <a:latin typeface="Verdana"/>
              </a:rPr>
              <a:t>Lokal (Ollama)</a:t>
            </a:r>
          </a:p>
        </p:txBody>
      </p:sp>
      <p:sp>
        <p:nvSpPr>
          <p:cNvPr id="11" name="TextBox 10"/>
          <p:cNvSpPr txBox="1"/>
          <p:nvPr/>
        </p:nvSpPr>
        <p:spPr>
          <a:xfrm>
            <a:off x="8197596" y="2304288"/>
            <a:ext cx="3305556" cy="274320"/>
          </a:xfrm>
          <a:prstGeom prst="rect">
            <a:avLst/>
          </a:prstGeom>
          <a:noFill/>
        </p:spPr>
        <p:txBody>
          <a:bodyPr wrap="square" lIns="0" rIns="0" tIns="0" bIns="0" anchor="t">
            <a:spAutoFit/>
          </a:bodyPr>
          <a:lstStyle/>
          <a:p>
            <a:pPr algn="l"/>
            <a:r>
              <a:rPr sz="1200" b="0" i="0">
                <a:solidFill>
                  <a:srgbClr val="FFFFFF"/>
                </a:solidFill>
                <a:latin typeface="Verdana"/>
              </a:rPr>
              <a:t>euer eigener Laptop</a:t>
            </a:r>
          </a:p>
        </p:txBody>
      </p:sp>
      <p:sp>
        <p:nvSpPr>
          <p:cNvPr id="12" name="Rectangle 11"/>
          <p:cNvSpPr/>
          <p:nvPr/>
        </p:nvSpPr>
        <p:spPr>
          <a:xfrm>
            <a:off x="548640" y="2880360"/>
            <a:ext cx="11091672" cy="475488"/>
          </a:xfrm>
          <a:prstGeom prst="rect">
            <a:avLst/>
          </a:prstGeom>
          <a:solidFill>
            <a:srgbClr val="24232E"/>
          </a:solidFill>
          <a:ln>
            <a:noFill/>
          </a:ln>
        </p:spPr>
        <p:txBody>
          <a:bodyPr rtlCol="0" anchor="ctr"/>
          <a:lstStyle/>
          <a:p>
            <a:pPr algn="ctr"/>
          </a:p>
        </p:txBody>
      </p:sp>
      <p:sp>
        <p:nvSpPr>
          <p:cNvPr id="13" name="TextBox 12"/>
          <p:cNvSpPr txBox="1"/>
          <p:nvPr/>
        </p:nvSpPr>
        <p:spPr>
          <a:xfrm>
            <a:off x="777240" y="2880360"/>
            <a:ext cx="1691640" cy="475488"/>
          </a:xfrm>
          <a:prstGeom prst="rect">
            <a:avLst/>
          </a:prstGeom>
          <a:noFill/>
        </p:spPr>
        <p:txBody>
          <a:bodyPr wrap="square" lIns="0" rIns="0" tIns="0" bIns="0" anchor="ctr">
            <a:spAutoFit/>
          </a:bodyPr>
          <a:lstStyle/>
          <a:p>
            <a:pPr algn="l"/>
            <a:r>
              <a:rPr sz="1333" b="1" i="0">
                <a:solidFill>
                  <a:srgbClr val="FFFFFF"/>
                </a:solidFill>
                <a:latin typeface="Verdana"/>
              </a:rPr>
              <a:t>Qualität</a:t>
            </a:r>
          </a:p>
        </p:txBody>
      </p:sp>
      <p:sp>
        <p:nvSpPr>
          <p:cNvPr id="14" name="TextBox 13"/>
          <p:cNvSpPr txBox="1"/>
          <p:nvPr/>
        </p:nvSpPr>
        <p:spPr>
          <a:xfrm>
            <a:off x="2926080" y="2880360"/>
            <a:ext cx="4037076" cy="475488"/>
          </a:xfrm>
          <a:prstGeom prst="rect">
            <a:avLst/>
          </a:prstGeom>
          <a:noFill/>
        </p:spPr>
        <p:txBody>
          <a:bodyPr wrap="square" lIns="0" rIns="0" tIns="0" bIns="0" anchor="ctr">
            <a:spAutoFit/>
          </a:bodyPr>
          <a:lstStyle/>
          <a:p>
            <a:pPr algn="l"/>
            <a:r>
              <a:rPr sz="1333" b="0" i="0">
                <a:solidFill>
                  <a:srgbClr val="FFFFFF"/>
                </a:solidFill>
                <a:latin typeface="Verdana"/>
              </a:rPr>
              <a:t>groß und zuverlässig</a:t>
            </a:r>
          </a:p>
        </p:txBody>
      </p:sp>
      <p:sp>
        <p:nvSpPr>
          <p:cNvPr id="15" name="TextBox 14"/>
          <p:cNvSpPr txBox="1"/>
          <p:nvPr/>
        </p:nvSpPr>
        <p:spPr>
          <a:xfrm>
            <a:off x="7511796" y="2880360"/>
            <a:ext cx="4037076" cy="475488"/>
          </a:xfrm>
          <a:prstGeom prst="rect">
            <a:avLst/>
          </a:prstGeom>
          <a:noFill/>
        </p:spPr>
        <p:txBody>
          <a:bodyPr wrap="square" lIns="0" rIns="0" tIns="0" bIns="0" anchor="ctr">
            <a:spAutoFit/>
          </a:bodyPr>
          <a:lstStyle/>
          <a:p>
            <a:pPr algn="l"/>
            <a:r>
              <a:rPr sz="1333" b="0" i="0">
                <a:solidFill>
                  <a:srgbClr val="FFFFFF"/>
                </a:solidFill>
                <a:latin typeface="Verdana"/>
              </a:rPr>
              <a:t>klein, macht mehr Fehler</a:t>
            </a:r>
          </a:p>
        </p:txBody>
      </p:sp>
      <p:sp>
        <p:nvSpPr>
          <p:cNvPr id="16" name="TextBox 15"/>
          <p:cNvSpPr txBox="1"/>
          <p:nvPr/>
        </p:nvSpPr>
        <p:spPr>
          <a:xfrm>
            <a:off x="777240" y="3429000"/>
            <a:ext cx="1691640" cy="475488"/>
          </a:xfrm>
          <a:prstGeom prst="rect">
            <a:avLst/>
          </a:prstGeom>
          <a:noFill/>
        </p:spPr>
        <p:txBody>
          <a:bodyPr wrap="square" lIns="0" rIns="0" tIns="0" bIns="0" anchor="ctr">
            <a:spAutoFit/>
          </a:bodyPr>
          <a:lstStyle/>
          <a:p>
            <a:pPr algn="l"/>
            <a:r>
              <a:rPr sz="1333" b="1" i="0">
                <a:solidFill>
                  <a:srgbClr val="FFFFFF"/>
                </a:solidFill>
                <a:latin typeface="Verdana"/>
              </a:rPr>
              <a:t>Tempo</a:t>
            </a:r>
          </a:p>
        </p:txBody>
      </p:sp>
      <p:sp>
        <p:nvSpPr>
          <p:cNvPr id="17" name="TextBox 16"/>
          <p:cNvSpPr txBox="1"/>
          <p:nvPr/>
        </p:nvSpPr>
        <p:spPr>
          <a:xfrm>
            <a:off x="2926080" y="3429000"/>
            <a:ext cx="4037076" cy="475488"/>
          </a:xfrm>
          <a:prstGeom prst="rect">
            <a:avLst/>
          </a:prstGeom>
          <a:noFill/>
        </p:spPr>
        <p:txBody>
          <a:bodyPr wrap="square" lIns="0" rIns="0" tIns="0" bIns="0" anchor="ctr">
            <a:spAutoFit/>
          </a:bodyPr>
          <a:lstStyle/>
          <a:p>
            <a:pPr algn="l"/>
            <a:r>
              <a:rPr sz="1333" b="0" i="0">
                <a:solidFill>
                  <a:srgbClr val="FFFFFF"/>
                </a:solidFill>
                <a:latin typeface="Verdana"/>
              </a:rPr>
              <a:t>schnell</a:t>
            </a:r>
          </a:p>
        </p:txBody>
      </p:sp>
      <p:sp>
        <p:nvSpPr>
          <p:cNvPr id="18" name="TextBox 17"/>
          <p:cNvSpPr txBox="1"/>
          <p:nvPr/>
        </p:nvSpPr>
        <p:spPr>
          <a:xfrm>
            <a:off x="7511796" y="3429000"/>
            <a:ext cx="4037076" cy="475488"/>
          </a:xfrm>
          <a:prstGeom prst="rect">
            <a:avLst/>
          </a:prstGeom>
          <a:noFill/>
        </p:spPr>
        <p:txBody>
          <a:bodyPr wrap="square" lIns="0" rIns="0" tIns="0" bIns="0" anchor="ctr">
            <a:spAutoFit/>
          </a:bodyPr>
          <a:lstStyle/>
          <a:p>
            <a:pPr algn="l"/>
            <a:r>
              <a:rPr sz="1333" b="0" i="0">
                <a:solidFill>
                  <a:srgbClr val="FFFFFF"/>
                </a:solidFill>
                <a:latin typeface="Verdana"/>
              </a:rPr>
              <a:t>langsam, besonders ohne Grafikkarte</a:t>
            </a:r>
          </a:p>
        </p:txBody>
      </p:sp>
      <p:sp>
        <p:nvSpPr>
          <p:cNvPr id="19" name="Rectangle 18"/>
          <p:cNvSpPr/>
          <p:nvPr/>
        </p:nvSpPr>
        <p:spPr>
          <a:xfrm>
            <a:off x="548640" y="3977639"/>
            <a:ext cx="11091672" cy="475488"/>
          </a:xfrm>
          <a:prstGeom prst="rect">
            <a:avLst/>
          </a:prstGeom>
          <a:solidFill>
            <a:srgbClr val="24232E"/>
          </a:solidFill>
          <a:ln>
            <a:noFill/>
          </a:ln>
        </p:spPr>
        <p:txBody>
          <a:bodyPr rtlCol="0" anchor="ctr"/>
          <a:lstStyle/>
          <a:p>
            <a:pPr algn="ctr"/>
          </a:p>
        </p:txBody>
      </p:sp>
      <p:sp>
        <p:nvSpPr>
          <p:cNvPr id="20" name="TextBox 19"/>
          <p:cNvSpPr txBox="1"/>
          <p:nvPr/>
        </p:nvSpPr>
        <p:spPr>
          <a:xfrm>
            <a:off x="777240" y="3977639"/>
            <a:ext cx="1691640" cy="475488"/>
          </a:xfrm>
          <a:prstGeom prst="rect">
            <a:avLst/>
          </a:prstGeom>
          <a:noFill/>
        </p:spPr>
        <p:txBody>
          <a:bodyPr wrap="square" lIns="0" rIns="0" tIns="0" bIns="0" anchor="ctr">
            <a:spAutoFit/>
          </a:bodyPr>
          <a:lstStyle/>
          <a:p>
            <a:pPr algn="l"/>
            <a:r>
              <a:rPr sz="1333" b="1" i="0">
                <a:solidFill>
                  <a:srgbClr val="FFFFFF"/>
                </a:solidFill>
                <a:latin typeface="Verdana"/>
              </a:rPr>
              <a:t>Daten</a:t>
            </a:r>
          </a:p>
        </p:txBody>
      </p:sp>
      <p:sp>
        <p:nvSpPr>
          <p:cNvPr id="21" name="TextBox 20"/>
          <p:cNvSpPr txBox="1"/>
          <p:nvPr/>
        </p:nvSpPr>
        <p:spPr>
          <a:xfrm>
            <a:off x="2926080" y="3977639"/>
            <a:ext cx="4037076" cy="475488"/>
          </a:xfrm>
          <a:prstGeom prst="rect">
            <a:avLst/>
          </a:prstGeom>
          <a:noFill/>
        </p:spPr>
        <p:txBody>
          <a:bodyPr wrap="square" lIns="0" rIns="0" tIns="0" bIns="0" anchor="ctr">
            <a:spAutoFit/>
          </a:bodyPr>
          <a:lstStyle/>
          <a:p>
            <a:pPr algn="l"/>
            <a:r>
              <a:rPr sz="1333" b="0" i="0">
                <a:solidFill>
                  <a:srgbClr val="FFFFFF"/>
                </a:solidFill>
                <a:latin typeface="Verdana"/>
              </a:rPr>
              <a:t>verlassen den Laptop</a:t>
            </a:r>
          </a:p>
        </p:txBody>
      </p:sp>
      <p:sp>
        <p:nvSpPr>
          <p:cNvPr id="22" name="TextBox 21"/>
          <p:cNvSpPr txBox="1"/>
          <p:nvPr/>
        </p:nvSpPr>
        <p:spPr>
          <a:xfrm>
            <a:off x="7511796" y="3977639"/>
            <a:ext cx="4037076" cy="475488"/>
          </a:xfrm>
          <a:prstGeom prst="rect">
            <a:avLst/>
          </a:prstGeom>
          <a:noFill/>
        </p:spPr>
        <p:txBody>
          <a:bodyPr wrap="square" lIns="0" rIns="0" tIns="0" bIns="0" anchor="ctr">
            <a:spAutoFit/>
          </a:bodyPr>
          <a:lstStyle/>
          <a:p>
            <a:pPr algn="l"/>
            <a:r>
              <a:rPr sz="1333" b="0" i="0">
                <a:solidFill>
                  <a:srgbClr val="FFFFFF"/>
                </a:solidFill>
                <a:latin typeface="Verdana"/>
              </a:rPr>
              <a:t>bleiben auf dem Laptop</a:t>
            </a:r>
          </a:p>
        </p:txBody>
      </p:sp>
      <p:sp>
        <p:nvSpPr>
          <p:cNvPr id="23" name="TextBox 22"/>
          <p:cNvSpPr txBox="1"/>
          <p:nvPr/>
        </p:nvSpPr>
        <p:spPr>
          <a:xfrm>
            <a:off x="777240" y="4526279"/>
            <a:ext cx="1691640" cy="475488"/>
          </a:xfrm>
          <a:prstGeom prst="rect">
            <a:avLst/>
          </a:prstGeom>
          <a:noFill/>
        </p:spPr>
        <p:txBody>
          <a:bodyPr wrap="square" lIns="0" rIns="0" tIns="0" bIns="0" anchor="ctr">
            <a:spAutoFit/>
          </a:bodyPr>
          <a:lstStyle/>
          <a:p>
            <a:pPr algn="l"/>
            <a:r>
              <a:rPr sz="1333" b="1" i="0">
                <a:solidFill>
                  <a:srgbClr val="FFFFFF"/>
                </a:solidFill>
                <a:latin typeface="Verdana"/>
              </a:rPr>
              <a:t>Agenten</a:t>
            </a:r>
          </a:p>
        </p:txBody>
      </p:sp>
      <p:sp>
        <p:nvSpPr>
          <p:cNvPr id="24" name="TextBox 23"/>
          <p:cNvSpPr txBox="1"/>
          <p:nvPr/>
        </p:nvSpPr>
        <p:spPr>
          <a:xfrm>
            <a:off x="2926080" y="4526279"/>
            <a:ext cx="4037076" cy="475488"/>
          </a:xfrm>
          <a:prstGeom prst="rect">
            <a:avLst/>
          </a:prstGeom>
          <a:noFill/>
        </p:spPr>
        <p:txBody>
          <a:bodyPr wrap="square" lIns="0" rIns="0" tIns="0" bIns="0" anchor="ctr">
            <a:spAutoFit/>
          </a:bodyPr>
          <a:lstStyle/>
          <a:p>
            <a:pPr algn="l"/>
            <a:r>
              <a:rPr sz="1333" b="0" i="0">
                <a:solidFill>
                  <a:srgbClr val="FFFFFF"/>
                </a:solidFill>
                <a:latin typeface="Verdana"/>
              </a:rPr>
              <a:t>funktionieren gut</a:t>
            </a:r>
          </a:p>
        </p:txBody>
      </p:sp>
      <p:sp>
        <p:nvSpPr>
          <p:cNvPr id="25" name="TextBox 24"/>
          <p:cNvSpPr txBox="1"/>
          <p:nvPr/>
        </p:nvSpPr>
        <p:spPr>
          <a:xfrm>
            <a:off x="7511796" y="4526279"/>
            <a:ext cx="4037076" cy="475488"/>
          </a:xfrm>
          <a:prstGeom prst="rect">
            <a:avLst/>
          </a:prstGeom>
          <a:noFill/>
        </p:spPr>
        <p:txBody>
          <a:bodyPr wrap="square" lIns="0" rIns="0" tIns="0" bIns="0" anchor="ctr">
            <a:spAutoFit/>
          </a:bodyPr>
          <a:lstStyle/>
          <a:p>
            <a:pPr algn="l"/>
            <a:r>
              <a:rPr sz="1333" b="0" i="0">
                <a:solidFill>
                  <a:srgbClr val="FFFFFF"/>
                </a:solidFill>
                <a:latin typeface="Verdana"/>
              </a:rPr>
              <a:t>oft unzuverlässig</a:t>
            </a:r>
          </a:p>
        </p:txBody>
      </p:sp>
      <p:sp>
        <p:nvSpPr>
          <p:cNvPr id="26" name="Rectangle 25"/>
          <p:cNvSpPr/>
          <p:nvPr/>
        </p:nvSpPr>
        <p:spPr>
          <a:xfrm>
            <a:off x="548640" y="5166360"/>
            <a:ext cx="11091672" cy="685800"/>
          </a:xfrm>
          <a:prstGeom prst="rect">
            <a:avLst/>
          </a:prstGeom>
          <a:noFill/>
          <a:ln w="12700">
            <a:solidFill>
              <a:srgbClr val="DC640D"/>
            </a:solidFill>
          </a:ln>
        </p:spPr>
        <p:txBody>
          <a:bodyPr rtlCol="0" anchor="ctr"/>
          <a:lstStyle/>
          <a:p>
            <a:pPr algn="ctr"/>
          </a:p>
        </p:txBody>
      </p:sp>
      <p:pic>
        <p:nvPicPr>
          <p:cNvPr id="27" name="Picture 26" descr="LuShieldCheck_o.png"/>
          <p:cNvPicPr>
            <a:picLocks noChangeAspect="1"/>
          </p:cNvPicPr>
          <p:nvPr/>
        </p:nvPicPr>
        <p:blipFill>
          <a:blip r:embed="rId5"/>
          <a:stretch>
            <a:fillRect/>
          </a:stretch>
        </p:blipFill>
        <p:spPr>
          <a:xfrm>
            <a:off x="777240" y="5303520"/>
            <a:ext cx="411480" cy="411480"/>
          </a:xfrm>
          <a:prstGeom prst="rect">
            <a:avLst/>
          </a:prstGeom>
        </p:spPr>
      </p:pic>
      <p:sp>
        <p:nvSpPr>
          <p:cNvPr id="28" name="TextBox 27"/>
          <p:cNvSpPr txBox="1"/>
          <p:nvPr/>
        </p:nvSpPr>
        <p:spPr>
          <a:xfrm>
            <a:off x="1371600" y="5166360"/>
            <a:ext cx="10085832" cy="685800"/>
          </a:xfrm>
          <a:prstGeom prst="rect">
            <a:avLst/>
          </a:prstGeom>
          <a:noFill/>
        </p:spPr>
        <p:txBody>
          <a:bodyPr wrap="square" lIns="0" rIns="0" tIns="0" bIns="0" anchor="ctr">
            <a:spAutoFit/>
          </a:bodyPr>
          <a:lstStyle/>
          <a:p>
            <a:pPr algn="l"/>
            <a:r>
              <a:rPr sz="1333" b="1" i="0">
                <a:solidFill>
                  <a:srgbClr val="DC640D"/>
                </a:solidFill>
                <a:latin typeface="Verdana"/>
              </a:rPr>
              <a:t>Wann lokal? </a:t>
            </a:r>
            <a:r>
              <a:rPr sz="1333" b="0" i="0">
                <a:solidFill>
                  <a:srgbClr val="FFFFFF"/>
                </a:solidFill>
                <a:latin typeface="Verdana"/>
              </a:rPr>
              <a:t>Wenn Daten das Haus nicht verlassen sollen, z. B. unveröffentlichte Abschlussarbeiten oder Anfragen von Nutzer:innen.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Vom Chat zum Workflow.</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WORKFLOWS</a:t>
            </a:r>
          </a:p>
        </p:txBody>
      </p:sp>
      <p:sp>
        <p:nvSpPr>
          <p:cNvPr id="4" name="Rectangle 3"/>
          <p:cNvSpPr/>
          <p:nvPr/>
        </p:nvSpPr>
        <p:spPr>
          <a:xfrm>
            <a:off x="548640" y="1783080"/>
            <a:ext cx="5408676" cy="155448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08676" cy="64008"/>
          </a:xfrm>
          <a:prstGeom prst="rect">
            <a:avLst/>
          </a:prstGeom>
          <a:solidFill>
            <a:srgbClr val="9A9AAA"/>
          </a:solidFill>
          <a:ln>
            <a:noFill/>
          </a:ln>
        </p:spPr>
        <p:txBody>
          <a:bodyPr rtlCol="0" anchor="ctr"/>
          <a:lstStyle/>
          <a:p>
            <a:pPr algn="ctr"/>
          </a:p>
        </p:txBody>
      </p:sp>
      <p:sp>
        <p:nvSpPr>
          <p:cNvPr id="6" name="TextBox 5"/>
          <p:cNvSpPr txBox="1"/>
          <p:nvPr/>
        </p:nvSpPr>
        <p:spPr>
          <a:xfrm>
            <a:off x="822959" y="2011680"/>
            <a:ext cx="4860036" cy="320040"/>
          </a:xfrm>
          <a:prstGeom prst="rect">
            <a:avLst/>
          </a:prstGeom>
          <a:noFill/>
        </p:spPr>
        <p:txBody>
          <a:bodyPr wrap="square" lIns="0" rIns="0" tIns="0" bIns="0" anchor="t">
            <a:spAutoFit/>
          </a:bodyPr>
          <a:lstStyle/>
          <a:p>
            <a:pPr algn="l"/>
            <a:r>
              <a:rPr sz="1600" b="1" i="0">
                <a:solidFill>
                  <a:srgbClr val="FFFFFF"/>
                </a:solidFill>
                <a:latin typeface="Verdana"/>
              </a:rPr>
              <a:t>Im Chat</a:t>
            </a:r>
          </a:p>
        </p:txBody>
      </p:sp>
      <p:sp>
        <p:nvSpPr>
          <p:cNvPr id="7" name="TextBox 6"/>
          <p:cNvSpPr txBox="1"/>
          <p:nvPr/>
        </p:nvSpPr>
        <p:spPr>
          <a:xfrm>
            <a:off x="822959" y="2423160"/>
            <a:ext cx="4860036" cy="822960"/>
          </a:xfrm>
          <a:prstGeom prst="rect">
            <a:avLst/>
          </a:prstGeom>
          <a:noFill/>
        </p:spPr>
        <p:txBody>
          <a:bodyPr wrap="square" lIns="0" rIns="0" tIns="0" bIns="0" anchor="t">
            <a:spAutoFit/>
          </a:bodyPr>
          <a:lstStyle/>
          <a:p>
            <a:pPr algn="l"/>
            <a:r>
              <a:rPr sz="1267" b="0" i="0">
                <a:solidFill>
                  <a:srgbClr val="9A9AAA"/>
                </a:solidFill>
                <a:latin typeface="Verdana"/>
              </a:rPr>
              <a:t>Ihr sucht, kopiert, fragt und prüft. Jedes Mal von Hand, jedes Mal ein bisschen anders.</a:t>
            </a:r>
          </a:p>
        </p:txBody>
      </p:sp>
      <p:sp>
        <p:nvSpPr>
          <p:cNvPr id="8" name="Rectangle 7"/>
          <p:cNvSpPr/>
          <p:nvPr/>
        </p:nvSpPr>
        <p:spPr>
          <a:xfrm>
            <a:off x="6231636" y="1783080"/>
            <a:ext cx="5408676" cy="1554480"/>
          </a:xfrm>
          <a:prstGeom prst="rect">
            <a:avLst/>
          </a:prstGeom>
          <a:solidFill>
            <a:srgbClr val="24232E"/>
          </a:solidFill>
          <a:ln w="9525">
            <a:solidFill>
              <a:srgbClr val="3A3948"/>
            </a:solidFill>
          </a:ln>
        </p:spPr>
        <p:txBody>
          <a:bodyPr rtlCol="0" anchor="ctr"/>
          <a:lstStyle/>
          <a:p>
            <a:pPr algn="ctr"/>
          </a:p>
        </p:txBody>
      </p:sp>
      <p:sp>
        <p:nvSpPr>
          <p:cNvPr id="9" name="Rectangle 8"/>
          <p:cNvSpPr/>
          <p:nvPr/>
        </p:nvSpPr>
        <p:spPr>
          <a:xfrm>
            <a:off x="6231636" y="1783080"/>
            <a:ext cx="5408676" cy="64008"/>
          </a:xfrm>
          <a:prstGeom prst="rect">
            <a:avLst/>
          </a:prstGeom>
          <a:solidFill>
            <a:srgbClr val="DC640D"/>
          </a:solidFill>
          <a:ln>
            <a:noFill/>
          </a:ln>
        </p:spPr>
        <p:txBody>
          <a:bodyPr rtlCol="0" anchor="ctr"/>
          <a:lstStyle/>
          <a:p>
            <a:pPr algn="ctr"/>
          </a:p>
        </p:txBody>
      </p:sp>
      <p:sp>
        <p:nvSpPr>
          <p:cNvPr id="10" name="TextBox 9"/>
          <p:cNvSpPr txBox="1"/>
          <p:nvPr/>
        </p:nvSpPr>
        <p:spPr>
          <a:xfrm>
            <a:off x="6505955" y="2011680"/>
            <a:ext cx="4860036" cy="320040"/>
          </a:xfrm>
          <a:prstGeom prst="rect">
            <a:avLst/>
          </a:prstGeom>
          <a:noFill/>
        </p:spPr>
        <p:txBody>
          <a:bodyPr wrap="square" lIns="0" rIns="0" tIns="0" bIns="0" anchor="t">
            <a:spAutoFit/>
          </a:bodyPr>
          <a:lstStyle/>
          <a:p>
            <a:pPr algn="l"/>
            <a:r>
              <a:rPr sz="1600" b="1" i="0">
                <a:solidFill>
                  <a:srgbClr val="FFFFFF"/>
                </a:solidFill>
                <a:latin typeface="Verdana"/>
              </a:rPr>
              <a:t>Im Workflow</a:t>
            </a:r>
          </a:p>
        </p:txBody>
      </p:sp>
      <p:sp>
        <p:nvSpPr>
          <p:cNvPr id="11" name="TextBox 10"/>
          <p:cNvSpPr txBox="1"/>
          <p:nvPr/>
        </p:nvSpPr>
        <p:spPr>
          <a:xfrm>
            <a:off x="6505955" y="2423160"/>
            <a:ext cx="4860036" cy="822960"/>
          </a:xfrm>
          <a:prstGeom prst="rect">
            <a:avLst/>
          </a:prstGeom>
          <a:noFill/>
        </p:spPr>
        <p:txBody>
          <a:bodyPr wrap="square" lIns="0" rIns="0" tIns="0" bIns="0" anchor="t">
            <a:spAutoFit/>
          </a:bodyPr>
          <a:lstStyle/>
          <a:p>
            <a:pPr algn="l"/>
            <a:r>
              <a:rPr sz="1267" b="0" i="0">
                <a:solidFill>
                  <a:srgbClr val="9A9AAA"/>
                </a:solidFill>
                <a:latin typeface="Verdana"/>
              </a:rPr>
              <a:t>Die Schritte sind einmal festgelegt und laufen jedes Mal gleich ab. Nachvollziehbar und prüfbar.</a:t>
            </a:r>
          </a:p>
        </p:txBody>
      </p:sp>
      <p:sp>
        <p:nvSpPr>
          <p:cNvPr id="12" name="TextBox 11"/>
          <p:cNvSpPr txBox="1"/>
          <p:nvPr/>
        </p:nvSpPr>
        <p:spPr>
          <a:xfrm>
            <a:off x="548640" y="361188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EIN WORKFLOW, VON LINKS NACH RECHTS</a:t>
            </a:r>
          </a:p>
        </p:txBody>
      </p:sp>
      <p:sp>
        <p:nvSpPr>
          <p:cNvPr id="13" name="Rectangle 12"/>
          <p:cNvSpPr/>
          <p:nvPr/>
        </p:nvSpPr>
        <p:spPr>
          <a:xfrm>
            <a:off x="792656" y="3961637"/>
            <a:ext cx="1730300" cy="854964"/>
          </a:xfrm>
          <a:prstGeom prst="rect">
            <a:avLst/>
          </a:prstGeom>
          <a:solidFill>
            <a:srgbClr val="24232E"/>
          </a:solidFill>
          <a:ln w="19050">
            <a:solidFill>
              <a:srgbClr val="9A9AAA"/>
            </a:solidFill>
          </a:ln>
        </p:spPr>
        <p:txBody>
          <a:bodyPr rtlCol="0" anchor="ctr"/>
          <a:lstStyle/>
          <a:p>
            <a:pPr algn="ctr"/>
          </a:p>
        </p:txBody>
      </p:sp>
      <p:sp>
        <p:nvSpPr>
          <p:cNvPr id="14" name="TextBox 13"/>
          <p:cNvSpPr txBox="1"/>
          <p:nvPr/>
        </p:nvSpPr>
        <p:spPr>
          <a:xfrm>
            <a:off x="865808" y="4007357"/>
            <a:ext cx="1583996" cy="470230"/>
          </a:xfrm>
          <a:prstGeom prst="rect">
            <a:avLst/>
          </a:prstGeom>
          <a:noFill/>
        </p:spPr>
        <p:txBody>
          <a:bodyPr wrap="square" lIns="0" rIns="0" tIns="0" bIns="0" anchor="b">
            <a:spAutoFit/>
          </a:bodyPr>
          <a:lstStyle/>
          <a:p>
            <a:pPr algn="ctr"/>
            <a:r>
              <a:rPr sz="1200" b="1" i="0">
                <a:solidFill>
                  <a:srgbClr val="FFFFFF"/>
                </a:solidFill>
                <a:latin typeface="Verdana"/>
              </a:rPr>
              <a:t>Eingabe</a:t>
            </a:r>
          </a:p>
        </p:txBody>
      </p:sp>
      <p:sp>
        <p:nvSpPr>
          <p:cNvPr id="15" name="TextBox 14"/>
          <p:cNvSpPr txBox="1"/>
          <p:nvPr/>
        </p:nvSpPr>
        <p:spPr>
          <a:xfrm>
            <a:off x="865808" y="4457517"/>
            <a:ext cx="1583996" cy="341985"/>
          </a:xfrm>
          <a:prstGeom prst="rect">
            <a:avLst/>
          </a:prstGeom>
          <a:noFill/>
        </p:spPr>
        <p:txBody>
          <a:bodyPr wrap="square" lIns="0" rIns="0" tIns="0" bIns="0" anchor="t">
            <a:spAutoFit/>
          </a:bodyPr>
          <a:lstStyle/>
          <a:p>
            <a:pPr algn="ctr"/>
            <a:r>
              <a:rPr sz="933" b="0" i="1">
                <a:solidFill>
                  <a:srgbClr val="9A9AAA"/>
                </a:solidFill>
                <a:latin typeface="Verdana"/>
              </a:rPr>
              <a:t>Chat Input</a:t>
            </a:r>
          </a:p>
        </p:txBody>
      </p:sp>
      <p:sp>
        <p:nvSpPr>
          <p:cNvPr id="16" name="Rectangle 15"/>
          <p:cNvSpPr/>
          <p:nvPr/>
        </p:nvSpPr>
        <p:spPr>
          <a:xfrm>
            <a:off x="3010991" y="3961637"/>
            <a:ext cx="1730300" cy="854964"/>
          </a:xfrm>
          <a:prstGeom prst="rect">
            <a:avLst/>
          </a:prstGeom>
          <a:solidFill>
            <a:srgbClr val="24232E"/>
          </a:solidFill>
          <a:ln w="19050">
            <a:solidFill>
              <a:srgbClr val="DC640D"/>
            </a:solidFill>
          </a:ln>
        </p:spPr>
        <p:txBody>
          <a:bodyPr rtlCol="0" anchor="ctr"/>
          <a:lstStyle/>
          <a:p>
            <a:pPr algn="ctr"/>
          </a:p>
        </p:txBody>
      </p:sp>
      <p:sp>
        <p:nvSpPr>
          <p:cNvPr id="17" name="TextBox 16"/>
          <p:cNvSpPr txBox="1"/>
          <p:nvPr/>
        </p:nvSpPr>
        <p:spPr>
          <a:xfrm>
            <a:off x="3084143" y="4007357"/>
            <a:ext cx="1583996" cy="470230"/>
          </a:xfrm>
          <a:prstGeom prst="rect">
            <a:avLst/>
          </a:prstGeom>
          <a:noFill/>
        </p:spPr>
        <p:txBody>
          <a:bodyPr wrap="square" lIns="0" rIns="0" tIns="0" bIns="0" anchor="b">
            <a:spAutoFit/>
          </a:bodyPr>
          <a:lstStyle/>
          <a:p>
            <a:pPr algn="ctr"/>
            <a:r>
              <a:rPr sz="1200" b="1" i="0">
                <a:solidFill>
                  <a:srgbClr val="FFFFFF"/>
                </a:solidFill>
                <a:latin typeface="Verdana"/>
              </a:rPr>
              <a:t>Daten holen</a:t>
            </a:r>
          </a:p>
        </p:txBody>
      </p:sp>
      <p:sp>
        <p:nvSpPr>
          <p:cNvPr id="18" name="TextBox 17"/>
          <p:cNvSpPr txBox="1"/>
          <p:nvPr/>
        </p:nvSpPr>
        <p:spPr>
          <a:xfrm>
            <a:off x="3084143" y="4457517"/>
            <a:ext cx="1583996" cy="341985"/>
          </a:xfrm>
          <a:prstGeom prst="rect">
            <a:avLst/>
          </a:prstGeom>
          <a:noFill/>
        </p:spPr>
        <p:txBody>
          <a:bodyPr wrap="square" lIns="0" rIns="0" tIns="0" bIns="0" anchor="t">
            <a:spAutoFit/>
          </a:bodyPr>
          <a:lstStyle/>
          <a:p>
            <a:pPr algn="ctr"/>
            <a:r>
              <a:rPr sz="933" b="0" i="1">
                <a:solidFill>
                  <a:srgbClr val="9A9AAA"/>
                </a:solidFill>
                <a:latin typeface="Verdana"/>
              </a:rPr>
              <a:t>Katalog, OpenAlex</a:t>
            </a:r>
          </a:p>
        </p:txBody>
      </p:sp>
      <p:sp>
        <p:nvSpPr>
          <p:cNvPr id="19" name="Rectangle 18"/>
          <p:cNvSpPr/>
          <p:nvPr/>
        </p:nvSpPr>
        <p:spPr>
          <a:xfrm>
            <a:off x="5229325" y="3961637"/>
            <a:ext cx="1730300" cy="854964"/>
          </a:xfrm>
          <a:prstGeom prst="rect">
            <a:avLst/>
          </a:prstGeom>
          <a:solidFill>
            <a:srgbClr val="24232E"/>
          </a:solidFill>
          <a:ln w="19050">
            <a:solidFill>
              <a:srgbClr val="F6A800"/>
            </a:solidFill>
          </a:ln>
        </p:spPr>
        <p:txBody>
          <a:bodyPr rtlCol="0" anchor="ctr"/>
          <a:lstStyle/>
          <a:p>
            <a:pPr algn="ctr"/>
          </a:p>
        </p:txBody>
      </p:sp>
      <p:sp>
        <p:nvSpPr>
          <p:cNvPr id="20" name="TextBox 19"/>
          <p:cNvSpPr txBox="1"/>
          <p:nvPr/>
        </p:nvSpPr>
        <p:spPr>
          <a:xfrm>
            <a:off x="5302477" y="4007357"/>
            <a:ext cx="1583996" cy="470230"/>
          </a:xfrm>
          <a:prstGeom prst="rect">
            <a:avLst/>
          </a:prstGeom>
          <a:noFill/>
        </p:spPr>
        <p:txBody>
          <a:bodyPr wrap="square" lIns="0" rIns="0" tIns="0" bIns="0" anchor="b">
            <a:spAutoFit/>
          </a:bodyPr>
          <a:lstStyle/>
          <a:p>
            <a:pPr algn="ctr"/>
            <a:r>
              <a:rPr sz="1200" b="1" i="0">
                <a:solidFill>
                  <a:srgbClr val="FFFFFF"/>
                </a:solidFill>
                <a:latin typeface="Verdana"/>
              </a:rPr>
              <a:t>Anweisung</a:t>
            </a:r>
          </a:p>
        </p:txBody>
      </p:sp>
      <p:sp>
        <p:nvSpPr>
          <p:cNvPr id="21" name="TextBox 20"/>
          <p:cNvSpPr txBox="1"/>
          <p:nvPr/>
        </p:nvSpPr>
        <p:spPr>
          <a:xfrm>
            <a:off x="5302477" y="4457517"/>
            <a:ext cx="1583996" cy="341985"/>
          </a:xfrm>
          <a:prstGeom prst="rect">
            <a:avLst/>
          </a:prstGeom>
          <a:noFill/>
        </p:spPr>
        <p:txBody>
          <a:bodyPr wrap="square" lIns="0" rIns="0" tIns="0" bIns="0" anchor="t">
            <a:spAutoFit/>
          </a:bodyPr>
          <a:lstStyle/>
          <a:p>
            <a:pPr algn="ctr"/>
            <a:r>
              <a:rPr sz="933" b="0" i="1">
                <a:solidFill>
                  <a:srgbClr val="9A9AAA"/>
                </a:solidFill>
                <a:latin typeface="Verdana"/>
              </a:rPr>
              <a:t>Prompt Template</a:t>
            </a:r>
          </a:p>
        </p:txBody>
      </p:sp>
      <p:sp>
        <p:nvSpPr>
          <p:cNvPr id="22" name="Rectangle 21"/>
          <p:cNvSpPr/>
          <p:nvPr/>
        </p:nvSpPr>
        <p:spPr>
          <a:xfrm>
            <a:off x="7447659" y="3961637"/>
            <a:ext cx="1730300" cy="854964"/>
          </a:xfrm>
          <a:prstGeom prst="rect">
            <a:avLst/>
          </a:prstGeom>
          <a:solidFill>
            <a:srgbClr val="24232E"/>
          </a:solidFill>
          <a:ln w="19050">
            <a:solidFill>
              <a:srgbClr val="B1063A"/>
            </a:solidFill>
          </a:ln>
        </p:spPr>
        <p:txBody>
          <a:bodyPr rtlCol="0" anchor="ctr"/>
          <a:lstStyle/>
          <a:p>
            <a:pPr algn="ctr"/>
          </a:p>
        </p:txBody>
      </p:sp>
      <p:sp>
        <p:nvSpPr>
          <p:cNvPr id="23" name="TextBox 22"/>
          <p:cNvSpPr txBox="1"/>
          <p:nvPr/>
        </p:nvSpPr>
        <p:spPr>
          <a:xfrm>
            <a:off x="7520811" y="4007357"/>
            <a:ext cx="1583996" cy="470230"/>
          </a:xfrm>
          <a:prstGeom prst="rect">
            <a:avLst/>
          </a:prstGeom>
          <a:noFill/>
        </p:spPr>
        <p:txBody>
          <a:bodyPr wrap="square" lIns="0" rIns="0" tIns="0" bIns="0" anchor="b">
            <a:spAutoFit/>
          </a:bodyPr>
          <a:lstStyle/>
          <a:p>
            <a:pPr algn="ctr"/>
            <a:r>
              <a:rPr sz="1200" b="1" i="0">
                <a:solidFill>
                  <a:srgbClr val="FFFFFF"/>
                </a:solidFill>
                <a:latin typeface="Verdana"/>
              </a:rPr>
              <a:t>KI-Modell</a:t>
            </a:r>
          </a:p>
        </p:txBody>
      </p:sp>
      <p:sp>
        <p:nvSpPr>
          <p:cNvPr id="24" name="TextBox 23"/>
          <p:cNvSpPr txBox="1"/>
          <p:nvPr/>
        </p:nvSpPr>
        <p:spPr>
          <a:xfrm>
            <a:off x="7520811" y="4457517"/>
            <a:ext cx="1583996" cy="341985"/>
          </a:xfrm>
          <a:prstGeom prst="rect">
            <a:avLst/>
          </a:prstGeom>
          <a:noFill/>
        </p:spPr>
        <p:txBody>
          <a:bodyPr wrap="square" lIns="0" rIns="0" tIns="0" bIns="0" anchor="t">
            <a:spAutoFit/>
          </a:bodyPr>
          <a:lstStyle/>
          <a:p>
            <a:pPr algn="ctr"/>
            <a:r>
              <a:rPr sz="933" b="0" i="1">
                <a:solidFill>
                  <a:srgbClr val="9A9AAA"/>
                </a:solidFill>
                <a:latin typeface="Verdana"/>
              </a:rPr>
              <a:t>formuliert</a:t>
            </a:r>
          </a:p>
        </p:txBody>
      </p:sp>
      <p:sp>
        <p:nvSpPr>
          <p:cNvPr id="25" name="Rectangle 24"/>
          <p:cNvSpPr/>
          <p:nvPr/>
        </p:nvSpPr>
        <p:spPr>
          <a:xfrm>
            <a:off x="9665994" y="3961637"/>
            <a:ext cx="1730300" cy="854964"/>
          </a:xfrm>
          <a:prstGeom prst="rect">
            <a:avLst/>
          </a:prstGeom>
          <a:solidFill>
            <a:srgbClr val="24232E"/>
          </a:solidFill>
          <a:ln w="19050">
            <a:solidFill>
              <a:srgbClr val="9A9AAA"/>
            </a:solidFill>
          </a:ln>
        </p:spPr>
        <p:txBody>
          <a:bodyPr rtlCol="0" anchor="ctr"/>
          <a:lstStyle/>
          <a:p>
            <a:pPr algn="ctr"/>
          </a:p>
        </p:txBody>
      </p:sp>
      <p:sp>
        <p:nvSpPr>
          <p:cNvPr id="26" name="TextBox 25"/>
          <p:cNvSpPr txBox="1"/>
          <p:nvPr/>
        </p:nvSpPr>
        <p:spPr>
          <a:xfrm>
            <a:off x="9739146" y="4007357"/>
            <a:ext cx="1583996" cy="470230"/>
          </a:xfrm>
          <a:prstGeom prst="rect">
            <a:avLst/>
          </a:prstGeom>
          <a:noFill/>
        </p:spPr>
        <p:txBody>
          <a:bodyPr wrap="square" lIns="0" rIns="0" tIns="0" bIns="0" anchor="b">
            <a:spAutoFit/>
          </a:bodyPr>
          <a:lstStyle/>
          <a:p>
            <a:pPr algn="ctr"/>
            <a:r>
              <a:rPr sz="1200" b="1" i="0">
                <a:solidFill>
                  <a:srgbClr val="FFFFFF"/>
                </a:solidFill>
                <a:latin typeface="Verdana"/>
              </a:rPr>
              <a:t>Ausgabe</a:t>
            </a:r>
          </a:p>
        </p:txBody>
      </p:sp>
      <p:sp>
        <p:nvSpPr>
          <p:cNvPr id="27" name="TextBox 26"/>
          <p:cNvSpPr txBox="1"/>
          <p:nvPr/>
        </p:nvSpPr>
        <p:spPr>
          <a:xfrm>
            <a:off x="9739146" y="4457517"/>
            <a:ext cx="1583996" cy="341985"/>
          </a:xfrm>
          <a:prstGeom prst="rect">
            <a:avLst/>
          </a:prstGeom>
          <a:noFill/>
        </p:spPr>
        <p:txBody>
          <a:bodyPr wrap="square" lIns="0" rIns="0" tIns="0" bIns="0" anchor="t">
            <a:spAutoFit/>
          </a:bodyPr>
          <a:lstStyle/>
          <a:p>
            <a:pPr algn="ctr"/>
            <a:r>
              <a:rPr sz="933" b="0" i="1">
                <a:solidFill>
                  <a:srgbClr val="9A9AAA"/>
                </a:solidFill>
                <a:latin typeface="Verdana"/>
              </a:rPr>
              <a:t>Chat Output</a:t>
            </a:r>
          </a:p>
        </p:txBody>
      </p:sp>
      <p:cxnSp>
        <p:nvCxnSpPr>
          <p:cNvPr id="28" name="Connector 27"/>
          <p:cNvCxnSpPr/>
          <p:nvPr/>
        </p:nvCxnSpPr>
        <p:spPr>
          <a:xfrm>
            <a:off x="2522957" y="4389120"/>
            <a:ext cx="488034" cy="0"/>
          </a:xfrm>
          <a:prstGeom prst="line">
            <a:avLst/>
          </a:prstGeom>
          <a:ln w="15875">
            <a:solidFill>
              <a:srgbClr val="9A9AAA"/>
            </a:solidFill>
            <a:tailEnd type="triangle" w="med" len="med"/>
          </a:ln>
        </p:spPr>
      </p:cxnSp>
      <p:cxnSp>
        <p:nvCxnSpPr>
          <p:cNvPr id="29" name="Connector 28"/>
          <p:cNvCxnSpPr/>
          <p:nvPr/>
        </p:nvCxnSpPr>
        <p:spPr>
          <a:xfrm>
            <a:off x="4741292" y="4389120"/>
            <a:ext cx="488033" cy="0"/>
          </a:xfrm>
          <a:prstGeom prst="line">
            <a:avLst/>
          </a:prstGeom>
          <a:ln w="15875">
            <a:solidFill>
              <a:srgbClr val="9A9AAA"/>
            </a:solidFill>
            <a:tailEnd type="triangle" w="med" len="med"/>
          </a:ln>
        </p:spPr>
      </p:cxnSp>
      <p:cxnSp>
        <p:nvCxnSpPr>
          <p:cNvPr id="30" name="Connector 29"/>
          <p:cNvCxnSpPr/>
          <p:nvPr/>
        </p:nvCxnSpPr>
        <p:spPr>
          <a:xfrm>
            <a:off x="6959626" y="4389120"/>
            <a:ext cx="488033" cy="0"/>
          </a:xfrm>
          <a:prstGeom prst="line">
            <a:avLst/>
          </a:prstGeom>
          <a:ln w="15875">
            <a:solidFill>
              <a:srgbClr val="9A9AAA"/>
            </a:solidFill>
            <a:tailEnd type="triangle" w="med" len="med"/>
          </a:ln>
        </p:spPr>
      </p:cxnSp>
      <p:cxnSp>
        <p:nvCxnSpPr>
          <p:cNvPr id="31" name="Connector 30"/>
          <p:cNvCxnSpPr/>
          <p:nvPr/>
        </p:nvCxnSpPr>
        <p:spPr>
          <a:xfrm>
            <a:off x="9177960" y="4389120"/>
            <a:ext cx="488034" cy="0"/>
          </a:xfrm>
          <a:prstGeom prst="line">
            <a:avLst/>
          </a:prstGeom>
          <a:ln w="15875">
            <a:solidFill>
              <a:srgbClr val="9A9AAA"/>
            </a:solidFill>
            <a:tailEnd type="triangle" w="med" len="med"/>
          </a:ln>
        </p:spPr>
      </p:cxnSp>
      <p:sp>
        <p:nvSpPr>
          <p:cNvPr id="32" name="Rectangle 31"/>
          <p:cNvSpPr/>
          <p:nvPr/>
        </p:nvSpPr>
        <p:spPr>
          <a:xfrm>
            <a:off x="548640" y="5120640"/>
            <a:ext cx="11091672" cy="685800"/>
          </a:xfrm>
          <a:prstGeom prst="rect">
            <a:avLst/>
          </a:prstGeom>
          <a:noFill/>
          <a:ln w="12700">
            <a:solidFill>
              <a:srgbClr val="DC640D"/>
            </a:solidFill>
          </a:ln>
        </p:spPr>
        <p:txBody>
          <a:bodyPr rtlCol="0" anchor="ctr"/>
          <a:lstStyle/>
          <a:p>
            <a:pPr algn="ctr"/>
          </a:p>
        </p:txBody>
      </p:sp>
      <p:pic>
        <p:nvPicPr>
          <p:cNvPr id="33" name="Picture 32" descr="LuLightbulb_o.png"/>
          <p:cNvPicPr>
            <a:picLocks noChangeAspect="1"/>
          </p:cNvPicPr>
          <p:nvPr/>
        </p:nvPicPr>
        <p:blipFill>
          <a:blip r:embed="rId3"/>
          <a:stretch>
            <a:fillRect/>
          </a:stretch>
        </p:blipFill>
        <p:spPr>
          <a:xfrm>
            <a:off x="777240" y="5257800"/>
            <a:ext cx="411480" cy="411480"/>
          </a:xfrm>
          <a:prstGeom prst="rect">
            <a:avLst/>
          </a:prstGeom>
        </p:spPr>
      </p:pic>
      <p:sp>
        <p:nvSpPr>
          <p:cNvPr id="34" name="TextBox 33"/>
          <p:cNvSpPr txBox="1"/>
          <p:nvPr/>
        </p:nvSpPr>
        <p:spPr>
          <a:xfrm>
            <a:off x="1371600" y="5120640"/>
            <a:ext cx="10085832" cy="685800"/>
          </a:xfrm>
          <a:prstGeom prst="rect">
            <a:avLst/>
          </a:prstGeom>
          <a:noFill/>
        </p:spPr>
        <p:txBody>
          <a:bodyPr wrap="square" lIns="0" rIns="0" tIns="0" bIns="0" anchor="ctr">
            <a:spAutoFit/>
          </a:bodyPr>
          <a:lstStyle/>
          <a:p>
            <a:pPr algn="l"/>
            <a:r>
              <a:rPr sz="1333" b="1" i="0">
                <a:solidFill>
                  <a:srgbClr val="FFFFFF"/>
                </a:solidFill>
                <a:latin typeface="Verdana"/>
              </a:rPr>
              <a:t>Die KI ist ein Baustein unter mehreren. </a:t>
            </a:r>
            <a:r>
              <a:rPr sz="1333" b="0" i="0">
                <a:solidFill>
                  <a:srgbClr val="9A9AAA"/>
                </a:solidFill>
                <a:latin typeface="Verdana"/>
              </a:rPr>
              <a:t>Fakten kommen aus Datenquellen, das Modell formuliert.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Typische Fehler und was hilft.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GRENZEN</a:t>
            </a:r>
          </a:p>
        </p:txBody>
      </p:sp>
      <p:sp>
        <p:nvSpPr>
          <p:cNvPr id="4" name="Rectangle 3"/>
          <p:cNvSpPr/>
          <p:nvPr/>
        </p:nvSpPr>
        <p:spPr>
          <a:xfrm>
            <a:off x="548640" y="1783080"/>
            <a:ext cx="2635758" cy="315468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2635758" cy="64008"/>
          </a:xfrm>
          <a:prstGeom prst="rect">
            <a:avLst/>
          </a:prstGeom>
          <a:solidFill>
            <a:srgbClr val="DC640D"/>
          </a:solidFill>
          <a:ln>
            <a:noFill/>
          </a:ln>
        </p:spPr>
        <p:txBody>
          <a:bodyPr rtlCol="0" anchor="ctr"/>
          <a:lstStyle/>
          <a:p>
            <a:pPr algn="ctr"/>
          </a:p>
        </p:txBody>
      </p:sp>
      <p:pic>
        <p:nvPicPr>
          <p:cNvPr id="6" name="Picture 5" descr="LuCircleX_o.png"/>
          <p:cNvPicPr>
            <a:picLocks noChangeAspect="1"/>
          </p:cNvPicPr>
          <p:nvPr/>
        </p:nvPicPr>
        <p:blipFill>
          <a:blip r:embed="rId3"/>
          <a:stretch>
            <a:fillRect/>
          </a:stretch>
        </p:blipFill>
        <p:spPr>
          <a:xfrm>
            <a:off x="777240" y="2057400"/>
            <a:ext cx="457200" cy="457200"/>
          </a:xfrm>
          <a:prstGeom prst="rect">
            <a:avLst/>
          </a:prstGeom>
        </p:spPr>
      </p:pic>
      <p:sp>
        <p:nvSpPr>
          <p:cNvPr id="7" name="TextBox 6"/>
          <p:cNvSpPr txBox="1"/>
          <p:nvPr/>
        </p:nvSpPr>
        <p:spPr>
          <a:xfrm>
            <a:off x="777240"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Erfindet Fakten</a:t>
            </a:r>
          </a:p>
        </p:txBody>
      </p:sp>
      <p:sp>
        <p:nvSpPr>
          <p:cNvPr id="8" name="TextBox 7"/>
          <p:cNvSpPr txBox="1"/>
          <p:nvPr/>
        </p:nvSpPr>
        <p:spPr>
          <a:xfrm>
            <a:off x="777240" y="3200400"/>
            <a:ext cx="2178558" cy="594360"/>
          </a:xfrm>
          <a:prstGeom prst="rect">
            <a:avLst/>
          </a:prstGeom>
          <a:noFill/>
        </p:spPr>
        <p:txBody>
          <a:bodyPr wrap="square" lIns="0" rIns="0" tIns="0" bIns="0" anchor="t">
            <a:spAutoFit/>
          </a:bodyPr>
          <a:lstStyle/>
          <a:p>
            <a:pPr algn="l"/>
            <a:r>
              <a:rPr sz="1200" b="0" i="0">
                <a:solidFill>
                  <a:srgbClr val="9A9AAA"/>
                </a:solidFill>
                <a:latin typeface="Verdana"/>
              </a:rPr>
              <a:t>erfundene Quellen, Zahlen, Öffnungszeiten</a:t>
            </a:r>
          </a:p>
        </p:txBody>
      </p:sp>
      <p:cxnSp>
        <p:nvCxnSpPr>
          <p:cNvPr id="9" name="Connector 8"/>
          <p:cNvCxnSpPr/>
          <p:nvPr/>
        </p:nvCxnSpPr>
        <p:spPr>
          <a:xfrm>
            <a:off x="777240" y="3840480"/>
            <a:ext cx="2178558" cy="0"/>
          </a:xfrm>
          <a:prstGeom prst="line">
            <a:avLst/>
          </a:prstGeom>
          <a:ln w="6350">
            <a:solidFill>
              <a:srgbClr val="3A3948"/>
            </a:solidFill>
          </a:ln>
        </p:spPr>
      </p:cxnSp>
      <p:sp>
        <p:nvSpPr>
          <p:cNvPr id="10" name="TextBox 9"/>
          <p:cNvSpPr txBox="1"/>
          <p:nvPr/>
        </p:nvSpPr>
        <p:spPr>
          <a:xfrm>
            <a:off x="777240"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11" name="TextBox 10"/>
          <p:cNvSpPr txBox="1"/>
          <p:nvPr/>
        </p:nvSpPr>
        <p:spPr>
          <a:xfrm>
            <a:off x="777240"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Daten aus echten Quellen mitgeben und „Erfinde nichts“ in den Prompt</a:t>
            </a:r>
          </a:p>
        </p:txBody>
      </p:sp>
      <p:sp>
        <p:nvSpPr>
          <p:cNvPr id="12" name="Rectangle 11"/>
          <p:cNvSpPr/>
          <p:nvPr/>
        </p:nvSpPr>
        <p:spPr>
          <a:xfrm>
            <a:off x="3367278" y="1783080"/>
            <a:ext cx="2635758" cy="3154680"/>
          </a:xfrm>
          <a:prstGeom prst="rect">
            <a:avLst/>
          </a:prstGeom>
          <a:solidFill>
            <a:srgbClr val="24232E"/>
          </a:solidFill>
          <a:ln w="9525">
            <a:solidFill>
              <a:srgbClr val="3A3948"/>
            </a:solidFill>
          </a:ln>
        </p:spPr>
        <p:txBody>
          <a:bodyPr rtlCol="0" anchor="ctr"/>
          <a:lstStyle/>
          <a:p>
            <a:pPr algn="ctr"/>
          </a:p>
        </p:txBody>
      </p:sp>
      <p:sp>
        <p:nvSpPr>
          <p:cNvPr id="13" name="Rectangle 12"/>
          <p:cNvSpPr/>
          <p:nvPr/>
        </p:nvSpPr>
        <p:spPr>
          <a:xfrm>
            <a:off x="3367278" y="1783080"/>
            <a:ext cx="2635758" cy="64008"/>
          </a:xfrm>
          <a:prstGeom prst="rect">
            <a:avLst/>
          </a:prstGeom>
          <a:solidFill>
            <a:srgbClr val="DC640D"/>
          </a:solidFill>
          <a:ln>
            <a:noFill/>
          </a:ln>
        </p:spPr>
        <p:txBody>
          <a:bodyPr rtlCol="0" anchor="ctr"/>
          <a:lstStyle/>
          <a:p>
            <a:pPr algn="ctr"/>
          </a:p>
        </p:txBody>
      </p:sp>
      <p:pic>
        <p:nvPicPr>
          <p:cNvPr id="14" name="Picture 13" descr="LuHourglass_o.png"/>
          <p:cNvPicPr>
            <a:picLocks noChangeAspect="1"/>
          </p:cNvPicPr>
          <p:nvPr/>
        </p:nvPicPr>
        <p:blipFill>
          <a:blip r:embed="rId4"/>
          <a:stretch>
            <a:fillRect/>
          </a:stretch>
        </p:blipFill>
        <p:spPr>
          <a:xfrm>
            <a:off x="3595878" y="2057400"/>
            <a:ext cx="457200" cy="457200"/>
          </a:xfrm>
          <a:prstGeom prst="rect">
            <a:avLst/>
          </a:prstGeom>
        </p:spPr>
      </p:pic>
      <p:sp>
        <p:nvSpPr>
          <p:cNvPr id="15" name="TextBox 14"/>
          <p:cNvSpPr txBox="1"/>
          <p:nvPr/>
        </p:nvSpPr>
        <p:spPr>
          <a:xfrm>
            <a:off x="3595878"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Veraltetes Wissen</a:t>
            </a:r>
          </a:p>
        </p:txBody>
      </p:sp>
      <p:sp>
        <p:nvSpPr>
          <p:cNvPr id="16" name="TextBox 15"/>
          <p:cNvSpPr txBox="1"/>
          <p:nvPr/>
        </p:nvSpPr>
        <p:spPr>
          <a:xfrm>
            <a:off x="3595878" y="3200400"/>
            <a:ext cx="2178558" cy="594360"/>
          </a:xfrm>
          <a:prstGeom prst="rect">
            <a:avLst/>
          </a:prstGeom>
          <a:noFill/>
        </p:spPr>
        <p:txBody>
          <a:bodyPr wrap="square" lIns="0" rIns="0" tIns="0" bIns="0" anchor="t">
            <a:spAutoFit/>
          </a:bodyPr>
          <a:lstStyle/>
          <a:p>
            <a:pPr algn="l"/>
            <a:r>
              <a:rPr sz="1200" b="0" i="0">
                <a:solidFill>
                  <a:srgbClr val="9A9AAA"/>
                </a:solidFill>
                <a:latin typeface="Verdana"/>
              </a:rPr>
              <a:t>kennt nichts nach dem Trainingsstichtag</a:t>
            </a:r>
          </a:p>
        </p:txBody>
      </p:sp>
      <p:cxnSp>
        <p:nvCxnSpPr>
          <p:cNvPr id="17" name="Connector 16"/>
          <p:cNvCxnSpPr/>
          <p:nvPr/>
        </p:nvCxnSpPr>
        <p:spPr>
          <a:xfrm>
            <a:off x="3595878" y="3840480"/>
            <a:ext cx="2178558" cy="0"/>
          </a:xfrm>
          <a:prstGeom prst="line">
            <a:avLst/>
          </a:prstGeom>
          <a:ln w="6350">
            <a:solidFill>
              <a:srgbClr val="3A3948"/>
            </a:solidFill>
          </a:ln>
        </p:spPr>
      </p:cxnSp>
      <p:sp>
        <p:nvSpPr>
          <p:cNvPr id="18" name="TextBox 17"/>
          <p:cNvSpPr txBox="1"/>
          <p:nvPr/>
        </p:nvSpPr>
        <p:spPr>
          <a:xfrm>
            <a:off x="3595878"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19" name="TextBox 18"/>
          <p:cNvSpPr txBox="1"/>
          <p:nvPr/>
        </p:nvSpPr>
        <p:spPr>
          <a:xfrm>
            <a:off x="3595878"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Aktuelle Daten per Baustein holen, z. B. Literatursuche</a:t>
            </a:r>
          </a:p>
        </p:txBody>
      </p:sp>
      <p:sp>
        <p:nvSpPr>
          <p:cNvPr id="20" name="Rectangle 19"/>
          <p:cNvSpPr/>
          <p:nvPr/>
        </p:nvSpPr>
        <p:spPr>
          <a:xfrm>
            <a:off x="6185916" y="1783080"/>
            <a:ext cx="2635758" cy="3154680"/>
          </a:xfrm>
          <a:prstGeom prst="rect">
            <a:avLst/>
          </a:prstGeom>
          <a:solidFill>
            <a:srgbClr val="24232E"/>
          </a:solidFill>
          <a:ln w="9525">
            <a:solidFill>
              <a:srgbClr val="3A3948"/>
            </a:solidFill>
          </a:ln>
        </p:spPr>
        <p:txBody>
          <a:bodyPr rtlCol="0" anchor="ctr"/>
          <a:lstStyle/>
          <a:p>
            <a:pPr algn="ctr"/>
          </a:p>
        </p:txBody>
      </p:sp>
      <p:sp>
        <p:nvSpPr>
          <p:cNvPr id="21" name="Rectangle 20"/>
          <p:cNvSpPr/>
          <p:nvPr/>
        </p:nvSpPr>
        <p:spPr>
          <a:xfrm>
            <a:off x="6185916" y="1783080"/>
            <a:ext cx="2635758" cy="64008"/>
          </a:xfrm>
          <a:prstGeom prst="rect">
            <a:avLst/>
          </a:prstGeom>
          <a:solidFill>
            <a:srgbClr val="DC640D"/>
          </a:solidFill>
          <a:ln>
            <a:noFill/>
          </a:ln>
        </p:spPr>
        <p:txBody>
          <a:bodyPr rtlCol="0" anchor="ctr"/>
          <a:lstStyle/>
          <a:p>
            <a:pPr algn="ctr"/>
          </a:p>
        </p:txBody>
      </p:sp>
      <p:pic>
        <p:nvPicPr>
          <p:cNvPr id="22" name="Picture 21" descr="LuTriangleAlert_o.png"/>
          <p:cNvPicPr>
            <a:picLocks noChangeAspect="1"/>
          </p:cNvPicPr>
          <p:nvPr/>
        </p:nvPicPr>
        <p:blipFill>
          <a:blip r:embed="rId5"/>
          <a:stretch>
            <a:fillRect/>
          </a:stretch>
        </p:blipFill>
        <p:spPr>
          <a:xfrm>
            <a:off x="6414516" y="2057400"/>
            <a:ext cx="457200" cy="457200"/>
          </a:xfrm>
          <a:prstGeom prst="rect">
            <a:avLst/>
          </a:prstGeom>
        </p:spPr>
      </p:pic>
      <p:sp>
        <p:nvSpPr>
          <p:cNvPr id="23" name="TextBox 22"/>
          <p:cNvSpPr txBox="1"/>
          <p:nvPr/>
        </p:nvSpPr>
        <p:spPr>
          <a:xfrm>
            <a:off x="6414516"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Überhört Anweisungen</a:t>
            </a:r>
          </a:p>
        </p:txBody>
      </p:sp>
      <p:sp>
        <p:nvSpPr>
          <p:cNvPr id="24" name="TextBox 23"/>
          <p:cNvSpPr txBox="1"/>
          <p:nvPr/>
        </p:nvSpPr>
        <p:spPr>
          <a:xfrm>
            <a:off x="6414516" y="3200400"/>
            <a:ext cx="2178558" cy="594360"/>
          </a:xfrm>
          <a:prstGeom prst="rect">
            <a:avLst/>
          </a:prstGeom>
          <a:noFill/>
        </p:spPr>
        <p:txBody>
          <a:bodyPr wrap="square" lIns="0" rIns="0" tIns="0" bIns="0" anchor="t">
            <a:spAutoFit/>
          </a:bodyPr>
          <a:lstStyle/>
          <a:p>
            <a:pPr algn="l"/>
            <a:r>
              <a:rPr sz="1200" b="0" i="0">
                <a:solidFill>
                  <a:srgbClr val="9A9AAA"/>
                </a:solidFill>
                <a:latin typeface="Verdana"/>
              </a:rPr>
              <a:t>bei zu viel Text oder kleinen Modellen</a:t>
            </a:r>
          </a:p>
        </p:txBody>
      </p:sp>
      <p:cxnSp>
        <p:nvCxnSpPr>
          <p:cNvPr id="25" name="Connector 24"/>
          <p:cNvCxnSpPr/>
          <p:nvPr/>
        </p:nvCxnSpPr>
        <p:spPr>
          <a:xfrm>
            <a:off x="6414516" y="3840480"/>
            <a:ext cx="2178558" cy="0"/>
          </a:xfrm>
          <a:prstGeom prst="line">
            <a:avLst/>
          </a:prstGeom>
          <a:ln w="6350">
            <a:solidFill>
              <a:srgbClr val="3A3948"/>
            </a:solidFill>
          </a:ln>
        </p:spPr>
      </p:cxnSp>
      <p:sp>
        <p:nvSpPr>
          <p:cNvPr id="26" name="TextBox 25"/>
          <p:cNvSpPr txBox="1"/>
          <p:nvPr/>
        </p:nvSpPr>
        <p:spPr>
          <a:xfrm>
            <a:off x="6414516"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27" name="TextBox 26"/>
          <p:cNvSpPr txBox="1"/>
          <p:nvPr/>
        </p:nvSpPr>
        <p:spPr>
          <a:xfrm>
            <a:off x="6414516"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Weniger Text, Anweisung ans Ende, größeres Modell</a:t>
            </a:r>
          </a:p>
        </p:txBody>
      </p:sp>
      <p:sp>
        <p:nvSpPr>
          <p:cNvPr id="28" name="Rectangle 27"/>
          <p:cNvSpPr/>
          <p:nvPr/>
        </p:nvSpPr>
        <p:spPr>
          <a:xfrm>
            <a:off x="9004554" y="1783080"/>
            <a:ext cx="2635758" cy="3154680"/>
          </a:xfrm>
          <a:prstGeom prst="rect">
            <a:avLst/>
          </a:prstGeom>
          <a:solidFill>
            <a:srgbClr val="24232E"/>
          </a:solidFill>
          <a:ln w="9525">
            <a:solidFill>
              <a:srgbClr val="3A3948"/>
            </a:solidFill>
          </a:ln>
        </p:spPr>
        <p:txBody>
          <a:bodyPr rtlCol="0" anchor="ctr"/>
          <a:lstStyle/>
          <a:p>
            <a:pPr algn="ctr"/>
          </a:p>
        </p:txBody>
      </p:sp>
      <p:sp>
        <p:nvSpPr>
          <p:cNvPr id="29" name="Rectangle 28"/>
          <p:cNvSpPr/>
          <p:nvPr/>
        </p:nvSpPr>
        <p:spPr>
          <a:xfrm>
            <a:off x="9004554" y="1783080"/>
            <a:ext cx="2635758" cy="64008"/>
          </a:xfrm>
          <a:prstGeom prst="rect">
            <a:avLst/>
          </a:prstGeom>
          <a:solidFill>
            <a:srgbClr val="DC640D"/>
          </a:solidFill>
          <a:ln>
            <a:noFill/>
          </a:ln>
        </p:spPr>
        <p:txBody>
          <a:bodyPr rtlCol="0" anchor="ctr"/>
          <a:lstStyle/>
          <a:p>
            <a:pPr algn="ctr"/>
          </a:p>
        </p:txBody>
      </p:sp>
      <p:pic>
        <p:nvPicPr>
          <p:cNvPr id="30" name="Picture 29" descr="LuRefreshCw_o.png"/>
          <p:cNvPicPr>
            <a:picLocks noChangeAspect="1"/>
          </p:cNvPicPr>
          <p:nvPr/>
        </p:nvPicPr>
        <p:blipFill>
          <a:blip r:embed="rId6"/>
          <a:stretch>
            <a:fillRect/>
          </a:stretch>
        </p:blipFill>
        <p:spPr>
          <a:xfrm>
            <a:off x="9233154" y="2057400"/>
            <a:ext cx="457200" cy="457200"/>
          </a:xfrm>
          <a:prstGeom prst="rect">
            <a:avLst/>
          </a:prstGeom>
        </p:spPr>
      </p:pic>
      <p:sp>
        <p:nvSpPr>
          <p:cNvPr id="31" name="TextBox 30"/>
          <p:cNvSpPr txBox="1"/>
          <p:nvPr/>
        </p:nvSpPr>
        <p:spPr>
          <a:xfrm>
            <a:off x="9233154"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Schwankt</a:t>
            </a:r>
          </a:p>
        </p:txBody>
      </p:sp>
      <p:sp>
        <p:nvSpPr>
          <p:cNvPr id="32" name="TextBox 31"/>
          <p:cNvSpPr txBox="1"/>
          <p:nvPr/>
        </p:nvSpPr>
        <p:spPr>
          <a:xfrm>
            <a:off x="9233154" y="3200400"/>
            <a:ext cx="2178558" cy="594360"/>
          </a:xfrm>
          <a:prstGeom prst="rect">
            <a:avLst/>
          </a:prstGeom>
          <a:noFill/>
        </p:spPr>
        <p:txBody>
          <a:bodyPr wrap="square" lIns="0" rIns="0" tIns="0" bIns="0" anchor="t">
            <a:spAutoFit/>
          </a:bodyPr>
          <a:lstStyle/>
          <a:p>
            <a:pPr algn="l"/>
            <a:r>
              <a:rPr sz="1200" b="0" i="0">
                <a:solidFill>
                  <a:srgbClr val="9A9AAA"/>
                </a:solidFill>
                <a:latin typeface="Verdana"/>
              </a:rPr>
              <a:t>gleiche Frage, andere Antwort</a:t>
            </a:r>
          </a:p>
        </p:txBody>
      </p:sp>
      <p:cxnSp>
        <p:nvCxnSpPr>
          <p:cNvPr id="33" name="Connector 32"/>
          <p:cNvCxnSpPr/>
          <p:nvPr/>
        </p:nvCxnSpPr>
        <p:spPr>
          <a:xfrm>
            <a:off x="9233154" y="3840480"/>
            <a:ext cx="2178558" cy="0"/>
          </a:xfrm>
          <a:prstGeom prst="line">
            <a:avLst/>
          </a:prstGeom>
          <a:ln w="6350">
            <a:solidFill>
              <a:srgbClr val="3A3948"/>
            </a:solidFill>
          </a:ln>
        </p:spPr>
      </p:cxnSp>
      <p:sp>
        <p:nvSpPr>
          <p:cNvPr id="34" name="TextBox 33"/>
          <p:cNvSpPr txBox="1"/>
          <p:nvPr/>
        </p:nvSpPr>
        <p:spPr>
          <a:xfrm>
            <a:off x="9233154"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35" name="TextBox 34"/>
          <p:cNvSpPr txBox="1"/>
          <p:nvPr/>
        </p:nvSpPr>
        <p:spPr>
          <a:xfrm>
            <a:off x="9233154"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Kreativität auf 0, Format genau vorgeben</a:t>
            </a:r>
          </a:p>
        </p:txBody>
      </p:sp>
      <p:sp>
        <p:nvSpPr>
          <p:cNvPr id="36" name="Rectangle 35"/>
          <p:cNvSpPr/>
          <p:nvPr/>
        </p:nvSpPr>
        <p:spPr>
          <a:xfrm>
            <a:off x="548640" y="5166360"/>
            <a:ext cx="11091672" cy="640080"/>
          </a:xfrm>
          <a:prstGeom prst="rect">
            <a:avLst/>
          </a:prstGeom>
          <a:noFill/>
          <a:ln w="12700">
            <a:solidFill>
              <a:srgbClr val="DC640D"/>
            </a:solidFill>
          </a:ln>
        </p:spPr>
        <p:txBody>
          <a:bodyPr rtlCol="0" anchor="ctr"/>
          <a:lstStyle/>
          <a:p>
            <a:pPr algn="ctr"/>
          </a:p>
        </p:txBody>
      </p:sp>
      <p:pic>
        <p:nvPicPr>
          <p:cNvPr id="37" name="Picture 36" descr="LuShieldAlert_o.png"/>
          <p:cNvPicPr>
            <a:picLocks noChangeAspect="1"/>
          </p:cNvPicPr>
          <p:nvPr/>
        </p:nvPicPr>
        <p:blipFill>
          <a:blip r:embed="rId7"/>
          <a:stretch>
            <a:fillRect/>
          </a:stretch>
        </p:blipFill>
        <p:spPr>
          <a:xfrm>
            <a:off x="777240" y="5276088"/>
            <a:ext cx="411480" cy="411480"/>
          </a:xfrm>
          <a:prstGeom prst="rect">
            <a:avLst/>
          </a:prstGeom>
        </p:spPr>
      </p:pic>
      <p:sp>
        <p:nvSpPr>
          <p:cNvPr id="38" name="TextBox 37"/>
          <p:cNvSpPr txBox="1"/>
          <p:nvPr/>
        </p:nvSpPr>
        <p:spPr>
          <a:xfrm>
            <a:off x="1371600" y="5166360"/>
            <a:ext cx="10085832" cy="640080"/>
          </a:xfrm>
          <a:prstGeom prst="rect">
            <a:avLst/>
          </a:prstGeom>
          <a:noFill/>
        </p:spPr>
        <p:txBody>
          <a:bodyPr wrap="square" lIns="0" rIns="0" tIns="0" bIns="0" anchor="ctr">
            <a:spAutoFit/>
          </a:bodyPr>
          <a:lstStyle/>
          <a:p>
            <a:pPr algn="l"/>
            <a:r>
              <a:rPr sz="1333" b="1" i="0">
                <a:solidFill>
                  <a:srgbClr val="DC640D"/>
                </a:solidFill>
                <a:latin typeface="Verdana"/>
              </a:rPr>
              <a:t>Datenschutz: </a:t>
            </a:r>
            <a:r>
              <a:rPr sz="1333" b="0" i="0">
                <a:solidFill>
                  <a:srgbClr val="FFFFFF"/>
                </a:solidFill>
                <a:latin typeface="Verdana"/>
              </a:rPr>
              <a:t>Alles im Prompt geht an das Backend. Sensible Texte nur mit einem lokalen Modell.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Langflow auf einen Blick.</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PRAXIS</a:t>
            </a:r>
          </a:p>
        </p:txBody>
      </p:sp>
      <p:sp>
        <p:nvSpPr>
          <p:cNvPr id="4" name="Rectangle 3"/>
          <p:cNvSpPr/>
          <p:nvPr/>
        </p:nvSpPr>
        <p:spPr>
          <a:xfrm>
            <a:off x="502919" y="1737360"/>
            <a:ext cx="6858000" cy="3897629"/>
          </a:xfrm>
          <a:prstGeom prst="rect">
            <a:avLst/>
          </a:prstGeom>
          <a:solidFill>
            <a:srgbClr val="24232E"/>
          </a:solidFill>
          <a:ln w="9525">
            <a:solidFill>
              <a:srgbClr val="3A3948"/>
            </a:solidFill>
          </a:ln>
        </p:spPr>
        <p:txBody>
          <a:bodyPr rtlCol="0" anchor="ctr"/>
          <a:lstStyle/>
          <a:p>
            <a:pPr algn="ctr"/>
          </a:p>
        </p:txBody>
      </p:sp>
      <p:pic>
        <p:nvPicPr>
          <p:cNvPr id="5" name="Picture 4" descr="flow_referenz_checker.png"/>
          <p:cNvPicPr>
            <a:picLocks noChangeAspect="1"/>
          </p:cNvPicPr>
          <p:nvPr/>
        </p:nvPicPr>
        <p:blipFill>
          <a:blip r:embed="rId3"/>
          <a:stretch>
            <a:fillRect/>
          </a:stretch>
        </p:blipFill>
        <p:spPr>
          <a:xfrm>
            <a:off x="548640" y="1783080"/>
            <a:ext cx="6766560" cy="3806189"/>
          </a:xfrm>
          <a:prstGeom prst="rect">
            <a:avLst/>
          </a:prstGeom>
        </p:spPr>
      </p:pic>
      <p:sp>
        <p:nvSpPr>
          <p:cNvPr id="6" name="Oval 5"/>
          <p:cNvSpPr/>
          <p:nvPr/>
        </p:nvSpPr>
        <p:spPr>
          <a:xfrm>
            <a:off x="1626346" y="4023788"/>
            <a:ext cx="329184" cy="329184"/>
          </a:xfrm>
          <a:prstGeom prst="ellipse">
            <a:avLst/>
          </a:prstGeom>
          <a:solidFill>
            <a:srgbClr val="DC640D"/>
          </a:solidFill>
          <a:ln w="15875">
            <a:solidFill>
              <a:srgbClr val="FFFFFF"/>
            </a:solidFill>
          </a:ln>
        </p:spPr>
        <p:txBody>
          <a:bodyPr rtlCol="0" anchor="ctr"/>
          <a:lstStyle/>
          <a:p>
            <a:pPr algn="ctr"/>
          </a:p>
        </p:txBody>
      </p:sp>
      <p:sp>
        <p:nvSpPr>
          <p:cNvPr id="7" name="TextBox 6"/>
          <p:cNvSpPr txBox="1"/>
          <p:nvPr/>
        </p:nvSpPr>
        <p:spPr>
          <a:xfrm>
            <a:off x="1626346" y="402378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8" name="Oval 7"/>
          <p:cNvSpPr/>
          <p:nvPr/>
        </p:nvSpPr>
        <p:spPr>
          <a:xfrm>
            <a:off x="4084510" y="5001768"/>
            <a:ext cx="329184" cy="329184"/>
          </a:xfrm>
          <a:prstGeom prst="ellipse">
            <a:avLst/>
          </a:prstGeom>
          <a:solidFill>
            <a:srgbClr val="DC640D"/>
          </a:solidFill>
          <a:ln w="15875">
            <a:solidFill>
              <a:srgbClr val="FFFFFF"/>
            </a:solidFill>
          </a:ln>
        </p:spPr>
        <p:txBody>
          <a:bodyPr rtlCol="0" anchor="ctr"/>
          <a:lstStyle/>
          <a:p>
            <a:pPr algn="ctr"/>
          </a:p>
        </p:txBody>
      </p:sp>
      <p:sp>
        <p:nvSpPr>
          <p:cNvPr id="9" name="TextBox 8"/>
          <p:cNvSpPr txBox="1"/>
          <p:nvPr/>
        </p:nvSpPr>
        <p:spPr>
          <a:xfrm>
            <a:off x="4084510" y="50017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10" name="Oval 9"/>
          <p:cNvSpPr/>
          <p:nvPr/>
        </p:nvSpPr>
        <p:spPr>
          <a:xfrm>
            <a:off x="2868644" y="2596467"/>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2868644" y="2596467"/>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Oval 11"/>
          <p:cNvSpPr/>
          <p:nvPr/>
        </p:nvSpPr>
        <p:spPr>
          <a:xfrm>
            <a:off x="5908309" y="2030825"/>
            <a:ext cx="329184" cy="329184"/>
          </a:xfrm>
          <a:prstGeom prst="ellipse">
            <a:avLst/>
          </a:prstGeom>
          <a:solidFill>
            <a:srgbClr val="DC640D"/>
          </a:solidFill>
          <a:ln w="15875">
            <a:solidFill>
              <a:srgbClr val="FFFFFF"/>
            </a:solidFill>
          </a:ln>
        </p:spPr>
        <p:txBody>
          <a:bodyPr rtlCol="0" anchor="ctr"/>
          <a:lstStyle/>
          <a:p>
            <a:pPr algn="ctr"/>
          </a:p>
        </p:txBody>
      </p:sp>
      <p:sp>
        <p:nvSpPr>
          <p:cNvPr id="13" name="TextBox 12"/>
          <p:cNvSpPr txBox="1"/>
          <p:nvPr/>
        </p:nvSpPr>
        <p:spPr>
          <a:xfrm>
            <a:off x="5908309" y="2030825"/>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4" name="Oval 13"/>
          <p:cNvSpPr/>
          <p:nvPr/>
        </p:nvSpPr>
        <p:spPr>
          <a:xfrm>
            <a:off x="7726679" y="1783080"/>
            <a:ext cx="329184" cy="329184"/>
          </a:xfrm>
          <a:prstGeom prst="ellipse">
            <a:avLst/>
          </a:prstGeom>
          <a:solidFill>
            <a:srgbClr val="DC640D"/>
          </a:solidFill>
          <a:ln w="15875">
            <a:solidFill>
              <a:srgbClr val="FFFFFF"/>
            </a:solidFill>
          </a:ln>
        </p:spPr>
        <p:txBody>
          <a:bodyPr rtlCol="0" anchor="ctr"/>
          <a:lstStyle/>
          <a:p>
            <a:pPr algn="ctr"/>
          </a:p>
        </p:txBody>
      </p:sp>
      <p:sp>
        <p:nvSpPr>
          <p:cNvPr id="15" name="TextBox 14"/>
          <p:cNvSpPr txBox="1"/>
          <p:nvPr/>
        </p:nvSpPr>
        <p:spPr>
          <a:xfrm>
            <a:off x="7726679" y="1783080"/>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16" name="TextBox 15"/>
          <p:cNvSpPr txBox="1"/>
          <p:nvPr/>
        </p:nvSpPr>
        <p:spPr>
          <a:xfrm>
            <a:off x="8229600" y="1783080"/>
            <a:ext cx="3410712" cy="329184"/>
          </a:xfrm>
          <a:prstGeom prst="rect">
            <a:avLst/>
          </a:prstGeom>
          <a:noFill/>
        </p:spPr>
        <p:txBody>
          <a:bodyPr wrap="square" lIns="0" rIns="0" tIns="0" bIns="0" anchor="ctr">
            <a:spAutoFit/>
          </a:bodyPr>
          <a:lstStyle/>
          <a:p>
            <a:pPr algn="l"/>
            <a:r>
              <a:rPr sz="1467" b="1" i="0">
                <a:solidFill>
                  <a:srgbClr val="FFFFFF"/>
                </a:solidFill>
                <a:latin typeface="Verdana"/>
              </a:rPr>
              <a:t>Bausteine</a:t>
            </a:r>
          </a:p>
        </p:txBody>
      </p:sp>
      <p:sp>
        <p:nvSpPr>
          <p:cNvPr id="17" name="TextBox 16"/>
          <p:cNvSpPr txBox="1"/>
          <p:nvPr/>
        </p:nvSpPr>
        <p:spPr>
          <a:xfrm>
            <a:off x="8229600" y="2167128"/>
            <a:ext cx="3410712" cy="548640"/>
          </a:xfrm>
          <a:prstGeom prst="rect">
            <a:avLst/>
          </a:prstGeom>
          <a:noFill/>
        </p:spPr>
        <p:txBody>
          <a:bodyPr wrap="square" lIns="0" rIns="0" tIns="0" bIns="0" anchor="t">
            <a:spAutoFit/>
          </a:bodyPr>
          <a:lstStyle/>
          <a:p>
            <a:pPr algn="l"/>
            <a:r>
              <a:rPr sz="1200" b="0" i="0">
                <a:solidFill>
                  <a:srgbClr val="9A9AAA"/>
                </a:solidFill>
                <a:latin typeface="Verdana"/>
              </a:rPr>
              <a:t>Linke Leiste. Unsere eigenen stehen unter Bibliothek, oben gibt es eine Suche.</a:t>
            </a:r>
          </a:p>
        </p:txBody>
      </p:sp>
      <p:sp>
        <p:nvSpPr>
          <p:cNvPr id="18" name="Oval 17"/>
          <p:cNvSpPr/>
          <p:nvPr/>
        </p:nvSpPr>
        <p:spPr>
          <a:xfrm>
            <a:off x="7726679" y="2761488"/>
            <a:ext cx="329184" cy="329184"/>
          </a:xfrm>
          <a:prstGeom prst="ellipse">
            <a:avLst/>
          </a:prstGeom>
          <a:solidFill>
            <a:srgbClr val="DC640D"/>
          </a:solidFill>
          <a:ln w="15875">
            <a:solidFill>
              <a:srgbClr val="FFFFFF"/>
            </a:solidFill>
          </a:ln>
        </p:spPr>
        <p:txBody>
          <a:bodyPr rtlCol="0" anchor="ctr"/>
          <a:lstStyle/>
          <a:p>
            <a:pPr algn="ctr"/>
          </a:p>
        </p:txBody>
      </p:sp>
      <p:sp>
        <p:nvSpPr>
          <p:cNvPr id="19" name="TextBox 18"/>
          <p:cNvSpPr txBox="1"/>
          <p:nvPr/>
        </p:nvSpPr>
        <p:spPr>
          <a:xfrm>
            <a:off x="7726679" y="2761488"/>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20" name="TextBox 19"/>
          <p:cNvSpPr txBox="1"/>
          <p:nvPr/>
        </p:nvSpPr>
        <p:spPr>
          <a:xfrm>
            <a:off x="8229600" y="2761488"/>
            <a:ext cx="3410712" cy="329184"/>
          </a:xfrm>
          <a:prstGeom prst="rect">
            <a:avLst/>
          </a:prstGeom>
          <a:noFill/>
        </p:spPr>
        <p:txBody>
          <a:bodyPr wrap="square" lIns="0" rIns="0" tIns="0" bIns="0" anchor="ctr">
            <a:spAutoFit/>
          </a:bodyPr>
          <a:lstStyle/>
          <a:p>
            <a:pPr algn="l"/>
            <a:r>
              <a:rPr sz="1467" b="1" i="0">
                <a:solidFill>
                  <a:srgbClr val="FFFFFF"/>
                </a:solidFill>
                <a:latin typeface="Verdana"/>
              </a:rPr>
              <a:t>Arbeitsfläche</a:t>
            </a:r>
          </a:p>
        </p:txBody>
      </p:sp>
      <p:sp>
        <p:nvSpPr>
          <p:cNvPr id="21" name="TextBox 20"/>
          <p:cNvSpPr txBox="1"/>
          <p:nvPr/>
        </p:nvSpPr>
        <p:spPr>
          <a:xfrm>
            <a:off x="8229600" y="3145536"/>
            <a:ext cx="3410712" cy="548640"/>
          </a:xfrm>
          <a:prstGeom prst="rect">
            <a:avLst/>
          </a:prstGeom>
          <a:noFill/>
        </p:spPr>
        <p:txBody>
          <a:bodyPr wrap="square" lIns="0" rIns="0" tIns="0" bIns="0" anchor="t">
            <a:spAutoFit/>
          </a:bodyPr>
          <a:lstStyle/>
          <a:p>
            <a:pPr algn="l"/>
            <a:r>
              <a:rPr sz="1200" b="0" i="0">
                <a:solidFill>
                  <a:srgbClr val="9A9AAA"/>
                </a:solidFill>
                <a:latin typeface="Verdana"/>
              </a:rPr>
              <a:t>Bausteine hineinziehen und verbinden: vom Punkt rechts (Ausgang) zum Punkt links (Eingang).</a:t>
            </a:r>
          </a:p>
        </p:txBody>
      </p:sp>
      <p:sp>
        <p:nvSpPr>
          <p:cNvPr id="22" name="Oval 21"/>
          <p:cNvSpPr/>
          <p:nvPr/>
        </p:nvSpPr>
        <p:spPr>
          <a:xfrm>
            <a:off x="7726679" y="3739896"/>
            <a:ext cx="329184" cy="329184"/>
          </a:xfrm>
          <a:prstGeom prst="ellipse">
            <a:avLst/>
          </a:prstGeom>
          <a:solidFill>
            <a:srgbClr val="DC640D"/>
          </a:solidFill>
          <a:ln w="15875">
            <a:solidFill>
              <a:srgbClr val="FFFFFF"/>
            </a:solidFill>
          </a:ln>
        </p:spPr>
        <p:txBody>
          <a:bodyPr rtlCol="0" anchor="ctr"/>
          <a:lstStyle/>
          <a:p>
            <a:pPr algn="ctr"/>
          </a:p>
        </p:txBody>
      </p:sp>
      <p:sp>
        <p:nvSpPr>
          <p:cNvPr id="23" name="TextBox 22"/>
          <p:cNvSpPr txBox="1"/>
          <p:nvPr/>
        </p:nvSpPr>
        <p:spPr>
          <a:xfrm>
            <a:off x="7726679" y="3739896"/>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24" name="TextBox 23"/>
          <p:cNvSpPr txBox="1"/>
          <p:nvPr/>
        </p:nvSpPr>
        <p:spPr>
          <a:xfrm>
            <a:off x="8229600" y="3739896"/>
            <a:ext cx="3410712" cy="329184"/>
          </a:xfrm>
          <a:prstGeom prst="rect">
            <a:avLst/>
          </a:prstGeom>
          <a:noFill/>
        </p:spPr>
        <p:txBody>
          <a:bodyPr wrap="square" lIns="0" rIns="0" tIns="0" bIns="0" anchor="ctr">
            <a:spAutoFit/>
          </a:bodyPr>
          <a:lstStyle/>
          <a:p>
            <a:pPr algn="l"/>
            <a:r>
              <a:rPr sz="1467" b="1" i="0">
                <a:solidFill>
                  <a:srgbClr val="FFFFFF"/>
                </a:solidFill>
                <a:latin typeface="Verdana"/>
              </a:rPr>
              <a:t>Blaue Notiz</a:t>
            </a:r>
          </a:p>
        </p:txBody>
      </p:sp>
      <p:sp>
        <p:nvSpPr>
          <p:cNvPr id="25" name="TextBox 24"/>
          <p:cNvSpPr txBox="1"/>
          <p:nvPr/>
        </p:nvSpPr>
        <p:spPr>
          <a:xfrm>
            <a:off x="8229600" y="4123944"/>
            <a:ext cx="3410712" cy="548640"/>
          </a:xfrm>
          <a:prstGeom prst="rect">
            <a:avLst/>
          </a:prstGeom>
          <a:noFill/>
        </p:spPr>
        <p:txBody>
          <a:bodyPr wrap="square" lIns="0" rIns="0" tIns="0" bIns="0" anchor="t">
            <a:spAutoFit/>
          </a:bodyPr>
          <a:lstStyle/>
          <a:p>
            <a:pPr algn="l"/>
            <a:r>
              <a:rPr sz="1200" b="0" i="0">
                <a:solidFill>
                  <a:srgbClr val="9A9AAA"/>
                </a:solidFill>
                <a:latin typeface="Verdana"/>
              </a:rPr>
              <a:t>Erklärt, was der Flow tut und wie ihr ihn erweitern könnt.</a:t>
            </a:r>
          </a:p>
        </p:txBody>
      </p:sp>
      <p:sp>
        <p:nvSpPr>
          <p:cNvPr id="26" name="Oval 25"/>
          <p:cNvSpPr/>
          <p:nvPr/>
        </p:nvSpPr>
        <p:spPr>
          <a:xfrm>
            <a:off x="7726679" y="4718304"/>
            <a:ext cx="329184" cy="329184"/>
          </a:xfrm>
          <a:prstGeom prst="ellipse">
            <a:avLst/>
          </a:prstGeom>
          <a:solidFill>
            <a:srgbClr val="DC640D"/>
          </a:solidFill>
          <a:ln w="15875">
            <a:solidFill>
              <a:srgbClr val="FFFFFF"/>
            </a:solidFill>
          </a:ln>
        </p:spPr>
        <p:txBody>
          <a:bodyPr rtlCol="0" anchor="ctr"/>
          <a:lstStyle/>
          <a:p>
            <a:pPr algn="ctr"/>
          </a:p>
        </p:txBody>
      </p:sp>
      <p:sp>
        <p:nvSpPr>
          <p:cNvPr id="27" name="TextBox 26"/>
          <p:cNvSpPr txBox="1"/>
          <p:nvPr/>
        </p:nvSpPr>
        <p:spPr>
          <a:xfrm>
            <a:off x="7726679" y="4718304"/>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28" name="TextBox 27"/>
          <p:cNvSpPr txBox="1"/>
          <p:nvPr/>
        </p:nvSpPr>
        <p:spPr>
          <a:xfrm>
            <a:off x="8229600" y="4718304"/>
            <a:ext cx="3410712" cy="329184"/>
          </a:xfrm>
          <a:prstGeom prst="rect">
            <a:avLst/>
          </a:prstGeom>
          <a:noFill/>
        </p:spPr>
        <p:txBody>
          <a:bodyPr wrap="square" lIns="0" rIns="0" tIns="0" bIns="0" anchor="ctr">
            <a:spAutoFit/>
          </a:bodyPr>
          <a:lstStyle/>
          <a:p>
            <a:pPr algn="l"/>
            <a:r>
              <a:rPr sz="1467" b="1" i="0">
                <a:solidFill>
                  <a:srgbClr val="FFFFFF"/>
                </a:solidFill>
                <a:latin typeface="Verdana"/>
              </a:rPr>
              <a:t>Playground</a:t>
            </a:r>
          </a:p>
        </p:txBody>
      </p:sp>
      <p:sp>
        <p:nvSpPr>
          <p:cNvPr id="29" name="TextBox 28"/>
          <p:cNvSpPr txBox="1"/>
          <p:nvPr/>
        </p:nvSpPr>
        <p:spPr>
          <a:xfrm>
            <a:off x="8229600" y="5102352"/>
            <a:ext cx="3410712" cy="548640"/>
          </a:xfrm>
          <a:prstGeom prst="rect">
            <a:avLst/>
          </a:prstGeom>
          <a:noFill/>
        </p:spPr>
        <p:txBody>
          <a:bodyPr wrap="square" lIns="0" rIns="0" tIns="0" bIns="0" anchor="t">
            <a:spAutoFit/>
          </a:bodyPr>
          <a:lstStyle/>
          <a:p>
            <a:pPr algn="l"/>
            <a:r>
              <a:rPr sz="1200" b="0" i="0">
                <a:solidFill>
                  <a:srgbClr val="9A9AAA"/>
                </a:solidFill>
                <a:latin typeface="Verdana"/>
              </a:rPr>
              <a:t>Der Chat, in dem ihr den Flow ausprobiert.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Drei Handgriffe vorab.</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PRAXIS</a:t>
            </a:r>
          </a:p>
        </p:txBody>
      </p:sp>
      <p:sp>
        <p:nvSpPr>
          <p:cNvPr id="4" name="Rectangle 3"/>
          <p:cNvSpPr/>
          <p:nvPr/>
        </p:nvSpPr>
        <p:spPr>
          <a:xfrm>
            <a:off x="548640" y="1783080"/>
            <a:ext cx="3514344" cy="3291840"/>
          </a:xfrm>
          <a:prstGeom prst="rect">
            <a:avLst/>
          </a:prstGeom>
          <a:solidFill>
            <a:srgbClr val="DC640D"/>
          </a:solidFill>
          <a:ln>
            <a:noFill/>
          </a:ln>
        </p:spPr>
        <p:txBody>
          <a:bodyPr rtlCol="0" anchor="ctr"/>
          <a:lstStyle/>
          <a:p>
            <a:pPr algn="ctr"/>
          </a:p>
        </p:txBody>
      </p:sp>
      <p:pic>
        <p:nvPicPr>
          <p:cNvPr id="5" name="Picture 4" descr="LuCopy_w.png"/>
          <p:cNvPicPr>
            <a:picLocks noChangeAspect="1"/>
          </p:cNvPicPr>
          <p:nvPr/>
        </p:nvPicPr>
        <p:blipFill>
          <a:blip r:embed="rId3"/>
          <a:stretch>
            <a:fillRect/>
          </a:stretch>
        </p:blipFill>
        <p:spPr>
          <a:xfrm>
            <a:off x="822959" y="2103120"/>
            <a:ext cx="548640" cy="548640"/>
          </a:xfrm>
          <a:prstGeom prst="rect">
            <a:avLst/>
          </a:prstGeom>
        </p:spPr>
      </p:pic>
      <p:sp>
        <p:nvSpPr>
          <p:cNvPr id="6" name="TextBox 5"/>
          <p:cNvSpPr txBox="1"/>
          <p:nvPr/>
        </p:nvSpPr>
        <p:spPr>
          <a:xfrm>
            <a:off x="822959" y="2834639"/>
            <a:ext cx="2965704" cy="365760"/>
          </a:xfrm>
          <a:prstGeom prst="rect">
            <a:avLst/>
          </a:prstGeom>
          <a:noFill/>
        </p:spPr>
        <p:txBody>
          <a:bodyPr wrap="square" lIns="0" rIns="0" tIns="0" bIns="0" anchor="t">
            <a:spAutoFit/>
          </a:bodyPr>
          <a:lstStyle/>
          <a:p>
            <a:pPr algn="l"/>
            <a:r>
              <a:rPr sz="1600" b="1" i="0">
                <a:solidFill>
                  <a:srgbClr val="FFFFFF"/>
                </a:solidFill>
                <a:latin typeface="Verdana"/>
              </a:rPr>
              <a:t>Kopie anlegen</a:t>
            </a:r>
          </a:p>
        </p:txBody>
      </p:sp>
      <p:sp>
        <p:nvSpPr>
          <p:cNvPr id="7" name="TextBox 6"/>
          <p:cNvSpPr txBox="1"/>
          <p:nvPr/>
        </p:nvSpPr>
        <p:spPr>
          <a:xfrm>
            <a:off x="822959" y="3337560"/>
            <a:ext cx="2965704" cy="1554480"/>
          </a:xfrm>
          <a:prstGeom prst="rect">
            <a:avLst/>
          </a:prstGeom>
          <a:noFill/>
        </p:spPr>
        <p:txBody>
          <a:bodyPr wrap="square" lIns="0" rIns="0" tIns="0" bIns="0" anchor="t">
            <a:spAutoFit/>
          </a:bodyPr>
          <a:lstStyle/>
          <a:p>
            <a:pPr algn="l"/>
            <a:r>
              <a:rPr sz="1333" b="0" i="0">
                <a:solidFill>
                  <a:srgbClr val="FFFFFF"/>
                </a:solidFill>
                <a:latin typeface="Verdana"/>
              </a:rPr>
              <a:t>Beim Beispiel-Flow auf die drei Punkte, dann Duplicate. Nur in der Kopie arbeiten: Änderungen am Original gehen beim Neustart verloren.</a:t>
            </a:r>
          </a:p>
        </p:txBody>
      </p:sp>
      <p:sp>
        <p:nvSpPr>
          <p:cNvPr id="8" name="Rectangle 7"/>
          <p:cNvSpPr/>
          <p:nvPr/>
        </p:nvSpPr>
        <p:spPr>
          <a:xfrm>
            <a:off x="4337304" y="1783080"/>
            <a:ext cx="3514344" cy="3291840"/>
          </a:xfrm>
          <a:prstGeom prst="rect">
            <a:avLst/>
          </a:prstGeom>
          <a:solidFill>
            <a:srgbClr val="24232E"/>
          </a:solidFill>
          <a:ln w="9525">
            <a:solidFill>
              <a:srgbClr val="3A3948"/>
            </a:solidFill>
          </a:ln>
        </p:spPr>
        <p:txBody>
          <a:bodyPr rtlCol="0" anchor="ctr"/>
          <a:lstStyle/>
          <a:p>
            <a:pPr algn="ctr"/>
          </a:p>
        </p:txBody>
      </p:sp>
      <p:sp>
        <p:nvSpPr>
          <p:cNvPr id="9" name="Rectangle 8"/>
          <p:cNvSpPr/>
          <p:nvPr/>
        </p:nvSpPr>
        <p:spPr>
          <a:xfrm>
            <a:off x="4337304" y="1783080"/>
            <a:ext cx="3514344" cy="64008"/>
          </a:xfrm>
          <a:prstGeom prst="rect">
            <a:avLst/>
          </a:prstGeom>
          <a:solidFill>
            <a:srgbClr val="DC640D"/>
          </a:solidFill>
          <a:ln>
            <a:noFill/>
          </a:ln>
        </p:spPr>
        <p:txBody>
          <a:bodyPr rtlCol="0" anchor="ctr"/>
          <a:lstStyle/>
          <a:p>
            <a:pPr algn="ctr"/>
          </a:p>
        </p:txBody>
      </p:sp>
      <p:pic>
        <p:nvPicPr>
          <p:cNvPr id="10" name="Picture 9" descr="LuEye_o.png"/>
          <p:cNvPicPr>
            <a:picLocks noChangeAspect="1"/>
          </p:cNvPicPr>
          <p:nvPr/>
        </p:nvPicPr>
        <p:blipFill>
          <a:blip r:embed="rId4"/>
          <a:stretch>
            <a:fillRect/>
          </a:stretch>
        </p:blipFill>
        <p:spPr>
          <a:xfrm>
            <a:off x="4611624" y="2103120"/>
            <a:ext cx="548640" cy="548640"/>
          </a:xfrm>
          <a:prstGeom prst="rect">
            <a:avLst/>
          </a:prstGeom>
        </p:spPr>
      </p:pic>
      <p:sp>
        <p:nvSpPr>
          <p:cNvPr id="11" name="TextBox 10"/>
          <p:cNvSpPr txBox="1"/>
          <p:nvPr/>
        </p:nvSpPr>
        <p:spPr>
          <a:xfrm>
            <a:off x="4611624" y="2834639"/>
            <a:ext cx="2965704" cy="365760"/>
          </a:xfrm>
          <a:prstGeom prst="rect">
            <a:avLst/>
          </a:prstGeom>
          <a:noFill/>
        </p:spPr>
        <p:txBody>
          <a:bodyPr wrap="square" lIns="0" rIns="0" tIns="0" bIns="0" anchor="t">
            <a:spAutoFit/>
          </a:bodyPr>
          <a:lstStyle/>
          <a:p>
            <a:pPr algn="l"/>
            <a:r>
              <a:rPr sz="1600" b="1" i="0">
                <a:solidFill>
                  <a:srgbClr val="FFFFFF"/>
                </a:solidFill>
                <a:latin typeface="Verdana"/>
              </a:rPr>
              <a:t>Zwischenergebnisse ansehen</a:t>
            </a:r>
          </a:p>
        </p:txBody>
      </p:sp>
      <p:sp>
        <p:nvSpPr>
          <p:cNvPr id="12" name="TextBox 11"/>
          <p:cNvSpPr txBox="1"/>
          <p:nvPr/>
        </p:nvSpPr>
        <p:spPr>
          <a:xfrm>
            <a:off x="4611624" y="3337560"/>
            <a:ext cx="2965704" cy="1554480"/>
          </a:xfrm>
          <a:prstGeom prst="rect">
            <a:avLst/>
          </a:prstGeom>
          <a:noFill/>
        </p:spPr>
        <p:txBody>
          <a:bodyPr wrap="square" lIns="0" rIns="0" tIns="0" bIns="0" anchor="t">
            <a:spAutoFit/>
          </a:bodyPr>
          <a:lstStyle/>
          <a:p>
            <a:pPr algn="l"/>
            <a:r>
              <a:rPr sz="1333" b="0" i="0">
                <a:solidFill>
                  <a:srgbClr val="9A9AAA"/>
                </a:solidFill>
                <a:latin typeface="Verdana"/>
              </a:rPr>
              <a:t>Nach einem Lauf hat jeder Baustein unten einen kleinen Ausgabe-Knopf. Dort seht ihr, was er weitergegeben hat.</a:t>
            </a:r>
          </a:p>
        </p:txBody>
      </p:sp>
      <p:sp>
        <p:nvSpPr>
          <p:cNvPr id="13" name="Rectangle 12"/>
          <p:cNvSpPr/>
          <p:nvPr/>
        </p:nvSpPr>
        <p:spPr>
          <a:xfrm>
            <a:off x="8125968" y="1783080"/>
            <a:ext cx="3514344" cy="3291840"/>
          </a:xfrm>
          <a:prstGeom prst="rect">
            <a:avLst/>
          </a:prstGeom>
          <a:solidFill>
            <a:srgbClr val="24232E"/>
          </a:solidFill>
          <a:ln w="9525">
            <a:solidFill>
              <a:srgbClr val="3A3948"/>
            </a:solidFill>
          </a:ln>
        </p:spPr>
        <p:txBody>
          <a:bodyPr rtlCol="0" anchor="ctr"/>
          <a:lstStyle/>
          <a:p>
            <a:pPr algn="ctr"/>
          </a:p>
        </p:txBody>
      </p:sp>
      <p:sp>
        <p:nvSpPr>
          <p:cNvPr id="14" name="Rectangle 13"/>
          <p:cNvSpPr/>
          <p:nvPr/>
        </p:nvSpPr>
        <p:spPr>
          <a:xfrm>
            <a:off x="8125968" y="1783080"/>
            <a:ext cx="3514344" cy="64008"/>
          </a:xfrm>
          <a:prstGeom prst="rect">
            <a:avLst/>
          </a:prstGeom>
          <a:solidFill>
            <a:srgbClr val="DC640D"/>
          </a:solidFill>
          <a:ln>
            <a:noFill/>
          </a:ln>
        </p:spPr>
        <p:txBody>
          <a:bodyPr rtlCol="0" anchor="ctr"/>
          <a:lstStyle/>
          <a:p>
            <a:pPr algn="ctr"/>
          </a:p>
        </p:txBody>
      </p:sp>
      <p:pic>
        <p:nvPicPr>
          <p:cNvPr id="15" name="Picture 14" descr="LuRefreshCw_o.png"/>
          <p:cNvPicPr>
            <a:picLocks noChangeAspect="1"/>
          </p:cNvPicPr>
          <p:nvPr/>
        </p:nvPicPr>
        <p:blipFill>
          <a:blip r:embed="rId5"/>
          <a:stretch>
            <a:fillRect/>
          </a:stretch>
        </p:blipFill>
        <p:spPr>
          <a:xfrm>
            <a:off x="8400288" y="2103120"/>
            <a:ext cx="548640" cy="548640"/>
          </a:xfrm>
          <a:prstGeom prst="rect">
            <a:avLst/>
          </a:prstGeom>
        </p:spPr>
      </p:pic>
      <p:sp>
        <p:nvSpPr>
          <p:cNvPr id="16" name="TextBox 15"/>
          <p:cNvSpPr txBox="1"/>
          <p:nvPr/>
        </p:nvSpPr>
        <p:spPr>
          <a:xfrm>
            <a:off x="8400288" y="2834639"/>
            <a:ext cx="2965704" cy="365760"/>
          </a:xfrm>
          <a:prstGeom prst="rect">
            <a:avLst/>
          </a:prstGeom>
          <a:noFill/>
        </p:spPr>
        <p:txBody>
          <a:bodyPr wrap="square" lIns="0" rIns="0" tIns="0" bIns="0" anchor="t">
            <a:spAutoFit/>
          </a:bodyPr>
          <a:lstStyle/>
          <a:p>
            <a:pPr algn="l"/>
            <a:r>
              <a:rPr sz="1600" b="1" i="0">
                <a:solidFill>
                  <a:srgbClr val="FFFFFF"/>
                </a:solidFill>
                <a:latin typeface="Verdana"/>
              </a:rPr>
              <a:t>Neue Sitzung</a:t>
            </a:r>
          </a:p>
        </p:txBody>
      </p:sp>
      <p:sp>
        <p:nvSpPr>
          <p:cNvPr id="17" name="TextBox 16"/>
          <p:cNvSpPr txBox="1"/>
          <p:nvPr/>
        </p:nvSpPr>
        <p:spPr>
          <a:xfrm>
            <a:off x="8400288" y="3337560"/>
            <a:ext cx="2965704" cy="1554480"/>
          </a:xfrm>
          <a:prstGeom prst="rect">
            <a:avLst/>
          </a:prstGeom>
          <a:noFill/>
        </p:spPr>
        <p:txBody>
          <a:bodyPr wrap="square" lIns="0" rIns="0" tIns="0" bIns="0" anchor="t">
            <a:spAutoFit/>
          </a:bodyPr>
          <a:lstStyle/>
          <a:p>
            <a:pPr algn="l"/>
            <a:r>
              <a:rPr sz="1333" b="0" i="0">
                <a:solidFill>
                  <a:srgbClr val="9A9AAA"/>
                </a:solidFill>
                <a:latin typeface="Verdana"/>
              </a:rPr>
              <a:t>Im Playground links auf +. Sonst erinnert sich die KI an frühere Antworten und vergleicht schlechter.</a:t>
            </a:r>
          </a:p>
        </p:txBody>
      </p:sp>
      <p:sp>
        <p:nvSpPr>
          <p:cNvPr id="18" name="TextBox 17"/>
          <p:cNvSpPr txBox="1"/>
          <p:nvPr/>
        </p:nvSpPr>
        <p:spPr>
          <a:xfrm>
            <a:off x="548640" y="5303520"/>
            <a:ext cx="11091672" cy="457200"/>
          </a:xfrm>
          <a:prstGeom prst="rect">
            <a:avLst/>
          </a:prstGeom>
          <a:noFill/>
        </p:spPr>
        <p:txBody>
          <a:bodyPr wrap="square" lIns="0" rIns="0" tIns="0" bIns="0" anchor="t">
            <a:spAutoFit/>
          </a:bodyPr>
          <a:lstStyle/>
          <a:p>
            <a:pPr algn="l"/>
            <a:r>
              <a:rPr sz="1267" b="0" i="1">
                <a:solidFill>
                  <a:srgbClr val="9A9AAA"/>
                </a:solidFill>
                <a:latin typeface="Verdana"/>
              </a:rPr>
              <a:t>Langflow speichert automatisch. Hilfe bei Problemen: die nächste Folie und die Betreuenden.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Wenn etwas nicht klappt.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1 · PRAXIS</a:t>
            </a:r>
          </a:p>
        </p:txBody>
      </p:sp>
      <p:sp>
        <p:nvSpPr>
          <p:cNvPr id="4" name="TextBox 3"/>
          <p:cNvSpPr txBox="1"/>
          <p:nvPr/>
        </p:nvSpPr>
        <p:spPr>
          <a:xfrm>
            <a:off x="777240" y="1691639"/>
            <a:ext cx="3749039" cy="274320"/>
          </a:xfrm>
          <a:prstGeom prst="rect">
            <a:avLst/>
          </a:prstGeom>
          <a:noFill/>
        </p:spPr>
        <p:txBody>
          <a:bodyPr wrap="square" lIns="0" rIns="0" tIns="0" bIns="0" anchor="t">
            <a:spAutoFit/>
          </a:bodyPr>
          <a:lstStyle/>
          <a:p>
            <a:pPr algn="l"/>
            <a:r>
              <a:rPr sz="933" b="1" i="0" spc="300">
                <a:solidFill>
                  <a:srgbClr val="F6A800"/>
                </a:solidFill>
                <a:latin typeface="Verdana"/>
              </a:rPr>
              <a:t>PROBLEM</a:t>
            </a:r>
          </a:p>
        </p:txBody>
      </p:sp>
      <p:sp>
        <p:nvSpPr>
          <p:cNvPr id="5" name="TextBox 4"/>
          <p:cNvSpPr txBox="1"/>
          <p:nvPr/>
        </p:nvSpPr>
        <p:spPr>
          <a:xfrm>
            <a:off x="4754879" y="1691639"/>
            <a:ext cx="4572000" cy="274320"/>
          </a:xfrm>
          <a:prstGeom prst="rect">
            <a:avLst/>
          </a:prstGeom>
          <a:noFill/>
        </p:spPr>
        <p:txBody>
          <a:bodyPr wrap="square" lIns="0" rIns="0" tIns="0" bIns="0" anchor="t">
            <a:spAutoFit/>
          </a:bodyPr>
          <a:lstStyle/>
          <a:p>
            <a:pPr algn="l"/>
            <a:r>
              <a:rPr sz="933" b="1" i="0" spc="300">
                <a:solidFill>
                  <a:srgbClr val="F6A800"/>
                </a:solidFill>
                <a:latin typeface="Verdana"/>
              </a:rPr>
              <a:t>LÖSUNG</a:t>
            </a:r>
          </a:p>
        </p:txBody>
      </p:sp>
      <p:sp>
        <p:nvSpPr>
          <p:cNvPr id="6" name="Rectangle 5"/>
          <p:cNvSpPr/>
          <p:nvPr/>
        </p:nvSpPr>
        <p:spPr>
          <a:xfrm>
            <a:off x="548640" y="2057400"/>
            <a:ext cx="11091672" cy="548640"/>
          </a:xfrm>
          <a:prstGeom prst="rect">
            <a:avLst/>
          </a:prstGeom>
          <a:solidFill>
            <a:srgbClr val="24232E"/>
          </a:solidFill>
          <a:ln>
            <a:noFill/>
          </a:ln>
        </p:spPr>
        <p:txBody>
          <a:bodyPr rtlCol="0" anchor="ctr"/>
          <a:lstStyle/>
          <a:p>
            <a:pPr algn="ctr"/>
          </a:p>
        </p:txBody>
      </p:sp>
      <p:sp>
        <p:nvSpPr>
          <p:cNvPr id="7" name="TextBox 6"/>
          <p:cNvSpPr txBox="1"/>
          <p:nvPr/>
        </p:nvSpPr>
        <p:spPr>
          <a:xfrm>
            <a:off x="777240" y="2057400"/>
            <a:ext cx="3749039" cy="548640"/>
          </a:xfrm>
          <a:prstGeom prst="rect">
            <a:avLst/>
          </a:prstGeom>
          <a:noFill/>
        </p:spPr>
        <p:txBody>
          <a:bodyPr wrap="square" lIns="0" rIns="0" tIns="0" bIns="0" anchor="ctr">
            <a:spAutoFit/>
          </a:bodyPr>
          <a:lstStyle/>
          <a:p>
            <a:pPr algn="l"/>
            <a:r>
              <a:rPr sz="1333" b="1" i="0">
                <a:solidFill>
                  <a:srgbClr val="FFFFFF"/>
                </a:solidFill>
                <a:latin typeface="Verdana"/>
              </a:rPr>
              <a:t>Seite nicht erreichbar</a:t>
            </a:r>
          </a:p>
        </p:txBody>
      </p:sp>
      <p:sp>
        <p:nvSpPr>
          <p:cNvPr id="8" name="TextBox 7"/>
          <p:cNvSpPr txBox="1"/>
          <p:nvPr/>
        </p:nvSpPr>
        <p:spPr>
          <a:xfrm>
            <a:off x="4754879" y="2057400"/>
            <a:ext cx="6656832" cy="548640"/>
          </a:xfrm>
          <a:prstGeom prst="rect">
            <a:avLst/>
          </a:prstGeom>
          <a:noFill/>
        </p:spPr>
        <p:txBody>
          <a:bodyPr wrap="square" lIns="0" rIns="0" tIns="0" bIns="0" anchor="ctr">
            <a:spAutoFit/>
          </a:bodyPr>
          <a:lstStyle/>
          <a:p>
            <a:pPr algn="l"/>
            <a:r>
              <a:rPr sz="1267" b="0" i="0">
                <a:solidFill>
                  <a:srgbClr val="9A9AAA"/>
                </a:solidFill>
                <a:latin typeface="Verdana"/>
              </a:rPr>
              <a:t>Langflow startet noch: eine Minute warten. Läuft Docker Desktop?</a:t>
            </a:r>
          </a:p>
        </p:txBody>
      </p:sp>
      <p:sp>
        <p:nvSpPr>
          <p:cNvPr id="9" name="TextBox 8"/>
          <p:cNvSpPr txBox="1"/>
          <p:nvPr/>
        </p:nvSpPr>
        <p:spPr>
          <a:xfrm>
            <a:off x="777240" y="2679192"/>
            <a:ext cx="3749039" cy="548640"/>
          </a:xfrm>
          <a:prstGeom prst="rect">
            <a:avLst/>
          </a:prstGeom>
          <a:noFill/>
        </p:spPr>
        <p:txBody>
          <a:bodyPr wrap="square" lIns="0" rIns="0" tIns="0" bIns="0" anchor="ctr">
            <a:spAutoFit/>
          </a:bodyPr>
          <a:lstStyle/>
          <a:p>
            <a:pPr algn="l"/>
            <a:r>
              <a:rPr sz="1333" b="1" i="0">
                <a:solidFill>
                  <a:srgbClr val="FFFFFF"/>
                </a:solidFill>
                <a:latin typeface="Verdana"/>
              </a:rPr>
              <a:t>„401“ oder „Authentication“</a:t>
            </a:r>
          </a:p>
        </p:txBody>
      </p:sp>
      <p:sp>
        <p:nvSpPr>
          <p:cNvPr id="10" name="TextBox 9"/>
          <p:cNvSpPr txBox="1"/>
          <p:nvPr/>
        </p:nvSpPr>
        <p:spPr>
          <a:xfrm>
            <a:off x="4754879" y="2679192"/>
            <a:ext cx="6656832" cy="548640"/>
          </a:xfrm>
          <a:prstGeom prst="rect">
            <a:avLst/>
          </a:prstGeom>
          <a:noFill/>
        </p:spPr>
        <p:txBody>
          <a:bodyPr wrap="square" lIns="0" rIns="0" tIns="0" bIns="0" anchor="ctr">
            <a:spAutoFit/>
          </a:bodyPr>
          <a:lstStyle/>
          <a:p>
            <a:pPr algn="l"/>
            <a:r>
              <a:rPr sz="1267" b="0" i="0">
                <a:solidFill>
                  <a:srgbClr val="9A9AAA"/>
                </a:solidFill>
                <a:latin typeface="Verdana"/>
              </a:rPr>
              <a:t>Der Schlüssel stimmt nicht. In der .env prüfen oder die Orga fragen.</a:t>
            </a:r>
          </a:p>
        </p:txBody>
      </p:sp>
      <p:sp>
        <p:nvSpPr>
          <p:cNvPr id="11" name="Rectangle 10"/>
          <p:cNvSpPr/>
          <p:nvPr/>
        </p:nvSpPr>
        <p:spPr>
          <a:xfrm>
            <a:off x="548640" y="3300984"/>
            <a:ext cx="11091672" cy="548640"/>
          </a:xfrm>
          <a:prstGeom prst="rect">
            <a:avLst/>
          </a:prstGeom>
          <a:solidFill>
            <a:srgbClr val="24232E"/>
          </a:solidFill>
          <a:ln>
            <a:noFill/>
          </a:ln>
        </p:spPr>
        <p:txBody>
          <a:bodyPr rtlCol="0" anchor="ctr"/>
          <a:lstStyle/>
          <a:p>
            <a:pPr algn="ctr"/>
          </a:p>
        </p:txBody>
      </p:sp>
      <p:sp>
        <p:nvSpPr>
          <p:cNvPr id="12" name="TextBox 11"/>
          <p:cNvSpPr txBox="1"/>
          <p:nvPr/>
        </p:nvSpPr>
        <p:spPr>
          <a:xfrm>
            <a:off x="777240" y="3300984"/>
            <a:ext cx="3749039" cy="548640"/>
          </a:xfrm>
          <a:prstGeom prst="rect">
            <a:avLst/>
          </a:prstGeom>
          <a:noFill/>
        </p:spPr>
        <p:txBody>
          <a:bodyPr wrap="square" lIns="0" rIns="0" tIns="0" bIns="0" anchor="ctr">
            <a:spAutoFit/>
          </a:bodyPr>
          <a:lstStyle/>
          <a:p>
            <a:pPr algn="l"/>
            <a:r>
              <a:rPr sz="1333" b="1" i="0">
                <a:solidFill>
                  <a:srgbClr val="FFFFFF"/>
                </a:solidFill>
                <a:latin typeface="Verdana"/>
              </a:rPr>
              <a:t>Sehr langsame Antworten</a:t>
            </a:r>
          </a:p>
        </p:txBody>
      </p:sp>
      <p:sp>
        <p:nvSpPr>
          <p:cNvPr id="13" name="TextBox 12"/>
          <p:cNvSpPr txBox="1"/>
          <p:nvPr/>
        </p:nvSpPr>
        <p:spPr>
          <a:xfrm>
            <a:off x="4754879" y="3300984"/>
            <a:ext cx="6656832" cy="548640"/>
          </a:xfrm>
          <a:prstGeom prst="rect">
            <a:avLst/>
          </a:prstGeom>
          <a:noFill/>
        </p:spPr>
        <p:txBody>
          <a:bodyPr wrap="square" lIns="0" rIns="0" tIns="0" bIns="0" anchor="ctr">
            <a:spAutoFit/>
          </a:bodyPr>
          <a:lstStyle/>
          <a:p>
            <a:pPr algn="l"/>
            <a:r>
              <a:rPr sz="1267" b="0" i="0">
                <a:solidFill>
                  <a:srgbClr val="9A9AAA"/>
                </a:solidFill>
                <a:latin typeface="Verdana"/>
              </a:rPr>
              <a:t>Cluster statt lokalem Modell nehmen oder weniger Text schicken.</a:t>
            </a:r>
          </a:p>
        </p:txBody>
      </p:sp>
      <p:sp>
        <p:nvSpPr>
          <p:cNvPr id="14" name="TextBox 13"/>
          <p:cNvSpPr txBox="1"/>
          <p:nvPr/>
        </p:nvSpPr>
        <p:spPr>
          <a:xfrm>
            <a:off x="777240" y="3922776"/>
            <a:ext cx="3749039" cy="548640"/>
          </a:xfrm>
          <a:prstGeom prst="rect">
            <a:avLst/>
          </a:prstGeom>
          <a:noFill/>
        </p:spPr>
        <p:txBody>
          <a:bodyPr wrap="square" lIns="0" rIns="0" tIns="0" bIns="0" anchor="ctr">
            <a:spAutoFit/>
          </a:bodyPr>
          <a:lstStyle/>
          <a:p>
            <a:pPr algn="l"/>
            <a:r>
              <a:rPr sz="1333" b="1" i="0">
                <a:solidFill>
                  <a:srgbClr val="FFFFFF"/>
                </a:solidFill>
                <a:latin typeface="Verdana"/>
              </a:rPr>
              <a:t>KI ignoriert die Anweisung</a:t>
            </a:r>
          </a:p>
        </p:txBody>
      </p:sp>
      <p:sp>
        <p:nvSpPr>
          <p:cNvPr id="15" name="TextBox 14"/>
          <p:cNvSpPr txBox="1"/>
          <p:nvPr/>
        </p:nvSpPr>
        <p:spPr>
          <a:xfrm>
            <a:off x="4754879" y="3922776"/>
            <a:ext cx="6656832" cy="548640"/>
          </a:xfrm>
          <a:prstGeom prst="rect">
            <a:avLst/>
          </a:prstGeom>
          <a:noFill/>
        </p:spPr>
        <p:txBody>
          <a:bodyPr wrap="square" lIns="0" rIns="0" tIns="0" bIns="0" anchor="ctr">
            <a:spAutoFit/>
          </a:bodyPr>
          <a:lstStyle/>
          <a:p>
            <a:pPr algn="l"/>
            <a:r>
              <a:rPr sz="1267" b="0" i="0">
                <a:solidFill>
                  <a:srgbClr val="9A9AAA"/>
                </a:solidFill>
                <a:latin typeface="Verdana"/>
              </a:rPr>
              <a:t>Zu viel Text für das Modell: weniger Daten, Anweisung ans Ende des Prompts.</a:t>
            </a:r>
          </a:p>
        </p:txBody>
      </p:sp>
      <p:sp>
        <p:nvSpPr>
          <p:cNvPr id="16" name="Rectangle 15"/>
          <p:cNvSpPr/>
          <p:nvPr/>
        </p:nvSpPr>
        <p:spPr>
          <a:xfrm>
            <a:off x="548640" y="4544568"/>
            <a:ext cx="11091672" cy="548640"/>
          </a:xfrm>
          <a:prstGeom prst="rect">
            <a:avLst/>
          </a:prstGeom>
          <a:solidFill>
            <a:srgbClr val="24232E"/>
          </a:solidFill>
          <a:ln>
            <a:noFill/>
          </a:ln>
        </p:spPr>
        <p:txBody>
          <a:bodyPr rtlCol="0" anchor="ctr"/>
          <a:lstStyle/>
          <a:p>
            <a:pPr algn="ctr"/>
          </a:p>
        </p:txBody>
      </p:sp>
      <p:sp>
        <p:nvSpPr>
          <p:cNvPr id="17" name="TextBox 16"/>
          <p:cNvSpPr txBox="1"/>
          <p:nvPr/>
        </p:nvSpPr>
        <p:spPr>
          <a:xfrm>
            <a:off x="777240" y="4544568"/>
            <a:ext cx="3749039" cy="548640"/>
          </a:xfrm>
          <a:prstGeom prst="rect">
            <a:avLst/>
          </a:prstGeom>
          <a:noFill/>
        </p:spPr>
        <p:txBody>
          <a:bodyPr wrap="square" lIns="0" rIns="0" tIns="0" bIns="0" anchor="ctr">
            <a:spAutoFit/>
          </a:bodyPr>
          <a:lstStyle/>
          <a:p>
            <a:pPr algn="l"/>
            <a:r>
              <a:rPr sz="1333" b="1" i="0">
                <a:solidFill>
                  <a:srgbClr val="FFFFFF"/>
                </a:solidFill>
                <a:latin typeface="Verdana"/>
              </a:rPr>
              <a:t>Agent tut nur so, als ob</a:t>
            </a:r>
          </a:p>
        </p:txBody>
      </p:sp>
      <p:sp>
        <p:nvSpPr>
          <p:cNvPr id="18" name="TextBox 17"/>
          <p:cNvSpPr txBox="1"/>
          <p:nvPr/>
        </p:nvSpPr>
        <p:spPr>
          <a:xfrm>
            <a:off x="4754879" y="4544568"/>
            <a:ext cx="6656832" cy="548640"/>
          </a:xfrm>
          <a:prstGeom prst="rect">
            <a:avLst/>
          </a:prstGeom>
          <a:noFill/>
        </p:spPr>
        <p:txBody>
          <a:bodyPr wrap="square" lIns="0" rIns="0" tIns="0" bIns="0" anchor="ctr">
            <a:spAutoFit/>
          </a:bodyPr>
          <a:lstStyle/>
          <a:p>
            <a:pPr algn="l"/>
            <a:r>
              <a:rPr sz="1267" b="0" i="0">
                <a:solidFill>
                  <a:srgbClr val="9A9AAA"/>
                </a:solidFill>
                <a:latin typeface="Verdana"/>
              </a:rPr>
              <a:t>Kleine Modelle können keine Werkzeuge nutzen. Cluster-Modell nehmen.</a:t>
            </a:r>
          </a:p>
        </p:txBody>
      </p:sp>
      <p:sp>
        <p:nvSpPr>
          <p:cNvPr id="19" name="TextBox 18"/>
          <p:cNvSpPr txBox="1"/>
          <p:nvPr/>
        </p:nvSpPr>
        <p:spPr>
          <a:xfrm>
            <a:off x="777240" y="5166360"/>
            <a:ext cx="3749039" cy="548640"/>
          </a:xfrm>
          <a:prstGeom prst="rect">
            <a:avLst/>
          </a:prstGeom>
          <a:noFill/>
        </p:spPr>
        <p:txBody>
          <a:bodyPr wrap="square" lIns="0" rIns="0" tIns="0" bIns="0" anchor="ctr">
            <a:spAutoFit/>
          </a:bodyPr>
          <a:lstStyle/>
          <a:p>
            <a:pPr algn="l"/>
            <a:r>
              <a:rPr sz="1333" b="1" i="0">
                <a:solidFill>
                  <a:srgbClr val="FFFFFF"/>
                </a:solidFill>
                <a:latin typeface="Verdana"/>
              </a:rPr>
              <a:t>Flow kaputtgebaut</a:t>
            </a:r>
          </a:p>
        </p:txBody>
      </p:sp>
      <p:sp>
        <p:nvSpPr>
          <p:cNvPr id="20" name="TextBox 19"/>
          <p:cNvSpPr txBox="1"/>
          <p:nvPr/>
        </p:nvSpPr>
        <p:spPr>
          <a:xfrm>
            <a:off x="4754879" y="5166360"/>
            <a:ext cx="6656832" cy="548640"/>
          </a:xfrm>
          <a:prstGeom prst="rect">
            <a:avLst/>
          </a:prstGeom>
          <a:noFill/>
        </p:spPr>
        <p:txBody>
          <a:bodyPr wrap="square" lIns="0" rIns="0" tIns="0" bIns="0" anchor="ctr">
            <a:spAutoFit/>
          </a:bodyPr>
          <a:lstStyle/>
          <a:p>
            <a:pPr algn="l"/>
            <a:r>
              <a:rPr sz="1267" b="0" i="0">
                <a:solidFill>
                  <a:srgbClr val="9A9AAA"/>
                </a:solidFill>
                <a:latin typeface="Verdana"/>
              </a:rPr>
              <a:t>Den Flow aus dem Ordner flows neu importieren (Upload) oder die Orga fragen.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Den ersten Flow verändern.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1A · 10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57784"/>
          </a:xfrm>
          <a:prstGeom prst="rect">
            <a:avLst/>
          </a:prstGeom>
          <a:noFill/>
        </p:spPr>
        <p:txBody>
          <a:bodyPr wrap="square" lIns="0" rIns="0" tIns="0" bIns="0" anchor="t">
            <a:spAutoFit/>
          </a:bodyPr>
          <a:lstStyle/>
          <a:p>
            <a:pPr algn="l"/>
            <a:r>
              <a:rPr sz="1267" b="1" i="0">
                <a:solidFill>
                  <a:srgbClr val="FFFFFF"/>
                </a:solidFill>
                <a:latin typeface="Verdana"/>
              </a:rPr>
              <a:t>Öffnen: </a:t>
            </a:r>
            <a:r>
              <a:rPr sz="1267" b="0" i="0">
                <a:solidFill>
                  <a:srgbClr val="9A9AAA"/>
                </a:solidFill>
                <a:latin typeface="Verdana"/>
              </a:rPr>
              <a:t>Flow „00 Erste Schritte – Hallo KI“ duplizieren und die Kopie öffnen.</a:t>
            </a:r>
          </a:p>
        </p:txBody>
      </p:sp>
      <p:sp>
        <p:nvSpPr>
          <p:cNvPr id="7" name="Oval 6"/>
          <p:cNvSpPr/>
          <p:nvPr/>
        </p:nvSpPr>
        <p:spPr>
          <a:xfrm>
            <a:off x="548640" y="2404872"/>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404872"/>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86584"/>
            <a:ext cx="6172200" cy="557784"/>
          </a:xfrm>
          <a:prstGeom prst="rect">
            <a:avLst/>
          </a:prstGeom>
          <a:noFill/>
        </p:spPr>
        <p:txBody>
          <a:bodyPr wrap="square" lIns="0" rIns="0" tIns="0" bIns="0" anchor="t">
            <a:spAutoFit/>
          </a:bodyPr>
          <a:lstStyle/>
          <a:p>
            <a:pPr algn="l"/>
            <a:r>
              <a:rPr sz="1267" b="1" i="0">
                <a:solidFill>
                  <a:srgbClr val="FFFFFF"/>
                </a:solidFill>
                <a:latin typeface="Verdana"/>
              </a:rPr>
              <a:t>Fragen: </a:t>
            </a:r>
            <a:r>
              <a:rPr sz="1267" b="0" i="0">
                <a:solidFill>
                  <a:srgbClr val="9A9AAA"/>
                </a:solidFill>
                <a:latin typeface="Verdana"/>
              </a:rPr>
              <a:t>Playground öffnen und fragen: „Was ist eine DOI?“</a:t>
            </a:r>
          </a:p>
        </p:txBody>
      </p:sp>
      <p:sp>
        <p:nvSpPr>
          <p:cNvPr id="10" name="Oval 9"/>
          <p:cNvSpPr/>
          <p:nvPr/>
        </p:nvSpPr>
        <p:spPr>
          <a:xfrm>
            <a:off x="548640" y="3008376"/>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3008376"/>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990088"/>
            <a:ext cx="6172200" cy="557784"/>
          </a:xfrm>
          <a:prstGeom prst="rect">
            <a:avLst/>
          </a:prstGeom>
          <a:noFill/>
        </p:spPr>
        <p:txBody>
          <a:bodyPr wrap="square" lIns="0" rIns="0" tIns="0" bIns="0" anchor="t">
            <a:spAutoFit/>
          </a:bodyPr>
          <a:lstStyle/>
          <a:p>
            <a:pPr algn="l"/>
            <a:r>
              <a:rPr sz="1267" b="1" i="0">
                <a:solidFill>
                  <a:srgbClr val="FFFFFF"/>
                </a:solidFill>
                <a:latin typeface="Verdana"/>
              </a:rPr>
              <a:t>Prompt ändern: </a:t>
            </a:r>
            <a:r>
              <a:rPr sz="1267" b="0" i="0">
                <a:solidFill>
                  <a:srgbClr val="9A9AAA"/>
                </a:solidFill>
                <a:latin typeface="Verdana"/>
              </a:rPr>
              <a:t>Im Prompt Template die Anweisung ändern, z. B. „Antworte in Leichter Sprache“. Gleiche Frage noch einmal.</a:t>
            </a:r>
          </a:p>
        </p:txBody>
      </p:sp>
      <p:sp>
        <p:nvSpPr>
          <p:cNvPr id="13" name="Oval 12"/>
          <p:cNvSpPr/>
          <p:nvPr/>
        </p:nvSpPr>
        <p:spPr>
          <a:xfrm>
            <a:off x="548640" y="3611879"/>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611879"/>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593591"/>
            <a:ext cx="6172200" cy="557784"/>
          </a:xfrm>
          <a:prstGeom prst="rect">
            <a:avLst/>
          </a:prstGeom>
          <a:noFill/>
        </p:spPr>
        <p:txBody>
          <a:bodyPr wrap="square" lIns="0" rIns="0" tIns="0" bIns="0" anchor="t">
            <a:spAutoFit/>
          </a:bodyPr>
          <a:lstStyle/>
          <a:p>
            <a:pPr algn="l"/>
            <a:r>
              <a:rPr sz="1267" b="1" i="0">
                <a:solidFill>
                  <a:srgbClr val="FFFFFF"/>
                </a:solidFill>
                <a:latin typeface="Verdana"/>
              </a:rPr>
              <a:t>Kreativität: </a:t>
            </a:r>
            <a:r>
              <a:rPr sz="1267" b="0" i="0">
                <a:solidFill>
                  <a:srgbClr val="9A9AAA"/>
                </a:solidFill>
                <a:latin typeface="Verdana"/>
              </a:rPr>
              <a:t>Im KI-Modell auf 1 stellen und dreimal dieselbe Frage stellen. Dann auf 0. Was ändert sich?</a:t>
            </a:r>
          </a:p>
        </p:txBody>
      </p:sp>
      <p:sp>
        <p:nvSpPr>
          <p:cNvPr id="16" name="Oval 15"/>
          <p:cNvSpPr/>
          <p:nvPr/>
        </p:nvSpPr>
        <p:spPr>
          <a:xfrm>
            <a:off x="548640" y="4215383"/>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4215383"/>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4197096"/>
            <a:ext cx="6172200" cy="557784"/>
          </a:xfrm>
          <a:prstGeom prst="rect">
            <a:avLst/>
          </a:prstGeom>
          <a:noFill/>
        </p:spPr>
        <p:txBody>
          <a:bodyPr wrap="square" lIns="0" rIns="0" tIns="0" bIns="0" anchor="t">
            <a:spAutoFit/>
          </a:bodyPr>
          <a:lstStyle/>
          <a:p>
            <a:pPr algn="l"/>
            <a:r>
              <a:rPr sz="1267" b="1" i="0">
                <a:solidFill>
                  <a:srgbClr val="FFFFFF"/>
                </a:solidFill>
                <a:latin typeface="Verdana"/>
              </a:rPr>
              <a:t>Quelle: </a:t>
            </a:r>
            <a:r>
              <a:rPr sz="1267" b="0" i="0">
                <a:solidFill>
                  <a:srgbClr val="9A9AAA"/>
                </a:solidFill>
                <a:latin typeface="Verdana"/>
              </a:rPr>
              <a:t>Falls eingerichtet: von Cluster auf Lokal umstellen und die Antworten vergleichen.</a:t>
            </a:r>
          </a:p>
        </p:txBody>
      </p:sp>
      <p:sp>
        <p:nvSpPr>
          <p:cNvPr id="19" name="Rectangle 18"/>
          <p:cNvSpPr/>
          <p:nvPr/>
        </p:nvSpPr>
        <p:spPr>
          <a:xfrm>
            <a:off x="7635240" y="1783080"/>
            <a:ext cx="4005072" cy="86868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365759"/>
          </a:xfrm>
          <a:prstGeom prst="rect">
            <a:avLst/>
          </a:prstGeom>
          <a:noFill/>
        </p:spPr>
        <p:txBody>
          <a:bodyPr wrap="square" lIns="0" rIns="0" tIns="0" bIns="0" anchor="t">
            <a:spAutoFit/>
          </a:bodyPr>
          <a:lstStyle/>
          <a:p>
            <a:pPr algn="l"/>
            <a:r>
              <a:rPr sz="1200" b="0" i="0">
                <a:solidFill>
                  <a:srgbClr val="FFFFFF"/>
                </a:solidFill>
                <a:latin typeface="Verdana"/>
              </a:rPr>
              <a:t>Ihr seht, wie Prompt und Einstellungen die Antwort verändern.</a:t>
            </a:r>
          </a:p>
        </p:txBody>
      </p:sp>
      <p:sp>
        <p:nvSpPr>
          <p:cNvPr id="23" name="Rectangle 22"/>
          <p:cNvSpPr/>
          <p:nvPr/>
        </p:nvSpPr>
        <p:spPr>
          <a:xfrm>
            <a:off x="7635240" y="2761487"/>
            <a:ext cx="4005072" cy="1051560"/>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2916935"/>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TIPP</a:t>
            </a:r>
          </a:p>
        </p:txBody>
      </p:sp>
      <p:sp>
        <p:nvSpPr>
          <p:cNvPr id="25" name="TextBox 24"/>
          <p:cNvSpPr txBox="1"/>
          <p:nvPr/>
        </p:nvSpPr>
        <p:spPr>
          <a:xfrm>
            <a:off x="7836408" y="3172968"/>
            <a:ext cx="3602736" cy="548639"/>
          </a:xfrm>
          <a:prstGeom prst="rect">
            <a:avLst/>
          </a:prstGeom>
          <a:noFill/>
        </p:spPr>
        <p:txBody>
          <a:bodyPr wrap="square" lIns="0" rIns="0" tIns="0" bIns="0" anchor="t">
            <a:spAutoFit/>
          </a:bodyPr>
          <a:lstStyle/>
          <a:p>
            <a:pPr algn="l"/>
            <a:r>
              <a:rPr sz="1200" b="0" i="0">
                <a:solidFill>
                  <a:srgbClr val="9A9AAA"/>
                </a:solidFill>
                <a:latin typeface="Verdana"/>
              </a:rPr>
              <a:t>Vor jedem Vergleich im Playground eine neue Sitzung starten (+), sonst vermischen sich die Antworten.</a:t>
            </a:r>
          </a:p>
        </p:txBody>
      </p:sp>
      <p:sp>
        <p:nvSpPr>
          <p:cNvPr id="26" name="Rectangle 25"/>
          <p:cNvSpPr/>
          <p:nvPr/>
        </p:nvSpPr>
        <p:spPr>
          <a:xfrm>
            <a:off x="7635240" y="3922775"/>
            <a:ext cx="4005072" cy="914400"/>
          </a:xfrm>
          <a:prstGeom prst="rect">
            <a:avLst/>
          </a:prstGeom>
          <a:solidFill>
            <a:srgbClr val="24232E"/>
          </a:solidFill>
          <a:ln>
            <a:noFill/>
          </a:ln>
        </p:spPr>
        <p:txBody>
          <a:bodyPr rtlCol="0" anchor="ctr"/>
          <a:lstStyle/>
          <a:p>
            <a:pPr algn="ctr"/>
          </a:p>
        </p:txBody>
      </p:sp>
      <p:sp>
        <p:nvSpPr>
          <p:cNvPr id="27" name="TextBox 26"/>
          <p:cNvSpPr txBox="1"/>
          <p:nvPr/>
        </p:nvSpPr>
        <p:spPr>
          <a:xfrm>
            <a:off x="7836408" y="4078223"/>
            <a:ext cx="3602736" cy="228600"/>
          </a:xfrm>
          <a:prstGeom prst="rect">
            <a:avLst/>
          </a:prstGeom>
          <a:noFill/>
        </p:spPr>
        <p:txBody>
          <a:bodyPr wrap="square" lIns="0" rIns="0" tIns="0" bIns="0" anchor="t">
            <a:spAutoFit/>
          </a:bodyPr>
          <a:lstStyle/>
          <a:p>
            <a:pPr algn="l"/>
            <a:r>
              <a:rPr sz="933" b="1" i="0" spc="300">
                <a:solidFill>
                  <a:srgbClr val="9A9AAA"/>
                </a:solidFill>
                <a:latin typeface="Verdana"/>
              </a:rPr>
              <a:t>WEITERDENKEN</a:t>
            </a:r>
          </a:p>
        </p:txBody>
      </p:sp>
      <p:sp>
        <p:nvSpPr>
          <p:cNvPr id="28" name="TextBox 27"/>
          <p:cNvSpPr txBox="1"/>
          <p:nvPr/>
        </p:nvSpPr>
        <p:spPr>
          <a:xfrm>
            <a:off x="7836408" y="4334255"/>
            <a:ext cx="3602736" cy="411479"/>
          </a:xfrm>
          <a:prstGeom prst="rect">
            <a:avLst/>
          </a:prstGeom>
          <a:noFill/>
        </p:spPr>
        <p:txBody>
          <a:bodyPr wrap="square" lIns="0" rIns="0" tIns="0" bIns="0" anchor="t">
            <a:spAutoFit/>
          </a:bodyPr>
          <a:lstStyle/>
          <a:p>
            <a:pPr algn="l"/>
            <a:r>
              <a:rPr sz="1200" b="0" i="1">
                <a:solidFill>
                  <a:srgbClr val="FFFFFF"/>
                </a:solidFill>
                <a:latin typeface="Verdana"/>
              </a:rPr>
              <a:t>Welche Einstellung würdet ihr für einen Prüfbericht wählen?</a:t>
            </a:r>
          </a:p>
        </p:txBody>
      </p:sp>
      <p:sp>
        <p:nvSpPr>
          <p:cNvPr id="29" name="TextBox 28"/>
          <p:cNvSpPr txBox="1"/>
          <p:nvPr/>
        </p:nvSpPr>
        <p:spPr>
          <a:xfrm>
            <a:off x="548640" y="493776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SO SIEHT DER FLOW AUS</a:t>
            </a:r>
          </a:p>
        </p:txBody>
      </p:sp>
      <p:sp>
        <p:nvSpPr>
          <p:cNvPr id="30" name="Rectangle 29"/>
          <p:cNvSpPr/>
          <p:nvPr/>
        </p:nvSpPr>
        <p:spPr>
          <a:xfrm>
            <a:off x="964577" y="5208651"/>
            <a:ext cx="1941042" cy="564642"/>
          </a:xfrm>
          <a:prstGeom prst="rect">
            <a:avLst/>
          </a:prstGeom>
          <a:solidFill>
            <a:srgbClr val="24232E"/>
          </a:solidFill>
          <a:ln w="19050">
            <a:solidFill>
              <a:srgbClr val="9A9AAA"/>
            </a:solidFill>
          </a:ln>
        </p:spPr>
        <p:txBody>
          <a:bodyPr rtlCol="0" anchor="ctr"/>
          <a:lstStyle/>
          <a:p>
            <a:pPr algn="ctr"/>
          </a:p>
        </p:txBody>
      </p:sp>
      <p:sp>
        <p:nvSpPr>
          <p:cNvPr id="31" name="TextBox 30"/>
          <p:cNvSpPr txBox="1"/>
          <p:nvPr/>
        </p:nvSpPr>
        <p:spPr>
          <a:xfrm>
            <a:off x="1037729"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Chat Input</a:t>
            </a:r>
          </a:p>
        </p:txBody>
      </p:sp>
      <p:sp>
        <p:nvSpPr>
          <p:cNvPr id="32" name="Rectangle 31"/>
          <p:cNvSpPr/>
          <p:nvPr/>
        </p:nvSpPr>
        <p:spPr>
          <a:xfrm>
            <a:off x="3737495" y="5208651"/>
            <a:ext cx="1941042" cy="564642"/>
          </a:xfrm>
          <a:prstGeom prst="rect">
            <a:avLst/>
          </a:prstGeom>
          <a:solidFill>
            <a:srgbClr val="24232E"/>
          </a:solidFill>
          <a:ln w="19050">
            <a:solidFill>
              <a:srgbClr val="F6A800"/>
            </a:solidFill>
          </a:ln>
        </p:spPr>
        <p:txBody>
          <a:bodyPr rtlCol="0" anchor="ctr"/>
          <a:lstStyle/>
          <a:p>
            <a:pPr algn="ctr"/>
          </a:p>
        </p:txBody>
      </p:sp>
      <p:sp>
        <p:nvSpPr>
          <p:cNvPr id="33" name="TextBox 32"/>
          <p:cNvSpPr txBox="1"/>
          <p:nvPr/>
        </p:nvSpPr>
        <p:spPr>
          <a:xfrm>
            <a:off x="3810647"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Prompt Template</a:t>
            </a:r>
          </a:p>
        </p:txBody>
      </p:sp>
      <p:sp>
        <p:nvSpPr>
          <p:cNvPr id="34" name="Rectangle 33"/>
          <p:cNvSpPr/>
          <p:nvPr/>
        </p:nvSpPr>
        <p:spPr>
          <a:xfrm>
            <a:off x="6510413" y="5208651"/>
            <a:ext cx="1941042" cy="564642"/>
          </a:xfrm>
          <a:prstGeom prst="rect">
            <a:avLst/>
          </a:prstGeom>
          <a:solidFill>
            <a:srgbClr val="24232E"/>
          </a:solidFill>
          <a:ln w="19050">
            <a:solidFill>
              <a:srgbClr val="B1063A"/>
            </a:solidFill>
          </a:ln>
        </p:spPr>
        <p:txBody>
          <a:bodyPr rtlCol="0" anchor="ctr"/>
          <a:lstStyle/>
          <a:p>
            <a:pPr algn="ctr"/>
          </a:p>
        </p:txBody>
      </p:sp>
      <p:sp>
        <p:nvSpPr>
          <p:cNvPr id="35" name="TextBox 34"/>
          <p:cNvSpPr txBox="1"/>
          <p:nvPr/>
        </p:nvSpPr>
        <p:spPr>
          <a:xfrm>
            <a:off x="6583565"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KI-Modell</a:t>
            </a:r>
          </a:p>
        </p:txBody>
      </p:sp>
      <p:sp>
        <p:nvSpPr>
          <p:cNvPr id="36" name="Rectangle 35"/>
          <p:cNvSpPr/>
          <p:nvPr/>
        </p:nvSpPr>
        <p:spPr>
          <a:xfrm>
            <a:off x="9283331" y="5208651"/>
            <a:ext cx="1941042" cy="564642"/>
          </a:xfrm>
          <a:prstGeom prst="rect">
            <a:avLst/>
          </a:prstGeom>
          <a:solidFill>
            <a:srgbClr val="24232E"/>
          </a:solidFill>
          <a:ln w="19050">
            <a:solidFill>
              <a:srgbClr val="9A9AAA"/>
            </a:solidFill>
          </a:ln>
        </p:spPr>
        <p:txBody>
          <a:bodyPr rtlCol="0" anchor="ctr"/>
          <a:lstStyle/>
          <a:p>
            <a:pPr algn="ctr"/>
          </a:p>
        </p:txBody>
      </p:sp>
      <p:sp>
        <p:nvSpPr>
          <p:cNvPr id="37" name="TextBox 36"/>
          <p:cNvSpPr txBox="1"/>
          <p:nvPr/>
        </p:nvSpPr>
        <p:spPr>
          <a:xfrm>
            <a:off x="9356483"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Chat Output</a:t>
            </a:r>
          </a:p>
        </p:txBody>
      </p:sp>
      <p:cxnSp>
        <p:nvCxnSpPr>
          <p:cNvPr id="38" name="Connector 37"/>
          <p:cNvCxnSpPr/>
          <p:nvPr/>
        </p:nvCxnSpPr>
        <p:spPr>
          <a:xfrm>
            <a:off x="2905620" y="5490972"/>
            <a:ext cx="831875" cy="0"/>
          </a:xfrm>
          <a:prstGeom prst="line">
            <a:avLst/>
          </a:prstGeom>
          <a:ln w="15875">
            <a:solidFill>
              <a:srgbClr val="9A9AAA"/>
            </a:solidFill>
            <a:tailEnd type="triangle" w="med" len="med"/>
          </a:ln>
        </p:spPr>
      </p:cxnSp>
      <p:cxnSp>
        <p:nvCxnSpPr>
          <p:cNvPr id="39" name="Connector 38"/>
          <p:cNvCxnSpPr/>
          <p:nvPr/>
        </p:nvCxnSpPr>
        <p:spPr>
          <a:xfrm>
            <a:off x="5678538" y="5490972"/>
            <a:ext cx="831875" cy="0"/>
          </a:xfrm>
          <a:prstGeom prst="line">
            <a:avLst/>
          </a:prstGeom>
          <a:ln w="15875">
            <a:solidFill>
              <a:srgbClr val="9A9AAA"/>
            </a:solidFill>
            <a:tailEnd type="triangle" w="med" len="med"/>
          </a:ln>
        </p:spPr>
      </p:cxnSp>
      <p:cxnSp>
        <p:nvCxnSpPr>
          <p:cNvPr id="40" name="Connector 39"/>
          <p:cNvCxnSpPr/>
          <p:nvPr/>
        </p:nvCxnSpPr>
        <p:spPr>
          <a:xfrm>
            <a:off x="8451456" y="5490972"/>
            <a:ext cx="831875" cy="0"/>
          </a:xfrm>
          <a:prstGeom prst="line">
            <a:avLst/>
          </a:prstGeom>
          <a:ln w="15875">
            <a:solidFill>
              <a:srgbClr val="9A9AAA"/>
            </a:solidFill>
            <a:tailEnd type="triangle" w="med" len="med"/>
          </a:ln>
        </p:spPr>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Euer erster eigener Flow.</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1B · 10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57784"/>
          </a:xfrm>
          <a:prstGeom prst="rect">
            <a:avLst/>
          </a:prstGeom>
          <a:noFill/>
        </p:spPr>
        <p:txBody>
          <a:bodyPr wrap="square" lIns="0" rIns="0" tIns="0" bIns="0" anchor="t">
            <a:spAutoFit/>
          </a:bodyPr>
          <a:lstStyle/>
          <a:p>
            <a:pPr algn="l"/>
            <a:r>
              <a:rPr sz="1267" b="1" i="0">
                <a:solidFill>
                  <a:srgbClr val="FFFFFF"/>
                </a:solidFill>
                <a:latin typeface="Verdana"/>
              </a:rPr>
              <a:t>Neu: </a:t>
            </a:r>
            <a:r>
              <a:rPr sz="1267" b="0" i="0">
                <a:solidFill>
                  <a:srgbClr val="9A9AAA"/>
                </a:solidFill>
                <a:latin typeface="Verdana"/>
              </a:rPr>
              <a:t>In der Übersicht New Flow, dann Blank Flow.</a:t>
            </a:r>
          </a:p>
        </p:txBody>
      </p:sp>
      <p:sp>
        <p:nvSpPr>
          <p:cNvPr id="7" name="Oval 6"/>
          <p:cNvSpPr/>
          <p:nvPr/>
        </p:nvSpPr>
        <p:spPr>
          <a:xfrm>
            <a:off x="548640" y="2404872"/>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404872"/>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86584"/>
            <a:ext cx="6172200" cy="557784"/>
          </a:xfrm>
          <a:prstGeom prst="rect">
            <a:avLst/>
          </a:prstGeom>
          <a:noFill/>
        </p:spPr>
        <p:txBody>
          <a:bodyPr wrap="square" lIns="0" rIns="0" tIns="0" bIns="0" anchor="t">
            <a:spAutoFit/>
          </a:bodyPr>
          <a:lstStyle/>
          <a:p>
            <a:pPr algn="l"/>
            <a:r>
              <a:rPr sz="1267" b="1" i="0">
                <a:solidFill>
                  <a:srgbClr val="FFFFFF"/>
                </a:solidFill>
                <a:latin typeface="Verdana"/>
              </a:rPr>
              <a:t>Bausteine: </a:t>
            </a:r>
            <a:r>
              <a:rPr sz="1267" b="0" i="0">
                <a:solidFill>
                  <a:srgbClr val="9A9AAA"/>
                </a:solidFill>
                <a:latin typeface="Verdana"/>
              </a:rPr>
              <a:t>Chat Input, Prompt Template, KI-Modell (unter Bibliothek) und Chat Output hineinziehen.</a:t>
            </a:r>
          </a:p>
        </p:txBody>
      </p:sp>
      <p:sp>
        <p:nvSpPr>
          <p:cNvPr id="10" name="Oval 9"/>
          <p:cNvSpPr/>
          <p:nvPr/>
        </p:nvSpPr>
        <p:spPr>
          <a:xfrm>
            <a:off x="548640" y="3008376"/>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3008376"/>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990088"/>
            <a:ext cx="6172200" cy="557784"/>
          </a:xfrm>
          <a:prstGeom prst="rect">
            <a:avLst/>
          </a:prstGeom>
          <a:noFill/>
        </p:spPr>
        <p:txBody>
          <a:bodyPr wrap="square" lIns="0" rIns="0" tIns="0" bIns="0" anchor="t">
            <a:spAutoFit/>
          </a:bodyPr>
          <a:lstStyle/>
          <a:p>
            <a:pPr algn="l"/>
            <a:r>
              <a:rPr sz="1267" b="1" i="0">
                <a:solidFill>
                  <a:srgbClr val="FFFFFF"/>
                </a:solidFill>
                <a:latin typeface="Verdana"/>
              </a:rPr>
              <a:t>Prompt: </a:t>
            </a:r>
            <a:r>
              <a:rPr sz="1267" b="0" i="0">
                <a:solidFill>
                  <a:srgbClr val="9A9AAA"/>
                </a:solidFill>
                <a:latin typeface="Verdana"/>
              </a:rPr>
              <a:t>Ins Prompt Template die Vorlage rechts schreiben. Der Platzhalter {abstract} erzeugt einen Eingang.</a:t>
            </a:r>
          </a:p>
        </p:txBody>
      </p:sp>
      <p:sp>
        <p:nvSpPr>
          <p:cNvPr id="13" name="Oval 12"/>
          <p:cNvSpPr/>
          <p:nvPr/>
        </p:nvSpPr>
        <p:spPr>
          <a:xfrm>
            <a:off x="548640" y="3611879"/>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611879"/>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593591"/>
            <a:ext cx="6172200" cy="557784"/>
          </a:xfrm>
          <a:prstGeom prst="rect">
            <a:avLst/>
          </a:prstGeom>
          <a:noFill/>
        </p:spPr>
        <p:txBody>
          <a:bodyPr wrap="square" lIns="0" rIns="0" tIns="0" bIns="0" anchor="t">
            <a:spAutoFit/>
          </a:bodyPr>
          <a:lstStyle/>
          <a:p>
            <a:pPr algn="l"/>
            <a:r>
              <a:rPr sz="1267" b="1" i="0">
                <a:solidFill>
                  <a:srgbClr val="FFFFFF"/>
                </a:solidFill>
                <a:latin typeface="Verdana"/>
              </a:rPr>
              <a:t>Verbinden: </a:t>
            </a:r>
            <a:r>
              <a:rPr sz="1267" b="0" i="0">
                <a:solidFill>
                  <a:srgbClr val="9A9AAA"/>
                </a:solidFill>
                <a:latin typeface="Verdana"/>
              </a:rPr>
              <a:t>Chat Message → abstract, Prompt → Input des KI-Modells, Model Response → Inputs des Chat Output.</a:t>
            </a:r>
          </a:p>
        </p:txBody>
      </p:sp>
      <p:sp>
        <p:nvSpPr>
          <p:cNvPr id="16" name="Oval 15"/>
          <p:cNvSpPr/>
          <p:nvPr/>
        </p:nvSpPr>
        <p:spPr>
          <a:xfrm>
            <a:off x="548640" y="4215383"/>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4215383"/>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4197096"/>
            <a:ext cx="6172200" cy="557784"/>
          </a:xfrm>
          <a:prstGeom prst="rect">
            <a:avLst/>
          </a:prstGeom>
          <a:noFill/>
        </p:spPr>
        <p:txBody>
          <a:bodyPr wrap="square" lIns="0" rIns="0" tIns="0" bIns="0" anchor="t">
            <a:spAutoFit/>
          </a:bodyPr>
          <a:lstStyle/>
          <a:p>
            <a:pPr algn="l"/>
            <a:r>
              <a:rPr sz="1267" b="1" i="0">
                <a:solidFill>
                  <a:srgbClr val="FFFFFF"/>
                </a:solidFill>
                <a:latin typeface="Verdana"/>
              </a:rPr>
              <a:t>Testen: </a:t>
            </a:r>
            <a:r>
              <a:rPr sz="1267" b="0" i="0">
                <a:solidFill>
                  <a:srgbClr val="9A9AAA"/>
                </a:solidFill>
                <a:latin typeface="Verdana"/>
              </a:rPr>
              <a:t>Im Playground einen Abstract einfügen, z. B. aus einer Publikation eures Hauses.</a:t>
            </a:r>
          </a:p>
        </p:txBody>
      </p:sp>
      <p:sp>
        <p:nvSpPr>
          <p:cNvPr id="19" name="Rectangle 18"/>
          <p:cNvSpPr/>
          <p:nvPr/>
        </p:nvSpPr>
        <p:spPr>
          <a:xfrm>
            <a:off x="7635240" y="1783080"/>
            <a:ext cx="4005072" cy="96012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457200"/>
          </a:xfrm>
          <a:prstGeom prst="rect">
            <a:avLst/>
          </a:prstGeom>
          <a:noFill/>
        </p:spPr>
        <p:txBody>
          <a:bodyPr wrap="square" lIns="0" rIns="0" tIns="0" bIns="0" anchor="t">
            <a:spAutoFit/>
          </a:bodyPr>
          <a:lstStyle/>
          <a:p>
            <a:pPr algn="l"/>
            <a:r>
              <a:rPr sz="1200" b="0" i="0">
                <a:solidFill>
                  <a:srgbClr val="FFFFFF"/>
                </a:solidFill>
                <a:latin typeface="Verdana"/>
              </a:rPr>
              <a:t>Ein Flow, der aus einem Abstract fünf Schlagwörter macht.</a:t>
            </a:r>
          </a:p>
        </p:txBody>
      </p:sp>
      <p:sp>
        <p:nvSpPr>
          <p:cNvPr id="23" name="Rectangle 22"/>
          <p:cNvSpPr/>
          <p:nvPr/>
        </p:nvSpPr>
        <p:spPr>
          <a:xfrm>
            <a:off x="7635240" y="2852928"/>
            <a:ext cx="4005072" cy="2057400"/>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3008376"/>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VORLAGE FÜR DEN PROMPT</a:t>
            </a:r>
          </a:p>
        </p:txBody>
      </p:sp>
      <p:sp>
        <p:nvSpPr>
          <p:cNvPr id="25" name="TextBox 24"/>
          <p:cNvSpPr txBox="1"/>
          <p:nvPr/>
        </p:nvSpPr>
        <p:spPr>
          <a:xfrm>
            <a:off x="7836408" y="3264408"/>
            <a:ext cx="3602736" cy="1554480"/>
          </a:xfrm>
          <a:prstGeom prst="rect">
            <a:avLst/>
          </a:prstGeom>
          <a:noFill/>
        </p:spPr>
        <p:txBody>
          <a:bodyPr wrap="square" lIns="0" rIns="0" tIns="0" bIns="0" anchor="t">
            <a:spAutoFit/>
          </a:bodyPr>
          <a:lstStyle/>
          <a:p>
            <a:pPr algn="l"/>
            <a:r>
              <a:rPr sz="1100" b="0" i="0">
                <a:solidFill>
                  <a:srgbClr val="9A9AAA"/>
                </a:solidFill>
                <a:latin typeface="Verdana"/>
              </a:rPr>
              <a:t>Du bist Fachreferent:in. Schlage fünf Schlagwörter für den folgenden Abstract vor. Antworte nur mit der Liste, ein Schlagwort pro Zeile. Erfinde nichts.
Abstract: {abstract}</a:t>
            </a:r>
          </a:p>
        </p:txBody>
      </p:sp>
      <p:sp>
        <p:nvSpPr>
          <p:cNvPr id="26" name="TextBox 25"/>
          <p:cNvSpPr txBox="1"/>
          <p:nvPr/>
        </p:nvSpPr>
        <p:spPr>
          <a:xfrm>
            <a:off x="548640" y="493776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SO SIEHT DER FLOW AUS</a:t>
            </a:r>
          </a:p>
        </p:txBody>
      </p:sp>
      <p:sp>
        <p:nvSpPr>
          <p:cNvPr id="27" name="Rectangle 26"/>
          <p:cNvSpPr/>
          <p:nvPr/>
        </p:nvSpPr>
        <p:spPr>
          <a:xfrm>
            <a:off x="964577" y="5208651"/>
            <a:ext cx="1941042" cy="564642"/>
          </a:xfrm>
          <a:prstGeom prst="rect">
            <a:avLst/>
          </a:prstGeom>
          <a:solidFill>
            <a:srgbClr val="24232E"/>
          </a:solidFill>
          <a:ln w="19050">
            <a:solidFill>
              <a:srgbClr val="9A9AAA"/>
            </a:solidFill>
          </a:ln>
        </p:spPr>
        <p:txBody>
          <a:bodyPr rtlCol="0" anchor="ctr"/>
          <a:lstStyle/>
          <a:p>
            <a:pPr algn="ctr"/>
          </a:p>
        </p:txBody>
      </p:sp>
      <p:sp>
        <p:nvSpPr>
          <p:cNvPr id="28" name="TextBox 27"/>
          <p:cNvSpPr txBox="1"/>
          <p:nvPr/>
        </p:nvSpPr>
        <p:spPr>
          <a:xfrm>
            <a:off x="1037729"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Chat Input</a:t>
            </a:r>
          </a:p>
        </p:txBody>
      </p:sp>
      <p:sp>
        <p:nvSpPr>
          <p:cNvPr id="29" name="Rectangle 28"/>
          <p:cNvSpPr/>
          <p:nvPr/>
        </p:nvSpPr>
        <p:spPr>
          <a:xfrm>
            <a:off x="3737495" y="5208651"/>
            <a:ext cx="1941042" cy="564642"/>
          </a:xfrm>
          <a:prstGeom prst="rect">
            <a:avLst/>
          </a:prstGeom>
          <a:solidFill>
            <a:srgbClr val="24232E"/>
          </a:solidFill>
          <a:ln w="19050">
            <a:solidFill>
              <a:srgbClr val="F6A800"/>
            </a:solidFill>
          </a:ln>
        </p:spPr>
        <p:txBody>
          <a:bodyPr rtlCol="0" anchor="ctr"/>
          <a:lstStyle/>
          <a:p>
            <a:pPr algn="ctr"/>
          </a:p>
        </p:txBody>
      </p:sp>
      <p:sp>
        <p:nvSpPr>
          <p:cNvPr id="30" name="TextBox 29"/>
          <p:cNvSpPr txBox="1"/>
          <p:nvPr/>
        </p:nvSpPr>
        <p:spPr>
          <a:xfrm>
            <a:off x="3810647"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Prompt {abstract}</a:t>
            </a:r>
          </a:p>
        </p:txBody>
      </p:sp>
      <p:sp>
        <p:nvSpPr>
          <p:cNvPr id="31" name="Rectangle 30"/>
          <p:cNvSpPr/>
          <p:nvPr/>
        </p:nvSpPr>
        <p:spPr>
          <a:xfrm>
            <a:off x="6510413" y="5208651"/>
            <a:ext cx="1941042" cy="564642"/>
          </a:xfrm>
          <a:prstGeom prst="rect">
            <a:avLst/>
          </a:prstGeom>
          <a:solidFill>
            <a:srgbClr val="24232E"/>
          </a:solidFill>
          <a:ln w="19050">
            <a:solidFill>
              <a:srgbClr val="B1063A"/>
            </a:solidFill>
          </a:ln>
        </p:spPr>
        <p:txBody>
          <a:bodyPr rtlCol="0" anchor="ctr"/>
          <a:lstStyle/>
          <a:p>
            <a:pPr algn="ctr"/>
          </a:p>
        </p:txBody>
      </p:sp>
      <p:sp>
        <p:nvSpPr>
          <p:cNvPr id="32" name="TextBox 31"/>
          <p:cNvSpPr txBox="1"/>
          <p:nvPr/>
        </p:nvSpPr>
        <p:spPr>
          <a:xfrm>
            <a:off x="6583565"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KI-Modell</a:t>
            </a:r>
          </a:p>
        </p:txBody>
      </p:sp>
      <p:sp>
        <p:nvSpPr>
          <p:cNvPr id="33" name="Rectangle 32"/>
          <p:cNvSpPr/>
          <p:nvPr/>
        </p:nvSpPr>
        <p:spPr>
          <a:xfrm>
            <a:off x="9283331" y="5208651"/>
            <a:ext cx="1941042" cy="564642"/>
          </a:xfrm>
          <a:prstGeom prst="rect">
            <a:avLst/>
          </a:prstGeom>
          <a:solidFill>
            <a:srgbClr val="24232E"/>
          </a:solidFill>
          <a:ln w="19050">
            <a:solidFill>
              <a:srgbClr val="9A9AAA"/>
            </a:solidFill>
          </a:ln>
        </p:spPr>
        <p:txBody>
          <a:bodyPr rtlCol="0" anchor="ctr"/>
          <a:lstStyle/>
          <a:p>
            <a:pPr algn="ctr"/>
          </a:p>
        </p:txBody>
      </p:sp>
      <p:sp>
        <p:nvSpPr>
          <p:cNvPr id="34" name="TextBox 33"/>
          <p:cNvSpPr txBox="1"/>
          <p:nvPr/>
        </p:nvSpPr>
        <p:spPr>
          <a:xfrm>
            <a:off x="9356483" y="5208651"/>
            <a:ext cx="1794738" cy="564642"/>
          </a:xfrm>
          <a:prstGeom prst="rect">
            <a:avLst/>
          </a:prstGeom>
          <a:noFill/>
        </p:spPr>
        <p:txBody>
          <a:bodyPr wrap="square" lIns="0" rIns="0" tIns="0" bIns="0" anchor="ctr">
            <a:spAutoFit/>
          </a:bodyPr>
          <a:lstStyle/>
          <a:p>
            <a:pPr algn="ctr"/>
            <a:r>
              <a:rPr sz="1067" b="1" i="0">
                <a:solidFill>
                  <a:srgbClr val="FFFFFF"/>
                </a:solidFill>
                <a:latin typeface="Verdana"/>
              </a:rPr>
              <a:t>Chat Output</a:t>
            </a:r>
          </a:p>
        </p:txBody>
      </p:sp>
      <p:cxnSp>
        <p:nvCxnSpPr>
          <p:cNvPr id="35" name="Connector 34"/>
          <p:cNvCxnSpPr/>
          <p:nvPr/>
        </p:nvCxnSpPr>
        <p:spPr>
          <a:xfrm>
            <a:off x="2905620" y="5490972"/>
            <a:ext cx="831875" cy="0"/>
          </a:xfrm>
          <a:prstGeom prst="line">
            <a:avLst/>
          </a:prstGeom>
          <a:ln w="15875">
            <a:solidFill>
              <a:srgbClr val="9A9AAA"/>
            </a:solidFill>
            <a:tailEnd type="triangle" w="med" len="med"/>
          </a:ln>
        </p:spPr>
      </p:cxnSp>
      <p:cxnSp>
        <p:nvCxnSpPr>
          <p:cNvPr id="36" name="Connector 35"/>
          <p:cNvCxnSpPr/>
          <p:nvPr/>
        </p:nvCxnSpPr>
        <p:spPr>
          <a:xfrm>
            <a:off x="5678538" y="5490972"/>
            <a:ext cx="831875" cy="0"/>
          </a:xfrm>
          <a:prstGeom prst="line">
            <a:avLst/>
          </a:prstGeom>
          <a:ln w="15875">
            <a:solidFill>
              <a:srgbClr val="9A9AAA"/>
            </a:solidFill>
            <a:tailEnd type="triangle" w="med" len="med"/>
          </a:ln>
        </p:spPr>
      </p:cxnSp>
      <p:cxnSp>
        <p:nvCxnSpPr>
          <p:cNvPr id="37" name="Connector 36"/>
          <p:cNvCxnSpPr/>
          <p:nvPr/>
        </p:nvCxnSpPr>
        <p:spPr>
          <a:xfrm>
            <a:off x="8451456" y="5490972"/>
            <a:ext cx="831875" cy="0"/>
          </a:xfrm>
          <a:prstGeom prst="line">
            <a:avLst/>
          </a:prstGeom>
          <a:ln w="15875">
            <a:solidFill>
              <a:srgbClr val="9A9AAA"/>
            </a:solidFill>
            <a:tailEnd type="triangle" w="med" len="med"/>
          </a:ln>
        </p:spPr>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Vom Schlagwort zur Literatur.</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1C · 15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57784"/>
          </a:xfrm>
          <a:prstGeom prst="rect">
            <a:avLst/>
          </a:prstGeom>
          <a:noFill/>
        </p:spPr>
        <p:txBody>
          <a:bodyPr wrap="square" lIns="0" rIns="0" tIns="0" bIns="0" anchor="t">
            <a:spAutoFit/>
          </a:bodyPr>
          <a:lstStyle/>
          <a:p>
            <a:pPr algn="l"/>
            <a:r>
              <a:rPr sz="1267" b="1" i="0">
                <a:solidFill>
                  <a:srgbClr val="FFFFFF"/>
                </a:solidFill>
                <a:latin typeface="Verdana"/>
              </a:rPr>
              <a:t>Zweiter Prompt: </a:t>
            </a:r>
            <a:r>
              <a:rPr sz="1267" b="0" i="0">
                <a:solidFill>
                  <a:srgbClr val="9A9AAA"/>
                </a:solidFill>
                <a:latin typeface="Verdana"/>
              </a:rPr>
              <a:t>Ein weiteres Prompt Template mit der Vorlage rechts. Model Response → schlagwoerter.</a:t>
            </a:r>
          </a:p>
        </p:txBody>
      </p:sp>
      <p:sp>
        <p:nvSpPr>
          <p:cNvPr id="7" name="Oval 6"/>
          <p:cNvSpPr/>
          <p:nvPr/>
        </p:nvSpPr>
        <p:spPr>
          <a:xfrm>
            <a:off x="548640" y="2404872"/>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404872"/>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86584"/>
            <a:ext cx="6172200" cy="557784"/>
          </a:xfrm>
          <a:prstGeom prst="rect">
            <a:avLst/>
          </a:prstGeom>
          <a:noFill/>
        </p:spPr>
        <p:txBody>
          <a:bodyPr wrap="square" lIns="0" rIns="0" tIns="0" bIns="0" anchor="t">
            <a:spAutoFit/>
          </a:bodyPr>
          <a:lstStyle/>
          <a:p>
            <a:pPr algn="l"/>
            <a:r>
              <a:rPr sz="1267" b="1" i="0">
                <a:solidFill>
                  <a:srgbClr val="FFFFFF"/>
                </a:solidFill>
                <a:latin typeface="Verdana"/>
              </a:rPr>
              <a:t>Zweites Modell: </a:t>
            </a:r>
            <a:r>
              <a:rPr sz="1267" b="0" i="0">
                <a:solidFill>
                  <a:srgbClr val="9A9AAA"/>
                </a:solidFill>
                <a:latin typeface="Verdana"/>
              </a:rPr>
              <a:t>Ein weiteres KI-Modell anschließen, Kreativität 0.</a:t>
            </a:r>
          </a:p>
        </p:txBody>
      </p:sp>
      <p:sp>
        <p:nvSpPr>
          <p:cNvPr id="10" name="Oval 9"/>
          <p:cNvSpPr/>
          <p:nvPr/>
        </p:nvSpPr>
        <p:spPr>
          <a:xfrm>
            <a:off x="548640" y="3008376"/>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3008376"/>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990088"/>
            <a:ext cx="6172200" cy="557784"/>
          </a:xfrm>
          <a:prstGeom prst="rect">
            <a:avLst/>
          </a:prstGeom>
          <a:noFill/>
        </p:spPr>
        <p:txBody>
          <a:bodyPr wrap="square" lIns="0" rIns="0" tIns="0" bIns="0" anchor="t">
            <a:spAutoFit/>
          </a:bodyPr>
          <a:lstStyle/>
          <a:p>
            <a:pPr algn="l"/>
            <a:r>
              <a:rPr sz="1267" b="1" i="0">
                <a:solidFill>
                  <a:srgbClr val="FFFFFF"/>
                </a:solidFill>
                <a:latin typeface="Verdana"/>
              </a:rPr>
              <a:t>Datenbank: </a:t>
            </a:r>
            <a:r>
              <a:rPr sz="1267" b="0" i="0">
                <a:solidFill>
                  <a:srgbClr val="9A9AAA"/>
                </a:solidFill>
                <a:latin typeface="Verdana"/>
              </a:rPr>
              <a:t>Literatursuche (OpenAlex) aus Bibliothek dazu: Model Response → Suchanfrage.</a:t>
            </a:r>
          </a:p>
        </p:txBody>
      </p:sp>
      <p:sp>
        <p:nvSpPr>
          <p:cNvPr id="13" name="Oval 12"/>
          <p:cNvSpPr/>
          <p:nvPr/>
        </p:nvSpPr>
        <p:spPr>
          <a:xfrm>
            <a:off x="548640" y="3611879"/>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611879"/>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593591"/>
            <a:ext cx="6172200" cy="557784"/>
          </a:xfrm>
          <a:prstGeom prst="rect">
            <a:avLst/>
          </a:prstGeom>
          <a:noFill/>
        </p:spPr>
        <p:txBody>
          <a:bodyPr wrap="square" lIns="0" rIns="0" tIns="0" bIns="0" anchor="t">
            <a:spAutoFit/>
          </a:bodyPr>
          <a:lstStyle/>
          <a:p>
            <a:pPr algn="l"/>
            <a:r>
              <a:rPr sz="1267" b="1" i="0">
                <a:solidFill>
                  <a:srgbClr val="FFFFFF"/>
                </a:solidFill>
                <a:latin typeface="Verdana"/>
              </a:rPr>
              <a:t>Ausgabe: </a:t>
            </a:r>
            <a:r>
              <a:rPr sz="1267" b="0" i="0">
                <a:solidFill>
                  <a:srgbClr val="9A9AAA"/>
                </a:solidFill>
                <a:latin typeface="Verdana"/>
              </a:rPr>
              <a:t>Trefferliste (Text) → Chat Output. Den alten Chat Output löschen.</a:t>
            </a:r>
          </a:p>
        </p:txBody>
      </p:sp>
      <p:sp>
        <p:nvSpPr>
          <p:cNvPr id="16" name="Oval 15"/>
          <p:cNvSpPr/>
          <p:nvPr/>
        </p:nvSpPr>
        <p:spPr>
          <a:xfrm>
            <a:off x="548640" y="4215383"/>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4215383"/>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4197096"/>
            <a:ext cx="6172200" cy="557784"/>
          </a:xfrm>
          <a:prstGeom prst="rect">
            <a:avLst/>
          </a:prstGeom>
          <a:noFill/>
        </p:spPr>
        <p:txBody>
          <a:bodyPr wrap="square" lIns="0" rIns="0" tIns="0" bIns="0" anchor="t">
            <a:spAutoFit/>
          </a:bodyPr>
          <a:lstStyle/>
          <a:p>
            <a:pPr algn="l"/>
            <a:r>
              <a:rPr sz="1267" b="1" i="0">
                <a:solidFill>
                  <a:srgbClr val="FFFFFF"/>
                </a:solidFill>
                <a:latin typeface="Verdana"/>
              </a:rPr>
              <a:t>Prüfen: </a:t>
            </a:r>
            <a:r>
              <a:rPr sz="1267" b="0" i="0">
                <a:solidFill>
                  <a:srgbClr val="9A9AAA"/>
                </a:solidFill>
                <a:latin typeface="Verdana"/>
              </a:rPr>
              <a:t>Testen und die Zwischenergebnisse ansehen: Welche Suchanfrage hat die KI gebaut?</a:t>
            </a:r>
          </a:p>
        </p:txBody>
      </p:sp>
      <p:sp>
        <p:nvSpPr>
          <p:cNvPr id="19" name="Rectangle 18"/>
          <p:cNvSpPr/>
          <p:nvPr/>
        </p:nvSpPr>
        <p:spPr>
          <a:xfrm>
            <a:off x="7635240" y="1783080"/>
            <a:ext cx="4005072" cy="86868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365759"/>
          </a:xfrm>
          <a:prstGeom prst="rect">
            <a:avLst/>
          </a:prstGeom>
          <a:noFill/>
        </p:spPr>
        <p:txBody>
          <a:bodyPr wrap="square" lIns="0" rIns="0" tIns="0" bIns="0" anchor="t">
            <a:spAutoFit/>
          </a:bodyPr>
          <a:lstStyle/>
          <a:p>
            <a:pPr algn="l"/>
            <a:r>
              <a:rPr sz="1200" b="0" i="0">
                <a:solidFill>
                  <a:srgbClr val="FFFFFF"/>
                </a:solidFill>
                <a:latin typeface="Verdana"/>
              </a:rPr>
              <a:t>Passende Literatur zu einem Abstract finden, in fester Reihenfolge.</a:t>
            </a:r>
          </a:p>
        </p:txBody>
      </p:sp>
      <p:sp>
        <p:nvSpPr>
          <p:cNvPr id="23" name="Rectangle 22"/>
          <p:cNvSpPr/>
          <p:nvPr/>
        </p:nvSpPr>
        <p:spPr>
          <a:xfrm>
            <a:off x="7635240" y="2761487"/>
            <a:ext cx="4005072" cy="1353312"/>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2916935"/>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VORLAGE PROMPT 2</a:t>
            </a:r>
          </a:p>
        </p:txBody>
      </p:sp>
      <p:sp>
        <p:nvSpPr>
          <p:cNvPr id="25" name="TextBox 24"/>
          <p:cNvSpPr txBox="1"/>
          <p:nvPr/>
        </p:nvSpPr>
        <p:spPr>
          <a:xfrm>
            <a:off x="7836408" y="3172968"/>
            <a:ext cx="3602736" cy="850392"/>
          </a:xfrm>
          <a:prstGeom prst="rect">
            <a:avLst/>
          </a:prstGeom>
          <a:noFill/>
        </p:spPr>
        <p:txBody>
          <a:bodyPr wrap="square" lIns="0" rIns="0" tIns="0" bIns="0" anchor="t">
            <a:spAutoFit/>
          </a:bodyPr>
          <a:lstStyle/>
          <a:p>
            <a:pPr algn="l"/>
            <a:r>
              <a:rPr sz="1100" b="0" i="0">
                <a:solidFill>
                  <a:srgbClr val="9A9AAA"/>
                </a:solidFill>
                <a:latin typeface="Verdana"/>
              </a:rPr>
              <a:t>Mache aus diesen Schlagwörtern eine kurze englische Suchanfrage. Antworte nur mit der Suchanfrage.
Schlagwörter: {schlagwoerter}</a:t>
            </a:r>
          </a:p>
        </p:txBody>
      </p:sp>
      <p:sp>
        <p:nvSpPr>
          <p:cNvPr id="26" name="Rectangle 25"/>
          <p:cNvSpPr/>
          <p:nvPr/>
        </p:nvSpPr>
        <p:spPr>
          <a:xfrm>
            <a:off x="7635240" y="4224527"/>
            <a:ext cx="4005072" cy="822960"/>
          </a:xfrm>
          <a:prstGeom prst="rect">
            <a:avLst/>
          </a:prstGeom>
          <a:solidFill>
            <a:srgbClr val="24232E"/>
          </a:solidFill>
          <a:ln>
            <a:noFill/>
          </a:ln>
        </p:spPr>
        <p:txBody>
          <a:bodyPr rtlCol="0" anchor="ctr"/>
          <a:lstStyle/>
          <a:p>
            <a:pPr algn="ctr"/>
          </a:p>
        </p:txBody>
      </p:sp>
      <p:sp>
        <p:nvSpPr>
          <p:cNvPr id="27" name="TextBox 26"/>
          <p:cNvSpPr txBox="1"/>
          <p:nvPr/>
        </p:nvSpPr>
        <p:spPr>
          <a:xfrm>
            <a:off x="7836408" y="4379975"/>
            <a:ext cx="3602736" cy="228600"/>
          </a:xfrm>
          <a:prstGeom prst="rect">
            <a:avLst/>
          </a:prstGeom>
          <a:noFill/>
        </p:spPr>
        <p:txBody>
          <a:bodyPr wrap="square" lIns="0" rIns="0" tIns="0" bIns="0" anchor="t">
            <a:spAutoFit/>
          </a:bodyPr>
          <a:lstStyle/>
          <a:p>
            <a:pPr algn="l"/>
            <a:r>
              <a:rPr sz="933" b="1" i="0" spc="300">
                <a:solidFill>
                  <a:srgbClr val="9A9AAA"/>
                </a:solidFill>
                <a:latin typeface="Verdana"/>
              </a:rPr>
              <a:t>WEITERDENKEN</a:t>
            </a:r>
          </a:p>
        </p:txBody>
      </p:sp>
      <p:sp>
        <p:nvSpPr>
          <p:cNvPr id="28" name="TextBox 27"/>
          <p:cNvSpPr txBox="1"/>
          <p:nvPr/>
        </p:nvSpPr>
        <p:spPr>
          <a:xfrm>
            <a:off x="7836408" y="4636007"/>
            <a:ext cx="3602736" cy="320040"/>
          </a:xfrm>
          <a:prstGeom prst="rect">
            <a:avLst/>
          </a:prstGeom>
          <a:noFill/>
        </p:spPr>
        <p:txBody>
          <a:bodyPr wrap="square" lIns="0" rIns="0" tIns="0" bIns="0" anchor="t">
            <a:spAutoFit/>
          </a:bodyPr>
          <a:lstStyle/>
          <a:p>
            <a:pPr algn="l"/>
            <a:r>
              <a:rPr sz="1200" b="0" i="1">
                <a:solidFill>
                  <a:srgbClr val="FFFFFF"/>
                </a:solidFill>
                <a:latin typeface="Verdana"/>
              </a:rPr>
              <a:t>Was passiert, wenn jemand eine Frage statt eines Abstracts eintippt?</a:t>
            </a:r>
          </a:p>
        </p:txBody>
      </p:sp>
      <p:sp>
        <p:nvSpPr>
          <p:cNvPr id="29" name="TextBox 28"/>
          <p:cNvSpPr txBox="1"/>
          <p:nvPr/>
        </p:nvSpPr>
        <p:spPr>
          <a:xfrm>
            <a:off x="548640" y="493776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SO SIEHT DER FLOW AUS</a:t>
            </a:r>
          </a:p>
        </p:txBody>
      </p:sp>
      <p:sp>
        <p:nvSpPr>
          <p:cNvPr id="30" name="Rectangle 29"/>
          <p:cNvSpPr/>
          <p:nvPr/>
        </p:nvSpPr>
        <p:spPr>
          <a:xfrm>
            <a:off x="707092" y="5208651"/>
            <a:ext cx="1267619" cy="564642"/>
          </a:xfrm>
          <a:prstGeom prst="rect">
            <a:avLst/>
          </a:prstGeom>
          <a:solidFill>
            <a:srgbClr val="24232E"/>
          </a:solidFill>
          <a:ln w="19050">
            <a:solidFill>
              <a:srgbClr val="9A9AAA"/>
            </a:solidFill>
          </a:ln>
        </p:spPr>
        <p:txBody>
          <a:bodyPr rtlCol="0" anchor="ctr"/>
          <a:lstStyle/>
          <a:p>
            <a:pPr algn="ctr"/>
          </a:p>
        </p:txBody>
      </p:sp>
      <p:sp>
        <p:nvSpPr>
          <p:cNvPr id="31" name="TextBox 30"/>
          <p:cNvSpPr txBox="1"/>
          <p:nvPr/>
        </p:nvSpPr>
        <p:spPr>
          <a:xfrm>
            <a:off x="780244"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Chat Input</a:t>
            </a:r>
          </a:p>
        </p:txBody>
      </p:sp>
      <p:sp>
        <p:nvSpPr>
          <p:cNvPr id="32" name="Rectangle 31"/>
          <p:cNvSpPr/>
          <p:nvPr/>
        </p:nvSpPr>
        <p:spPr>
          <a:xfrm>
            <a:off x="2291617" y="5208651"/>
            <a:ext cx="1267619" cy="564642"/>
          </a:xfrm>
          <a:prstGeom prst="rect">
            <a:avLst/>
          </a:prstGeom>
          <a:solidFill>
            <a:srgbClr val="24232E"/>
          </a:solidFill>
          <a:ln w="19050">
            <a:solidFill>
              <a:srgbClr val="F6A800"/>
            </a:solidFill>
          </a:ln>
        </p:spPr>
        <p:txBody>
          <a:bodyPr rtlCol="0" anchor="ctr"/>
          <a:lstStyle/>
          <a:p>
            <a:pPr algn="ctr"/>
          </a:p>
        </p:txBody>
      </p:sp>
      <p:sp>
        <p:nvSpPr>
          <p:cNvPr id="33" name="TextBox 32"/>
          <p:cNvSpPr txBox="1"/>
          <p:nvPr/>
        </p:nvSpPr>
        <p:spPr>
          <a:xfrm>
            <a:off x="2364769"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Prompt Schlagwörter</a:t>
            </a:r>
          </a:p>
        </p:txBody>
      </p:sp>
      <p:sp>
        <p:nvSpPr>
          <p:cNvPr id="34" name="Rectangle 33"/>
          <p:cNvSpPr/>
          <p:nvPr/>
        </p:nvSpPr>
        <p:spPr>
          <a:xfrm>
            <a:off x="3876141" y="5208651"/>
            <a:ext cx="1267619" cy="564642"/>
          </a:xfrm>
          <a:prstGeom prst="rect">
            <a:avLst/>
          </a:prstGeom>
          <a:solidFill>
            <a:srgbClr val="24232E"/>
          </a:solidFill>
          <a:ln w="19050">
            <a:solidFill>
              <a:srgbClr val="B1063A"/>
            </a:solidFill>
          </a:ln>
        </p:spPr>
        <p:txBody>
          <a:bodyPr rtlCol="0" anchor="ctr"/>
          <a:lstStyle/>
          <a:p>
            <a:pPr algn="ctr"/>
          </a:p>
        </p:txBody>
      </p:sp>
      <p:sp>
        <p:nvSpPr>
          <p:cNvPr id="35" name="TextBox 34"/>
          <p:cNvSpPr txBox="1"/>
          <p:nvPr/>
        </p:nvSpPr>
        <p:spPr>
          <a:xfrm>
            <a:off x="3949293"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KI-Modell</a:t>
            </a:r>
          </a:p>
        </p:txBody>
      </p:sp>
      <p:sp>
        <p:nvSpPr>
          <p:cNvPr id="36" name="Rectangle 35"/>
          <p:cNvSpPr/>
          <p:nvPr/>
        </p:nvSpPr>
        <p:spPr>
          <a:xfrm>
            <a:off x="5460666" y="5208651"/>
            <a:ext cx="1267619" cy="564642"/>
          </a:xfrm>
          <a:prstGeom prst="rect">
            <a:avLst/>
          </a:prstGeom>
          <a:solidFill>
            <a:srgbClr val="24232E"/>
          </a:solidFill>
          <a:ln w="19050">
            <a:solidFill>
              <a:srgbClr val="F6A800"/>
            </a:solidFill>
          </a:ln>
        </p:spPr>
        <p:txBody>
          <a:bodyPr rtlCol="0" anchor="ctr"/>
          <a:lstStyle/>
          <a:p>
            <a:pPr algn="ctr"/>
          </a:p>
        </p:txBody>
      </p:sp>
      <p:sp>
        <p:nvSpPr>
          <p:cNvPr id="37" name="TextBox 36"/>
          <p:cNvSpPr txBox="1"/>
          <p:nvPr/>
        </p:nvSpPr>
        <p:spPr>
          <a:xfrm>
            <a:off x="5533818"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Prompt Suche</a:t>
            </a:r>
          </a:p>
        </p:txBody>
      </p:sp>
      <p:sp>
        <p:nvSpPr>
          <p:cNvPr id="38" name="Rectangle 37"/>
          <p:cNvSpPr/>
          <p:nvPr/>
        </p:nvSpPr>
        <p:spPr>
          <a:xfrm>
            <a:off x="7045190" y="5208651"/>
            <a:ext cx="1267619" cy="564642"/>
          </a:xfrm>
          <a:prstGeom prst="rect">
            <a:avLst/>
          </a:prstGeom>
          <a:solidFill>
            <a:srgbClr val="24232E"/>
          </a:solidFill>
          <a:ln w="19050">
            <a:solidFill>
              <a:srgbClr val="B1063A"/>
            </a:solidFill>
          </a:ln>
        </p:spPr>
        <p:txBody>
          <a:bodyPr rtlCol="0" anchor="ctr"/>
          <a:lstStyle/>
          <a:p>
            <a:pPr algn="ctr"/>
          </a:p>
        </p:txBody>
      </p:sp>
      <p:sp>
        <p:nvSpPr>
          <p:cNvPr id="39" name="TextBox 38"/>
          <p:cNvSpPr txBox="1"/>
          <p:nvPr/>
        </p:nvSpPr>
        <p:spPr>
          <a:xfrm>
            <a:off x="7118342"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KI-Modell</a:t>
            </a:r>
          </a:p>
        </p:txBody>
      </p:sp>
      <p:sp>
        <p:nvSpPr>
          <p:cNvPr id="40" name="Rectangle 39"/>
          <p:cNvSpPr/>
          <p:nvPr/>
        </p:nvSpPr>
        <p:spPr>
          <a:xfrm>
            <a:off x="8629715" y="5208651"/>
            <a:ext cx="1267619" cy="564642"/>
          </a:xfrm>
          <a:prstGeom prst="rect">
            <a:avLst/>
          </a:prstGeom>
          <a:solidFill>
            <a:srgbClr val="24232E"/>
          </a:solidFill>
          <a:ln w="19050">
            <a:solidFill>
              <a:srgbClr val="DC640D"/>
            </a:solidFill>
          </a:ln>
        </p:spPr>
        <p:txBody>
          <a:bodyPr rtlCol="0" anchor="ctr"/>
          <a:lstStyle/>
          <a:p>
            <a:pPr algn="ctr"/>
          </a:p>
        </p:txBody>
      </p:sp>
      <p:sp>
        <p:nvSpPr>
          <p:cNvPr id="41" name="TextBox 40"/>
          <p:cNvSpPr txBox="1"/>
          <p:nvPr/>
        </p:nvSpPr>
        <p:spPr>
          <a:xfrm>
            <a:off x="8702867"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Literatursuche</a:t>
            </a:r>
          </a:p>
        </p:txBody>
      </p:sp>
      <p:sp>
        <p:nvSpPr>
          <p:cNvPr id="42" name="Rectangle 41"/>
          <p:cNvSpPr/>
          <p:nvPr/>
        </p:nvSpPr>
        <p:spPr>
          <a:xfrm>
            <a:off x="10214239" y="5208651"/>
            <a:ext cx="1267619" cy="564642"/>
          </a:xfrm>
          <a:prstGeom prst="rect">
            <a:avLst/>
          </a:prstGeom>
          <a:solidFill>
            <a:srgbClr val="24232E"/>
          </a:solidFill>
          <a:ln w="19050">
            <a:solidFill>
              <a:srgbClr val="9A9AAA"/>
            </a:solidFill>
          </a:ln>
        </p:spPr>
        <p:txBody>
          <a:bodyPr rtlCol="0" anchor="ctr"/>
          <a:lstStyle/>
          <a:p>
            <a:pPr algn="ctr"/>
          </a:p>
        </p:txBody>
      </p:sp>
      <p:sp>
        <p:nvSpPr>
          <p:cNvPr id="43" name="TextBox 42"/>
          <p:cNvSpPr txBox="1"/>
          <p:nvPr/>
        </p:nvSpPr>
        <p:spPr>
          <a:xfrm>
            <a:off x="10287391" y="5208651"/>
            <a:ext cx="1121315" cy="564642"/>
          </a:xfrm>
          <a:prstGeom prst="rect">
            <a:avLst/>
          </a:prstGeom>
          <a:noFill/>
        </p:spPr>
        <p:txBody>
          <a:bodyPr wrap="square" lIns="0" rIns="0" tIns="0" bIns="0" anchor="ctr">
            <a:spAutoFit/>
          </a:bodyPr>
          <a:lstStyle/>
          <a:p>
            <a:pPr algn="ctr"/>
            <a:r>
              <a:rPr sz="933" b="1" i="0">
                <a:solidFill>
                  <a:srgbClr val="FFFFFF"/>
                </a:solidFill>
                <a:latin typeface="Verdana"/>
              </a:rPr>
              <a:t>Chat Output</a:t>
            </a:r>
          </a:p>
        </p:txBody>
      </p:sp>
      <p:cxnSp>
        <p:nvCxnSpPr>
          <p:cNvPr id="44" name="Connector 43"/>
          <p:cNvCxnSpPr/>
          <p:nvPr/>
        </p:nvCxnSpPr>
        <p:spPr>
          <a:xfrm>
            <a:off x="1974712" y="5490972"/>
            <a:ext cx="316905" cy="0"/>
          </a:xfrm>
          <a:prstGeom prst="line">
            <a:avLst/>
          </a:prstGeom>
          <a:ln w="15875">
            <a:solidFill>
              <a:srgbClr val="9A9AAA"/>
            </a:solidFill>
            <a:tailEnd type="triangle" w="med" len="med"/>
          </a:ln>
        </p:spPr>
      </p:cxnSp>
      <p:cxnSp>
        <p:nvCxnSpPr>
          <p:cNvPr id="45" name="Connector 44"/>
          <p:cNvCxnSpPr/>
          <p:nvPr/>
        </p:nvCxnSpPr>
        <p:spPr>
          <a:xfrm>
            <a:off x="3559236" y="5490972"/>
            <a:ext cx="316905" cy="0"/>
          </a:xfrm>
          <a:prstGeom prst="line">
            <a:avLst/>
          </a:prstGeom>
          <a:ln w="15875">
            <a:solidFill>
              <a:srgbClr val="9A9AAA"/>
            </a:solidFill>
            <a:tailEnd type="triangle" w="med" len="med"/>
          </a:ln>
        </p:spPr>
      </p:cxnSp>
      <p:cxnSp>
        <p:nvCxnSpPr>
          <p:cNvPr id="46" name="Connector 45"/>
          <p:cNvCxnSpPr/>
          <p:nvPr/>
        </p:nvCxnSpPr>
        <p:spPr>
          <a:xfrm>
            <a:off x="5143761" y="5490972"/>
            <a:ext cx="316905" cy="0"/>
          </a:xfrm>
          <a:prstGeom prst="line">
            <a:avLst/>
          </a:prstGeom>
          <a:ln w="15875">
            <a:solidFill>
              <a:srgbClr val="9A9AAA"/>
            </a:solidFill>
            <a:tailEnd type="triangle" w="med" len="med"/>
          </a:ln>
        </p:spPr>
      </p:cxnSp>
      <p:cxnSp>
        <p:nvCxnSpPr>
          <p:cNvPr id="47" name="Connector 46"/>
          <p:cNvCxnSpPr/>
          <p:nvPr/>
        </p:nvCxnSpPr>
        <p:spPr>
          <a:xfrm>
            <a:off x="6728285" y="5490972"/>
            <a:ext cx="316905" cy="0"/>
          </a:xfrm>
          <a:prstGeom prst="line">
            <a:avLst/>
          </a:prstGeom>
          <a:ln w="15875">
            <a:solidFill>
              <a:srgbClr val="9A9AAA"/>
            </a:solidFill>
            <a:tailEnd type="triangle" w="med" len="med"/>
          </a:ln>
        </p:spPr>
      </p:cxnSp>
      <p:cxnSp>
        <p:nvCxnSpPr>
          <p:cNvPr id="48" name="Connector 47"/>
          <p:cNvCxnSpPr/>
          <p:nvPr/>
        </p:nvCxnSpPr>
        <p:spPr>
          <a:xfrm>
            <a:off x="8312810" y="5490972"/>
            <a:ext cx="316905" cy="0"/>
          </a:xfrm>
          <a:prstGeom prst="line">
            <a:avLst/>
          </a:prstGeom>
          <a:ln w="15875">
            <a:solidFill>
              <a:srgbClr val="9A9AAA"/>
            </a:solidFill>
            <a:tailEnd type="triangle" w="med" len="med"/>
          </a:ln>
        </p:spPr>
      </p:cxnSp>
      <p:cxnSp>
        <p:nvCxnSpPr>
          <p:cNvPr id="49" name="Connector 48"/>
          <p:cNvCxnSpPr/>
          <p:nvPr/>
        </p:nvCxnSpPr>
        <p:spPr>
          <a:xfrm>
            <a:off x="9897334" y="5490972"/>
            <a:ext cx="316905" cy="0"/>
          </a:xfrm>
          <a:prstGeom prst="line">
            <a:avLst/>
          </a:prstGeom>
          <a:ln w="15875">
            <a:solidFill>
              <a:srgbClr val="9A9AAA"/>
            </a:solidFill>
            <a:tailEnd type="triangle" w="med" len="med"/>
          </a:ln>
        </p:spPr>
      </p:cxn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600200"/>
            <a:ext cx="8503920" cy="1737360"/>
          </a:xfrm>
        </p:spPr>
        <p:txBody>
          <a:bodyPr wrap="square" anchor="b" lIns="0" rIns="0" tIns="0" bIns="0"/>
          <a:lstStyle/>
          <a:p>
            <a:pPr algn="l"/>
            <a:r>
              <a:rPr sz="4533" b="1" i="0">
                <a:solidFill>
                  <a:srgbClr val="FFFFFF"/>
                </a:solidFill>
                <a:latin typeface="Verdana"/>
              </a:rPr>
              <a:t>Teil 2:</a:t>
            </a:r>
          </a:p>
          <a:p>
            <a:pPr algn="l"/>
            <a:r>
              <a:rPr sz="4533" b="1" i="0">
                <a:solidFill>
                  <a:srgbClr val="DC640D"/>
                </a:solidFill>
                <a:latin typeface="Verdana"/>
              </a:rPr>
              <a:t>Agenten.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2</a:t>
            </a:r>
          </a:p>
        </p:txBody>
      </p:sp>
      <p:cxnSp>
        <p:nvCxnSpPr>
          <p:cNvPr id="4" name="Connector 3"/>
          <p:cNvCxnSpPr/>
          <p:nvPr/>
        </p:nvCxnSpPr>
        <p:spPr>
          <a:xfrm>
            <a:off x="548640" y="3611880"/>
            <a:ext cx="1709928" cy="0"/>
          </a:xfrm>
          <a:prstGeom prst="line">
            <a:avLst/>
          </a:prstGeom>
          <a:ln w="57150">
            <a:solidFill>
              <a:srgbClr val="DC640D"/>
            </a:solidFill>
          </a:ln>
        </p:spPr>
      </p:cxnSp>
      <p:sp>
        <p:nvSpPr>
          <p:cNvPr id="5" name="TextBox 4"/>
          <p:cNvSpPr txBox="1"/>
          <p:nvPr/>
        </p:nvSpPr>
        <p:spPr>
          <a:xfrm>
            <a:off x="548640" y="3886200"/>
            <a:ext cx="8046720" cy="1097280"/>
          </a:xfrm>
          <a:prstGeom prst="rect">
            <a:avLst/>
          </a:prstGeom>
          <a:noFill/>
        </p:spPr>
        <p:txBody>
          <a:bodyPr wrap="square" lIns="0" rIns="0" tIns="0" bIns="0" anchor="t">
            <a:spAutoFit/>
          </a:bodyPr>
          <a:lstStyle/>
          <a:p>
            <a:pPr algn="l"/>
            <a:r>
              <a:rPr sz="1732" b="0" i="1">
                <a:solidFill>
                  <a:srgbClr val="9A9AAA"/>
                </a:solidFill>
                <a:latin typeface="Verdana"/>
              </a:rPr>
              <a:t>Ein Agent entscheidet selbst, welche Werkzeuge er benutzt und wann er fertig ist.</a:t>
            </a:r>
          </a:p>
        </p:txBody>
      </p:sp>
      <p:sp>
        <p:nvSpPr>
          <p:cNvPr id="6" name="Oval 5"/>
          <p:cNvSpPr/>
          <p:nvPr/>
        </p:nvSpPr>
        <p:spPr>
          <a:xfrm>
            <a:off x="9326880" y="1828800"/>
            <a:ext cx="2011680" cy="2011680"/>
          </a:xfrm>
          <a:prstGeom prst="ellipse">
            <a:avLst/>
          </a:prstGeom>
          <a:solidFill>
            <a:srgbClr val="24232E"/>
          </a:solidFill>
          <a:ln w="19050">
            <a:solidFill>
              <a:srgbClr val="DC640D"/>
            </a:solidFill>
          </a:ln>
        </p:spPr>
        <p:txBody>
          <a:bodyPr rtlCol="0" anchor="ctr"/>
          <a:lstStyle/>
          <a:p>
            <a:pPr algn="ctr"/>
          </a:p>
        </p:txBody>
      </p:sp>
      <p:pic>
        <p:nvPicPr>
          <p:cNvPr id="7" name="Picture 6" descr="LuBot_o.png"/>
          <p:cNvPicPr>
            <a:picLocks noChangeAspect="1"/>
          </p:cNvPicPr>
          <p:nvPr/>
        </p:nvPicPr>
        <p:blipFill>
          <a:blip r:embed="rId2"/>
          <a:stretch>
            <a:fillRect/>
          </a:stretch>
        </p:blipFill>
        <p:spPr>
          <a:xfrm>
            <a:off x="9829800" y="2331720"/>
            <a:ext cx="1005840" cy="10058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Wer legt den Weg fest?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2 · AGENTEN</a:t>
            </a:r>
          </a:p>
        </p:txBody>
      </p:sp>
      <p:sp>
        <p:nvSpPr>
          <p:cNvPr id="4" name="Rectangle 3"/>
          <p:cNvSpPr/>
          <p:nvPr/>
        </p:nvSpPr>
        <p:spPr>
          <a:xfrm>
            <a:off x="548640" y="1783080"/>
            <a:ext cx="5408676" cy="40233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08676" cy="64008"/>
          </a:xfrm>
          <a:prstGeom prst="rect">
            <a:avLst/>
          </a:prstGeom>
          <a:solidFill>
            <a:srgbClr val="DC640D"/>
          </a:solidFill>
          <a:ln>
            <a:noFill/>
          </a:ln>
        </p:spPr>
        <p:txBody>
          <a:bodyPr rtlCol="0" anchor="ctr"/>
          <a:lstStyle/>
          <a:p>
            <a:pPr algn="ctr"/>
          </a:p>
        </p:txBody>
      </p:sp>
      <p:sp>
        <p:nvSpPr>
          <p:cNvPr id="6" name="TextBox 5"/>
          <p:cNvSpPr txBox="1"/>
          <p:nvPr/>
        </p:nvSpPr>
        <p:spPr>
          <a:xfrm>
            <a:off x="822959" y="2011680"/>
            <a:ext cx="4860036" cy="365760"/>
          </a:xfrm>
          <a:prstGeom prst="rect">
            <a:avLst/>
          </a:prstGeom>
          <a:noFill/>
        </p:spPr>
        <p:txBody>
          <a:bodyPr wrap="square" lIns="0" rIns="0" tIns="0" bIns="0" anchor="t">
            <a:spAutoFit/>
          </a:bodyPr>
          <a:lstStyle/>
          <a:p>
            <a:pPr algn="l"/>
            <a:r>
              <a:rPr sz="1867" b="1" i="0">
                <a:solidFill>
                  <a:srgbClr val="FFFFFF"/>
                </a:solidFill>
                <a:latin typeface="Verdana"/>
              </a:rPr>
              <a:t>Workflow</a:t>
            </a:r>
          </a:p>
        </p:txBody>
      </p:sp>
      <p:sp>
        <p:nvSpPr>
          <p:cNvPr id="7" name="TextBox 6"/>
          <p:cNvSpPr txBox="1"/>
          <p:nvPr/>
        </p:nvSpPr>
        <p:spPr>
          <a:xfrm>
            <a:off x="822959" y="2468880"/>
            <a:ext cx="4860036" cy="274320"/>
          </a:xfrm>
          <a:prstGeom prst="rect">
            <a:avLst/>
          </a:prstGeom>
          <a:noFill/>
        </p:spPr>
        <p:txBody>
          <a:bodyPr wrap="square" lIns="0" rIns="0" tIns="0" bIns="0" anchor="t">
            <a:spAutoFit/>
          </a:bodyPr>
          <a:lstStyle/>
          <a:p>
            <a:pPr algn="l"/>
            <a:r>
              <a:rPr sz="1333" b="0" i="1">
                <a:solidFill>
                  <a:srgbClr val="DC640D"/>
                </a:solidFill>
                <a:latin typeface="Verdana"/>
              </a:rPr>
              <a:t>Ihr legt den Weg fest.</a:t>
            </a:r>
          </a:p>
        </p:txBody>
      </p:sp>
      <p:sp>
        <p:nvSpPr>
          <p:cNvPr id="8" name="Oval 7"/>
          <p:cNvSpPr/>
          <p:nvPr/>
        </p:nvSpPr>
        <p:spPr>
          <a:xfrm>
            <a:off x="868680" y="3044952"/>
            <a:ext cx="109728" cy="109728"/>
          </a:xfrm>
          <a:prstGeom prst="ellipse">
            <a:avLst/>
          </a:prstGeom>
          <a:solidFill>
            <a:srgbClr val="DC640D"/>
          </a:solidFill>
          <a:ln>
            <a:noFill/>
          </a:ln>
        </p:spPr>
        <p:txBody>
          <a:bodyPr rtlCol="0" anchor="ctr"/>
          <a:lstStyle/>
          <a:p>
            <a:pPr algn="ctr"/>
          </a:p>
        </p:txBody>
      </p:sp>
      <p:sp>
        <p:nvSpPr>
          <p:cNvPr id="9" name="TextBox 8"/>
          <p:cNvSpPr txBox="1"/>
          <p:nvPr/>
        </p:nvSpPr>
        <p:spPr>
          <a:xfrm>
            <a:off x="1143000" y="2926080"/>
            <a:ext cx="4539996" cy="365760"/>
          </a:xfrm>
          <a:prstGeom prst="rect">
            <a:avLst/>
          </a:prstGeom>
          <a:noFill/>
        </p:spPr>
        <p:txBody>
          <a:bodyPr wrap="square" lIns="0" rIns="0" tIns="0" bIns="0" anchor="ctr">
            <a:spAutoFit/>
          </a:bodyPr>
          <a:lstStyle/>
          <a:p>
            <a:pPr algn="l"/>
            <a:r>
              <a:rPr sz="1333" b="0" i="0">
                <a:solidFill>
                  <a:srgbClr val="FFFFFF"/>
                </a:solidFill>
                <a:latin typeface="Verdana"/>
              </a:rPr>
              <a:t>Gleiche Schritte für jede Eingabe</a:t>
            </a:r>
          </a:p>
        </p:txBody>
      </p:sp>
      <p:sp>
        <p:nvSpPr>
          <p:cNvPr id="10" name="Oval 9"/>
          <p:cNvSpPr/>
          <p:nvPr/>
        </p:nvSpPr>
        <p:spPr>
          <a:xfrm>
            <a:off x="868680" y="3456432"/>
            <a:ext cx="109728" cy="109728"/>
          </a:xfrm>
          <a:prstGeom prst="ellipse">
            <a:avLst/>
          </a:prstGeom>
          <a:solidFill>
            <a:srgbClr val="DC640D"/>
          </a:solidFill>
          <a:ln>
            <a:noFill/>
          </a:ln>
        </p:spPr>
        <p:txBody>
          <a:bodyPr rtlCol="0" anchor="ctr"/>
          <a:lstStyle/>
          <a:p>
            <a:pPr algn="ctr"/>
          </a:p>
        </p:txBody>
      </p:sp>
      <p:sp>
        <p:nvSpPr>
          <p:cNvPr id="11" name="TextBox 10"/>
          <p:cNvSpPr txBox="1"/>
          <p:nvPr/>
        </p:nvSpPr>
        <p:spPr>
          <a:xfrm>
            <a:off x="1143000" y="3337560"/>
            <a:ext cx="4539996" cy="365760"/>
          </a:xfrm>
          <a:prstGeom prst="rect">
            <a:avLst/>
          </a:prstGeom>
          <a:noFill/>
        </p:spPr>
        <p:txBody>
          <a:bodyPr wrap="square" lIns="0" rIns="0" tIns="0" bIns="0" anchor="ctr">
            <a:spAutoFit/>
          </a:bodyPr>
          <a:lstStyle/>
          <a:p>
            <a:pPr algn="l"/>
            <a:r>
              <a:rPr sz="1333" b="0" i="0">
                <a:solidFill>
                  <a:srgbClr val="FFFFFF"/>
                </a:solidFill>
                <a:latin typeface="Verdana"/>
              </a:rPr>
              <a:t>Vorhersagbar und gut prüfbar</a:t>
            </a:r>
          </a:p>
        </p:txBody>
      </p:sp>
      <p:sp>
        <p:nvSpPr>
          <p:cNvPr id="12" name="Oval 11"/>
          <p:cNvSpPr/>
          <p:nvPr/>
        </p:nvSpPr>
        <p:spPr>
          <a:xfrm>
            <a:off x="868680" y="3867912"/>
            <a:ext cx="109728" cy="109728"/>
          </a:xfrm>
          <a:prstGeom prst="ellipse">
            <a:avLst/>
          </a:prstGeom>
          <a:solidFill>
            <a:srgbClr val="DC640D"/>
          </a:solidFill>
          <a:ln>
            <a:noFill/>
          </a:ln>
        </p:spPr>
        <p:txBody>
          <a:bodyPr rtlCol="0" anchor="ctr"/>
          <a:lstStyle/>
          <a:p>
            <a:pPr algn="ctr"/>
          </a:p>
        </p:txBody>
      </p:sp>
      <p:sp>
        <p:nvSpPr>
          <p:cNvPr id="13" name="TextBox 12"/>
          <p:cNvSpPr txBox="1"/>
          <p:nvPr/>
        </p:nvSpPr>
        <p:spPr>
          <a:xfrm>
            <a:off x="1143000" y="3749040"/>
            <a:ext cx="4539996" cy="365760"/>
          </a:xfrm>
          <a:prstGeom prst="rect">
            <a:avLst/>
          </a:prstGeom>
          <a:noFill/>
        </p:spPr>
        <p:txBody>
          <a:bodyPr wrap="square" lIns="0" rIns="0" tIns="0" bIns="0" anchor="ctr">
            <a:spAutoFit/>
          </a:bodyPr>
          <a:lstStyle/>
          <a:p>
            <a:pPr algn="l"/>
            <a:r>
              <a:rPr sz="1333" b="0" i="0">
                <a:solidFill>
                  <a:srgbClr val="FFFFFF"/>
                </a:solidFill>
                <a:latin typeface="Verdana"/>
              </a:rPr>
              <a:t>Unflexibel bei unerwarteten Anfragen</a:t>
            </a:r>
          </a:p>
        </p:txBody>
      </p:sp>
      <p:sp>
        <p:nvSpPr>
          <p:cNvPr id="14" name="Rectangle 13"/>
          <p:cNvSpPr/>
          <p:nvPr/>
        </p:nvSpPr>
        <p:spPr>
          <a:xfrm>
            <a:off x="956610" y="4681727"/>
            <a:ext cx="947707" cy="603504"/>
          </a:xfrm>
          <a:prstGeom prst="rect">
            <a:avLst/>
          </a:prstGeom>
          <a:solidFill>
            <a:srgbClr val="24232E"/>
          </a:solidFill>
          <a:ln w="19050">
            <a:solidFill>
              <a:srgbClr val="9A9AAA"/>
            </a:solidFill>
          </a:ln>
        </p:spPr>
        <p:txBody>
          <a:bodyPr rtlCol="0" anchor="ctr"/>
          <a:lstStyle/>
          <a:p>
            <a:pPr algn="ctr"/>
          </a:p>
        </p:txBody>
      </p:sp>
      <p:sp>
        <p:nvSpPr>
          <p:cNvPr id="15" name="TextBox 14"/>
          <p:cNvSpPr txBox="1"/>
          <p:nvPr/>
        </p:nvSpPr>
        <p:spPr>
          <a:xfrm>
            <a:off x="1029762" y="4681727"/>
            <a:ext cx="801403" cy="603504"/>
          </a:xfrm>
          <a:prstGeom prst="rect">
            <a:avLst/>
          </a:prstGeom>
          <a:noFill/>
        </p:spPr>
        <p:txBody>
          <a:bodyPr wrap="square" lIns="0" rIns="0" tIns="0" bIns="0" anchor="ctr">
            <a:spAutoFit/>
          </a:bodyPr>
          <a:lstStyle/>
          <a:p>
            <a:pPr algn="ctr"/>
            <a:r>
              <a:rPr sz="1067" b="1" i="0">
                <a:solidFill>
                  <a:srgbClr val="FFFFFF"/>
                </a:solidFill>
                <a:latin typeface="Verdana"/>
              </a:rPr>
              <a:t>Eingabe</a:t>
            </a:r>
          </a:p>
        </p:txBody>
      </p:sp>
      <p:sp>
        <p:nvSpPr>
          <p:cNvPr id="16" name="Rectangle 15"/>
          <p:cNvSpPr/>
          <p:nvPr/>
        </p:nvSpPr>
        <p:spPr>
          <a:xfrm>
            <a:off x="2171619" y="4681727"/>
            <a:ext cx="947707" cy="603504"/>
          </a:xfrm>
          <a:prstGeom prst="rect">
            <a:avLst/>
          </a:prstGeom>
          <a:solidFill>
            <a:srgbClr val="24232E"/>
          </a:solidFill>
          <a:ln w="19050">
            <a:solidFill>
              <a:srgbClr val="F6A800"/>
            </a:solidFill>
          </a:ln>
        </p:spPr>
        <p:txBody>
          <a:bodyPr rtlCol="0" anchor="ctr"/>
          <a:lstStyle/>
          <a:p>
            <a:pPr algn="ctr"/>
          </a:p>
        </p:txBody>
      </p:sp>
      <p:sp>
        <p:nvSpPr>
          <p:cNvPr id="17" name="TextBox 16"/>
          <p:cNvSpPr txBox="1"/>
          <p:nvPr/>
        </p:nvSpPr>
        <p:spPr>
          <a:xfrm>
            <a:off x="2244771" y="4681727"/>
            <a:ext cx="801403" cy="603504"/>
          </a:xfrm>
          <a:prstGeom prst="rect">
            <a:avLst/>
          </a:prstGeom>
          <a:noFill/>
        </p:spPr>
        <p:txBody>
          <a:bodyPr wrap="square" lIns="0" rIns="0" tIns="0" bIns="0" anchor="ctr">
            <a:spAutoFit/>
          </a:bodyPr>
          <a:lstStyle/>
          <a:p>
            <a:pPr algn="ctr"/>
            <a:r>
              <a:rPr sz="1067" b="1" i="0">
                <a:solidFill>
                  <a:srgbClr val="FFFFFF"/>
                </a:solidFill>
                <a:latin typeface="Verdana"/>
              </a:rPr>
              <a:t>Schritt 1</a:t>
            </a:r>
          </a:p>
        </p:txBody>
      </p:sp>
      <p:sp>
        <p:nvSpPr>
          <p:cNvPr id="18" name="Rectangle 17"/>
          <p:cNvSpPr/>
          <p:nvPr/>
        </p:nvSpPr>
        <p:spPr>
          <a:xfrm>
            <a:off x="3386628" y="4681727"/>
            <a:ext cx="947707" cy="603504"/>
          </a:xfrm>
          <a:prstGeom prst="rect">
            <a:avLst/>
          </a:prstGeom>
          <a:solidFill>
            <a:srgbClr val="24232E"/>
          </a:solidFill>
          <a:ln w="19050">
            <a:solidFill>
              <a:srgbClr val="B1063A"/>
            </a:solidFill>
          </a:ln>
        </p:spPr>
        <p:txBody>
          <a:bodyPr rtlCol="0" anchor="ctr"/>
          <a:lstStyle/>
          <a:p>
            <a:pPr algn="ctr"/>
          </a:p>
        </p:txBody>
      </p:sp>
      <p:sp>
        <p:nvSpPr>
          <p:cNvPr id="19" name="TextBox 18"/>
          <p:cNvSpPr txBox="1"/>
          <p:nvPr/>
        </p:nvSpPr>
        <p:spPr>
          <a:xfrm>
            <a:off x="3459780" y="4681727"/>
            <a:ext cx="801403" cy="603504"/>
          </a:xfrm>
          <a:prstGeom prst="rect">
            <a:avLst/>
          </a:prstGeom>
          <a:noFill/>
        </p:spPr>
        <p:txBody>
          <a:bodyPr wrap="square" lIns="0" rIns="0" tIns="0" bIns="0" anchor="ctr">
            <a:spAutoFit/>
          </a:bodyPr>
          <a:lstStyle/>
          <a:p>
            <a:pPr algn="ctr"/>
            <a:r>
              <a:rPr sz="1067" b="1" i="0">
                <a:solidFill>
                  <a:srgbClr val="FFFFFF"/>
                </a:solidFill>
                <a:latin typeface="Verdana"/>
              </a:rPr>
              <a:t>Schritt 2</a:t>
            </a:r>
          </a:p>
        </p:txBody>
      </p:sp>
      <p:sp>
        <p:nvSpPr>
          <p:cNvPr id="20" name="Rectangle 19"/>
          <p:cNvSpPr/>
          <p:nvPr/>
        </p:nvSpPr>
        <p:spPr>
          <a:xfrm>
            <a:off x="4601637" y="4681727"/>
            <a:ext cx="947707" cy="603504"/>
          </a:xfrm>
          <a:prstGeom prst="rect">
            <a:avLst/>
          </a:prstGeom>
          <a:solidFill>
            <a:srgbClr val="24232E"/>
          </a:solidFill>
          <a:ln w="19050">
            <a:solidFill>
              <a:srgbClr val="9A9AAA"/>
            </a:solidFill>
          </a:ln>
        </p:spPr>
        <p:txBody>
          <a:bodyPr rtlCol="0" anchor="ctr"/>
          <a:lstStyle/>
          <a:p>
            <a:pPr algn="ctr"/>
          </a:p>
        </p:txBody>
      </p:sp>
      <p:sp>
        <p:nvSpPr>
          <p:cNvPr id="21" name="TextBox 20"/>
          <p:cNvSpPr txBox="1"/>
          <p:nvPr/>
        </p:nvSpPr>
        <p:spPr>
          <a:xfrm>
            <a:off x="4674789" y="4681727"/>
            <a:ext cx="801403" cy="603504"/>
          </a:xfrm>
          <a:prstGeom prst="rect">
            <a:avLst/>
          </a:prstGeom>
          <a:noFill/>
        </p:spPr>
        <p:txBody>
          <a:bodyPr wrap="square" lIns="0" rIns="0" tIns="0" bIns="0" anchor="ctr">
            <a:spAutoFit/>
          </a:bodyPr>
          <a:lstStyle/>
          <a:p>
            <a:pPr algn="ctr"/>
            <a:r>
              <a:rPr sz="1067" b="1" i="0">
                <a:solidFill>
                  <a:srgbClr val="FFFFFF"/>
                </a:solidFill>
                <a:latin typeface="Verdana"/>
              </a:rPr>
              <a:t>Ausgabe</a:t>
            </a:r>
          </a:p>
        </p:txBody>
      </p:sp>
      <p:cxnSp>
        <p:nvCxnSpPr>
          <p:cNvPr id="22" name="Connector 21"/>
          <p:cNvCxnSpPr/>
          <p:nvPr/>
        </p:nvCxnSpPr>
        <p:spPr>
          <a:xfrm>
            <a:off x="1904318" y="4983479"/>
            <a:ext cx="267301" cy="0"/>
          </a:xfrm>
          <a:prstGeom prst="line">
            <a:avLst/>
          </a:prstGeom>
          <a:ln w="15875">
            <a:solidFill>
              <a:srgbClr val="9A9AAA"/>
            </a:solidFill>
            <a:tailEnd type="triangle" w="med" len="med"/>
          </a:ln>
        </p:spPr>
      </p:cxnSp>
      <p:cxnSp>
        <p:nvCxnSpPr>
          <p:cNvPr id="23" name="Connector 22"/>
          <p:cNvCxnSpPr/>
          <p:nvPr/>
        </p:nvCxnSpPr>
        <p:spPr>
          <a:xfrm>
            <a:off x="3119327" y="4983479"/>
            <a:ext cx="267301" cy="0"/>
          </a:xfrm>
          <a:prstGeom prst="line">
            <a:avLst/>
          </a:prstGeom>
          <a:ln w="15875">
            <a:solidFill>
              <a:srgbClr val="9A9AAA"/>
            </a:solidFill>
            <a:tailEnd type="triangle" w="med" len="med"/>
          </a:ln>
        </p:spPr>
      </p:cxnSp>
      <p:cxnSp>
        <p:nvCxnSpPr>
          <p:cNvPr id="24" name="Connector 23"/>
          <p:cNvCxnSpPr/>
          <p:nvPr/>
        </p:nvCxnSpPr>
        <p:spPr>
          <a:xfrm>
            <a:off x="4334336" y="4983479"/>
            <a:ext cx="267301" cy="0"/>
          </a:xfrm>
          <a:prstGeom prst="line">
            <a:avLst/>
          </a:prstGeom>
          <a:ln w="15875">
            <a:solidFill>
              <a:srgbClr val="9A9AAA"/>
            </a:solidFill>
            <a:tailEnd type="triangle" w="med" len="med"/>
          </a:ln>
        </p:spPr>
      </p:cxnSp>
      <p:sp>
        <p:nvSpPr>
          <p:cNvPr id="25" name="Rectangle 24"/>
          <p:cNvSpPr/>
          <p:nvPr/>
        </p:nvSpPr>
        <p:spPr>
          <a:xfrm>
            <a:off x="6231636" y="1783080"/>
            <a:ext cx="5408676" cy="4023360"/>
          </a:xfrm>
          <a:prstGeom prst="rect">
            <a:avLst/>
          </a:prstGeom>
          <a:solidFill>
            <a:srgbClr val="24232E"/>
          </a:solidFill>
          <a:ln w="9525">
            <a:solidFill>
              <a:srgbClr val="3A3948"/>
            </a:solidFill>
          </a:ln>
        </p:spPr>
        <p:txBody>
          <a:bodyPr rtlCol="0" anchor="ctr"/>
          <a:lstStyle/>
          <a:p>
            <a:pPr algn="ctr"/>
          </a:p>
        </p:txBody>
      </p:sp>
      <p:sp>
        <p:nvSpPr>
          <p:cNvPr id="26" name="Rectangle 25"/>
          <p:cNvSpPr/>
          <p:nvPr/>
        </p:nvSpPr>
        <p:spPr>
          <a:xfrm>
            <a:off x="6231636" y="1783080"/>
            <a:ext cx="5408676" cy="64008"/>
          </a:xfrm>
          <a:prstGeom prst="rect">
            <a:avLst/>
          </a:prstGeom>
          <a:solidFill>
            <a:srgbClr val="18E979"/>
          </a:solidFill>
          <a:ln>
            <a:noFill/>
          </a:ln>
        </p:spPr>
        <p:txBody>
          <a:bodyPr rtlCol="0" anchor="ctr"/>
          <a:lstStyle/>
          <a:p>
            <a:pPr algn="ctr"/>
          </a:p>
        </p:txBody>
      </p:sp>
      <p:sp>
        <p:nvSpPr>
          <p:cNvPr id="27" name="TextBox 26"/>
          <p:cNvSpPr txBox="1"/>
          <p:nvPr/>
        </p:nvSpPr>
        <p:spPr>
          <a:xfrm>
            <a:off x="6505955" y="2011680"/>
            <a:ext cx="4860036" cy="365760"/>
          </a:xfrm>
          <a:prstGeom prst="rect">
            <a:avLst/>
          </a:prstGeom>
          <a:noFill/>
        </p:spPr>
        <p:txBody>
          <a:bodyPr wrap="square" lIns="0" rIns="0" tIns="0" bIns="0" anchor="t">
            <a:spAutoFit/>
          </a:bodyPr>
          <a:lstStyle/>
          <a:p>
            <a:pPr algn="l"/>
            <a:r>
              <a:rPr sz="1867" b="1" i="0">
                <a:solidFill>
                  <a:srgbClr val="FFFFFF"/>
                </a:solidFill>
                <a:latin typeface="Verdana"/>
              </a:rPr>
              <a:t>Agent</a:t>
            </a:r>
          </a:p>
        </p:txBody>
      </p:sp>
      <p:sp>
        <p:nvSpPr>
          <p:cNvPr id="28" name="TextBox 27"/>
          <p:cNvSpPr txBox="1"/>
          <p:nvPr/>
        </p:nvSpPr>
        <p:spPr>
          <a:xfrm>
            <a:off x="6505955" y="2468880"/>
            <a:ext cx="4860036" cy="274320"/>
          </a:xfrm>
          <a:prstGeom prst="rect">
            <a:avLst/>
          </a:prstGeom>
          <a:noFill/>
        </p:spPr>
        <p:txBody>
          <a:bodyPr wrap="square" lIns="0" rIns="0" tIns="0" bIns="0" anchor="t">
            <a:spAutoFit/>
          </a:bodyPr>
          <a:lstStyle/>
          <a:p>
            <a:pPr algn="l"/>
            <a:r>
              <a:rPr sz="1333" b="0" i="1">
                <a:solidFill>
                  <a:srgbClr val="18E979"/>
                </a:solidFill>
                <a:latin typeface="Verdana"/>
              </a:rPr>
              <a:t>Das Modell legt den Weg fest.</a:t>
            </a:r>
          </a:p>
        </p:txBody>
      </p:sp>
      <p:sp>
        <p:nvSpPr>
          <p:cNvPr id="29" name="Oval 28"/>
          <p:cNvSpPr/>
          <p:nvPr/>
        </p:nvSpPr>
        <p:spPr>
          <a:xfrm>
            <a:off x="6551675" y="3044952"/>
            <a:ext cx="109728" cy="109728"/>
          </a:xfrm>
          <a:prstGeom prst="ellipse">
            <a:avLst/>
          </a:prstGeom>
          <a:solidFill>
            <a:srgbClr val="18E979"/>
          </a:solidFill>
          <a:ln>
            <a:noFill/>
          </a:ln>
        </p:spPr>
        <p:txBody>
          <a:bodyPr rtlCol="0" anchor="ctr"/>
          <a:lstStyle/>
          <a:p>
            <a:pPr algn="ctr"/>
          </a:p>
        </p:txBody>
      </p:sp>
      <p:sp>
        <p:nvSpPr>
          <p:cNvPr id="30" name="TextBox 29"/>
          <p:cNvSpPr txBox="1"/>
          <p:nvPr/>
        </p:nvSpPr>
        <p:spPr>
          <a:xfrm>
            <a:off x="6825996" y="2926080"/>
            <a:ext cx="4539996" cy="365760"/>
          </a:xfrm>
          <a:prstGeom prst="rect">
            <a:avLst/>
          </a:prstGeom>
          <a:noFill/>
        </p:spPr>
        <p:txBody>
          <a:bodyPr wrap="square" lIns="0" rIns="0" tIns="0" bIns="0" anchor="ctr">
            <a:spAutoFit/>
          </a:bodyPr>
          <a:lstStyle/>
          <a:p>
            <a:pPr algn="l"/>
            <a:r>
              <a:rPr sz="1333" b="0" i="0">
                <a:solidFill>
                  <a:srgbClr val="FFFFFF"/>
                </a:solidFill>
                <a:latin typeface="Verdana"/>
              </a:rPr>
              <a:t>Wählt Werkzeuge passend zur Anfrage</a:t>
            </a:r>
          </a:p>
        </p:txBody>
      </p:sp>
      <p:sp>
        <p:nvSpPr>
          <p:cNvPr id="31" name="Oval 30"/>
          <p:cNvSpPr/>
          <p:nvPr/>
        </p:nvSpPr>
        <p:spPr>
          <a:xfrm>
            <a:off x="6551675" y="3456432"/>
            <a:ext cx="109728" cy="109728"/>
          </a:xfrm>
          <a:prstGeom prst="ellipse">
            <a:avLst/>
          </a:prstGeom>
          <a:solidFill>
            <a:srgbClr val="18E979"/>
          </a:solidFill>
          <a:ln>
            <a:noFill/>
          </a:ln>
        </p:spPr>
        <p:txBody>
          <a:bodyPr rtlCol="0" anchor="ctr"/>
          <a:lstStyle/>
          <a:p>
            <a:pPr algn="ctr"/>
          </a:p>
        </p:txBody>
      </p:sp>
      <p:sp>
        <p:nvSpPr>
          <p:cNvPr id="32" name="TextBox 31"/>
          <p:cNvSpPr txBox="1"/>
          <p:nvPr/>
        </p:nvSpPr>
        <p:spPr>
          <a:xfrm>
            <a:off x="6825996" y="3337560"/>
            <a:ext cx="4539996" cy="365760"/>
          </a:xfrm>
          <a:prstGeom prst="rect">
            <a:avLst/>
          </a:prstGeom>
          <a:noFill/>
        </p:spPr>
        <p:txBody>
          <a:bodyPr wrap="square" lIns="0" rIns="0" tIns="0" bIns="0" anchor="ctr">
            <a:spAutoFit/>
          </a:bodyPr>
          <a:lstStyle/>
          <a:p>
            <a:pPr algn="l"/>
            <a:r>
              <a:rPr sz="1333" b="0" i="0">
                <a:solidFill>
                  <a:srgbClr val="FFFFFF"/>
                </a:solidFill>
                <a:latin typeface="Verdana"/>
              </a:rPr>
              <a:t>Wiederholt Schritte, bis es fertig ist</a:t>
            </a:r>
          </a:p>
        </p:txBody>
      </p:sp>
      <p:sp>
        <p:nvSpPr>
          <p:cNvPr id="33" name="Oval 32"/>
          <p:cNvSpPr/>
          <p:nvPr/>
        </p:nvSpPr>
        <p:spPr>
          <a:xfrm>
            <a:off x="6551675" y="3867912"/>
            <a:ext cx="109728" cy="109728"/>
          </a:xfrm>
          <a:prstGeom prst="ellipse">
            <a:avLst/>
          </a:prstGeom>
          <a:solidFill>
            <a:srgbClr val="18E979"/>
          </a:solidFill>
          <a:ln>
            <a:noFill/>
          </a:ln>
        </p:spPr>
        <p:txBody>
          <a:bodyPr rtlCol="0" anchor="ctr"/>
          <a:lstStyle/>
          <a:p>
            <a:pPr algn="ctr"/>
          </a:p>
        </p:txBody>
      </p:sp>
      <p:sp>
        <p:nvSpPr>
          <p:cNvPr id="34" name="TextBox 33"/>
          <p:cNvSpPr txBox="1"/>
          <p:nvPr/>
        </p:nvSpPr>
        <p:spPr>
          <a:xfrm>
            <a:off x="6825996" y="3749040"/>
            <a:ext cx="4539996" cy="365760"/>
          </a:xfrm>
          <a:prstGeom prst="rect">
            <a:avLst/>
          </a:prstGeom>
          <a:noFill/>
        </p:spPr>
        <p:txBody>
          <a:bodyPr wrap="square" lIns="0" rIns="0" tIns="0" bIns="0" anchor="ctr">
            <a:spAutoFit/>
          </a:bodyPr>
          <a:lstStyle/>
          <a:p>
            <a:pPr algn="l"/>
            <a:r>
              <a:rPr sz="1333" b="0" i="0">
                <a:solidFill>
                  <a:srgbClr val="FFFFFF"/>
                </a:solidFill>
                <a:latin typeface="Verdana"/>
              </a:rPr>
              <a:t>Flexibel, aber weniger vorhersagbar</a:t>
            </a:r>
          </a:p>
        </p:txBody>
      </p:sp>
      <p:sp>
        <p:nvSpPr>
          <p:cNvPr id="35" name="Rectangle 34"/>
          <p:cNvSpPr/>
          <p:nvPr/>
        </p:nvSpPr>
        <p:spPr>
          <a:xfrm>
            <a:off x="8250173" y="4663440"/>
            <a:ext cx="1371600" cy="548640"/>
          </a:xfrm>
          <a:prstGeom prst="rect">
            <a:avLst/>
          </a:prstGeom>
          <a:solidFill>
            <a:srgbClr val="24232E"/>
          </a:solidFill>
          <a:ln w="19050">
            <a:solidFill>
              <a:srgbClr val="18E979"/>
            </a:solidFill>
          </a:ln>
        </p:spPr>
        <p:txBody>
          <a:bodyPr rtlCol="0" anchor="ctr"/>
          <a:lstStyle/>
          <a:p>
            <a:pPr algn="ctr"/>
          </a:p>
        </p:txBody>
      </p:sp>
      <p:sp>
        <p:nvSpPr>
          <p:cNvPr id="36" name="TextBox 35"/>
          <p:cNvSpPr txBox="1"/>
          <p:nvPr/>
        </p:nvSpPr>
        <p:spPr>
          <a:xfrm>
            <a:off x="8323325" y="4663440"/>
            <a:ext cx="1225296" cy="548640"/>
          </a:xfrm>
          <a:prstGeom prst="rect">
            <a:avLst/>
          </a:prstGeom>
          <a:noFill/>
        </p:spPr>
        <p:txBody>
          <a:bodyPr wrap="square" lIns="0" rIns="0" tIns="0" bIns="0" anchor="ctr">
            <a:spAutoFit/>
          </a:bodyPr>
          <a:lstStyle/>
          <a:p>
            <a:pPr algn="ctr"/>
            <a:r>
              <a:rPr sz="1067" b="1" i="0">
                <a:solidFill>
                  <a:srgbClr val="FFFFFF"/>
                </a:solidFill>
                <a:latin typeface="Verdana"/>
              </a:rPr>
              <a:t>Agent</a:t>
            </a:r>
          </a:p>
        </p:txBody>
      </p:sp>
      <p:sp>
        <p:nvSpPr>
          <p:cNvPr id="37" name="Rectangle 36"/>
          <p:cNvSpPr/>
          <p:nvPr/>
        </p:nvSpPr>
        <p:spPr>
          <a:xfrm>
            <a:off x="6505955" y="4663440"/>
            <a:ext cx="1508760" cy="548640"/>
          </a:xfrm>
          <a:prstGeom prst="rect">
            <a:avLst/>
          </a:prstGeom>
          <a:solidFill>
            <a:srgbClr val="24232E"/>
          </a:solidFill>
          <a:ln w="19050">
            <a:solidFill>
              <a:srgbClr val="DC640D"/>
            </a:solidFill>
          </a:ln>
        </p:spPr>
        <p:txBody>
          <a:bodyPr rtlCol="0" anchor="ctr"/>
          <a:lstStyle/>
          <a:p>
            <a:pPr algn="ctr"/>
          </a:p>
        </p:txBody>
      </p:sp>
      <p:sp>
        <p:nvSpPr>
          <p:cNvPr id="38" name="TextBox 37"/>
          <p:cNvSpPr txBox="1"/>
          <p:nvPr/>
        </p:nvSpPr>
        <p:spPr>
          <a:xfrm>
            <a:off x="6579107" y="4663440"/>
            <a:ext cx="1362456" cy="548640"/>
          </a:xfrm>
          <a:prstGeom prst="rect">
            <a:avLst/>
          </a:prstGeom>
          <a:noFill/>
        </p:spPr>
        <p:txBody>
          <a:bodyPr wrap="square" lIns="0" rIns="0" tIns="0" bIns="0" anchor="ctr">
            <a:spAutoFit/>
          </a:bodyPr>
          <a:lstStyle/>
          <a:p>
            <a:pPr algn="ctr"/>
            <a:r>
              <a:rPr sz="933" b="1" i="0">
                <a:solidFill>
                  <a:srgbClr val="FFFFFF"/>
                </a:solidFill>
                <a:latin typeface="Verdana"/>
              </a:rPr>
              <a:t>Literatursuche</a:t>
            </a:r>
          </a:p>
        </p:txBody>
      </p:sp>
      <p:cxnSp>
        <p:nvCxnSpPr>
          <p:cNvPr id="39" name="Connector 38"/>
          <p:cNvCxnSpPr/>
          <p:nvPr/>
        </p:nvCxnSpPr>
        <p:spPr>
          <a:xfrm flipH="1">
            <a:off x="8014715" y="4846320"/>
            <a:ext cx="235458" cy="0"/>
          </a:xfrm>
          <a:prstGeom prst="line">
            <a:avLst/>
          </a:prstGeom>
          <a:ln w="15875">
            <a:solidFill>
              <a:srgbClr val="9A9AAA"/>
            </a:solidFill>
            <a:tailEnd type="triangle" w="med" len="med"/>
          </a:ln>
        </p:spPr>
      </p:cxnSp>
      <p:cxnSp>
        <p:nvCxnSpPr>
          <p:cNvPr id="40" name="Connector 39"/>
          <p:cNvCxnSpPr/>
          <p:nvPr/>
        </p:nvCxnSpPr>
        <p:spPr>
          <a:xfrm>
            <a:off x="8014715" y="5029200"/>
            <a:ext cx="235458" cy="0"/>
          </a:xfrm>
          <a:prstGeom prst="line">
            <a:avLst/>
          </a:prstGeom>
          <a:ln w="15875">
            <a:solidFill>
              <a:srgbClr val="9A9AAA"/>
            </a:solidFill>
            <a:tailEnd type="triangle" w="med" len="med"/>
          </a:ln>
        </p:spPr>
      </p:cxnSp>
      <p:sp>
        <p:nvSpPr>
          <p:cNvPr id="41" name="Rectangle 40"/>
          <p:cNvSpPr/>
          <p:nvPr/>
        </p:nvSpPr>
        <p:spPr>
          <a:xfrm>
            <a:off x="9857232" y="4663440"/>
            <a:ext cx="1508760" cy="548640"/>
          </a:xfrm>
          <a:prstGeom prst="rect">
            <a:avLst/>
          </a:prstGeom>
          <a:solidFill>
            <a:srgbClr val="24232E"/>
          </a:solidFill>
          <a:ln w="19050">
            <a:solidFill>
              <a:srgbClr val="DC640D"/>
            </a:solidFill>
          </a:ln>
        </p:spPr>
        <p:txBody>
          <a:bodyPr rtlCol="0" anchor="ctr"/>
          <a:lstStyle/>
          <a:p>
            <a:pPr algn="ctr"/>
          </a:p>
        </p:txBody>
      </p:sp>
      <p:sp>
        <p:nvSpPr>
          <p:cNvPr id="42" name="TextBox 41"/>
          <p:cNvSpPr txBox="1"/>
          <p:nvPr/>
        </p:nvSpPr>
        <p:spPr>
          <a:xfrm>
            <a:off x="9930384" y="4663440"/>
            <a:ext cx="1362456" cy="548640"/>
          </a:xfrm>
          <a:prstGeom prst="rect">
            <a:avLst/>
          </a:prstGeom>
          <a:noFill/>
        </p:spPr>
        <p:txBody>
          <a:bodyPr wrap="square" lIns="0" rIns="0" tIns="0" bIns="0" anchor="ctr">
            <a:spAutoFit/>
          </a:bodyPr>
          <a:lstStyle/>
          <a:p>
            <a:pPr algn="ctr"/>
            <a:r>
              <a:rPr sz="933" b="1" i="0">
                <a:solidFill>
                  <a:srgbClr val="FFFFFF"/>
                </a:solidFill>
                <a:latin typeface="Verdana"/>
              </a:rPr>
              <a:t>Katalogsuche</a:t>
            </a:r>
          </a:p>
        </p:txBody>
      </p:sp>
      <p:cxnSp>
        <p:nvCxnSpPr>
          <p:cNvPr id="43" name="Connector 42"/>
          <p:cNvCxnSpPr/>
          <p:nvPr/>
        </p:nvCxnSpPr>
        <p:spPr>
          <a:xfrm>
            <a:off x="9621774" y="4846320"/>
            <a:ext cx="235458" cy="0"/>
          </a:xfrm>
          <a:prstGeom prst="line">
            <a:avLst/>
          </a:prstGeom>
          <a:ln w="15875">
            <a:solidFill>
              <a:srgbClr val="9A9AAA"/>
            </a:solidFill>
            <a:tailEnd type="triangle" w="med" len="med"/>
          </a:ln>
        </p:spPr>
      </p:cxnSp>
      <p:cxnSp>
        <p:nvCxnSpPr>
          <p:cNvPr id="44" name="Connector 43"/>
          <p:cNvCxnSpPr/>
          <p:nvPr/>
        </p:nvCxnSpPr>
        <p:spPr>
          <a:xfrm flipH="1">
            <a:off x="9621774" y="5029200"/>
            <a:ext cx="235458" cy="0"/>
          </a:xfrm>
          <a:prstGeom prst="line">
            <a:avLst/>
          </a:prstGeom>
          <a:ln w="15875">
            <a:solidFill>
              <a:srgbClr val="9A9AAA"/>
            </a:solidFill>
            <a:tailEnd type="triangle" w="med" len="med"/>
          </a:ln>
        </p:spPr>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Das Modell sucht nicht selbst.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2 · WERKZEUGE</a:t>
            </a:r>
          </a:p>
        </p:txBody>
      </p:sp>
      <p:sp>
        <p:nvSpPr>
          <p:cNvPr id="4" name="Rectangle 3"/>
          <p:cNvSpPr/>
          <p:nvPr/>
        </p:nvSpPr>
        <p:spPr>
          <a:xfrm>
            <a:off x="548640" y="1783080"/>
            <a:ext cx="5760720" cy="749808"/>
          </a:xfrm>
          <a:prstGeom prst="rect">
            <a:avLst/>
          </a:prstGeom>
          <a:solidFill>
            <a:srgbClr val="24232E"/>
          </a:solidFill>
          <a:ln w="9525">
            <a:solidFill>
              <a:srgbClr val="3A3948"/>
            </a:solidFill>
          </a:ln>
        </p:spPr>
        <p:txBody>
          <a:bodyPr rtlCol="0" anchor="ctr"/>
          <a:lstStyle/>
          <a:p>
            <a:pPr algn="ctr"/>
          </a:p>
        </p:txBody>
      </p:sp>
      <p:sp>
        <p:nvSpPr>
          <p:cNvPr id="5" name="Oval 4"/>
          <p:cNvSpPr/>
          <p:nvPr/>
        </p:nvSpPr>
        <p:spPr>
          <a:xfrm>
            <a:off x="731520" y="1993392"/>
            <a:ext cx="329184" cy="329184"/>
          </a:xfrm>
          <a:prstGeom prst="ellipse">
            <a:avLst/>
          </a:prstGeom>
          <a:solidFill>
            <a:srgbClr val="DC640D"/>
          </a:solidFill>
          <a:ln w="15875">
            <a:solidFill>
              <a:srgbClr val="FFFFFF"/>
            </a:solidFill>
          </a:ln>
        </p:spPr>
        <p:txBody>
          <a:bodyPr rtlCol="0" anchor="ctr"/>
          <a:lstStyle/>
          <a:p>
            <a:pPr algn="ctr"/>
          </a:p>
        </p:txBody>
      </p:sp>
      <p:sp>
        <p:nvSpPr>
          <p:cNvPr id="6" name="TextBox 5"/>
          <p:cNvSpPr txBox="1"/>
          <p:nvPr/>
        </p:nvSpPr>
        <p:spPr>
          <a:xfrm>
            <a:off x="731520" y="1993392"/>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7" name="TextBox 6"/>
          <p:cNvSpPr txBox="1"/>
          <p:nvPr/>
        </p:nvSpPr>
        <p:spPr>
          <a:xfrm>
            <a:off x="1234440" y="1783080"/>
            <a:ext cx="4297679" cy="749808"/>
          </a:xfrm>
          <a:prstGeom prst="rect">
            <a:avLst/>
          </a:prstGeom>
          <a:noFill/>
        </p:spPr>
        <p:txBody>
          <a:bodyPr wrap="square" lIns="0" rIns="0" tIns="0" bIns="0" anchor="ctr">
            <a:spAutoFit/>
          </a:bodyPr>
          <a:lstStyle/>
          <a:p>
            <a:pPr algn="l"/>
            <a:r>
              <a:rPr sz="1333" b="0" i="0">
                <a:solidFill>
                  <a:srgbClr val="FFFFFF"/>
                </a:solidFill>
                <a:latin typeface="Verdana"/>
              </a:rPr>
              <a:t>Anfrage und Werkzeugliste gehen an das Modell.</a:t>
            </a:r>
          </a:p>
        </p:txBody>
      </p:sp>
      <p:pic>
        <p:nvPicPr>
          <p:cNvPr id="8" name="Picture 7" descr="LuMessageSquareText_o.png"/>
          <p:cNvPicPr>
            <a:picLocks noChangeAspect="1"/>
          </p:cNvPicPr>
          <p:nvPr/>
        </p:nvPicPr>
        <p:blipFill>
          <a:blip r:embed="rId3"/>
          <a:stretch>
            <a:fillRect/>
          </a:stretch>
        </p:blipFill>
        <p:spPr>
          <a:xfrm>
            <a:off x="5669279" y="1965960"/>
            <a:ext cx="384048" cy="384048"/>
          </a:xfrm>
          <a:prstGeom prst="rect">
            <a:avLst/>
          </a:prstGeom>
        </p:spPr>
      </p:pic>
      <p:sp>
        <p:nvSpPr>
          <p:cNvPr id="9" name="Rectangle 8"/>
          <p:cNvSpPr/>
          <p:nvPr/>
        </p:nvSpPr>
        <p:spPr>
          <a:xfrm>
            <a:off x="548640" y="2651760"/>
            <a:ext cx="5760720" cy="749808"/>
          </a:xfrm>
          <a:prstGeom prst="rect">
            <a:avLst/>
          </a:prstGeom>
          <a:solidFill>
            <a:srgbClr val="24232E"/>
          </a:solidFill>
          <a:ln w="9525">
            <a:solidFill>
              <a:srgbClr val="3A3948"/>
            </a:solidFill>
          </a:ln>
        </p:spPr>
        <p:txBody>
          <a:bodyPr rtlCol="0" anchor="ctr"/>
          <a:lstStyle/>
          <a:p>
            <a:pPr algn="ctr"/>
          </a:p>
        </p:txBody>
      </p:sp>
      <p:sp>
        <p:nvSpPr>
          <p:cNvPr id="10" name="Oval 9"/>
          <p:cNvSpPr/>
          <p:nvPr/>
        </p:nvSpPr>
        <p:spPr>
          <a:xfrm>
            <a:off x="731520" y="2862072"/>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731520" y="2862072"/>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12" name="TextBox 11"/>
          <p:cNvSpPr txBox="1"/>
          <p:nvPr/>
        </p:nvSpPr>
        <p:spPr>
          <a:xfrm>
            <a:off x="1234440" y="2651760"/>
            <a:ext cx="4297679" cy="749808"/>
          </a:xfrm>
          <a:prstGeom prst="rect">
            <a:avLst/>
          </a:prstGeom>
          <a:noFill/>
        </p:spPr>
        <p:txBody>
          <a:bodyPr wrap="square" lIns="0" rIns="0" tIns="0" bIns="0" anchor="ctr">
            <a:spAutoFit/>
          </a:bodyPr>
          <a:lstStyle/>
          <a:p>
            <a:pPr algn="l"/>
            <a:r>
              <a:rPr sz="1333" b="0" i="0">
                <a:solidFill>
                  <a:srgbClr val="FFFFFF"/>
                </a:solidFill>
                <a:latin typeface="Verdana"/>
              </a:rPr>
              <a:t>Das Modell antwortet mit einem Werkzeugaufruf statt mit Text.</a:t>
            </a:r>
          </a:p>
        </p:txBody>
      </p:sp>
      <p:pic>
        <p:nvPicPr>
          <p:cNvPr id="13" name="Picture 12" descr="LuBraces_o.png"/>
          <p:cNvPicPr>
            <a:picLocks noChangeAspect="1"/>
          </p:cNvPicPr>
          <p:nvPr/>
        </p:nvPicPr>
        <p:blipFill>
          <a:blip r:embed="rId4"/>
          <a:stretch>
            <a:fillRect/>
          </a:stretch>
        </p:blipFill>
        <p:spPr>
          <a:xfrm>
            <a:off x="5669279" y="2834640"/>
            <a:ext cx="384048" cy="384048"/>
          </a:xfrm>
          <a:prstGeom prst="rect">
            <a:avLst/>
          </a:prstGeom>
        </p:spPr>
      </p:pic>
      <p:sp>
        <p:nvSpPr>
          <p:cNvPr id="14" name="Rectangle 13"/>
          <p:cNvSpPr/>
          <p:nvPr/>
        </p:nvSpPr>
        <p:spPr>
          <a:xfrm>
            <a:off x="548640" y="3520439"/>
            <a:ext cx="5760720" cy="749808"/>
          </a:xfrm>
          <a:prstGeom prst="rect">
            <a:avLst/>
          </a:prstGeom>
          <a:solidFill>
            <a:srgbClr val="24232E"/>
          </a:solidFill>
          <a:ln w="9525">
            <a:solidFill>
              <a:srgbClr val="3A3948"/>
            </a:solidFill>
          </a:ln>
        </p:spPr>
        <p:txBody>
          <a:bodyPr rtlCol="0" anchor="ctr"/>
          <a:lstStyle/>
          <a:p>
            <a:pPr algn="ctr"/>
          </a:p>
        </p:txBody>
      </p:sp>
      <p:sp>
        <p:nvSpPr>
          <p:cNvPr id="15" name="Oval 14"/>
          <p:cNvSpPr/>
          <p:nvPr/>
        </p:nvSpPr>
        <p:spPr>
          <a:xfrm>
            <a:off x="731520" y="3730752"/>
            <a:ext cx="329184" cy="329184"/>
          </a:xfrm>
          <a:prstGeom prst="ellipse">
            <a:avLst/>
          </a:prstGeom>
          <a:solidFill>
            <a:srgbClr val="DC640D"/>
          </a:solidFill>
          <a:ln w="15875">
            <a:solidFill>
              <a:srgbClr val="FFFFFF"/>
            </a:solidFill>
          </a:ln>
        </p:spPr>
        <p:txBody>
          <a:bodyPr rtlCol="0" anchor="ctr"/>
          <a:lstStyle/>
          <a:p>
            <a:pPr algn="ctr"/>
          </a:p>
        </p:txBody>
      </p:sp>
      <p:sp>
        <p:nvSpPr>
          <p:cNvPr id="16" name="TextBox 15"/>
          <p:cNvSpPr txBox="1"/>
          <p:nvPr/>
        </p:nvSpPr>
        <p:spPr>
          <a:xfrm>
            <a:off x="731520" y="3730752"/>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7" name="TextBox 16"/>
          <p:cNvSpPr txBox="1"/>
          <p:nvPr/>
        </p:nvSpPr>
        <p:spPr>
          <a:xfrm>
            <a:off x="1234440" y="3520439"/>
            <a:ext cx="4297679" cy="749808"/>
          </a:xfrm>
          <a:prstGeom prst="rect">
            <a:avLst/>
          </a:prstGeom>
          <a:noFill/>
        </p:spPr>
        <p:txBody>
          <a:bodyPr wrap="square" lIns="0" rIns="0" tIns="0" bIns="0" anchor="ctr">
            <a:spAutoFit/>
          </a:bodyPr>
          <a:lstStyle/>
          <a:p>
            <a:pPr algn="l"/>
            <a:r>
              <a:rPr sz="1333" b="0" i="0">
                <a:solidFill>
                  <a:srgbClr val="FFFFFF"/>
                </a:solidFill>
                <a:latin typeface="Verdana"/>
              </a:rPr>
              <a:t>Langflow führt das Werkzeug aus, z. B. die Katalogsuche.</a:t>
            </a:r>
          </a:p>
        </p:txBody>
      </p:sp>
      <p:pic>
        <p:nvPicPr>
          <p:cNvPr id="18" name="Picture 17" descr="LuWrench_o.png"/>
          <p:cNvPicPr>
            <a:picLocks noChangeAspect="1"/>
          </p:cNvPicPr>
          <p:nvPr/>
        </p:nvPicPr>
        <p:blipFill>
          <a:blip r:embed="rId5"/>
          <a:stretch>
            <a:fillRect/>
          </a:stretch>
        </p:blipFill>
        <p:spPr>
          <a:xfrm>
            <a:off x="5669279" y="3703320"/>
            <a:ext cx="384048" cy="384048"/>
          </a:xfrm>
          <a:prstGeom prst="rect">
            <a:avLst/>
          </a:prstGeom>
        </p:spPr>
      </p:pic>
      <p:sp>
        <p:nvSpPr>
          <p:cNvPr id="19" name="Rectangle 18"/>
          <p:cNvSpPr/>
          <p:nvPr/>
        </p:nvSpPr>
        <p:spPr>
          <a:xfrm>
            <a:off x="548640" y="4389120"/>
            <a:ext cx="5760720" cy="749808"/>
          </a:xfrm>
          <a:prstGeom prst="rect">
            <a:avLst/>
          </a:prstGeom>
          <a:solidFill>
            <a:srgbClr val="24232E"/>
          </a:solidFill>
          <a:ln w="9525">
            <a:solidFill>
              <a:srgbClr val="3A3948"/>
            </a:solidFill>
          </a:ln>
        </p:spPr>
        <p:txBody>
          <a:bodyPr rtlCol="0" anchor="ctr"/>
          <a:lstStyle/>
          <a:p>
            <a:pPr algn="ctr"/>
          </a:p>
        </p:txBody>
      </p:sp>
      <p:sp>
        <p:nvSpPr>
          <p:cNvPr id="20" name="Oval 19"/>
          <p:cNvSpPr/>
          <p:nvPr/>
        </p:nvSpPr>
        <p:spPr>
          <a:xfrm>
            <a:off x="731520" y="4599432"/>
            <a:ext cx="329184" cy="329184"/>
          </a:xfrm>
          <a:prstGeom prst="ellipse">
            <a:avLst/>
          </a:prstGeom>
          <a:solidFill>
            <a:srgbClr val="DC640D"/>
          </a:solidFill>
          <a:ln w="15875">
            <a:solidFill>
              <a:srgbClr val="FFFFFF"/>
            </a:solidFill>
          </a:ln>
        </p:spPr>
        <p:txBody>
          <a:bodyPr rtlCol="0" anchor="ctr"/>
          <a:lstStyle/>
          <a:p>
            <a:pPr algn="ctr"/>
          </a:p>
        </p:txBody>
      </p:sp>
      <p:sp>
        <p:nvSpPr>
          <p:cNvPr id="21" name="TextBox 20"/>
          <p:cNvSpPr txBox="1"/>
          <p:nvPr/>
        </p:nvSpPr>
        <p:spPr>
          <a:xfrm>
            <a:off x="731520" y="4599432"/>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22" name="TextBox 21"/>
          <p:cNvSpPr txBox="1"/>
          <p:nvPr/>
        </p:nvSpPr>
        <p:spPr>
          <a:xfrm>
            <a:off x="1234440" y="4389120"/>
            <a:ext cx="4297679" cy="749808"/>
          </a:xfrm>
          <a:prstGeom prst="rect">
            <a:avLst/>
          </a:prstGeom>
          <a:noFill/>
        </p:spPr>
        <p:txBody>
          <a:bodyPr wrap="square" lIns="0" rIns="0" tIns="0" bIns="0" anchor="ctr">
            <a:spAutoFit/>
          </a:bodyPr>
          <a:lstStyle/>
          <a:p>
            <a:pPr algn="l"/>
            <a:r>
              <a:rPr sz="1333" b="0" i="0">
                <a:solidFill>
                  <a:srgbClr val="FFFFFF"/>
                </a:solidFill>
                <a:latin typeface="Verdana"/>
              </a:rPr>
              <a:t>Das Ergebnis geht zurück ans Modell. Es antwortet oder ruft das nächste Werkzeug.</a:t>
            </a:r>
          </a:p>
        </p:txBody>
      </p:sp>
      <p:pic>
        <p:nvPicPr>
          <p:cNvPr id="23" name="Picture 22" descr="LuRepeat_o.png"/>
          <p:cNvPicPr>
            <a:picLocks noChangeAspect="1"/>
          </p:cNvPicPr>
          <p:nvPr/>
        </p:nvPicPr>
        <p:blipFill>
          <a:blip r:embed="rId6"/>
          <a:stretch>
            <a:fillRect/>
          </a:stretch>
        </p:blipFill>
        <p:spPr>
          <a:xfrm>
            <a:off x="5669279" y="4572000"/>
            <a:ext cx="384048" cy="384048"/>
          </a:xfrm>
          <a:prstGeom prst="rect">
            <a:avLst/>
          </a:prstGeom>
        </p:spPr>
      </p:pic>
      <p:sp>
        <p:nvSpPr>
          <p:cNvPr id="24" name="Rectangle 23"/>
          <p:cNvSpPr/>
          <p:nvPr/>
        </p:nvSpPr>
        <p:spPr>
          <a:xfrm>
            <a:off x="6720840" y="1783080"/>
            <a:ext cx="4919472" cy="2194560"/>
          </a:xfrm>
          <a:prstGeom prst="rect">
            <a:avLst/>
          </a:prstGeom>
          <a:solidFill>
            <a:srgbClr val="0B0C08"/>
          </a:solidFill>
          <a:ln w="9525">
            <a:solidFill>
              <a:srgbClr val="3A3948"/>
            </a:solidFill>
          </a:ln>
        </p:spPr>
        <p:txBody>
          <a:bodyPr rtlCol="0" anchor="ctr"/>
          <a:lstStyle/>
          <a:p>
            <a:pPr algn="ctr"/>
          </a:p>
        </p:txBody>
      </p:sp>
      <p:sp>
        <p:nvSpPr>
          <p:cNvPr id="25" name="TextBox 24"/>
          <p:cNvSpPr txBox="1"/>
          <p:nvPr/>
        </p:nvSpPr>
        <p:spPr>
          <a:xfrm>
            <a:off x="6949440" y="1965960"/>
            <a:ext cx="4462272" cy="228600"/>
          </a:xfrm>
          <a:prstGeom prst="rect">
            <a:avLst/>
          </a:prstGeom>
          <a:noFill/>
        </p:spPr>
        <p:txBody>
          <a:bodyPr wrap="square" lIns="0" rIns="0" tIns="0" bIns="0" anchor="t">
            <a:spAutoFit/>
          </a:bodyPr>
          <a:lstStyle/>
          <a:p>
            <a:pPr algn="l"/>
            <a:r>
              <a:rPr sz="933" b="1" i="0" spc="300">
                <a:solidFill>
                  <a:srgbClr val="F6A800"/>
                </a:solidFill>
                <a:latin typeface="Verdana"/>
              </a:rPr>
              <a:t>SCHRITT 2, VEREINFACHT</a:t>
            </a:r>
          </a:p>
        </p:txBody>
      </p:sp>
      <p:sp>
        <p:nvSpPr>
          <p:cNvPr id="26" name="TextBox 25"/>
          <p:cNvSpPr txBox="1"/>
          <p:nvPr/>
        </p:nvSpPr>
        <p:spPr>
          <a:xfrm>
            <a:off x="6949440" y="2286000"/>
            <a:ext cx="4462272" cy="1554480"/>
          </a:xfrm>
          <a:prstGeom prst="rect">
            <a:avLst/>
          </a:prstGeom>
          <a:noFill/>
        </p:spPr>
        <p:txBody>
          <a:bodyPr wrap="square" lIns="0" rIns="0" tIns="0" bIns="0" anchor="t">
            <a:spAutoFit/>
          </a:bodyPr>
          <a:lstStyle/>
          <a:p>
            <a:pPr algn="l"/>
            <a:r>
              <a:rPr sz="1333" b="0" i="0">
                <a:solidFill>
                  <a:srgbClr val="18E979"/>
                </a:solidFill>
                <a:latin typeface="Verdana"/>
              </a:rPr>
              <a:t>{</a:t>
            </a:r>
          </a:p>
          <a:p>
            <a:pPr algn="l"/>
            <a:r>
              <a:rPr sz="1333" b="0" i="0">
                <a:solidFill>
                  <a:srgbClr val="18E979"/>
                </a:solidFill>
                <a:latin typeface="Verdana"/>
              </a:rPr>
              <a:t>  "werkzeug": "katalogsuche",</a:t>
            </a:r>
          </a:p>
          <a:p>
            <a:pPr algn="l"/>
            <a:r>
              <a:rPr sz="1333" b="0" i="0">
                <a:solidFill>
                  <a:srgbClr val="18E979"/>
                </a:solidFill>
                <a:latin typeface="Verdana"/>
              </a:rPr>
              <a:t>  "suchanfrage": "Eco Abschlussarbeit"</a:t>
            </a:r>
          </a:p>
          <a:p>
            <a:pPr algn="l"/>
            <a:r>
              <a:rPr sz="1333" b="0" i="0">
                <a:solidFill>
                  <a:srgbClr val="18E979"/>
                </a:solidFill>
                <a:latin typeface="Verdana"/>
              </a:rPr>
              <a:t>}</a:t>
            </a:r>
          </a:p>
        </p:txBody>
      </p:sp>
      <p:sp>
        <p:nvSpPr>
          <p:cNvPr id="27" name="Rectangle 26"/>
          <p:cNvSpPr/>
          <p:nvPr/>
        </p:nvSpPr>
        <p:spPr>
          <a:xfrm>
            <a:off x="6720840" y="4160520"/>
            <a:ext cx="4919472" cy="1600200"/>
          </a:xfrm>
          <a:prstGeom prst="rect">
            <a:avLst/>
          </a:prstGeom>
          <a:noFill/>
          <a:ln w="12700">
            <a:solidFill>
              <a:srgbClr val="DC640D"/>
            </a:solidFill>
          </a:ln>
        </p:spPr>
        <p:txBody>
          <a:bodyPr rtlCol="0" anchor="ctr"/>
          <a:lstStyle/>
          <a:p>
            <a:pPr algn="ctr"/>
          </a:p>
        </p:txBody>
      </p:sp>
      <p:sp>
        <p:nvSpPr>
          <p:cNvPr id="28" name="TextBox 27"/>
          <p:cNvSpPr txBox="1"/>
          <p:nvPr/>
        </p:nvSpPr>
        <p:spPr>
          <a:xfrm>
            <a:off x="6922007" y="4315968"/>
            <a:ext cx="4517136" cy="228600"/>
          </a:xfrm>
          <a:prstGeom prst="rect">
            <a:avLst/>
          </a:prstGeom>
          <a:noFill/>
        </p:spPr>
        <p:txBody>
          <a:bodyPr wrap="square" lIns="0" rIns="0" tIns="0" bIns="0" anchor="t">
            <a:spAutoFit/>
          </a:bodyPr>
          <a:lstStyle/>
          <a:p>
            <a:pPr algn="l"/>
            <a:r>
              <a:rPr sz="933" b="1" i="0" spc="300">
                <a:solidFill>
                  <a:srgbClr val="DC640D"/>
                </a:solidFill>
                <a:latin typeface="Verdana"/>
              </a:rPr>
              <a:t>WICHTIG</a:t>
            </a:r>
          </a:p>
        </p:txBody>
      </p:sp>
      <p:sp>
        <p:nvSpPr>
          <p:cNvPr id="29" name="TextBox 28"/>
          <p:cNvSpPr txBox="1"/>
          <p:nvPr/>
        </p:nvSpPr>
        <p:spPr>
          <a:xfrm>
            <a:off x="6922007" y="4572000"/>
            <a:ext cx="4517136" cy="1097280"/>
          </a:xfrm>
          <a:prstGeom prst="rect">
            <a:avLst/>
          </a:prstGeom>
          <a:noFill/>
        </p:spPr>
        <p:txBody>
          <a:bodyPr wrap="square" lIns="0" rIns="0" tIns="0" bIns="0" anchor="t">
            <a:spAutoFit/>
          </a:bodyPr>
          <a:lstStyle/>
          <a:p>
            <a:pPr algn="l"/>
            <a:r>
              <a:rPr sz="1200" b="0" i="0">
                <a:solidFill>
                  <a:srgbClr val="9A9AAA"/>
                </a:solidFill>
                <a:latin typeface="Verdana"/>
              </a:rPr>
              <a:t>Das Modell sieht von jedem Werkzeug nur Name und Beschreibung. Gute Beschreibungen führen zur richtigen Wahl.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Planen, handeln, beobachten.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2 · AGENTENSCHLEIFE</a:t>
            </a:r>
          </a:p>
        </p:txBody>
      </p:sp>
      <p:sp>
        <p:nvSpPr>
          <p:cNvPr id="4" name="Rectangle 3"/>
          <p:cNvSpPr/>
          <p:nvPr/>
        </p:nvSpPr>
        <p:spPr>
          <a:xfrm>
            <a:off x="1965960" y="2176272"/>
            <a:ext cx="1463040" cy="585216"/>
          </a:xfrm>
          <a:prstGeom prst="rect">
            <a:avLst/>
          </a:prstGeom>
          <a:solidFill>
            <a:srgbClr val="24232E"/>
          </a:solidFill>
          <a:ln w="19050">
            <a:solidFill>
              <a:srgbClr val="DC640D"/>
            </a:solidFill>
          </a:ln>
        </p:spPr>
        <p:txBody>
          <a:bodyPr rtlCol="0" anchor="ctr"/>
          <a:lstStyle/>
          <a:p>
            <a:pPr algn="ctr"/>
          </a:p>
        </p:txBody>
      </p:sp>
      <p:sp>
        <p:nvSpPr>
          <p:cNvPr id="5" name="TextBox 4"/>
          <p:cNvSpPr txBox="1"/>
          <p:nvPr/>
        </p:nvSpPr>
        <p:spPr>
          <a:xfrm>
            <a:off x="1965960" y="2176272"/>
            <a:ext cx="1463040" cy="585216"/>
          </a:xfrm>
          <a:prstGeom prst="rect">
            <a:avLst/>
          </a:prstGeom>
          <a:noFill/>
        </p:spPr>
        <p:txBody>
          <a:bodyPr wrap="square" lIns="0" rIns="0" tIns="0" bIns="0" anchor="ctr">
            <a:spAutoFit/>
          </a:bodyPr>
          <a:lstStyle/>
          <a:p>
            <a:pPr algn="ctr"/>
            <a:r>
              <a:rPr sz="1267" b="1" i="0">
                <a:solidFill>
                  <a:srgbClr val="FFFFFF"/>
                </a:solidFill>
                <a:latin typeface="Verdana"/>
              </a:rPr>
              <a:t>Planen</a:t>
            </a:r>
          </a:p>
        </p:txBody>
      </p:sp>
      <p:sp>
        <p:nvSpPr>
          <p:cNvPr id="6" name="Rectangle 5"/>
          <p:cNvSpPr/>
          <p:nvPr/>
        </p:nvSpPr>
        <p:spPr>
          <a:xfrm>
            <a:off x="3114205" y="4165091"/>
            <a:ext cx="1463040" cy="585216"/>
          </a:xfrm>
          <a:prstGeom prst="rect">
            <a:avLst/>
          </a:prstGeom>
          <a:solidFill>
            <a:srgbClr val="24232E"/>
          </a:solidFill>
          <a:ln w="19050">
            <a:solidFill>
              <a:srgbClr val="F6A800"/>
            </a:solidFill>
          </a:ln>
        </p:spPr>
        <p:txBody>
          <a:bodyPr rtlCol="0" anchor="ctr"/>
          <a:lstStyle/>
          <a:p>
            <a:pPr algn="ctr"/>
          </a:p>
        </p:txBody>
      </p:sp>
      <p:sp>
        <p:nvSpPr>
          <p:cNvPr id="7" name="TextBox 6"/>
          <p:cNvSpPr txBox="1"/>
          <p:nvPr/>
        </p:nvSpPr>
        <p:spPr>
          <a:xfrm>
            <a:off x="3114205" y="4165091"/>
            <a:ext cx="1463040" cy="585216"/>
          </a:xfrm>
          <a:prstGeom prst="rect">
            <a:avLst/>
          </a:prstGeom>
          <a:noFill/>
        </p:spPr>
        <p:txBody>
          <a:bodyPr wrap="square" lIns="0" rIns="0" tIns="0" bIns="0" anchor="ctr">
            <a:spAutoFit/>
          </a:bodyPr>
          <a:lstStyle/>
          <a:p>
            <a:pPr algn="ctr"/>
            <a:r>
              <a:rPr sz="1267" b="1" i="0">
                <a:solidFill>
                  <a:srgbClr val="FFFFFF"/>
                </a:solidFill>
                <a:latin typeface="Verdana"/>
              </a:rPr>
              <a:t>Handeln</a:t>
            </a:r>
          </a:p>
        </p:txBody>
      </p:sp>
      <p:sp>
        <p:nvSpPr>
          <p:cNvPr id="8" name="Rectangle 7"/>
          <p:cNvSpPr/>
          <p:nvPr/>
        </p:nvSpPr>
        <p:spPr>
          <a:xfrm>
            <a:off x="817714" y="4165091"/>
            <a:ext cx="1463040" cy="585216"/>
          </a:xfrm>
          <a:prstGeom prst="rect">
            <a:avLst/>
          </a:prstGeom>
          <a:solidFill>
            <a:srgbClr val="24232E"/>
          </a:solidFill>
          <a:ln w="19050">
            <a:solidFill>
              <a:srgbClr val="18E979"/>
            </a:solidFill>
          </a:ln>
        </p:spPr>
        <p:txBody>
          <a:bodyPr rtlCol="0" anchor="ctr"/>
          <a:lstStyle/>
          <a:p>
            <a:pPr algn="ctr"/>
          </a:p>
        </p:txBody>
      </p:sp>
      <p:sp>
        <p:nvSpPr>
          <p:cNvPr id="9" name="TextBox 8"/>
          <p:cNvSpPr txBox="1"/>
          <p:nvPr/>
        </p:nvSpPr>
        <p:spPr>
          <a:xfrm>
            <a:off x="817714" y="4165091"/>
            <a:ext cx="1463040" cy="585216"/>
          </a:xfrm>
          <a:prstGeom prst="rect">
            <a:avLst/>
          </a:prstGeom>
          <a:noFill/>
        </p:spPr>
        <p:txBody>
          <a:bodyPr wrap="square" lIns="0" rIns="0" tIns="0" bIns="0" anchor="ctr">
            <a:spAutoFit/>
          </a:bodyPr>
          <a:lstStyle/>
          <a:p>
            <a:pPr algn="ctr"/>
            <a:r>
              <a:rPr sz="1267" b="1" i="0">
                <a:solidFill>
                  <a:srgbClr val="FFFFFF"/>
                </a:solidFill>
                <a:latin typeface="Verdana"/>
              </a:rPr>
              <a:t>Beobachten</a:t>
            </a:r>
          </a:p>
        </p:txBody>
      </p:sp>
      <p:cxnSp>
        <p:nvCxnSpPr>
          <p:cNvPr id="10" name="Connector 9"/>
          <p:cNvCxnSpPr/>
          <p:nvPr/>
        </p:nvCxnSpPr>
        <p:spPr>
          <a:xfrm>
            <a:off x="3051810" y="2959854"/>
            <a:ext cx="439585" cy="1006871"/>
          </a:xfrm>
          <a:prstGeom prst="line">
            <a:avLst/>
          </a:prstGeom>
          <a:ln w="19050">
            <a:solidFill>
              <a:srgbClr val="9A9AAA"/>
            </a:solidFill>
            <a:tailEnd type="triangle" w="med" len="med"/>
          </a:ln>
        </p:spPr>
      </p:cxnSp>
      <p:cxnSp>
        <p:nvCxnSpPr>
          <p:cNvPr id="11" name="Connector 10"/>
          <p:cNvCxnSpPr/>
          <p:nvPr/>
        </p:nvCxnSpPr>
        <p:spPr>
          <a:xfrm flipH="1">
            <a:off x="2257894" y="4457700"/>
            <a:ext cx="879171" cy="0"/>
          </a:xfrm>
          <a:prstGeom prst="line">
            <a:avLst/>
          </a:prstGeom>
          <a:ln w="19050">
            <a:solidFill>
              <a:srgbClr val="9A9AAA"/>
            </a:solidFill>
            <a:tailEnd type="triangle" w="med" len="med"/>
          </a:ln>
        </p:spPr>
      </p:cxnSp>
      <p:cxnSp>
        <p:nvCxnSpPr>
          <p:cNvPr id="12" name="Connector 11"/>
          <p:cNvCxnSpPr/>
          <p:nvPr/>
        </p:nvCxnSpPr>
        <p:spPr>
          <a:xfrm flipV="1">
            <a:off x="1903564" y="2959854"/>
            <a:ext cx="439586" cy="1006871"/>
          </a:xfrm>
          <a:prstGeom prst="line">
            <a:avLst/>
          </a:prstGeom>
          <a:ln w="19050">
            <a:solidFill>
              <a:srgbClr val="9A9AAA"/>
            </a:solidFill>
            <a:tailEnd type="triangle" w="med" len="med"/>
          </a:ln>
        </p:spPr>
      </p:cxnSp>
      <p:sp>
        <p:nvSpPr>
          <p:cNvPr id="13" name="TextBox 12"/>
          <p:cNvSpPr txBox="1"/>
          <p:nvPr/>
        </p:nvSpPr>
        <p:spPr>
          <a:xfrm>
            <a:off x="1874520" y="3703320"/>
            <a:ext cx="1645920" cy="365760"/>
          </a:xfrm>
          <a:prstGeom prst="rect">
            <a:avLst/>
          </a:prstGeom>
          <a:noFill/>
        </p:spPr>
        <p:txBody>
          <a:bodyPr wrap="square" lIns="0" rIns="0" tIns="0" bIns="0" anchor="t">
            <a:spAutoFit/>
          </a:bodyPr>
          <a:lstStyle/>
          <a:p>
            <a:pPr algn="ctr"/>
            <a:r>
              <a:rPr sz="1100" b="0" i="1">
                <a:solidFill>
                  <a:srgbClr val="9A9AAA"/>
                </a:solidFill>
                <a:latin typeface="Verdana"/>
              </a:rPr>
              <a:t>bis fertig</a:t>
            </a:r>
          </a:p>
        </p:txBody>
      </p:sp>
      <p:sp>
        <p:nvSpPr>
          <p:cNvPr id="14" name="TextBox 13"/>
          <p:cNvSpPr txBox="1"/>
          <p:nvPr/>
        </p:nvSpPr>
        <p:spPr>
          <a:xfrm>
            <a:off x="5303520" y="1737360"/>
            <a:ext cx="6336792" cy="365760"/>
          </a:xfrm>
          <a:prstGeom prst="rect">
            <a:avLst/>
          </a:prstGeom>
          <a:noFill/>
        </p:spPr>
        <p:txBody>
          <a:bodyPr wrap="square" lIns="0" rIns="0" tIns="0" bIns="0" anchor="t">
            <a:spAutoFit/>
          </a:bodyPr>
          <a:lstStyle/>
          <a:p>
            <a:pPr algn="l"/>
            <a:r>
              <a:rPr sz="1333" b="0" i="1">
                <a:solidFill>
                  <a:srgbClr val="DC640D"/>
                </a:solidFill>
                <a:latin typeface="Verdana"/>
              </a:rPr>
              <a:t>„Gibt es ein Buch von Umberto Eco über Abschlussarbeiten?“</a:t>
            </a:r>
          </a:p>
        </p:txBody>
      </p:sp>
      <p:sp>
        <p:nvSpPr>
          <p:cNvPr id="15" name="Rectangle 14"/>
          <p:cNvSpPr/>
          <p:nvPr/>
        </p:nvSpPr>
        <p:spPr>
          <a:xfrm>
            <a:off x="5303520" y="2240280"/>
            <a:ext cx="73152" cy="566928"/>
          </a:xfrm>
          <a:prstGeom prst="rect">
            <a:avLst/>
          </a:prstGeom>
          <a:solidFill>
            <a:srgbClr val="DC640D"/>
          </a:solidFill>
          <a:ln>
            <a:noFill/>
          </a:ln>
        </p:spPr>
        <p:txBody>
          <a:bodyPr rtlCol="0" anchor="ctr"/>
          <a:lstStyle/>
          <a:p>
            <a:pPr algn="ctr"/>
          </a:p>
        </p:txBody>
      </p:sp>
      <p:sp>
        <p:nvSpPr>
          <p:cNvPr id="16" name="TextBox 15"/>
          <p:cNvSpPr txBox="1"/>
          <p:nvPr/>
        </p:nvSpPr>
        <p:spPr>
          <a:xfrm>
            <a:off x="5532120" y="2240280"/>
            <a:ext cx="1463040" cy="566928"/>
          </a:xfrm>
          <a:prstGeom prst="rect">
            <a:avLst/>
          </a:prstGeom>
          <a:noFill/>
        </p:spPr>
        <p:txBody>
          <a:bodyPr wrap="square" lIns="0" rIns="0" tIns="0" bIns="0" anchor="ctr">
            <a:spAutoFit/>
          </a:bodyPr>
          <a:lstStyle/>
          <a:p>
            <a:pPr algn="l"/>
            <a:r>
              <a:rPr sz="1200" b="1" i="0">
                <a:solidFill>
                  <a:srgbClr val="DC640D"/>
                </a:solidFill>
                <a:latin typeface="Verdana"/>
              </a:rPr>
              <a:t>Planen</a:t>
            </a:r>
          </a:p>
        </p:txBody>
      </p:sp>
      <p:sp>
        <p:nvSpPr>
          <p:cNvPr id="17" name="TextBox 16"/>
          <p:cNvSpPr txBox="1"/>
          <p:nvPr/>
        </p:nvSpPr>
        <p:spPr>
          <a:xfrm>
            <a:off x="6995160" y="2240280"/>
            <a:ext cx="4645152" cy="566928"/>
          </a:xfrm>
          <a:prstGeom prst="rect">
            <a:avLst/>
          </a:prstGeom>
          <a:noFill/>
        </p:spPr>
        <p:txBody>
          <a:bodyPr wrap="square" lIns="0" rIns="0" tIns="0" bIns="0" anchor="ctr">
            <a:spAutoFit/>
          </a:bodyPr>
          <a:lstStyle/>
          <a:p>
            <a:pPr algn="l"/>
            <a:r>
              <a:rPr sz="1267" b="0" i="0">
                <a:solidFill>
                  <a:srgbClr val="FFFFFF"/>
                </a:solidFill>
                <a:latin typeface="Verdana"/>
              </a:rPr>
              <a:t>Gesucht ist ein Buch. Dafür passt die Katalogsuche.</a:t>
            </a:r>
          </a:p>
        </p:txBody>
      </p:sp>
      <p:sp>
        <p:nvSpPr>
          <p:cNvPr id="18" name="Rectangle 17"/>
          <p:cNvSpPr/>
          <p:nvPr/>
        </p:nvSpPr>
        <p:spPr>
          <a:xfrm>
            <a:off x="5303520" y="2953512"/>
            <a:ext cx="73152" cy="566928"/>
          </a:xfrm>
          <a:prstGeom prst="rect">
            <a:avLst/>
          </a:prstGeom>
          <a:solidFill>
            <a:srgbClr val="F6A800"/>
          </a:solidFill>
          <a:ln>
            <a:noFill/>
          </a:ln>
        </p:spPr>
        <p:txBody>
          <a:bodyPr rtlCol="0" anchor="ctr"/>
          <a:lstStyle/>
          <a:p>
            <a:pPr algn="ctr"/>
          </a:p>
        </p:txBody>
      </p:sp>
      <p:sp>
        <p:nvSpPr>
          <p:cNvPr id="19" name="TextBox 18"/>
          <p:cNvSpPr txBox="1"/>
          <p:nvPr/>
        </p:nvSpPr>
        <p:spPr>
          <a:xfrm>
            <a:off x="5532120" y="2953512"/>
            <a:ext cx="1463040" cy="566928"/>
          </a:xfrm>
          <a:prstGeom prst="rect">
            <a:avLst/>
          </a:prstGeom>
          <a:noFill/>
        </p:spPr>
        <p:txBody>
          <a:bodyPr wrap="square" lIns="0" rIns="0" tIns="0" bIns="0" anchor="ctr">
            <a:spAutoFit/>
          </a:bodyPr>
          <a:lstStyle/>
          <a:p>
            <a:pPr algn="l"/>
            <a:r>
              <a:rPr sz="1200" b="1" i="0">
                <a:solidFill>
                  <a:srgbClr val="F6A800"/>
                </a:solidFill>
                <a:latin typeface="Verdana"/>
              </a:rPr>
              <a:t>Handeln</a:t>
            </a:r>
          </a:p>
        </p:txBody>
      </p:sp>
      <p:sp>
        <p:nvSpPr>
          <p:cNvPr id="20" name="TextBox 19"/>
          <p:cNvSpPr txBox="1"/>
          <p:nvPr/>
        </p:nvSpPr>
        <p:spPr>
          <a:xfrm>
            <a:off x="6995160" y="2953512"/>
            <a:ext cx="4645152" cy="566928"/>
          </a:xfrm>
          <a:prstGeom prst="rect">
            <a:avLst/>
          </a:prstGeom>
          <a:noFill/>
        </p:spPr>
        <p:txBody>
          <a:bodyPr wrap="square" lIns="0" rIns="0" tIns="0" bIns="0" anchor="ctr">
            <a:spAutoFit/>
          </a:bodyPr>
          <a:lstStyle/>
          <a:p>
            <a:pPr algn="l"/>
            <a:r>
              <a:rPr sz="1267" b="0" i="0">
                <a:solidFill>
                  <a:srgbClr val="FFFFFF"/>
                </a:solidFill>
                <a:latin typeface="Verdana"/>
              </a:rPr>
              <a:t>Katalogsuche: „Eco Abschlussarbeit“</a:t>
            </a:r>
          </a:p>
        </p:txBody>
      </p:sp>
      <p:sp>
        <p:nvSpPr>
          <p:cNvPr id="21" name="Rectangle 20"/>
          <p:cNvSpPr/>
          <p:nvPr/>
        </p:nvSpPr>
        <p:spPr>
          <a:xfrm>
            <a:off x="5303520" y="3666744"/>
            <a:ext cx="73152" cy="566928"/>
          </a:xfrm>
          <a:prstGeom prst="rect">
            <a:avLst/>
          </a:prstGeom>
          <a:solidFill>
            <a:srgbClr val="18E979"/>
          </a:solidFill>
          <a:ln>
            <a:noFill/>
          </a:ln>
        </p:spPr>
        <p:txBody>
          <a:bodyPr rtlCol="0" anchor="ctr"/>
          <a:lstStyle/>
          <a:p>
            <a:pPr algn="ctr"/>
          </a:p>
        </p:txBody>
      </p:sp>
      <p:sp>
        <p:nvSpPr>
          <p:cNvPr id="22" name="TextBox 21"/>
          <p:cNvSpPr txBox="1"/>
          <p:nvPr/>
        </p:nvSpPr>
        <p:spPr>
          <a:xfrm>
            <a:off x="5532120" y="3666744"/>
            <a:ext cx="1463040" cy="566928"/>
          </a:xfrm>
          <a:prstGeom prst="rect">
            <a:avLst/>
          </a:prstGeom>
          <a:noFill/>
        </p:spPr>
        <p:txBody>
          <a:bodyPr wrap="square" lIns="0" rIns="0" tIns="0" bIns="0" anchor="ctr">
            <a:spAutoFit/>
          </a:bodyPr>
          <a:lstStyle/>
          <a:p>
            <a:pPr algn="l"/>
            <a:r>
              <a:rPr sz="1200" b="1" i="0">
                <a:solidFill>
                  <a:srgbClr val="18E979"/>
                </a:solidFill>
                <a:latin typeface="Verdana"/>
              </a:rPr>
              <a:t>Beobachten</a:t>
            </a:r>
          </a:p>
        </p:txBody>
      </p:sp>
      <p:sp>
        <p:nvSpPr>
          <p:cNvPr id="23" name="TextBox 22"/>
          <p:cNvSpPr txBox="1"/>
          <p:nvPr/>
        </p:nvSpPr>
        <p:spPr>
          <a:xfrm>
            <a:off x="6995160" y="3666744"/>
            <a:ext cx="4645152" cy="566928"/>
          </a:xfrm>
          <a:prstGeom prst="rect">
            <a:avLst/>
          </a:prstGeom>
          <a:noFill/>
        </p:spPr>
        <p:txBody>
          <a:bodyPr wrap="square" lIns="0" rIns="0" tIns="0" bIns="0" anchor="ctr">
            <a:spAutoFit/>
          </a:bodyPr>
          <a:lstStyle/>
          <a:p>
            <a:pPr algn="l"/>
            <a:r>
              <a:rPr sz="1267" b="0" i="0">
                <a:solidFill>
                  <a:srgbClr val="FFFFFF"/>
                </a:solidFill>
                <a:latin typeface="Verdana"/>
              </a:rPr>
              <a:t>Treffer: „Wie man eine wissenschaftliche Abschlußarbeit schreibt“</a:t>
            </a:r>
          </a:p>
        </p:txBody>
      </p:sp>
      <p:sp>
        <p:nvSpPr>
          <p:cNvPr id="24" name="Rectangle 23"/>
          <p:cNvSpPr/>
          <p:nvPr/>
        </p:nvSpPr>
        <p:spPr>
          <a:xfrm>
            <a:off x="5303520" y="4379976"/>
            <a:ext cx="73152" cy="566928"/>
          </a:xfrm>
          <a:prstGeom prst="rect">
            <a:avLst/>
          </a:prstGeom>
          <a:solidFill>
            <a:srgbClr val="DC640D"/>
          </a:solidFill>
          <a:ln>
            <a:noFill/>
          </a:ln>
        </p:spPr>
        <p:txBody>
          <a:bodyPr rtlCol="0" anchor="ctr"/>
          <a:lstStyle/>
          <a:p>
            <a:pPr algn="ctr"/>
          </a:p>
        </p:txBody>
      </p:sp>
      <p:sp>
        <p:nvSpPr>
          <p:cNvPr id="25" name="TextBox 24"/>
          <p:cNvSpPr txBox="1"/>
          <p:nvPr/>
        </p:nvSpPr>
        <p:spPr>
          <a:xfrm>
            <a:off x="5532120" y="4379976"/>
            <a:ext cx="1463040" cy="566928"/>
          </a:xfrm>
          <a:prstGeom prst="rect">
            <a:avLst/>
          </a:prstGeom>
          <a:noFill/>
        </p:spPr>
        <p:txBody>
          <a:bodyPr wrap="square" lIns="0" rIns="0" tIns="0" bIns="0" anchor="ctr">
            <a:spAutoFit/>
          </a:bodyPr>
          <a:lstStyle/>
          <a:p>
            <a:pPr algn="l"/>
            <a:r>
              <a:rPr sz="1200" b="1" i="0">
                <a:solidFill>
                  <a:srgbClr val="DC640D"/>
                </a:solidFill>
                <a:latin typeface="Verdana"/>
              </a:rPr>
              <a:t>Planen</a:t>
            </a:r>
          </a:p>
        </p:txBody>
      </p:sp>
      <p:sp>
        <p:nvSpPr>
          <p:cNvPr id="26" name="TextBox 25"/>
          <p:cNvSpPr txBox="1"/>
          <p:nvPr/>
        </p:nvSpPr>
        <p:spPr>
          <a:xfrm>
            <a:off x="6995160" y="4379976"/>
            <a:ext cx="4645152" cy="566928"/>
          </a:xfrm>
          <a:prstGeom prst="rect">
            <a:avLst/>
          </a:prstGeom>
          <a:noFill/>
        </p:spPr>
        <p:txBody>
          <a:bodyPr wrap="square" lIns="0" rIns="0" tIns="0" bIns="0" anchor="ctr">
            <a:spAutoFit/>
          </a:bodyPr>
          <a:lstStyle/>
          <a:p>
            <a:pPr algn="l"/>
            <a:r>
              <a:rPr sz="1267" b="0" i="0">
                <a:solidFill>
                  <a:srgbClr val="FFFFFF"/>
                </a:solidFill>
                <a:latin typeface="Verdana"/>
              </a:rPr>
              <a:t>Der Treffer passt. Genug Informationen für eine Antwort.</a:t>
            </a:r>
          </a:p>
        </p:txBody>
      </p:sp>
      <p:sp>
        <p:nvSpPr>
          <p:cNvPr id="27" name="Rectangle 26"/>
          <p:cNvSpPr/>
          <p:nvPr/>
        </p:nvSpPr>
        <p:spPr>
          <a:xfrm>
            <a:off x="5303520" y="5093208"/>
            <a:ext cx="73152" cy="566928"/>
          </a:xfrm>
          <a:prstGeom prst="rect">
            <a:avLst/>
          </a:prstGeom>
          <a:solidFill>
            <a:srgbClr val="FFFFFF"/>
          </a:solidFill>
          <a:ln>
            <a:noFill/>
          </a:ln>
        </p:spPr>
        <p:txBody>
          <a:bodyPr rtlCol="0" anchor="ctr"/>
          <a:lstStyle/>
          <a:p>
            <a:pPr algn="ctr"/>
          </a:p>
        </p:txBody>
      </p:sp>
      <p:sp>
        <p:nvSpPr>
          <p:cNvPr id="28" name="TextBox 27"/>
          <p:cNvSpPr txBox="1"/>
          <p:nvPr/>
        </p:nvSpPr>
        <p:spPr>
          <a:xfrm>
            <a:off x="5532120" y="5093208"/>
            <a:ext cx="1463040" cy="566928"/>
          </a:xfrm>
          <a:prstGeom prst="rect">
            <a:avLst/>
          </a:prstGeom>
          <a:noFill/>
        </p:spPr>
        <p:txBody>
          <a:bodyPr wrap="square" lIns="0" rIns="0" tIns="0" bIns="0" anchor="ctr">
            <a:spAutoFit/>
          </a:bodyPr>
          <a:lstStyle/>
          <a:p>
            <a:pPr algn="l"/>
            <a:r>
              <a:rPr sz="1200" b="1" i="0">
                <a:solidFill>
                  <a:srgbClr val="FFFFFF"/>
                </a:solidFill>
                <a:latin typeface="Verdana"/>
              </a:rPr>
              <a:t>Antworten</a:t>
            </a:r>
          </a:p>
        </p:txBody>
      </p:sp>
      <p:sp>
        <p:nvSpPr>
          <p:cNvPr id="29" name="TextBox 28"/>
          <p:cNvSpPr txBox="1"/>
          <p:nvPr/>
        </p:nvSpPr>
        <p:spPr>
          <a:xfrm>
            <a:off x="6995160" y="5093208"/>
            <a:ext cx="4645152" cy="566928"/>
          </a:xfrm>
          <a:prstGeom prst="rect">
            <a:avLst/>
          </a:prstGeom>
          <a:noFill/>
        </p:spPr>
        <p:txBody>
          <a:bodyPr wrap="square" lIns="0" rIns="0" tIns="0" bIns="0" anchor="ctr">
            <a:spAutoFit/>
          </a:bodyPr>
          <a:lstStyle/>
          <a:p>
            <a:pPr algn="l"/>
            <a:r>
              <a:rPr sz="1267" b="0" i="0">
                <a:solidFill>
                  <a:srgbClr val="FFFFFF"/>
                </a:solidFill>
                <a:latin typeface="Verdana"/>
              </a:rPr>
              <a:t>„Ja: Umberto Eco, Wie man eine wissenschaftliche Abschlußarbeit schreibt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Ein Agent hat vier Anschlüsse.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2 · AGENTEN IN LANGFLOW</a:t>
            </a:r>
          </a:p>
        </p:txBody>
      </p:sp>
      <p:sp>
        <p:nvSpPr>
          <p:cNvPr id="4" name="Rectangle 3"/>
          <p:cNvSpPr/>
          <p:nvPr/>
        </p:nvSpPr>
        <p:spPr>
          <a:xfrm>
            <a:off x="4480559" y="2606040"/>
            <a:ext cx="3108960" cy="2377440"/>
          </a:xfrm>
          <a:prstGeom prst="rect">
            <a:avLst/>
          </a:prstGeom>
          <a:solidFill>
            <a:srgbClr val="24232E"/>
          </a:solidFill>
          <a:ln w="25400">
            <a:solidFill>
              <a:srgbClr val="18E979"/>
            </a:solidFill>
          </a:ln>
        </p:spPr>
        <p:txBody>
          <a:bodyPr rtlCol="0" anchor="ctr"/>
          <a:lstStyle/>
          <a:p>
            <a:pPr algn="ctr"/>
          </a:p>
        </p:txBody>
      </p:sp>
      <p:sp>
        <p:nvSpPr>
          <p:cNvPr id="5" name="TextBox 4"/>
          <p:cNvSpPr txBox="1"/>
          <p:nvPr/>
        </p:nvSpPr>
        <p:spPr>
          <a:xfrm>
            <a:off x="4480559" y="2743200"/>
            <a:ext cx="3108960" cy="365760"/>
          </a:xfrm>
          <a:prstGeom prst="rect">
            <a:avLst/>
          </a:prstGeom>
          <a:noFill/>
        </p:spPr>
        <p:txBody>
          <a:bodyPr wrap="square" lIns="0" rIns="0" tIns="0" bIns="0" anchor="t">
            <a:spAutoFit/>
          </a:bodyPr>
          <a:lstStyle/>
          <a:p>
            <a:pPr algn="ctr"/>
            <a:r>
              <a:rPr sz="1600" b="1" i="0">
                <a:solidFill>
                  <a:srgbClr val="FFFFFF"/>
                </a:solidFill>
                <a:latin typeface="Verdana"/>
              </a:rPr>
              <a:t>Agent</a:t>
            </a:r>
          </a:p>
        </p:txBody>
      </p:sp>
      <p:sp>
        <p:nvSpPr>
          <p:cNvPr id="6" name="Oval 5"/>
          <p:cNvSpPr/>
          <p:nvPr/>
        </p:nvSpPr>
        <p:spPr>
          <a:xfrm>
            <a:off x="4407407" y="3383280"/>
            <a:ext cx="146304" cy="146304"/>
          </a:xfrm>
          <a:prstGeom prst="ellipse">
            <a:avLst/>
          </a:prstGeom>
          <a:solidFill>
            <a:srgbClr val="18E979"/>
          </a:solidFill>
          <a:ln>
            <a:noFill/>
          </a:ln>
        </p:spPr>
        <p:txBody>
          <a:bodyPr rtlCol="0" anchor="ctr"/>
          <a:lstStyle/>
          <a:p>
            <a:pPr algn="ctr"/>
          </a:p>
        </p:txBody>
      </p:sp>
      <p:sp>
        <p:nvSpPr>
          <p:cNvPr id="7" name="TextBox 6"/>
          <p:cNvSpPr txBox="1"/>
          <p:nvPr/>
        </p:nvSpPr>
        <p:spPr>
          <a:xfrm>
            <a:off x="4663440" y="3291840"/>
            <a:ext cx="2743200" cy="329184"/>
          </a:xfrm>
          <a:prstGeom prst="rect">
            <a:avLst/>
          </a:prstGeom>
          <a:noFill/>
        </p:spPr>
        <p:txBody>
          <a:bodyPr wrap="square" lIns="0" rIns="0" tIns="0" bIns="0" anchor="ctr">
            <a:spAutoFit/>
          </a:bodyPr>
          <a:lstStyle/>
          <a:p>
            <a:pPr algn="l"/>
            <a:r>
              <a:rPr sz="1200" b="0" i="0">
                <a:solidFill>
                  <a:srgbClr val="FFFFFF"/>
                </a:solidFill>
                <a:latin typeface="Verdana"/>
              </a:rPr>
              <a:t>Input</a:t>
            </a:r>
          </a:p>
        </p:txBody>
      </p:sp>
      <p:sp>
        <p:nvSpPr>
          <p:cNvPr id="8" name="Oval 7"/>
          <p:cNvSpPr/>
          <p:nvPr/>
        </p:nvSpPr>
        <p:spPr>
          <a:xfrm>
            <a:off x="4407407" y="3794759"/>
            <a:ext cx="146304" cy="146304"/>
          </a:xfrm>
          <a:prstGeom prst="ellipse">
            <a:avLst/>
          </a:prstGeom>
          <a:solidFill>
            <a:srgbClr val="18E979"/>
          </a:solidFill>
          <a:ln>
            <a:noFill/>
          </a:ln>
        </p:spPr>
        <p:txBody>
          <a:bodyPr rtlCol="0" anchor="ctr"/>
          <a:lstStyle/>
          <a:p>
            <a:pPr algn="ctr"/>
          </a:p>
        </p:txBody>
      </p:sp>
      <p:sp>
        <p:nvSpPr>
          <p:cNvPr id="9" name="TextBox 8"/>
          <p:cNvSpPr txBox="1"/>
          <p:nvPr/>
        </p:nvSpPr>
        <p:spPr>
          <a:xfrm>
            <a:off x="4663440" y="3703320"/>
            <a:ext cx="2743200" cy="329184"/>
          </a:xfrm>
          <a:prstGeom prst="rect">
            <a:avLst/>
          </a:prstGeom>
          <a:noFill/>
        </p:spPr>
        <p:txBody>
          <a:bodyPr wrap="square" lIns="0" rIns="0" tIns="0" bIns="0" anchor="ctr">
            <a:spAutoFit/>
          </a:bodyPr>
          <a:lstStyle/>
          <a:p>
            <a:pPr algn="l"/>
            <a:r>
              <a:rPr sz="1200" b="0" i="0">
                <a:solidFill>
                  <a:srgbClr val="FFFFFF"/>
                </a:solidFill>
                <a:latin typeface="Verdana"/>
              </a:rPr>
              <a:t>Language Model</a:t>
            </a:r>
          </a:p>
        </p:txBody>
      </p:sp>
      <p:sp>
        <p:nvSpPr>
          <p:cNvPr id="10" name="Oval 9"/>
          <p:cNvSpPr/>
          <p:nvPr/>
        </p:nvSpPr>
        <p:spPr>
          <a:xfrm>
            <a:off x="4407407" y="4206240"/>
            <a:ext cx="146304" cy="146304"/>
          </a:xfrm>
          <a:prstGeom prst="ellipse">
            <a:avLst/>
          </a:prstGeom>
          <a:solidFill>
            <a:srgbClr val="18E979"/>
          </a:solidFill>
          <a:ln>
            <a:noFill/>
          </a:ln>
        </p:spPr>
        <p:txBody>
          <a:bodyPr rtlCol="0" anchor="ctr"/>
          <a:lstStyle/>
          <a:p>
            <a:pPr algn="ctr"/>
          </a:p>
        </p:txBody>
      </p:sp>
      <p:sp>
        <p:nvSpPr>
          <p:cNvPr id="11" name="TextBox 10"/>
          <p:cNvSpPr txBox="1"/>
          <p:nvPr/>
        </p:nvSpPr>
        <p:spPr>
          <a:xfrm>
            <a:off x="4663440" y="4114800"/>
            <a:ext cx="2743200" cy="329184"/>
          </a:xfrm>
          <a:prstGeom prst="rect">
            <a:avLst/>
          </a:prstGeom>
          <a:noFill/>
        </p:spPr>
        <p:txBody>
          <a:bodyPr wrap="square" lIns="0" rIns="0" tIns="0" bIns="0" anchor="ctr">
            <a:spAutoFit/>
          </a:bodyPr>
          <a:lstStyle/>
          <a:p>
            <a:pPr algn="l"/>
            <a:r>
              <a:rPr sz="1200" b="0" i="0">
                <a:solidFill>
                  <a:srgbClr val="FFFFFF"/>
                </a:solidFill>
                <a:latin typeface="Verdana"/>
              </a:rPr>
              <a:t>Agent Instructions</a:t>
            </a:r>
          </a:p>
        </p:txBody>
      </p:sp>
      <p:sp>
        <p:nvSpPr>
          <p:cNvPr id="12" name="Oval 11"/>
          <p:cNvSpPr/>
          <p:nvPr/>
        </p:nvSpPr>
        <p:spPr>
          <a:xfrm>
            <a:off x="4407407" y="4617720"/>
            <a:ext cx="146304" cy="146304"/>
          </a:xfrm>
          <a:prstGeom prst="ellipse">
            <a:avLst/>
          </a:prstGeom>
          <a:solidFill>
            <a:srgbClr val="18E979"/>
          </a:solidFill>
          <a:ln>
            <a:noFill/>
          </a:ln>
        </p:spPr>
        <p:txBody>
          <a:bodyPr rtlCol="0" anchor="ctr"/>
          <a:lstStyle/>
          <a:p>
            <a:pPr algn="ctr"/>
          </a:p>
        </p:txBody>
      </p:sp>
      <p:sp>
        <p:nvSpPr>
          <p:cNvPr id="13" name="TextBox 12"/>
          <p:cNvSpPr txBox="1"/>
          <p:nvPr/>
        </p:nvSpPr>
        <p:spPr>
          <a:xfrm>
            <a:off x="4663440" y="4526280"/>
            <a:ext cx="2743200" cy="329184"/>
          </a:xfrm>
          <a:prstGeom prst="rect">
            <a:avLst/>
          </a:prstGeom>
          <a:noFill/>
        </p:spPr>
        <p:txBody>
          <a:bodyPr wrap="square" lIns="0" rIns="0" tIns="0" bIns="0" anchor="ctr">
            <a:spAutoFit/>
          </a:bodyPr>
          <a:lstStyle/>
          <a:p>
            <a:pPr algn="l"/>
            <a:r>
              <a:rPr sz="1200" b="0" i="0">
                <a:solidFill>
                  <a:srgbClr val="FFFFFF"/>
                </a:solidFill>
                <a:latin typeface="Verdana"/>
              </a:rPr>
              <a:t>Tools</a:t>
            </a:r>
          </a:p>
        </p:txBody>
      </p:sp>
      <p:sp>
        <p:nvSpPr>
          <p:cNvPr id="14" name="Oval 13"/>
          <p:cNvSpPr/>
          <p:nvPr/>
        </p:nvSpPr>
        <p:spPr>
          <a:xfrm>
            <a:off x="7516367" y="3794760"/>
            <a:ext cx="146304" cy="146304"/>
          </a:xfrm>
          <a:prstGeom prst="ellipse">
            <a:avLst/>
          </a:prstGeom>
          <a:solidFill>
            <a:srgbClr val="18E979"/>
          </a:solidFill>
          <a:ln>
            <a:noFill/>
          </a:ln>
        </p:spPr>
        <p:txBody>
          <a:bodyPr rtlCol="0" anchor="ctr"/>
          <a:lstStyle/>
          <a:p>
            <a:pPr algn="ctr"/>
          </a:p>
        </p:txBody>
      </p:sp>
      <p:sp>
        <p:nvSpPr>
          <p:cNvPr id="15" name="TextBox 14"/>
          <p:cNvSpPr txBox="1"/>
          <p:nvPr/>
        </p:nvSpPr>
        <p:spPr>
          <a:xfrm>
            <a:off x="6309359" y="3703320"/>
            <a:ext cx="1097280" cy="329184"/>
          </a:xfrm>
          <a:prstGeom prst="rect">
            <a:avLst/>
          </a:prstGeom>
          <a:noFill/>
        </p:spPr>
        <p:txBody>
          <a:bodyPr wrap="square" lIns="0" rIns="0" tIns="0" bIns="0" anchor="ctr">
            <a:spAutoFit/>
          </a:bodyPr>
          <a:lstStyle/>
          <a:p>
            <a:pPr algn="r"/>
            <a:r>
              <a:rPr sz="1200" b="0" i="0">
                <a:solidFill>
                  <a:srgbClr val="FFFFFF"/>
                </a:solidFill>
                <a:latin typeface="Verdana"/>
              </a:rPr>
              <a:t>Response</a:t>
            </a:r>
          </a:p>
        </p:txBody>
      </p:sp>
      <p:sp>
        <p:nvSpPr>
          <p:cNvPr id="16" name="Rectangle 15"/>
          <p:cNvSpPr/>
          <p:nvPr/>
        </p:nvSpPr>
        <p:spPr>
          <a:xfrm>
            <a:off x="548640" y="1783080"/>
            <a:ext cx="3108960" cy="868680"/>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548640" y="1783080"/>
            <a:ext cx="3108960" cy="64008"/>
          </a:xfrm>
          <a:prstGeom prst="rect">
            <a:avLst/>
          </a:prstGeom>
          <a:solidFill>
            <a:srgbClr val="9A9AAA"/>
          </a:solidFill>
          <a:ln>
            <a:noFill/>
          </a:ln>
        </p:spPr>
        <p:txBody>
          <a:bodyPr rtlCol="0" anchor="ctr"/>
          <a:lstStyle/>
          <a:p>
            <a:pPr algn="ctr"/>
          </a:p>
        </p:txBody>
      </p:sp>
      <p:sp>
        <p:nvSpPr>
          <p:cNvPr id="18" name="TextBox 17"/>
          <p:cNvSpPr txBox="1"/>
          <p:nvPr/>
        </p:nvSpPr>
        <p:spPr>
          <a:xfrm>
            <a:off x="731520" y="1920240"/>
            <a:ext cx="2743200" cy="320040"/>
          </a:xfrm>
          <a:prstGeom prst="rect">
            <a:avLst/>
          </a:prstGeom>
          <a:noFill/>
        </p:spPr>
        <p:txBody>
          <a:bodyPr wrap="square" lIns="0" rIns="0" tIns="0" bIns="0" anchor="t">
            <a:spAutoFit/>
          </a:bodyPr>
          <a:lstStyle/>
          <a:p>
            <a:pPr algn="l"/>
            <a:r>
              <a:rPr sz="1333" b="1" i="0">
                <a:solidFill>
                  <a:srgbClr val="FFFFFF"/>
                </a:solidFill>
                <a:latin typeface="Verdana"/>
              </a:rPr>
              <a:t>Chat Input</a:t>
            </a:r>
          </a:p>
        </p:txBody>
      </p:sp>
      <p:sp>
        <p:nvSpPr>
          <p:cNvPr id="19" name="TextBox 18"/>
          <p:cNvSpPr txBox="1"/>
          <p:nvPr/>
        </p:nvSpPr>
        <p:spPr>
          <a:xfrm>
            <a:off x="731520" y="2240280"/>
            <a:ext cx="2743200" cy="365760"/>
          </a:xfrm>
          <a:prstGeom prst="rect">
            <a:avLst/>
          </a:prstGeom>
          <a:noFill/>
        </p:spPr>
        <p:txBody>
          <a:bodyPr wrap="square" lIns="0" rIns="0" tIns="0" bIns="0" anchor="t">
            <a:spAutoFit/>
          </a:bodyPr>
          <a:lstStyle/>
          <a:p>
            <a:pPr algn="l"/>
            <a:r>
              <a:rPr sz="1100" b="0" i="0">
                <a:solidFill>
                  <a:srgbClr val="9A9AAA"/>
                </a:solidFill>
                <a:latin typeface="Verdana"/>
              </a:rPr>
              <a:t>eure Frage</a:t>
            </a:r>
          </a:p>
        </p:txBody>
      </p:sp>
      <p:cxnSp>
        <p:nvCxnSpPr>
          <p:cNvPr id="20" name="Connector 19"/>
          <p:cNvCxnSpPr/>
          <p:nvPr/>
        </p:nvCxnSpPr>
        <p:spPr>
          <a:xfrm>
            <a:off x="3657600" y="2221991"/>
            <a:ext cx="731520" cy="1234441"/>
          </a:xfrm>
          <a:prstGeom prst="line">
            <a:avLst/>
          </a:prstGeom>
          <a:ln w="15875">
            <a:solidFill>
              <a:srgbClr val="9A9AAA"/>
            </a:solidFill>
            <a:tailEnd type="triangle" w="med" len="med"/>
          </a:ln>
        </p:spPr>
      </p:cxnSp>
      <p:sp>
        <p:nvSpPr>
          <p:cNvPr id="21" name="Rectangle 20"/>
          <p:cNvSpPr/>
          <p:nvPr/>
        </p:nvSpPr>
        <p:spPr>
          <a:xfrm>
            <a:off x="548640" y="2807208"/>
            <a:ext cx="3108960" cy="868680"/>
          </a:xfrm>
          <a:prstGeom prst="rect">
            <a:avLst/>
          </a:prstGeom>
          <a:solidFill>
            <a:srgbClr val="24232E"/>
          </a:solidFill>
          <a:ln w="9525">
            <a:solidFill>
              <a:srgbClr val="3A3948"/>
            </a:solidFill>
          </a:ln>
        </p:spPr>
        <p:txBody>
          <a:bodyPr rtlCol="0" anchor="ctr"/>
          <a:lstStyle/>
          <a:p>
            <a:pPr algn="ctr"/>
          </a:p>
        </p:txBody>
      </p:sp>
      <p:sp>
        <p:nvSpPr>
          <p:cNvPr id="22" name="Rectangle 21"/>
          <p:cNvSpPr/>
          <p:nvPr/>
        </p:nvSpPr>
        <p:spPr>
          <a:xfrm>
            <a:off x="548640" y="2807208"/>
            <a:ext cx="3108960" cy="64008"/>
          </a:xfrm>
          <a:prstGeom prst="rect">
            <a:avLst/>
          </a:prstGeom>
          <a:solidFill>
            <a:srgbClr val="B1063A"/>
          </a:solidFill>
          <a:ln>
            <a:noFill/>
          </a:ln>
        </p:spPr>
        <p:txBody>
          <a:bodyPr rtlCol="0" anchor="ctr"/>
          <a:lstStyle/>
          <a:p>
            <a:pPr algn="ctr"/>
          </a:p>
        </p:txBody>
      </p:sp>
      <p:sp>
        <p:nvSpPr>
          <p:cNvPr id="23" name="TextBox 22"/>
          <p:cNvSpPr txBox="1"/>
          <p:nvPr/>
        </p:nvSpPr>
        <p:spPr>
          <a:xfrm>
            <a:off x="731520" y="2944368"/>
            <a:ext cx="2743200" cy="320040"/>
          </a:xfrm>
          <a:prstGeom prst="rect">
            <a:avLst/>
          </a:prstGeom>
          <a:noFill/>
        </p:spPr>
        <p:txBody>
          <a:bodyPr wrap="square" lIns="0" rIns="0" tIns="0" bIns="0" anchor="t">
            <a:spAutoFit/>
          </a:bodyPr>
          <a:lstStyle/>
          <a:p>
            <a:pPr algn="l"/>
            <a:r>
              <a:rPr sz="1333" b="1" i="0">
                <a:solidFill>
                  <a:srgbClr val="FFFFFF"/>
                </a:solidFill>
                <a:latin typeface="Verdana"/>
              </a:rPr>
              <a:t>KI-Modell</a:t>
            </a:r>
          </a:p>
        </p:txBody>
      </p:sp>
      <p:sp>
        <p:nvSpPr>
          <p:cNvPr id="24" name="TextBox 23"/>
          <p:cNvSpPr txBox="1"/>
          <p:nvPr/>
        </p:nvSpPr>
        <p:spPr>
          <a:xfrm>
            <a:off x="731520" y="3264408"/>
            <a:ext cx="2743200" cy="365760"/>
          </a:xfrm>
          <a:prstGeom prst="rect">
            <a:avLst/>
          </a:prstGeom>
          <a:noFill/>
        </p:spPr>
        <p:txBody>
          <a:bodyPr wrap="square" lIns="0" rIns="0" tIns="0" bIns="0" anchor="t">
            <a:spAutoFit/>
          </a:bodyPr>
          <a:lstStyle/>
          <a:p>
            <a:pPr algn="l"/>
            <a:r>
              <a:rPr sz="1100" b="0" i="0">
                <a:solidFill>
                  <a:srgbClr val="9A9AAA"/>
                </a:solidFill>
                <a:latin typeface="Verdana"/>
              </a:rPr>
              <a:t>Ausgang Language Model</a:t>
            </a:r>
          </a:p>
        </p:txBody>
      </p:sp>
      <p:cxnSp>
        <p:nvCxnSpPr>
          <p:cNvPr id="25" name="Connector 24"/>
          <p:cNvCxnSpPr/>
          <p:nvPr/>
        </p:nvCxnSpPr>
        <p:spPr>
          <a:xfrm>
            <a:off x="3657600" y="3246120"/>
            <a:ext cx="731520" cy="621792"/>
          </a:xfrm>
          <a:prstGeom prst="line">
            <a:avLst/>
          </a:prstGeom>
          <a:ln w="15875">
            <a:solidFill>
              <a:srgbClr val="B1063A"/>
            </a:solidFill>
            <a:tailEnd type="triangle" w="med" len="med"/>
          </a:ln>
        </p:spPr>
      </p:cxnSp>
      <p:sp>
        <p:nvSpPr>
          <p:cNvPr id="26" name="Rectangle 25"/>
          <p:cNvSpPr/>
          <p:nvPr/>
        </p:nvSpPr>
        <p:spPr>
          <a:xfrm>
            <a:off x="548640" y="3831336"/>
            <a:ext cx="3108960" cy="868680"/>
          </a:xfrm>
          <a:prstGeom prst="rect">
            <a:avLst/>
          </a:prstGeom>
          <a:solidFill>
            <a:srgbClr val="24232E"/>
          </a:solidFill>
          <a:ln w="9525">
            <a:solidFill>
              <a:srgbClr val="3A3948"/>
            </a:solidFill>
          </a:ln>
        </p:spPr>
        <p:txBody>
          <a:bodyPr rtlCol="0" anchor="ctr"/>
          <a:lstStyle/>
          <a:p>
            <a:pPr algn="ctr"/>
          </a:p>
        </p:txBody>
      </p:sp>
      <p:sp>
        <p:nvSpPr>
          <p:cNvPr id="27" name="Rectangle 26"/>
          <p:cNvSpPr/>
          <p:nvPr/>
        </p:nvSpPr>
        <p:spPr>
          <a:xfrm>
            <a:off x="548640" y="3831336"/>
            <a:ext cx="3108960" cy="64008"/>
          </a:xfrm>
          <a:prstGeom prst="rect">
            <a:avLst/>
          </a:prstGeom>
          <a:solidFill>
            <a:srgbClr val="F6A800"/>
          </a:solidFill>
          <a:ln>
            <a:noFill/>
          </a:ln>
        </p:spPr>
        <p:txBody>
          <a:bodyPr rtlCol="0" anchor="ctr"/>
          <a:lstStyle/>
          <a:p>
            <a:pPr algn="ctr"/>
          </a:p>
        </p:txBody>
      </p:sp>
      <p:sp>
        <p:nvSpPr>
          <p:cNvPr id="28" name="TextBox 27"/>
          <p:cNvSpPr txBox="1"/>
          <p:nvPr/>
        </p:nvSpPr>
        <p:spPr>
          <a:xfrm>
            <a:off x="731520" y="3968496"/>
            <a:ext cx="2743200" cy="320040"/>
          </a:xfrm>
          <a:prstGeom prst="rect">
            <a:avLst/>
          </a:prstGeom>
          <a:noFill/>
        </p:spPr>
        <p:txBody>
          <a:bodyPr wrap="square" lIns="0" rIns="0" tIns="0" bIns="0" anchor="t">
            <a:spAutoFit/>
          </a:bodyPr>
          <a:lstStyle/>
          <a:p>
            <a:pPr algn="l"/>
            <a:r>
              <a:rPr sz="1333" b="1" i="0">
                <a:solidFill>
                  <a:srgbClr val="FFFFFF"/>
                </a:solidFill>
                <a:latin typeface="Verdana"/>
              </a:rPr>
              <a:t>Anweisungen</a:t>
            </a:r>
          </a:p>
        </p:txBody>
      </p:sp>
      <p:sp>
        <p:nvSpPr>
          <p:cNvPr id="29" name="TextBox 28"/>
          <p:cNvSpPr txBox="1"/>
          <p:nvPr/>
        </p:nvSpPr>
        <p:spPr>
          <a:xfrm>
            <a:off x="731520" y="4288536"/>
            <a:ext cx="2743200" cy="365760"/>
          </a:xfrm>
          <a:prstGeom prst="rect">
            <a:avLst/>
          </a:prstGeom>
          <a:noFill/>
        </p:spPr>
        <p:txBody>
          <a:bodyPr wrap="square" lIns="0" rIns="0" tIns="0" bIns="0" anchor="t">
            <a:spAutoFit/>
          </a:bodyPr>
          <a:lstStyle/>
          <a:p>
            <a:pPr algn="l"/>
            <a:r>
              <a:rPr sz="1100" b="0" i="0">
                <a:solidFill>
                  <a:srgbClr val="9A9AAA"/>
                </a:solidFill>
                <a:latin typeface="Verdana"/>
              </a:rPr>
              <a:t>Rolle, Regeln, wann welches Werkzeug</a:t>
            </a:r>
          </a:p>
        </p:txBody>
      </p:sp>
      <p:cxnSp>
        <p:nvCxnSpPr>
          <p:cNvPr id="30" name="Connector 29"/>
          <p:cNvCxnSpPr/>
          <p:nvPr/>
        </p:nvCxnSpPr>
        <p:spPr>
          <a:xfrm>
            <a:off x="3657600" y="4270248"/>
            <a:ext cx="731520" cy="9144"/>
          </a:xfrm>
          <a:prstGeom prst="line">
            <a:avLst/>
          </a:prstGeom>
          <a:ln w="15875">
            <a:solidFill>
              <a:srgbClr val="F6A800"/>
            </a:solidFill>
            <a:tailEnd type="triangle" w="med" len="med"/>
          </a:ln>
        </p:spPr>
      </p:cxnSp>
      <p:sp>
        <p:nvSpPr>
          <p:cNvPr id="31" name="Rectangle 30"/>
          <p:cNvSpPr/>
          <p:nvPr/>
        </p:nvSpPr>
        <p:spPr>
          <a:xfrm>
            <a:off x="548640" y="4855464"/>
            <a:ext cx="3108960" cy="868680"/>
          </a:xfrm>
          <a:prstGeom prst="rect">
            <a:avLst/>
          </a:prstGeom>
          <a:solidFill>
            <a:srgbClr val="24232E"/>
          </a:solidFill>
          <a:ln w="9525">
            <a:solidFill>
              <a:srgbClr val="3A3948"/>
            </a:solidFill>
          </a:ln>
        </p:spPr>
        <p:txBody>
          <a:bodyPr rtlCol="0" anchor="ctr"/>
          <a:lstStyle/>
          <a:p>
            <a:pPr algn="ctr"/>
          </a:p>
        </p:txBody>
      </p:sp>
      <p:sp>
        <p:nvSpPr>
          <p:cNvPr id="32" name="Rectangle 31"/>
          <p:cNvSpPr/>
          <p:nvPr/>
        </p:nvSpPr>
        <p:spPr>
          <a:xfrm>
            <a:off x="548640" y="4855464"/>
            <a:ext cx="3108960" cy="64008"/>
          </a:xfrm>
          <a:prstGeom prst="rect">
            <a:avLst/>
          </a:prstGeom>
          <a:solidFill>
            <a:srgbClr val="DC640D"/>
          </a:solidFill>
          <a:ln>
            <a:noFill/>
          </a:ln>
        </p:spPr>
        <p:txBody>
          <a:bodyPr rtlCol="0" anchor="ctr"/>
          <a:lstStyle/>
          <a:p>
            <a:pPr algn="ctr"/>
          </a:p>
        </p:txBody>
      </p:sp>
      <p:sp>
        <p:nvSpPr>
          <p:cNvPr id="33" name="TextBox 32"/>
          <p:cNvSpPr txBox="1"/>
          <p:nvPr/>
        </p:nvSpPr>
        <p:spPr>
          <a:xfrm>
            <a:off x="731520" y="4992624"/>
            <a:ext cx="2743200" cy="320040"/>
          </a:xfrm>
          <a:prstGeom prst="rect">
            <a:avLst/>
          </a:prstGeom>
          <a:noFill/>
        </p:spPr>
        <p:txBody>
          <a:bodyPr wrap="square" lIns="0" rIns="0" tIns="0" bIns="0" anchor="t">
            <a:spAutoFit/>
          </a:bodyPr>
          <a:lstStyle/>
          <a:p>
            <a:pPr algn="l"/>
            <a:r>
              <a:rPr sz="1333" b="1" i="0">
                <a:solidFill>
                  <a:srgbClr val="FFFFFF"/>
                </a:solidFill>
                <a:latin typeface="Verdana"/>
              </a:rPr>
              <a:t>Werkzeuge</a:t>
            </a:r>
          </a:p>
        </p:txBody>
      </p:sp>
      <p:sp>
        <p:nvSpPr>
          <p:cNvPr id="34" name="TextBox 33"/>
          <p:cNvSpPr txBox="1"/>
          <p:nvPr/>
        </p:nvSpPr>
        <p:spPr>
          <a:xfrm>
            <a:off x="731520" y="5312664"/>
            <a:ext cx="2743200" cy="365760"/>
          </a:xfrm>
          <a:prstGeom prst="rect">
            <a:avLst/>
          </a:prstGeom>
          <a:noFill/>
        </p:spPr>
        <p:txBody>
          <a:bodyPr wrap="square" lIns="0" rIns="0" tIns="0" bIns="0" anchor="t">
            <a:spAutoFit/>
          </a:bodyPr>
          <a:lstStyle/>
          <a:p>
            <a:pPr algn="l"/>
            <a:r>
              <a:rPr sz="1100" b="0" i="0">
                <a:solidFill>
                  <a:srgbClr val="9A9AAA"/>
                </a:solidFill>
                <a:latin typeface="Verdana"/>
              </a:rPr>
              <a:t>Tool Mode an, Toolset → Tools</a:t>
            </a:r>
          </a:p>
        </p:txBody>
      </p:sp>
      <p:cxnSp>
        <p:nvCxnSpPr>
          <p:cNvPr id="35" name="Connector 34"/>
          <p:cNvCxnSpPr/>
          <p:nvPr/>
        </p:nvCxnSpPr>
        <p:spPr>
          <a:xfrm flipV="1">
            <a:off x="3657600" y="4690872"/>
            <a:ext cx="731520" cy="603504"/>
          </a:xfrm>
          <a:prstGeom prst="line">
            <a:avLst/>
          </a:prstGeom>
          <a:ln w="15875">
            <a:solidFill>
              <a:srgbClr val="DC640D"/>
            </a:solidFill>
            <a:tailEnd type="triangle" w="med" len="med"/>
          </a:ln>
        </p:spPr>
      </p:cxnSp>
      <p:sp>
        <p:nvSpPr>
          <p:cNvPr id="36" name="Rectangle 35"/>
          <p:cNvSpPr/>
          <p:nvPr/>
        </p:nvSpPr>
        <p:spPr>
          <a:xfrm>
            <a:off x="8531352" y="3246120"/>
            <a:ext cx="3108960" cy="868680"/>
          </a:xfrm>
          <a:prstGeom prst="rect">
            <a:avLst/>
          </a:prstGeom>
          <a:solidFill>
            <a:srgbClr val="24232E"/>
          </a:solidFill>
          <a:ln w="9525">
            <a:solidFill>
              <a:srgbClr val="3A3948"/>
            </a:solidFill>
          </a:ln>
        </p:spPr>
        <p:txBody>
          <a:bodyPr rtlCol="0" anchor="ctr"/>
          <a:lstStyle/>
          <a:p>
            <a:pPr algn="ctr"/>
          </a:p>
        </p:txBody>
      </p:sp>
      <p:sp>
        <p:nvSpPr>
          <p:cNvPr id="37" name="Rectangle 36"/>
          <p:cNvSpPr/>
          <p:nvPr/>
        </p:nvSpPr>
        <p:spPr>
          <a:xfrm>
            <a:off x="8531352" y="3246120"/>
            <a:ext cx="3108960" cy="64008"/>
          </a:xfrm>
          <a:prstGeom prst="rect">
            <a:avLst/>
          </a:prstGeom>
          <a:solidFill>
            <a:srgbClr val="9A9AAA"/>
          </a:solidFill>
          <a:ln>
            <a:noFill/>
          </a:ln>
        </p:spPr>
        <p:txBody>
          <a:bodyPr rtlCol="0" anchor="ctr"/>
          <a:lstStyle/>
          <a:p>
            <a:pPr algn="ctr"/>
          </a:p>
        </p:txBody>
      </p:sp>
      <p:sp>
        <p:nvSpPr>
          <p:cNvPr id="38" name="TextBox 37"/>
          <p:cNvSpPr txBox="1"/>
          <p:nvPr/>
        </p:nvSpPr>
        <p:spPr>
          <a:xfrm>
            <a:off x="8714232" y="3383280"/>
            <a:ext cx="2743200" cy="320040"/>
          </a:xfrm>
          <a:prstGeom prst="rect">
            <a:avLst/>
          </a:prstGeom>
          <a:noFill/>
        </p:spPr>
        <p:txBody>
          <a:bodyPr wrap="square" lIns="0" rIns="0" tIns="0" bIns="0" anchor="t">
            <a:spAutoFit/>
          </a:bodyPr>
          <a:lstStyle/>
          <a:p>
            <a:pPr algn="l"/>
            <a:r>
              <a:rPr sz="1333" b="1" i="0">
                <a:solidFill>
                  <a:srgbClr val="FFFFFF"/>
                </a:solidFill>
                <a:latin typeface="Verdana"/>
              </a:rPr>
              <a:t>Chat Output</a:t>
            </a:r>
          </a:p>
        </p:txBody>
      </p:sp>
      <p:sp>
        <p:nvSpPr>
          <p:cNvPr id="39" name="TextBox 38"/>
          <p:cNvSpPr txBox="1"/>
          <p:nvPr/>
        </p:nvSpPr>
        <p:spPr>
          <a:xfrm>
            <a:off x="8714232" y="3703320"/>
            <a:ext cx="2743200" cy="365760"/>
          </a:xfrm>
          <a:prstGeom prst="rect">
            <a:avLst/>
          </a:prstGeom>
          <a:noFill/>
        </p:spPr>
        <p:txBody>
          <a:bodyPr wrap="square" lIns="0" rIns="0" tIns="0" bIns="0" anchor="t">
            <a:spAutoFit/>
          </a:bodyPr>
          <a:lstStyle/>
          <a:p>
            <a:pPr algn="l"/>
            <a:r>
              <a:rPr sz="1100" b="0" i="0">
                <a:solidFill>
                  <a:srgbClr val="9A9AAA"/>
                </a:solidFill>
                <a:latin typeface="Verdana"/>
              </a:rPr>
              <a:t>die Antwort mit allen Schritten</a:t>
            </a:r>
          </a:p>
        </p:txBody>
      </p:sp>
      <p:cxnSp>
        <p:nvCxnSpPr>
          <p:cNvPr id="40" name="Connector 39"/>
          <p:cNvCxnSpPr/>
          <p:nvPr/>
        </p:nvCxnSpPr>
        <p:spPr>
          <a:xfrm flipV="1">
            <a:off x="7680959" y="3675887"/>
            <a:ext cx="850393" cy="192025"/>
          </a:xfrm>
          <a:prstGeom prst="line">
            <a:avLst/>
          </a:prstGeom>
          <a:ln w="15875">
            <a:solidFill>
              <a:srgbClr val="18E979"/>
            </a:solidFill>
            <a:tailEnd type="triangle" w="med" len="med"/>
          </a:ln>
        </p:spPr>
      </p:cxnSp>
      <p:sp>
        <p:nvSpPr>
          <p:cNvPr id="41" name="TextBox 40"/>
          <p:cNvSpPr txBox="1"/>
          <p:nvPr/>
        </p:nvSpPr>
        <p:spPr>
          <a:xfrm>
            <a:off x="548640" y="5806440"/>
            <a:ext cx="11091672" cy="365760"/>
          </a:xfrm>
          <a:prstGeom prst="rect">
            <a:avLst/>
          </a:prstGeom>
          <a:noFill/>
        </p:spPr>
        <p:txBody>
          <a:bodyPr wrap="square" lIns="0" rIns="0" tIns="0" bIns="0" anchor="t">
            <a:spAutoFit/>
          </a:bodyPr>
          <a:lstStyle/>
          <a:p>
            <a:pPr algn="l"/>
            <a:r>
              <a:rPr sz="1200" b="0" i="1">
                <a:solidFill>
                  <a:srgbClr val="9A9AAA"/>
                </a:solidFill>
                <a:latin typeface="Verdana"/>
              </a:rPr>
              <a:t>Das Modell muss Tool Calling können. Kleine lokale Modelle scheitern daran oft, dann den Cluster nehmen.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Was bei Agenten schiefgeht.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2 · GRENZEN</a:t>
            </a:r>
          </a:p>
        </p:txBody>
      </p:sp>
      <p:sp>
        <p:nvSpPr>
          <p:cNvPr id="4" name="Rectangle 3"/>
          <p:cNvSpPr/>
          <p:nvPr/>
        </p:nvSpPr>
        <p:spPr>
          <a:xfrm>
            <a:off x="548640" y="1783080"/>
            <a:ext cx="2635758" cy="315468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2635758" cy="64008"/>
          </a:xfrm>
          <a:prstGeom prst="rect">
            <a:avLst/>
          </a:prstGeom>
          <a:solidFill>
            <a:srgbClr val="18E979"/>
          </a:solidFill>
          <a:ln>
            <a:noFill/>
          </a:ln>
        </p:spPr>
        <p:txBody>
          <a:bodyPr rtlCol="0" anchor="ctr"/>
          <a:lstStyle/>
          <a:p>
            <a:pPr algn="ctr"/>
          </a:p>
        </p:txBody>
      </p:sp>
      <p:pic>
        <p:nvPicPr>
          <p:cNvPr id="6" name="Picture 5" descr="LuRepeat_g.png"/>
          <p:cNvPicPr>
            <a:picLocks noChangeAspect="1"/>
          </p:cNvPicPr>
          <p:nvPr/>
        </p:nvPicPr>
        <p:blipFill>
          <a:blip r:embed="rId3"/>
          <a:stretch>
            <a:fillRect/>
          </a:stretch>
        </p:blipFill>
        <p:spPr>
          <a:xfrm>
            <a:off x="777240" y="2057400"/>
            <a:ext cx="457200" cy="457200"/>
          </a:xfrm>
          <a:prstGeom prst="rect">
            <a:avLst/>
          </a:prstGeom>
        </p:spPr>
      </p:pic>
      <p:sp>
        <p:nvSpPr>
          <p:cNvPr id="7" name="TextBox 6"/>
          <p:cNvSpPr txBox="1"/>
          <p:nvPr/>
        </p:nvSpPr>
        <p:spPr>
          <a:xfrm>
            <a:off x="777240"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Schleifen</a:t>
            </a:r>
          </a:p>
        </p:txBody>
      </p:sp>
      <p:sp>
        <p:nvSpPr>
          <p:cNvPr id="8" name="TextBox 7"/>
          <p:cNvSpPr txBox="1"/>
          <p:nvPr/>
        </p:nvSpPr>
        <p:spPr>
          <a:xfrm>
            <a:off x="777240" y="3108960"/>
            <a:ext cx="2178558" cy="685800"/>
          </a:xfrm>
          <a:prstGeom prst="rect">
            <a:avLst/>
          </a:prstGeom>
          <a:noFill/>
        </p:spPr>
        <p:txBody>
          <a:bodyPr wrap="square" lIns="0" rIns="0" tIns="0" bIns="0" anchor="t">
            <a:spAutoFit/>
          </a:bodyPr>
          <a:lstStyle/>
          <a:p>
            <a:pPr algn="l"/>
            <a:r>
              <a:rPr sz="1200" b="0" i="0">
                <a:solidFill>
                  <a:srgbClr val="9A9AAA"/>
                </a:solidFill>
                <a:latin typeface="Verdana"/>
              </a:rPr>
              <a:t>Ruft immer wieder dasselbe Werkzeug.</a:t>
            </a:r>
          </a:p>
        </p:txBody>
      </p:sp>
      <p:cxnSp>
        <p:nvCxnSpPr>
          <p:cNvPr id="9" name="Connector 8"/>
          <p:cNvCxnSpPr/>
          <p:nvPr/>
        </p:nvCxnSpPr>
        <p:spPr>
          <a:xfrm>
            <a:off x="777240" y="3840480"/>
            <a:ext cx="2178558" cy="0"/>
          </a:xfrm>
          <a:prstGeom prst="line">
            <a:avLst/>
          </a:prstGeom>
          <a:ln w="6350">
            <a:solidFill>
              <a:srgbClr val="3A3948"/>
            </a:solidFill>
          </a:ln>
        </p:spPr>
      </p:cxnSp>
      <p:sp>
        <p:nvSpPr>
          <p:cNvPr id="10" name="TextBox 9"/>
          <p:cNvSpPr txBox="1"/>
          <p:nvPr/>
        </p:nvSpPr>
        <p:spPr>
          <a:xfrm>
            <a:off x="777240"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11" name="TextBox 10"/>
          <p:cNvSpPr txBox="1"/>
          <p:nvPr/>
        </p:nvSpPr>
        <p:spPr>
          <a:xfrm>
            <a:off x="777240"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Klare Regeln, wann er aufhören soll.</a:t>
            </a:r>
          </a:p>
        </p:txBody>
      </p:sp>
      <p:sp>
        <p:nvSpPr>
          <p:cNvPr id="12" name="Rectangle 11"/>
          <p:cNvSpPr/>
          <p:nvPr/>
        </p:nvSpPr>
        <p:spPr>
          <a:xfrm>
            <a:off x="3367278" y="1783080"/>
            <a:ext cx="2635758" cy="3154680"/>
          </a:xfrm>
          <a:prstGeom prst="rect">
            <a:avLst/>
          </a:prstGeom>
          <a:solidFill>
            <a:srgbClr val="24232E"/>
          </a:solidFill>
          <a:ln w="9525">
            <a:solidFill>
              <a:srgbClr val="3A3948"/>
            </a:solidFill>
          </a:ln>
        </p:spPr>
        <p:txBody>
          <a:bodyPr rtlCol="0" anchor="ctr"/>
          <a:lstStyle/>
          <a:p>
            <a:pPr algn="ctr"/>
          </a:p>
        </p:txBody>
      </p:sp>
      <p:sp>
        <p:nvSpPr>
          <p:cNvPr id="13" name="Rectangle 12"/>
          <p:cNvSpPr/>
          <p:nvPr/>
        </p:nvSpPr>
        <p:spPr>
          <a:xfrm>
            <a:off x="3367278" y="1783080"/>
            <a:ext cx="2635758" cy="64008"/>
          </a:xfrm>
          <a:prstGeom prst="rect">
            <a:avLst/>
          </a:prstGeom>
          <a:solidFill>
            <a:srgbClr val="18E979"/>
          </a:solidFill>
          <a:ln>
            <a:noFill/>
          </a:ln>
        </p:spPr>
        <p:txBody>
          <a:bodyPr rtlCol="0" anchor="ctr"/>
          <a:lstStyle/>
          <a:p>
            <a:pPr algn="ctr"/>
          </a:p>
        </p:txBody>
      </p:sp>
      <p:pic>
        <p:nvPicPr>
          <p:cNvPr id="14" name="Picture 13" descr="LuCircleHelp_g.png"/>
          <p:cNvPicPr>
            <a:picLocks noChangeAspect="1"/>
          </p:cNvPicPr>
          <p:nvPr/>
        </p:nvPicPr>
        <p:blipFill>
          <a:blip r:embed="rId4"/>
          <a:stretch>
            <a:fillRect/>
          </a:stretch>
        </p:blipFill>
        <p:spPr>
          <a:xfrm>
            <a:off x="3595878" y="2057400"/>
            <a:ext cx="457200" cy="457200"/>
          </a:xfrm>
          <a:prstGeom prst="rect">
            <a:avLst/>
          </a:prstGeom>
        </p:spPr>
      </p:pic>
      <p:sp>
        <p:nvSpPr>
          <p:cNvPr id="15" name="TextBox 14"/>
          <p:cNvSpPr txBox="1"/>
          <p:nvPr/>
        </p:nvSpPr>
        <p:spPr>
          <a:xfrm>
            <a:off x="3595878"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Tut nur so</a:t>
            </a:r>
          </a:p>
        </p:txBody>
      </p:sp>
      <p:sp>
        <p:nvSpPr>
          <p:cNvPr id="16" name="TextBox 15"/>
          <p:cNvSpPr txBox="1"/>
          <p:nvPr/>
        </p:nvSpPr>
        <p:spPr>
          <a:xfrm>
            <a:off x="3595878" y="3108960"/>
            <a:ext cx="2178558" cy="685800"/>
          </a:xfrm>
          <a:prstGeom prst="rect">
            <a:avLst/>
          </a:prstGeom>
          <a:noFill/>
        </p:spPr>
        <p:txBody>
          <a:bodyPr wrap="square" lIns="0" rIns="0" tIns="0" bIns="0" anchor="t">
            <a:spAutoFit/>
          </a:bodyPr>
          <a:lstStyle/>
          <a:p>
            <a:pPr algn="l"/>
            <a:r>
              <a:rPr sz="1200" b="0" i="0">
                <a:solidFill>
                  <a:srgbClr val="9A9AAA"/>
                </a:solidFill>
                <a:latin typeface="Verdana"/>
              </a:rPr>
              <a:t>Behauptet zu suchen, ohne ein Werkzeug zu rufen.</a:t>
            </a:r>
          </a:p>
        </p:txBody>
      </p:sp>
      <p:cxnSp>
        <p:nvCxnSpPr>
          <p:cNvPr id="17" name="Connector 16"/>
          <p:cNvCxnSpPr/>
          <p:nvPr/>
        </p:nvCxnSpPr>
        <p:spPr>
          <a:xfrm>
            <a:off x="3595878" y="3840480"/>
            <a:ext cx="2178558" cy="0"/>
          </a:xfrm>
          <a:prstGeom prst="line">
            <a:avLst/>
          </a:prstGeom>
          <a:ln w="6350">
            <a:solidFill>
              <a:srgbClr val="3A3948"/>
            </a:solidFill>
          </a:ln>
        </p:spPr>
      </p:cxnSp>
      <p:sp>
        <p:nvSpPr>
          <p:cNvPr id="18" name="TextBox 17"/>
          <p:cNvSpPr txBox="1"/>
          <p:nvPr/>
        </p:nvSpPr>
        <p:spPr>
          <a:xfrm>
            <a:off x="3595878"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19" name="TextBox 18"/>
          <p:cNvSpPr txBox="1"/>
          <p:nvPr/>
        </p:nvSpPr>
        <p:spPr>
          <a:xfrm>
            <a:off x="3595878"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Modell mit Tool Calling, Schritte im Playground prüfen.</a:t>
            </a:r>
          </a:p>
        </p:txBody>
      </p:sp>
      <p:sp>
        <p:nvSpPr>
          <p:cNvPr id="20" name="Rectangle 19"/>
          <p:cNvSpPr/>
          <p:nvPr/>
        </p:nvSpPr>
        <p:spPr>
          <a:xfrm>
            <a:off x="6185916" y="1783080"/>
            <a:ext cx="2635758" cy="3154680"/>
          </a:xfrm>
          <a:prstGeom prst="rect">
            <a:avLst/>
          </a:prstGeom>
          <a:solidFill>
            <a:srgbClr val="24232E"/>
          </a:solidFill>
          <a:ln w="9525">
            <a:solidFill>
              <a:srgbClr val="3A3948"/>
            </a:solidFill>
          </a:ln>
        </p:spPr>
        <p:txBody>
          <a:bodyPr rtlCol="0" anchor="ctr"/>
          <a:lstStyle/>
          <a:p>
            <a:pPr algn="ctr"/>
          </a:p>
        </p:txBody>
      </p:sp>
      <p:sp>
        <p:nvSpPr>
          <p:cNvPr id="21" name="Rectangle 20"/>
          <p:cNvSpPr/>
          <p:nvPr/>
        </p:nvSpPr>
        <p:spPr>
          <a:xfrm>
            <a:off x="6185916" y="1783080"/>
            <a:ext cx="2635758" cy="64008"/>
          </a:xfrm>
          <a:prstGeom prst="rect">
            <a:avLst/>
          </a:prstGeom>
          <a:solidFill>
            <a:srgbClr val="18E979"/>
          </a:solidFill>
          <a:ln>
            <a:noFill/>
          </a:ln>
        </p:spPr>
        <p:txBody>
          <a:bodyPr rtlCol="0" anchor="ctr"/>
          <a:lstStyle/>
          <a:p>
            <a:pPr algn="ctr"/>
          </a:p>
        </p:txBody>
      </p:sp>
      <p:pic>
        <p:nvPicPr>
          <p:cNvPr id="22" name="Picture 21" descr="LuRoute_g.png"/>
          <p:cNvPicPr>
            <a:picLocks noChangeAspect="1"/>
          </p:cNvPicPr>
          <p:nvPr/>
        </p:nvPicPr>
        <p:blipFill>
          <a:blip r:embed="rId5"/>
          <a:stretch>
            <a:fillRect/>
          </a:stretch>
        </p:blipFill>
        <p:spPr>
          <a:xfrm>
            <a:off x="6414516" y="2057400"/>
            <a:ext cx="457200" cy="457200"/>
          </a:xfrm>
          <a:prstGeom prst="rect">
            <a:avLst/>
          </a:prstGeom>
        </p:spPr>
      </p:pic>
      <p:sp>
        <p:nvSpPr>
          <p:cNvPr id="23" name="TextBox 22"/>
          <p:cNvSpPr txBox="1"/>
          <p:nvPr/>
        </p:nvSpPr>
        <p:spPr>
          <a:xfrm>
            <a:off x="6414516"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Falsches Werkzeug</a:t>
            </a:r>
          </a:p>
        </p:txBody>
      </p:sp>
      <p:sp>
        <p:nvSpPr>
          <p:cNvPr id="24" name="TextBox 23"/>
          <p:cNvSpPr txBox="1"/>
          <p:nvPr/>
        </p:nvSpPr>
        <p:spPr>
          <a:xfrm>
            <a:off x="6414516" y="3108960"/>
            <a:ext cx="2178558" cy="685800"/>
          </a:xfrm>
          <a:prstGeom prst="rect">
            <a:avLst/>
          </a:prstGeom>
          <a:noFill/>
        </p:spPr>
        <p:txBody>
          <a:bodyPr wrap="square" lIns="0" rIns="0" tIns="0" bIns="0" anchor="t">
            <a:spAutoFit/>
          </a:bodyPr>
          <a:lstStyle/>
          <a:p>
            <a:pPr algn="l"/>
            <a:r>
              <a:rPr sz="1200" b="0" i="0">
                <a:solidFill>
                  <a:srgbClr val="9A9AAA"/>
                </a:solidFill>
                <a:latin typeface="Verdana"/>
              </a:rPr>
              <a:t>Sucht Bücher in der Artikeldatenbank.</a:t>
            </a:r>
          </a:p>
        </p:txBody>
      </p:sp>
      <p:cxnSp>
        <p:nvCxnSpPr>
          <p:cNvPr id="25" name="Connector 24"/>
          <p:cNvCxnSpPr/>
          <p:nvPr/>
        </p:nvCxnSpPr>
        <p:spPr>
          <a:xfrm>
            <a:off x="6414516" y="3840480"/>
            <a:ext cx="2178558" cy="0"/>
          </a:xfrm>
          <a:prstGeom prst="line">
            <a:avLst/>
          </a:prstGeom>
          <a:ln w="6350">
            <a:solidFill>
              <a:srgbClr val="3A3948"/>
            </a:solidFill>
          </a:ln>
        </p:spPr>
      </p:cxnSp>
      <p:sp>
        <p:nvSpPr>
          <p:cNvPr id="26" name="TextBox 25"/>
          <p:cNvSpPr txBox="1"/>
          <p:nvPr/>
        </p:nvSpPr>
        <p:spPr>
          <a:xfrm>
            <a:off x="6414516"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27" name="TextBox 26"/>
          <p:cNvSpPr txBox="1"/>
          <p:nvPr/>
        </p:nvSpPr>
        <p:spPr>
          <a:xfrm>
            <a:off x="6414516"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Bessere Beschreibungen und Anweisungen.</a:t>
            </a:r>
          </a:p>
        </p:txBody>
      </p:sp>
      <p:sp>
        <p:nvSpPr>
          <p:cNvPr id="28" name="Rectangle 27"/>
          <p:cNvSpPr/>
          <p:nvPr/>
        </p:nvSpPr>
        <p:spPr>
          <a:xfrm>
            <a:off x="9004554" y="1783080"/>
            <a:ext cx="2635758" cy="3154680"/>
          </a:xfrm>
          <a:prstGeom prst="rect">
            <a:avLst/>
          </a:prstGeom>
          <a:solidFill>
            <a:srgbClr val="24232E"/>
          </a:solidFill>
          <a:ln w="9525">
            <a:solidFill>
              <a:srgbClr val="3A3948"/>
            </a:solidFill>
          </a:ln>
        </p:spPr>
        <p:txBody>
          <a:bodyPr rtlCol="0" anchor="ctr"/>
          <a:lstStyle/>
          <a:p>
            <a:pPr algn="ctr"/>
          </a:p>
        </p:txBody>
      </p:sp>
      <p:sp>
        <p:nvSpPr>
          <p:cNvPr id="29" name="Rectangle 28"/>
          <p:cNvSpPr/>
          <p:nvPr/>
        </p:nvSpPr>
        <p:spPr>
          <a:xfrm>
            <a:off x="9004554" y="1783080"/>
            <a:ext cx="2635758" cy="64008"/>
          </a:xfrm>
          <a:prstGeom prst="rect">
            <a:avLst/>
          </a:prstGeom>
          <a:solidFill>
            <a:srgbClr val="18E979"/>
          </a:solidFill>
          <a:ln>
            <a:noFill/>
          </a:ln>
        </p:spPr>
        <p:txBody>
          <a:bodyPr rtlCol="0" anchor="ctr"/>
          <a:lstStyle/>
          <a:p>
            <a:pPr algn="ctr"/>
          </a:p>
        </p:txBody>
      </p:sp>
      <p:pic>
        <p:nvPicPr>
          <p:cNvPr id="30" name="Picture 29" descr="LuShieldAlert_g.png"/>
          <p:cNvPicPr>
            <a:picLocks noChangeAspect="1"/>
          </p:cNvPicPr>
          <p:nvPr/>
        </p:nvPicPr>
        <p:blipFill>
          <a:blip r:embed="rId6"/>
          <a:stretch>
            <a:fillRect/>
          </a:stretch>
        </p:blipFill>
        <p:spPr>
          <a:xfrm>
            <a:off x="9233154" y="2057400"/>
            <a:ext cx="457200" cy="457200"/>
          </a:xfrm>
          <a:prstGeom prst="rect">
            <a:avLst/>
          </a:prstGeom>
        </p:spPr>
      </p:pic>
      <p:sp>
        <p:nvSpPr>
          <p:cNvPr id="31" name="TextBox 30"/>
          <p:cNvSpPr txBox="1"/>
          <p:nvPr/>
        </p:nvSpPr>
        <p:spPr>
          <a:xfrm>
            <a:off x="9233154" y="2651760"/>
            <a:ext cx="2178558" cy="548640"/>
          </a:xfrm>
          <a:prstGeom prst="rect">
            <a:avLst/>
          </a:prstGeom>
          <a:noFill/>
        </p:spPr>
        <p:txBody>
          <a:bodyPr wrap="square" lIns="0" rIns="0" tIns="0" bIns="0" anchor="t">
            <a:spAutoFit/>
          </a:bodyPr>
          <a:lstStyle/>
          <a:p>
            <a:pPr algn="l"/>
            <a:r>
              <a:rPr sz="1400" b="1" i="0">
                <a:solidFill>
                  <a:srgbClr val="FFFFFF"/>
                </a:solidFill>
                <a:latin typeface="Verdana"/>
              </a:rPr>
              <a:t>Fremde Anweisungen</a:t>
            </a:r>
          </a:p>
        </p:txBody>
      </p:sp>
      <p:sp>
        <p:nvSpPr>
          <p:cNvPr id="32" name="TextBox 31"/>
          <p:cNvSpPr txBox="1"/>
          <p:nvPr/>
        </p:nvSpPr>
        <p:spPr>
          <a:xfrm>
            <a:off x="9233154" y="3108960"/>
            <a:ext cx="2178558" cy="685800"/>
          </a:xfrm>
          <a:prstGeom prst="rect">
            <a:avLst/>
          </a:prstGeom>
          <a:noFill/>
        </p:spPr>
        <p:txBody>
          <a:bodyPr wrap="square" lIns="0" rIns="0" tIns="0" bIns="0" anchor="t">
            <a:spAutoFit/>
          </a:bodyPr>
          <a:lstStyle/>
          <a:p>
            <a:pPr algn="l"/>
            <a:r>
              <a:rPr sz="1200" b="0" i="0">
                <a:solidFill>
                  <a:srgbClr val="9A9AAA"/>
                </a:solidFill>
                <a:latin typeface="Verdana"/>
              </a:rPr>
              <a:t>Ein Suchtreffer enthält „Ignoriere deine Regeln“.</a:t>
            </a:r>
          </a:p>
        </p:txBody>
      </p:sp>
      <p:cxnSp>
        <p:nvCxnSpPr>
          <p:cNvPr id="33" name="Connector 32"/>
          <p:cNvCxnSpPr/>
          <p:nvPr/>
        </p:nvCxnSpPr>
        <p:spPr>
          <a:xfrm>
            <a:off x="9233154" y="3840480"/>
            <a:ext cx="2178558" cy="0"/>
          </a:xfrm>
          <a:prstGeom prst="line">
            <a:avLst/>
          </a:prstGeom>
          <a:ln w="6350">
            <a:solidFill>
              <a:srgbClr val="3A3948"/>
            </a:solidFill>
          </a:ln>
        </p:spPr>
      </p:cxnSp>
      <p:sp>
        <p:nvSpPr>
          <p:cNvPr id="34" name="TextBox 33"/>
          <p:cNvSpPr txBox="1"/>
          <p:nvPr/>
        </p:nvSpPr>
        <p:spPr>
          <a:xfrm>
            <a:off x="9233154" y="3931920"/>
            <a:ext cx="2178558" cy="228600"/>
          </a:xfrm>
          <a:prstGeom prst="rect">
            <a:avLst/>
          </a:prstGeom>
          <a:noFill/>
        </p:spPr>
        <p:txBody>
          <a:bodyPr wrap="square" lIns="0" rIns="0" tIns="0" bIns="0" anchor="t">
            <a:spAutoFit/>
          </a:bodyPr>
          <a:lstStyle/>
          <a:p>
            <a:pPr algn="l"/>
            <a:r>
              <a:rPr sz="933" b="1" i="0" spc="300">
                <a:solidFill>
                  <a:srgbClr val="18E979"/>
                </a:solidFill>
                <a:latin typeface="Verdana"/>
              </a:rPr>
              <a:t>WAS HILFT</a:t>
            </a:r>
          </a:p>
        </p:txBody>
      </p:sp>
      <p:sp>
        <p:nvSpPr>
          <p:cNvPr id="35" name="TextBox 34"/>
          <p:cNvSpPr txBox="1"/>
          <p:nvPr/>
        </p:nvSpPr>
        <p:spPr>
          <a:xfrm>
            <a:off x="9233154" y="4178808"/>
            <a:ext cx="2178558" cy="731520"/>
          </a:xfrm>
          <a:prstGeom prst="rect">
            <a:avLst/>
          </a:prstGeom>
          <a:noFill/>
        </p:spPr>
        <p:txBody>
          <a:bodyPr wrap="square" lIns="0" rIns="0" tIns="0" bIns="0" anchor="t">
            <a:spAutoFit/>
          </a:bodyPr>
          <a:lstStyle/>
          <a:p>
            <a:pPr algn="l"/>
            <a:r>
              <a:rPr sz="1200" b="0" i="0">
                <a:solidFill>
                  <a:srgbClr val="FFFFFF"/>
                </a:solidFill>
                <a:latin typeface="Verdana"/>
              </a:rPr>
              <a:t>Keine kritischen Aktionen ohne Freigabe.</a:t>
            </a:r>
          </a:p>
        </p:txBody>
      </p:sp>
      <p:sp>
        <p:nvSpPr>
          <p:cNvPr id="36" name="Rectangle 35"/>
          <p:cNvSpPr/>
          <p:nvPr/>
        </p:nvSpPr>
        <p:spPr>
          <a:xfrm>
            <a:off x="548640" y="5166360"/>
            <a:ext cx="11091672" cy="640080"/>
          </a:xfrm>
          <a:prstGeom prst="rect">
            <a:avLst/>
          </a:prstGeom>
          <a:noFill/>
          <a:ln w="12700">
            <a:solidFill>
              <a:srgbClr val="DC640D"/>
            </a:solidFill>
          </a:ln>
        </p:spPr>
        <p:txBody>
          <a:bodyPr rtlCol="0" anchor="ctr"/>
          <a:lstStyle/>
          <a:p>
            <a:pPr algn="ctr"/>
          </a:p>
        </p:txBody>
      </p:sp>
      <p:pic>
        <p:nvPicPr>
          <p:cNvPr id="37" name="Picture 36" descr="LuHourglass_o.png"/>
          <p:cNvPicPr>
            <a:picLocks noChangeAspect="1"/>
          </p:cNvPicPr>
          <p:nvPr/>
        </p:nvPicPr>
        <p:blipFill>
          <a:blip r:embed="rId7"/>
          <a:stretch>
            <a:fillRect/>
          </a:stretch>
        </p:blipFill>
        <p:spPr>
          <a:xfrm>
            <a:off x="777240" y="5276088"/>
            <a:ext cx="411480" cy="411480"/>
          </a:xfrm>
          <a:prstGeom prst="rect">
            <a:avLst/>
          </a:prstGeom>
        </p:spPr>
      </p:pic>
      <p:sp>
        <p:nvSpPr>
          <p:cNvPr id="38" name="TextBox 37"/>
          <p:cNvSpPr txBox="1"/>
          <p:nvPr/>
        </p:nvSpPr>
        <p:spPr>
          <a:xfrm>
            <a:off x="1371600" y="5166360"/>
            <a:ext cx="10085832" cy="640080"/>
          </a:xfrm>
          <a:prstGeom prst="rect">
            <a:avLst/>
          </a:prstGeom>
          <a:noFill/>
        </p:spPr>
        <p:txBody>
          <a:bodyPr wrap="square" lIns="0" rIns="0" tIns="0" bIns="0" anchor="ctr">
            <a:spAutoFit/>
          </a:bodyPr>
          <a:lstStyle/>
          <a:p>
            <a:pPr algn="l"/>
            <a:r>
              <a:rPr sz="1333" b="1" i="0">
                <a:solidFill>
                  <a:srgbClr val="FFFFFF"/>
                </a:solidFill>
                <a:latin typeface="Verdana"/>
              </a:rPr>
              <a:t>Jeder Schritt ist ein Modellaufruf. </a:t>
            </a:r>
            <a:r>
              <a:rPr sz="1333" b="0" i="0">
                <a:solidFill>
                  <a:srgbClr val="9A9AAA"/>
                </a:solidFill>
                <a:latin typeface="Verdana"/>
              </a:rPr>
              <a:t>Agenten sind langsamer und teurer als ein fester Workflow.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Euer erster Agent.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2A · 15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02919"/>
          </a:xfrm>
          <a:prstGeom prst="rect">
            <a:avLst/>
          </a:prstGeom>
          <a:noFill/>
        </p:spPr>
        <p:txBody>
          <a:bodyPr wrap="square" lIns="0" rIns="0" tIns="0" bIns="0" anchor="t">
            <a:spAutoFit/>
          </a:bodyPr>
          <a:lstStyle/>
          <a:p>
            <a:pPr algn="l"/>
            <a:r>
              <a:rPr sz="1267" b="1" i="0">
                <a:solidFill>
                  <a:srgbClr val="FFFFFF"/>
                </a:solidFill>
                <a:latin typeface="Verdana"/>
              </a:rPr>
              <a:t>Neu: </a:t>
            </a:r>
            <a:r>
              <a:rPr sz="1267" b="0" i="0">
                <a:solidFill>
                  <a:srgbClr val="9A9AAA"/>
                </a:solidFill>
                <a:latin typeface="Verdana"/>
              </a:rPr>
              <a:t>Blank Flow mit Chat Input, Agent, KI-Modell, Literatursuche (OpenAlex) und Chat Output.</a:t>
            </a:r>
          </a:p>
        </p:txBody>
      </p:sp>
      <p:sp>
        <p:nvSpPr>
          <p:cNvPr id="7" name="Oval 6"/>
          <p:cNvSpPr/>
          <p:nvPr/>
        </p:nvSpPr>
        <p:spPr>
          <a:xfrm>
            <a:off x="548640" y="2350008"/>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350008"/>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31720"/>
            <a:ext cx="6172200" cy="502919"/>
          </a:xfrm>
          <a:prstGeom prst="rect">
            <a:avLst/>
          </a:prstGeom>
          <a:noFill/>
        </p:spPr>
        <p:txBody>
          <a:bodyPr wrap="square" lIns="0" rIns="0" tIns="0" bIns="0" anchor="t">
            <a:spAutoFit/>
          </a:bodyPr>
          <a:lstStyle/>
          <a:p>
            <a:pPr algn="l"/>
            <a:r>
              <a:rPr sz="1267" b="1" i="0">
                <a:solidFill>
                  <a:srgbClr val="FFFFFF"/>
                </a:solidFill>
                <a:latin typeface="Verdana"/>
              </a:rPr>
              <a:t>Modell: </a:t>
            </a:r>
            <a:r>
              <a:rPr sz="1267" b="0" i="0">
                <a:solidFill>
                  <a:srgbClr val="9A9AAA"/>
                </a:solidFill>
                <a:latin typeface="Verdana"/>
              </a:rPr>
              <a:t>Im KI-Modell den Ausgang Language Model mit dem Eingang Language Model des Agenten verbinden.</a:t>
            </a:r>
          </a:p>
        </p:txBody>
      </p:sp>
      <p:sp>
        <p:nvSpPr>
          <p:cNvPr id="10" name="Oval 9"/>
          <p:cNvSpPr/>
          <p:nvPr/>
        </p:nvSpPr>
        <p:spPr>
          <a:xfrm>
            <a:off x="548640" y="2898648"/>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2898648"/>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880360"/>
            <a:ext cx="6172200" cy="502919"/>
          </a:xfrm>
          <a:prstGeom prst="rect">
            <a:avLst/>
          </a:prstGeom>
          <a:noFill/>
        </p:spPr>
        <p:txBody>
          <a:bodyPr wrap="square" lIns="0" rIns="0" tIns="0" bIns="0" anchor="t">
            <a:spAutoFit/>
          </a:bodyPr>
          <a:lstStyle/>
          <a:p>
            <a:pPr algn="l"/>
            <a:r>
              <a:rPr sz="1267" b="1" i="0">
                <a:solidFill>
                  <a:srgbClr val="FFFFFF"/>
                </a:solidFill>
                <a:latin typeface="Verdana"/>
              </a:rPr>
              <a:t>Werkzeug: </a:t>
            </a:r>
            <a:r>
              <a:rPr sz="1267" b="0" i="0">
                <a:solidFill>
                  <a:srgbClr val="9A9AAA"/>
                </a:solidFill>
                <a:latin typeface="Verdana"/>
              </a:rPr>
              <a:t>Bei der Literatursuche in der Leiste darüber Tool Mode einschalten. Toolset → Tools.</a:t>
            </a:r>
          </a:p>
        </p:txBody>
      </p:sp>
      <p:sp>
        <p:nvSpPr>
          <p:cNvPr id="13" name="Oval 12"/>
          <p:cNvSpPr/>
          <p:nvPr/>
        </p:nvSpPr>
        <p:spPr>
          <a:xfrm>
            <a:off x="548640" y="3447288"/>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447288"/>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429000"/>
            <a:ext cx="6172200" cy="502919"/>
          </a:xfrm>
          <a:prstGeom prst="rect">
            <a:avLst/>
          </a:prstGeom>
          <a:noFill/>
        </p:spPr>
        <p:txBody>
          <a:bodyPr wrap="square" lIns="0" rIns="0" tIns="0" bIns="0" anchor="t">
            <a:spAutoFit/>
          </a:bodyPr>
          <a:lstStyle/>
          <a:p>
            <a:pPr algn="l"/>
            <a:r>
              <a:rPr sz="1267" b="1" i="0">
                <a:solidFill>
                  <a:srgbClr val="FFFFFF"/>
                </a:solidFill>
                <a:latin typeface="Verdana"/>
              </a:rPr>
              <a:t>Anweisungen: </a:t>
            </a:r>
            <a:r>
              <a:rPr sz="1267" b="0" i="0">
                <a:solidFill>
                  <a:srgbClr val="9A9AAA"/>
                </a:solidFill>
                <a:latin typeface="Verdana"/>
              </a:rPr>
              <a:t>In Agent Instructions: „Du bist Recherche-Assistent einer Bibliothek. Nutze die Literatursuche. Erfinde keine Literatur.“</a:t>
            </a:r>
          </a:p>
        </p:txBody>
      </p:sp>
      <p:sp>
        <p:nvSpPr>
          <p:cNvPr id="16" name="Oval 15"/>
          <p:cNvSpPr/>
          <p:nvPr/>
        </p:nvSpPr>
        <p:spPr>
          <a:xfrm>
            <a:off x="548640" y="3995927"/>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3995927"/>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3977639"/>
            <a:ext cx="6172200" cy="502919"/>
          </a:xfrm>
          <a:prstGeom prst="rect">
            <a:avLst/>
          </a:prstGeom>
          <a:noFill/>
        </p:spPr>
        <p:txBody>
          <a:bodyPr wrap="square" lIns="0" rIns="0" tIns="0" bIns="0" anchor="t">
            <a:spAutoFit/>
          </a:bodyPr>
          <a:lstStyle/>
          <a:p>
            <a:pPr algn="l"/>
            <a:r>
              <a:rPr sz="1267" b="1" i="0">
                <a:solidFill>
                  <a:srgbClr val="FFFFFF"/>
                </a:solidFill>
                <a:latin typeface="Verdana"/>
              </a:rPr>
              <a:t>Testen: </a:t>
            </a:r>
            <a:r>
              <a:rPr sz="1267" b="0" i="0">
                <a:solidFill>
                  <a:srgbClr val="9A9AAA"/>
                </a:solidFill>
                <a:latin typeface="Verdana"/>
              </a:rPr>
              <a:t>„Finde drei aktuelle Artikel über Open Access“ und „Was ist eine DOI?“ Wann sucht der Agent?</a:t>
            </a:r>
          </a:p>
        </p:txBody>
      </p:sp>
      <p:sp>
        <p:nvSpPr>
          <p:cNvPr id="19" name="Rectangle 18"/>
          <p:cNvSpPr/>
          <p:nvPr/>
        </p:nvSpPr>
        <p:spPr>
          <a:xfrm>
            <a:off x="7635240" y="1783080"/>
            <a:ext cx="4005072" cy="86868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365759"/>
          </a:xfrm>
          <a:prstGeom prst="rect">
            <a:avLst/>
          </a:prstGeom>
          <a:noFill/>
        </p:spPr>
        <p:txBody>
          <a:bodyPr wrap="square" lIns="0" rIns="0" tIns="0" bIns="0" anchor="t">
            <a:spAutoFit/>
          </a:bodyPr>
          <a:lstStyle/>
          <a:p>
            <a:pPr algn="l"/>
            <a:r>
              <a:rPr sz="1200" b="0" i="0">
                <a:solidFill>
                  <a:srgbClr val="FFFFFF"/>
                </a:solidFill>
                <a:latin typeface="Verdana"/>
              </a:rPr>
              <a:t>Ein Agent, der selbst entscheidet, ob er in OpenAlex sucht.</a:t>
            </a:r>
          </a:p>
        </p:txBody>
      </p:sp>
      <p:sp>
        <p:nvSpPr>
          <p:cNvPr id="23" name="Rectangle 22"/>
          <p:cNvSpPr/>
          <p:nvPr/>
        </p:nvSpPr>
        <p:spPr>
          <a:xfrm>
            <a:off x="7635240" y="2761487"/>
            <a:ext cx="4005072" cy="1051560"/>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2916935"/>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TIPP</a:t>
            </a:r>
          </a:p>
        </p:txBody>
      </p:sp>
      <p:sp>
        <p:nvSpPr>
          <p:cNvPr id="25" name="TextBox 24"/>
          <p:cNvSpPr txBox="1"/>
          <p:nvPr/>
        </p:nvSpPr>
        <p:spPr>
          <a:xfrm>
            <a:off x="7836408" y="3172968"/>
            <a:ext cx="3602736" cy="548639"/>
          </a:xfrm>
          <a:prstGeom prst="rect">
            <a:avLst/>
          </a:prstGeom>
          <a:noFill/>
        </p:spPr>
        <p:txBody>
          <a:bodyPr wrap="square" lIns="0" rIns="0" tIns="0" bIns="0" anchor="t">
            <a:spAutoFit/>
          </a:bodyPr>
          <a:lstStyle/>
          <a:p>
            <a:pPr algn="l"/>
            <a:r>
              <a:rPr sz="1200" b="0" i="0">
                <a:solidFill>
                  <a:srgbClr val="9A9AAA"/>
                </a:solidFill>
                <a:latin typeface="Verdana"/>
              </a:rPr>
              <a:t>Im Playground lassen sich die Schritte des Agenten aufklappen. Dort seht ihr jeden Werkzeugaufruf.</a:t>
            </a:r>
          </a:p>
        </p:txBody>
      </p:sp>
      <p:sp>
        <p:nvSpPr>
          <p:cNvPr id="26" name="Rectangle 25"/>
          <p:cNvSpPr/>
          <p:nvPr/>
        </p:nvSpPr>
        <p:spPr>
          <a:xfrm>
            <a:off x="7635240" y="3922775"/>
            <a:ext cx="4005072" cy="914400"/>
          </a:xfrm>
          <a:prstGeom prst="rect">
            <a:avLst/>
          </a:prstGeom>
          <a:solidFill>
            <a:srgbClr val="24232E"/>
          </a:solidFill>
          <a:ln>
            <a:noFill/>
          </a:ln>
        </p:spPr>
        <p:txBody>
          <a:bodyPr rtlCol="0" anchor="ctr"/>
          <a:lstStyle/>
          <a:p>
            <a:pPr algn="ctr"/>
          </a:p>
        </p:txBody>
      </p:sp>
      <p:sp>
        <p:nvSpPr>
          <p:cNvPr id="27" name="TextBox 26"/>
          <p:cNvSpPr txBox="1"/>
          <p:nvPr/>
        </p:nvSpPr>
        <p:spPr>
          <a:xfrm>
            <a:off x="7836408" y="4078223"/>
            <a:ext cx="3602736" cy="228600"/>
          </a:xfrm>
          <a:prstGeom prst="rect">
            <a:avLst/>
          </a:prstGeom>
          <a:noFill/>
        </p:spPr>
        <p:txBody>
          <a:bodyPr wrap="square" lIns="0" rIns="0" tIns="0" bIns="0" anchor="t">
            <a:spAutoFit/>
          </a:bodyPr>
          <a:lstStyle/>
          <a:p>
            <a:pPr algn="l"/>
            <a:r>
              <a:rPr sz="933" b="1" i="0" spc="300">
                <a:solidFill>
                  <a:srgbClr val="9A9AAA"/>
                </a:solidFill>
                <a:latin typeface="Verdana"/>
              </a:rPr>
              <a:t>WEITERDENKEN</a:t>
            </a:r>
          </a:p>
        </p:txBody>
      </p:sp>
      <p:sp>
        <p:nvSpPr>
          <p:cNvPr id="28" name="TextBox 27"/>
          <p:cNvSpPr txBox="1"/>
          <p:nvPr/>
        </p:nvSpPr>
        <p:spPr>
          <a:xfrm>
            <a:off x="7836408" y="4334255"/>
            <a:ext cx="3602736" cy="411479"/>
          </a:xfrm>
          <a:prstGeom prst="rect">
            <a:avLst/>
          </a:prstGeom>
          <a:noFill/>
        </p:spPr>
        <p:txBody>
          <a:bodyPr wrap="square" lIns="0" rIns="0" tIns="0" bIns="0" anchor="t">
            <a:spAutoFit/>
          </a:bodyPr>
          <a:lstStyle/>
          <a:p>
            <a:pPr algn="l"/>
            <a:r>
              <a:rPr sz="1200" b="0" i="1">
                <a:solidFill>
                  <a:srgbClr val="FFFFFF"/>
                </a:solidFill>
                <a:latin typeface="Verdana"/>
              </a:rPr>
              <a:t>Was ist anders als bei eurem Workflow aus 1c?</a:t>
            </a:r>
          </a:p>
        </p:txBody>
      </p:sp>
      <p:sp>
        <p:nvSpPr>
          <p:cNvPr id="29" name="TextBox 28"/>
          <p:cNvSpPr txBox="1"/>
          <p:nvPr/>
        </p:nvSpPr>
        <p:spPr>
          <a:xfrm>
            <a:off x="548640" y="457200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SO SIEHT DER FLOW AUS</a:t>
            </a:r>
          </a:p>
        </p:txBody>
      </p:sp>
      <p:sp>
        <p:nvSpPr>
          <p:cNvPr id="30" name="Rectangle 29"/>
          <p:cNvSpPr/>
          <p:nvPr/>
        </p:nvSpPr>
        <p:spPr>
          <a:xfrm>
            <a:off x="771143" y="4878324"/>
            <a:ext cx="1780032" cy="256032"/>
          </a:xfrm>
          <a:prstGeom prst="rect">
            <a:avLst/>
          </a:prstGeom>
          <a:solidFill>
            <a:srgbClr val="24232E"/>
          </a:solidFill>
          <a:ln w="19050">
            <a:solidFill>
              <a:srgbClr val="B1063A"/>
            </a:solidFill>
          </a:ln>
        </p:spPr>
        <p:txBody>
          <a:bodyPr rtlCol="0" anchor="ctr"/>
          <a:lstStyle/>
          <a:p>
            <a:pPr algn="ctr"/>
          </a:p>
        </p:txBody>
      </p:sp>
      <p:sp>
        <p:nvSpPr>
          <p:cNvPr id="31" name="TextBox 30"/>
          <p:cNvSpPr txBox="1"/>
          <p:nvPr/>
        </p:nvSpPr>
        <p:spPr>
          <a:xfrm>
            <a:off x="844295" y="4878324"/>
            <a:ext cx="1633728" cy="256032"/>
          </a:xfrm>
          <a:prstGeom prst="rect">
            <a:avLst/>
          </a:prstGeom>
          <a:noFill/>
        </p:spPr>
        <p:txBody>
          <a:bodyPr wrap="square" lIns="0" rIns="0" tIns="0" bIns="0" anchor="ctr">
            <a:spAutoFit/>
          </a:bodyPr>
          <a:lstStyle/>
          <a:p>
            <a:pPr algn="ctr"/>
            <a:r>
              <a:rPr sz="933" b="1" i="0">
                <a:solidFill>
                  <a:srgbClr val="FFFFFF"/>
                </a:solidFill>
                <a:latin typeface="Verdana"/>
              </a:rPr>
              <a:t>KI-Modell</a:t>
            </a:r>
          </a:p>
        </p:txBody>
      </p:sp>
      <p:sp>
        <p:nvSpPr>
          <p:cNvPr id="32" name="Rectangle 31"/>
          <p:cNvSpPr/>
          <p:nvPr/>
        </p:nvSpPr>
        <p:spPr>
          <a:xfrm>
            <a:off x="771143" y="5198364"/>
            <a:ext cx="1780032" cy="256032"/>
          </a:xfrm>
          <a:prstGeom prst="rect">
            <a:avLst/>
          </a:prstGeom>
          <a:solidFill>
            <a:srgbClr val="24232E"/>
          </a:solidFill>
          <a:ln w="19050">
            <a:solidFill>
              <a:srgbClr val="DC640D"/>
            </a:solidFill>
          </a:ln>
        </p:spPr>
        <p:txBody>
          <a:bodyPr rtlCol="0" anchor="ctr"/>
          <a:lstStyle/>
          <a:p>
            <a:pPr algn="ctr"/>
          </a:p>
        </p:txBody>
      </p:sp>
      <p:sp>
        <p:nvSpPr>
          <p:cNvPr id="33" name="TextBox 32"/>
          <p:cNvSpPr txBox="1"/>
          <p:nvPr/>
        </p:nvSpPr>
        <p:spPr>
          <a:xfrm>
            <a:off x="844295" y="5198364"/>
            <a:ext cx="1633728" cy="256032"/>
          </a:xfrm>
          <a:prstGeom prst="rect">
            <a:avLst/>
          </a:prstGeom>
          <a:noFill/>
        </p:spPr>
        <p:txBody>
          <a:bodyPr wrap="square" lIns="0" rIns="0" tIns="0" bIns="0" anchor="ctr">
            <a:spAutoFit/>
          </a:bodyPr>
          <a:lstStyle/>
          <a:p>
            <a:pPr algn="ctr"/>
            <a:r>
              <a:rPr sz="933" b="1" i="0">
                <a:solidFill>
                  <a:srgbClr val="FFFFFF"/>
                </a:solidFill>
                <a:latin typeface="Verdana"/>
              </a:rPr>
              <a:t>Literatursuche (Tool)</a:t>
            </a:r>
          </a:p>
        </p:txBody>
      </p:sp>
      <p:sp>
        <p:nvSpPr>
          <p:cNvPr id="34" name="Rectangle 33"/>
          <p:cNvSpPr/>
          <p:nvPr/>
        </p:nvSpPr>
        <p:spPr>
          <a:xfrm>
            <a:off x="771143" y="5518404"/>
            <a:ext cx="1780032" cy="256032"/>
          </a:xfrm>
          <a:prstGeom prst="rect">
            <a:avLst/>
          </a:prstGeom>
          <a:solidFill>
            <a:srgbClr val="24232E"/>
          </a:solidFill>
          <a:ln w="19050">
            <a:solidFill>
              <a:srgbClr val="9A9AAA"/>
            </a:solidFill>
          </a:ln>
        </p:spPr>
        <p:txBody>
          <a:bodyPr rtlCol="0" anchor="ctr"/>
          <a:lstStyle/>
          <a:p>
            <a:pPr algn="ctr"/>
          </a:p>
        </p:txBody>
      </p:sp>
      <p:sp>
        <p:nvSpPr>
          <p:cNvPr id="35" name="TextBox 34"/>
          <p:cNvSpPr txBox="1"/>
          <p:nvPr/>
        </p:nvSpPr>
        <p:spPr>
          <a:xfrm>
            <a:off x="844295" y="5518404"/>
            <a:ext cx="1633728" cy="256032"/>
          </a:xfrm>
          <a:prstGeom prst="rect">
            <a:avLst/>
          </a:prstGeom>
          <a:noFill/>
        </p:spPr>
        <p:txBody>
          <a:bodyPr wrap="square" lIns="0" rIns="0" tIns="0" bIns="0" anchor="ctr">
            <a:spAutoFit/>
          </a:bodyPr>
          <a:lstStyle/>
          <a:p>
            <a:pPr algn="ctr"/>
            <a:r>
              <a:rPr sz="933" b="1" i="0">
                <a:solidFill>
                  <a:srgbClr val="FFFFFF"/>
                </a:solidFill>
                <a:latin typeface="Verdana"/>
              </a:rPr>
              <a:t>Chat Input</a:t>
            </a:r>
          </a:p>
        </p:txBody>
      </p:sp>
      <p:sp>
        <p:nvSpPr>
          <p:cNvPr id="36" name="Rectangle 35"/>
          <p:cNvSpPr/>
          <p:nvPr/>
        </p:nvSpPr>
        <p:spPr>
          <a:xfrm>
            <a:off x="2996183" y="5198364"/>
            <a:ext cx="1780032" cy="256032"/>
          </a:xfrm>
          <a:prstGeom prst="rect">
            <a:avLst/>
          </a:prstGeom>
          <a:solidFill>
            <a:srgbClr val="24232E"/>
          </a:solidFill>
          <a:ln w="19050">
            <a:solidFill>
              <a:srgbClr val="18E979"/>
            </a:solidFill>
          </a:ln>
        </p:spPr>
        <p:txBody>
          <a:bodyPr rtlCol="0" anchor="ctr"/>
          <a:lstStyle/>
          <a:p>
            <a:pPr algn="ctr"/>
          </a:p>
        </p:txBody>
      </p:sp>
      <p:sp>
        <p:nvSpPr>
          <p:cNvPr id="37" name="TextBox 36"/>
          <p:cNvSpPr txBox="1"/>
          <p:nvPr/>
        </p:nvSpPr>
        <p:spPr>
          <a:xfrm>
            <a:off x="3069336" y="5198364"/>
            <a:ext cx="1633728" cy="256032"/>
          </a:xfrm>
          <a:prstGeom prst="rect">
            <a:avLst/>
          </a:prstGeom>
          <a:noFill/>
        </p:spPr>
        <p:txBody>
          <a:bodyPr wrap="square" lIns="0" rIns="0" tIns="0" bIns="0" anchor="ctr">
            <a:spAutoFit/>
          </a:bodyPr>
          <a:lstStyle/>
          <a:p>
            <a:pPr algn="ctr"/>
            <a:r>
              <a:rPr sz="933" b="1" i="0">
                <a:solidFill>
                  <a:srgbClr val="FFFFFF"/>
                </a:solidFill>
                <a:latin typeface="Verdana"/>
              </a:rPr>
              <a:t>Agent</a:t>
            </a:r>
          </a:p>
        </p:txBody>
      </p:sp>
      <p:sp>
        <p:nvSpPr>
          <p:cNvPr id="38" name="Rectangle 37"/>
          <p:cNvSpPr/>
          <p:nvPr/>
        </p:nvSpPr>
        <p:spPr>
          <a:xfrm>
            <a:off x="5221223" y="5198364"/>
            <a:ext cx="1780032" cy="256032"/>
          </a:xfrm>
          <a:prstGeom prst="rect">
            <a:avLst/>
          </a:prstGeom>
          <a:solidFill>
            <a:srgbClr val="24232E"/>
          </a:solidFill>
          <a:ln w="19050">
            <a:solidFill>
              <a:srgbClr val="9A9AAA"/>
            </a:solidFill>
          </a:ln>
        </p:spPr>
        <p:txBody>
          <a:bodyPr rtlCol="0" anchor="ctr"/>
          <a:lstStyle/>
          <a:p>
            <a:pPr algn="ctr"/>
          </a:p>
        </p:txBody>
      </p:sp>
      <p:sp>
        <p:nvSpPr>
          <p:cNvPr id="39" name="TextBox 38"/>
          <p:cNvSpPr txBox="1"/>
          <p:nvPr/>
        </p:nvSpPr>
        <p:spPr>
          <a:xfrm>
            <a:off x="5294375" y="5198364"/>
            <a:ext cx="1633728" cy="256032"/>
          </a:xfrm>
          <a:prstGeom prst="rect">
            <a:avLst/>
          </a:prstGeom>
          <a:noFill/>
        </p:spPr>
        <p:txBody>
          <a:bodyPr wrap="square" lIns="0" rIns="0" tIns="0" bIns="0" anchor="ctr">
            <a:spAutoFit/>
          </a:bodyPr>
          <a:lstStyle/>
          <a:p>
            <a:pPr algn="ctr"/>
            <a:r>
              <a:rPr sz="933" b="1" i="0">
                <a:solidFill>
                  <a:srgbClr val="FFFFFF"/>
                </a:solidFill>
                <a:latin typeface="Verdana"/>
              </a:rPr>
              <a:t>Chat Output</a:t>
            </a:r>
          </a:p>
        </p:txBody>
      </p:sp>
      <p:cxnSp>
        <p:nvCxnSpPr>
          <p:cNvPr id="40" name="Connector 39"/>
          <p:cNvCxnSpPr/>
          <p:nvPr/>
        </p:nvCxnSpPr>
        <p:spPr>
          <a:xfrm>
            <a:off x="2551176" y="5006340"/>
            <a:ext cx="445007" cy="320039"/>
          </a:xfrm>
          <a:prstGeom prst="line">
            <a:avLst/>
          </a:prstGeom>
          <a:ln w="15875">
            <a:solidFill>
              <a:srgbClr val="9A9AAA"/>
            </a:solidFill>
            <a:tailEnd type="triangle" w="med" len="med"/>
          </a:ln>
        </p:spPr>
      </p:cxnSp>
      <p:cxnSp>
        <p:nvCxnSpPr>
          <p:cNvPr id="41" name="Connector 40"/>
          <p:cNvCxnSpPr/>
          <p:nvPr/>
        </p:nvCxnSpPr>
        <p:spPr>
          <a:xfrm>
            <a:off x="2551176" y="5326379"/>
            <a:ext cx="445007" cy="0"/>
          </a:xfrm>
          <a:prstGeom prst="line">
            <a:avLst/>
          </a:prstGeom>
          <a:ln w="15875">
            <a:solidFill>
              <a:srgbClr val="9A9AAA"/>
            </a:solidFill>
            <a:tailEnd type="triangle" w="med" len="med"/>
          </a:ln>
        </p:spPr>
      </p:cxnSp>
      <p:cxnSp>
        <p:nvCxnSpPr>
          <p:cNvPr id="42" name="Connector 41"/>
          <p:cNvCxnSpPr/>
          <p:nvPr/>
        </p:nvCxnSpPr>
        <p:spPr>
          <a:xfrm flipV="1">
            <a:off x="2551176" y="5326379"/>
            <a:ext cx="445007" cy="320041"/>
          </a:xfrm>
          <a:prstGeom prst="line">
            <a:avLst/>
          </a:prstGeom>
          <a:ln w="15875">
            <a:solidFill>
              <a:srgbClr val="9A9AAA"/>
            </a:solidFill>
            <a:tailEnd type="triangle" w="med" len="med"/>
          </a:ln>
        </p:spPr>
      </p:cxnSp>
      <p:cxnSp>
        <p:nvCxnSpPr>
          <p:cNvPr id="43" name="Connector 42"/>
          <p:cNvCxnSpPr/>
          <p:nvPr/>
        </p:nvCxnSpPr>
        <p:spPr>
          <a:xfrm>
            <a:off x="4776215" y="5326379"/>
            <a:ext cx="445008" cy="0"/>
          </a:xfrm>
          <a:prstGeom prst="line">
            <a:avLst/>
          </a:prstGeom>
          <a:ln w="15875">
            <a:solidFill>
              <a:srgbClr val="9A9AAA"/>
            </a:solidFill>
            <a:tailEnd type="triangle" w="med" len="med"/>
          </a:ln>
        </p:spPr>
      </p:cxn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Ein zweites Werkzeug.</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2B · 15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02919"/>
          </a:xfrm>
          <a:prstGeom prst="rect">
            <a:avLst/>
          </a:prstGeom>
          <a:noFill/>
        </p:spPr>
        <p:txBody>
          <a:bodyPr wrap="square" lIns="0" rIns="0" tIns="0" bIns="0" anchor="t">
            <a:spAutoFit/>
          </a:bodyPr>
          <a:lstStyle/>
          <a:p>
            <a:pPr algn="l"/>
            <a:r>
              <a:rPr sz="1267" b="1" i="0">
                <a:solidFill>
                  <a:srgbClr val="FFFFFF"/>
                </a:solidFill>
                <a:latin typeface="Verdana"/>
              </a:rPr>
              <a:t>Werkzeug: </a:t>
            </a:r>
            <a:r>
              <a:rPr sz="1267" b="0" i="0">
                <a:solidFill>
                  <a:srgbClr val="9A9AAA"/>
                </a:solidFill>
                <a:latin typeface="Verdana"/>
              </a:rPr>
              <a:t>Katalogsuche (hbz / lobid) dazu, Tool Mode an, Toolset → Tools.</a:t>
            </a:r>
          </a:p>
        </p:txBody>
      </p:sp>
      <p:sp>
        <p:nvSpPr>
          <p:cNvPr id="7" name="Oval 6"/>
          <p:cNvSpPr/>
          <p:nvPr/>
        </p:nvSpPr>
        <p:spPr>
          <a:xfrm>
            <a:off x="548640" y="2350008"/>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350008"/>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31720"/>
            <a:ext cx="6172200" cy="502919"/>
          </a:xfrm>
          <a:prstGeom prst="rect">
            <a:avLst/>
          </a:prstGeom>
          <a:noFill/>
        </p:spPr>
        <p:txBody>
          <a:bodyPr wrap="square" lIns="0" rIns="0" tIns="0" bIns="0" anchor="t">
            <a:spAutoFit/>
          </a:bodyPr>
          <a:lstStyle/>
          <a:p>
            <a:pPr algn="l"/>
            <a:r>
              <a:rPr sz="1267" b="1" i="0">
                <a:solidFill>
                  <a:srgbClr val="FFFFFF"/>
                </a:solidFill>
                <a:latin typeface="Verdana"/>
              </a:rPr>
              <a:t>Regel: </a:t>
            </a:r>
            <a:r>
              <a:rPr sz="1267" b="0" i="0">
                <a:solidFill>
                  <a:srgbClr val="9A9AAA"/>
                </a:solidFill>
                <a:latin typeface="Verdana"/>
              </a:rPr>
              <a:t>In Agent Instructions ergänzen: „Für Bücher die Katalogsuche, für Zeitschriftenartikel die Literatursuche.“</a:t>
            </a:r>
          </a:p>
        </p:txBody>
      </p:sp>
      <p:sp>
        <p:nvSpPr>
          <p:cNvPr id="10" name="Oval 9"/>
          <p:cNvSpPr/>
          <p:nvPr/>
        </p:nvSpPr>
        <p:spPr>
          <a:xfrm>
            <a:off x="548640" y="2898648"/>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2898648"/>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880360"/>
            <a:ext cx="6172200" cy="502919"/>
          </a:xfrm>
          <a:prstGeom prst="rect">
            <a:avLst/>
          </a:prstGeom>
          <a:noFill/>
        </p:spPr>
        <p:txBody>
          <a:bodyPr wrap="square" lIns="0" rIns="0" tIns="0" bIns="0" anchor="t">
            <a:spAutoFit/>
          </a:bodyPr>
          <a:lstStyle/>
          <a:p>
            <a:pPr algn="l"/>
            <a:r>
              <a:rPr sz="1267" b="1" i="0">
                <a:solidFill>
                  <a:srgbClr val="FFFFFF"/>
                </a:solidFill>
                <a:latin typeface="Verdana"/>
              </a:rPr>
              <a:t>Testen: </a:t>
            </a:r>
            <a:r>
              <a:rPr sz="1267" b="0" i="0">
                <a:solidFill>
                  <a:srgbClr val="9A9AAA"/>
                </a:solidFill>
                <a:latin typeface="Verdana"/>
              </a:rPr>
              <a:t>„Gibt es ein Buch von Umberto Eco über Abschlussarbeiten?“ Welches Werkzeug wählt der Agent?</a:t>
            </a:r>
          </a:p>
        </p:txBody>
      </p:sp>
      <p:sp>
        <p:nvSpPr>
          <p:cNvPr id="13" name="Oval 12"/>
          <p:cNvSpPr/>
          <p:nvPr/>
        </p:nvSpPr>
        <p:spPr>
          <a:xfrm>
            <a:off x="548640" y="3447288"/>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447288"/>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429000"/>
            <a:ext cx="6172200" cy="502919"/>
          </a:xfrm>
          <a:prstGeom prst="rect">
            <a:avLst/>
          </a:prstGeom>
          <a:noFill/>
        </p:spPr>
        <p:txBody>
          <a:bodyPr wrap="square" lIns="0" rIns="0" tIns="0" bIns="0" anchor="t">
            <a:spAutoFit/>
          </a:bodyPr>
          <a:lstStyle/>
          <a:p>
            <a:pPr algn="l"/>
            <a:r>
              <a:rPr sz="1267" b="1" i="0">
                <a:solidFill>
                  <a:srgbClr val="FFFFFF"/>
                </a:solidFill>
                <a:latin typeface="Verdana"/>
              </a:rPr>
              <a:t>Gegenprobe: </a:t>
            </a:r>
            <a:r>
              <a:rPr sz="1267" b="0" i="0">
                <a:solidFill>
                  <a:srgbClr val="9A9AAA"/>
                </a:solidFill>
                <a:latin typeface="Verdana"/>
              </a:rPr>
              <a:t>Die Regel wieder löschen und neu fragen. Ändert sich die Wahl?</a:t>
            </a:r>
          </a:p>
        </p:txBody>
      </p:sp>
      <p:sp>
        <p:nvSpPr>
          <p:cNvPr id="16" name="Oval 15"/>
          <p:cNvSpPr/>
          <p:nvPr/>
        </p:nvSpPr>
        <p:spPr>
          <a:xfrm>
            <a:off x="548640" y="3995927"/>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3995927"/>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3977639"/>
            <a:ext cx="6172200" cy="502919"/>
          </a:xfrm>
          <a:prstGeom prst="rect">
            <a:avLst/>
          </a:prstGeom>
          <a:noFill/>
        </p:spPr>
        <p:txBody>
          <a:bodyPr wrap="square" lIns="0" rIns="0" tIns="0" bIns="0" anchor="t">
            <a:spAutoFit/>
          </a:bodyPr>
          <a:lstStyle/>
          <a:p>
            <a:pPr algn="l"/>
            <a:r>
              <a:rPr sz="1267" b="1" i="0">
                <a:solidFill>
                  <a:srgbClr val="FFFFFF"/>
                </a:solidFill>
                <a:latin typeface="Verdana"/>
              </a:rPr>
              <a:t>Vergleichen: </a:t>
            </a:r>
            <a:r>
              <a:rPr sz="1267" b="0" i="0">
                <a:solidFill>
                  <a:srgbClr val="9A9AAA"/>
                </a:solidFill>
                <a:latin typeface="Verdana"/>
              </a:rPr>
              <a:t>Flow „04 Recherche-Agent“ ansehen: drei Werkzeuge und ausführliche Regeln.</a:t>
            </a:r>
          </a:p>
        </p:txBody>
      </p:sp>
      <p:sp>
        <p:nvSpPr>
          <p:cNvPr id="19" name="Rectangle 18"/>
          <p:cNvSpPr/>
          <p:nvPr/>
        </p:nvSpPr>
        <p:spPr>
          <a:xfrm>
            <a:off x="7635240" y="1783080"/>
            <a:ext cx="4005072" cy="86868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365759"/>
          </a:xfrm>
          <a:prstGeom prst="rect">
            <a:avLst/>
          </a:prstGeom>
          <a:noFill/>
        </p:spPr>
        <p:txBody>
          <a:bodyPr wrap="square" lIns="0" rIns="0" tIns="0" bIns="0" anchor="t">
            <a:spAutoFit/>
          </a:bodyPr>
          <a:lstStyle/>
          <a:p>
            <a:pPr algn="l"/>
            <a:r>
              <a:rPr sz="1200" b="0" i="0">
                <a:solidFill>
                  <a:srgbClr val="FFFFFF"/>
                </a:solidFill>
                <a:latin typeface="Verdana"/>
              </a:rPr>
              <a:t>Der Agent wählt zwischen Artikeldatenbank und Bibliothekskatalog.</a:t>
            </a:r>
          </a:p>
        </p:txBody>
      </p:sp>
      <p:sp>
        <p:nvSpPr>
          <p:cNvPr id="23" name="Rectangle 22"/>
          <p:cNvSpPr/>
          <p:nvPr/>
        </p:nvSpPr>
        <p:spPr>
          <a:xfrm>
            <a:off x="7635240" y="2761487"/>
            <a:ext cx="4005072" cy="1051560"/>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2916935"/>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TIPP</a:t>
            </a:r>
          </a:p>
        </p:txBody>
      </p:sp>
      <p:sp>
        <p:nvSpPr>
          <p:cNvPr id="25" name="TextBox 24"/>
          <p:cNvSpPr txBox="1"/>
          <p:nvPr/>
        </p:nvSpPr>
        <p:spPr>
          <a:xfrm>
            <a:off x="7836408" y="3172968"/>
            <a:ext cx="3602736" cy="548639"/>
          </a:xfrm>
          <a:prstGeom prst="rect">
            <a:avLst/>
          </a:prstGeom>
          <a:noFill/>
        </p:spPr>
        <p:txBody>
          <a:bodyPr wrap="square" lIns="0" rIns="0" tIns="0" bIns="0" anchor="t">
            <a:spAutoFit/>
          </a:bodyPr>
          <a:lstStyle/>
          <a:p>
            <a:pPr algn="l"/>
            <a:r>
              <a:rPr sz="1200" b="0" i="0">
                <a:solidFill>
                  <a:srgbClr val="9A9AAA"/>
                </a:solidFill>
                <a:latin typeface="Verdana"/>
              </a:rPr>
              <a:t>Weitere Werkzeuge zum Ausprobieren: Wikipedia API, URL oder Literaturangaben prüfen.</a:t>
            </a:r>
          </a:p>
        </p:txBody>
      </p:sp>
      <p:sp>
        <p:nvSpPr>
          <p:cNvPr id="26" name="Rectangle 25"/>
          <p:cNvSpPr/>
          <p:nvPr/>
        </p:nvSpPr>
        <p:spPr>
          <a:xfrm>
            <a:off x="7635240" y="3922775"/>
            <a:ext cx="4005072" cy="914400"/>
          </a:xfrm>
          <a:prstGeom prst="rect">
            <a:avLst/>
          </a:prstGeom>
          <a:solidFill>
            <a:srgbClr val="24232E"/>
          </a:solidFill>
          <a:ln>
            <a:noFill/>
          </a:ln>
        </p:spPr>
        <p:txBody>
          <a:bodyPr rtlCol="0" anchor="ctr"/>
          <a:lstStyle/>
          <a:p>
            <a:pPr algn="ctr"/>
          </a:p>
        </p:txBody>
      </p:sp>
      <p:sp>
        <p:nvSpPr>
          <p:cNvPr id="27" name="TextBox 26"/>
          <p:cNvSpPr txBox="1"/>
          <p:nvPr/>
        </p:nvSpPr>
        <p:spPr>
          <a:xfrm>
            <a:off x="7836408" y="4078223"/>
            <a:ext cx="3602736" cy="228600"/>
          </a:xfrm>
          <a:prstGeom prst="rect">
            <a:avLst/>
          </a:prstGeom>
          <a:noFill/>
        </p:spPr>
        <p:txBody>
          <a:bodyPr wrap="square" lIns="0" rIns="0" tIns="0" bIns="0" anchor="t">
            <a:spAutoFit/>
          </a:bodyPr>
          <a:lstStyle/>
          <a:p>
            <a:pPr algn="l"/>
            <a:r>
              <a:rPr sz="933" b="1" i="0" spc="300">
                <a:solidFill>
                  <a:srgbClr val="9A9AAA"/>
                </a:solidFill>
                <a:latin typeface="Verdana"/>
              </a:rPr>
              <a:t>WEITERDENKEN</a:t>
            </a:r>
          </a:p>
        </p:txBody>
      </p:sp>
      <p:sp>
        <p:nvSpPr>
          <p:cNvPr id="28" name="TextBox 27"/>
          <p:cNvSpPr txBox="1"/>
          <p:nvPr/>
        </p:nvSpPr>
        <p:spPr>
          <a:xfrm>
            <a:off x="7836408" y="4334255"/>
            <a:ext cx="3602736" cy="411479"/>
          </a:xfrm>
          <a:prstGeom prst="rect">
            <a:avLst/>
          </a:prstGeom>
          <a:noFill/>
        </p:spPr>
        <p:txBody>
          <a:bodyPr wrap="square" lIns="0" rIns="0" tIns="0" bIns="0" anchor="t">
            <a:spAutoFit/>
          </a:bodyPr>
          <a:lstStyle/>
          <a:p>
            <a:pPr algn="l"/>
            <a:r>
              <a:rPr sz="1200" b="0" i="1">
                <a:solidFill>
                  <a:srgbClr val="FFFFFF"/>
                </a:solidFill>
                <a:latin typeface="Verdana"/>
              </a:rPr>
              <a:t>Wann ist ein fester Workflow besser als ein Agent?</a:t>
            </a:r>
          </a:p>
        </p:txBody>
      </p:sp>
      <p:sp>
        <p:nvSpPr>
          <p:cNvPr id="29" name="TextBox 28"/>
          <p:cNvSpPr txBox="1"/>
          <p:nvPr/>
        </p:nvSpPr>
        <p:spPr>
          <a:xfrm>
            <a:off x="548640" y="457200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SO SIEHT DER FLOW AUS</a:t>
            </a:r>
          </a:p>
        </p:txBody>
      </p:sp>
      <p:sp>
        <p:nvSpPr>
          <p:cNvPr id="30" name="Rectangle 29"/>
          <p:cNvSpPr/>
          <p:nvPr/>
        </p:nvSpPr>
        <p:spPr>
          <a:xfrm>
            <a:off x="771143" y="4878324"/>
            <a:ext cx="1780032" cy="256032"/>
          </a:xfrm>
          <a:prstGeom prst="rect">
            <a:avLst/>
          </a:prstGeom>
          <a:solidFill>
            <a:srgbClr val="24232E"/>
          </a:solidFill>
          <a:ln w="19050">
            <a:solidFill>
              <a:srgbClr val="B1063A"/>
            </a:solidFill>
          </a:ln>
        </p:spPr>
        <p:txBody>
          <a:bodyPr rtlCol="0" anchor="ctr"/>
          <a:lstStyle/>
          <a:p>
            <a:pPr algn="ctr"/>
          </a:p>
        </p:txBody>
      </p:sp>
      <p:sp>
        <p:nvSpPr>
          <p:cNvPr id="31" name="TextBox 30"/>
          <p:cNvSpPr txBox="1"/>
          <p:nvPr/>
        </p:nvSpPr>
        <p:spPr>
          <a:xfrm>
            <a:off x="844295" y="4878324"/>
            <a:ext cx="1633728" cy="256032"/>
          </a:xfrm>
          <a:prstGeom prst="rect">
            <a:avLst/>
          </a:prstGeom>
          <a:noFill/>
        </p:spPr>
        <p:txBody>
          <a:bodyPr wrap="square" lIns="0" rIns="0" tIns="0" bIns="0" anchor="ctr">
            <a:spAutoFit/>
          </a:bodyPr>
          <a:lstStyle/>
          <a:p>
            <a:pPr algn="ctr"/>
            <a:r>
              <a:rPr sz="933" b="1" i="0">
                <a:solidFill>
                  <a:srgbClr val="FFFFFF"/>
                </a:solidFill>
                <a:latin typeface="Verdana"/>
              </a:rPr>
              <a:t>KI-Modell</a:t>
            </a:r>
          </a:p>
        </p:txBody>
      </p:sp>
      <p:sp>
        <p:nvSpPr>
          <p:cNvPr id="32" name="Rectangle 31"/>
          <p:cNvSpPr/>
          <p:nvPr/>
        </p:nvSpPr>
        <p:spPr>
          <a:xfrm>
            <a:off x="771143" y="5198364"/>
            <a:ext cx="1780032" cy="256032"/>
          </a:xfrm>
          <a:prstGeom prst="rect">
            <a:avLst/>
          </a:prstGeom>
          <a:solidFill>
            <a:srgbClr val="24232E"/>
          </a:solidFill>
          <a:ln w="19050">
            <a:solidFill>
              <a:srgbClr val="DC640D"/>
            </a:solidFill>
          </a:ln>
        </p:spPr>
        <p:txBody>
          <a:bodyPr rtlCol="0" anchor="ctr"/>
          <a:lstStyle/>
          <a:p>
            <a:pPr algn="ctr"/>
          </a:p>
        </p:txBody>
      </p:sp>
      <p:sp>
        <p:nvSpPr>
          <p:cNvPr id="33" name="TextBox 32"/>
          <p:cNvSpPr txBox="1"/>
          <p:nvPr/>
        </p:nvSpPr>
        <p:spPr>
          <a:xfrm>
            <a:off x="844295" y="5198364"/>
            <a:ext cx="1633728" cy="256032"/>
          </a:xfrm>
          <a:prstGeom prst="rect">
            <a:avLst/>
          </a:prstGeom>
          <a:noFill/>
        </p:spPr>
        <p:txBody>
          <a:bodyPr wrap="square" lIns="0" rIns="0" tIns="0" bIns="0" anchor="ctr">
            <a:spAutoFit/>
          </a:bodyPr>
          <a:lstStyle/>
          <a:p>
            <a:pPr algn="ctr"/>
            <a:r>
              <a:rPr sz="933" b="1" i="0">
                <a:solidFill>
                  <a:srgbClr val="FFFFFF"/>
                </a:solidFill>
                <a:latin typeface="Verdana"/>
              </a:rPr>
              <a:t>Literatursuche (Tool)</a:t>
            </a:r>
          </a:p>
        </p:txBody>
      </p:sp>
      <p:sp>
        <p:nvSpPr>
          <p:cNvPr id="34" name="Rectangle 33"/>
          <p:cNvSpPr/>
          <p:nvPr/>
        </p:nvSpPr>
        <p:spPr>
          <a:xfrm>
            <a:off x="771143" y="5518404"/>
            <a:ext cx="1780032" cy="256032"/>
          </a:xfrm>
          <a:prstGeom prst="rect">
            <a:avLst/>
          </a:prstGeom>
          <a:solidFill>
            <a:srgbClr val="24232E"/>
          </a:solidFill>
          <a:ln w="19050">
            <a:solidFill>
              <a:srgbClr val="DC640D"/>
            </a:solidFill>
          </a:ln>
        </p:spPr>
        <p:txBody>
          <a:bodyPr rtlCol="0" anchor="ctr"/>
          <a:lstStyle/>
          <a:p>
            <a:pPr algn="ctr"/>
          </a:p>
        </p:txBody>
      </p:sp>
      <p:sp>
        <p:nvSpPr>
          <p:cNvPr id="35" name="TextBox 34"/>
          <p:cNvSpPr txBox="1"/>
          <p:nvPr/>
        </p:nvSpPr>
        <p:spPr>
          <a:xfrm>
            <a:off x="844295" y="5518404"/>
            <a:ext cx="1633728" cy="256032"/>
          </a:xfrm>
          <a:prstGeom prst="rect">
            <a:avLst/>
          </a:prstGeom>
          <a:noFill/>
        </p:spPr>
        <p:txBody>
          <a:bodyPr wrap="square" lIns="0" rIns="0" tIns="0" bIns="0" anchor="ctr">
            <a:spAutoFit/>
          </a:bodyPr>
          <a:lstStyle/>
          <a:p>
            <a:pPr algn="ctr"/>
            <a:r>
              <a:rPr sz="933" b="1" i="0">
                <a:solidFill>
                  <a:srgbClr val="FFFFFF"/>
                </a:solidFill>
                <a:latin typeface="Verdana"/>
              </a:rPr>
              <a:t>Katalogsuche (Tool)</a:t>
            </a:r>
          </a:p>
        </p:txBody>
      </p:sp>
      <p:sp>
        <p:nvSpPr>
          <p:cNvPr id="36" name="Rectangle 35"/>
          <p:cNvSpPr/>
          <p:nvPr/>
        </p:nvSpPr>
        <p:spPr>
          <a:xfrm>
            <a:off x="2996183" y="5198364"/>
            <a:ext cx="1780032" cy="256032"/>
          </a:xfrm>
          <a:prstGeom prst="rect">
            <a:avLst/>
          </a:prstGeom>
          <a:solidFill>
            <a:srgbClr val="24232E"/>
          </a:solidFill>
          <a:ln w="19050">
            <a:solidFill>
              <a:srgbClr val="18E979"/>
            </a:solidFill>
          </a:ln>
        </p:spPr>
        <p:txBody>
          <a:bodyPr rtlCol="0" anchor="ctr"/>
          <a:lstStyle/>
          <a:p>
            <a:pPr algn="ctr"/>
          </a:p>
        </p:txBody>
      </p:sp>
      <p:sp>
        <p:nvSpPr>
          <p:cNvPr id="37" name="TextBox 36"/>
          <p:cNvSpPr txBox="1"/>
          <p:nvPr/>
        </p:nvSpPr>
        <p:spPr>
          <a:xfrm>
            <a:off x="3069336" y="5198364"/>
            <a:ext cx="1633728" cy="256032"/>
          </a:xfrm>
          <a:prstGeom prst="rect">
            <a:avLst/>
          </a:prstGeom>
          <a:noFill/>
        </p:spPr>
        <p:txBody>
          <a:bodyPr wrap="square" lIns="0" rIns="0" tIns="0" bIns="0" anchor="ctr">
            <a:spAutoFit/>
          </a:bodyPr>
          <a:lstStyle/>
          <a:p>
            <a:pPr algn="ctr"/>
            <a:r>
              <a:rPr sz="933" b="1" i="0">
                <a:solidFill>
                  <a:srgbClr val="FFFFFF"/>
                </a:solidFill>
                <a:latin typeface="Verdana"/>
              </a:rPr>
              <a:t>Agent</a:t>
            </a:r>
          </a:p>
        </p:txBody>
      </p:sp>
      <p:sp>
        <p:nvSpPr>
          <p:cNvPr id="38" name="Rectangle 37"/>
          <p:cNvSpPr/>
          <p:nvPr/>
        </p:nvSpPr>
        <p:spPr>
          <a:xfrm>
            <a:off x="5221223" y="5198364"/>
            <a:ext cx="1780032" cy="256032"/>
          </a:xfrm>
          <a:prstGeom prst="rect">
            <a:avLst/>
          </a:prstGeom>
          <a:solidFill>
            <a:srgbClr val="24232E"/>
          </a:solidFill>
          <a:ln w="19050">
            <a:solidFill>
              <a:srgbClr val="9A9AAA"/>
            </a:solidFill>
          </a:ln>
        </p:spPr>
        <p:txBody>
          <a:bodyPr rtlCol="0" anchor="ctr"/>
          <a:lstStyle/>
          <a:p>
            <a:pPr algn="ctr"/>
          </a:p>
        </p:txBody>
      </p:sp>
      <p:sp>
        <p:nvSpPr>
          <p:cNvPr id="39" name="TextBox 38"/>
          <p:cNvSpPr txBox="1"/>
          <p:nvPr/>
        </p:nvSpPr>
        <p:spPr>
          <a:xfrm>
            <a:off x="5294375" y="5198364"/>
            <a:ext cx="1633728" cy="256032"/>
          </a:xfrm>
          <a:prstGeom prst="rect">
            <a:avLst/>
          </a:prstGeom>
          <a:noFill/>
        </p:spPr>
        <p:txBody>
          <a:bodyPr wrap="square" lIns="0" rIns="0" tIns="0" bIns="0" anchor="ctr">
            <a:spAutoFit/>
          </a:bodyPr>
          <a:lstStyle/>
          <a:p>
            <a:pPr algn="ctr"/>
            <a:r>
              <a:rPr sz="933" b="1" i="0">
                <a:solidFill>
                  <a:srgbClr val="FFFFFF"/>
                </a:solidFill>
                <a:latin typeface="Verdana"/>
              </a:rPr>
              <a:t>Chat Output</a:t>
            </a:r>
          </a:p>
        </p:txBody>
      </p:sp>
      <p:cxnSp>
        <p:nvCxnSpPr>
          <p:cNvPr id="40" name="Connector 39"/>
          <p:cNvCxnSpPr/>
          <p:nvPr/>
        </p:nvCxnSpPr>
        <p:spPr>
          <a:xfrm>
            <a:off x="2551176" y="5006340"/>
            <a:ext cx="445007" cy="320039"/>
          </a:xfrm>
          <a:prstGeom prst="line">
            <a:avLst/>
          </a:prstGeom>
          <a:ln w="15875">
            <a:solidFill>
              <a:srgbClr val="9A9AAA"/>
            </a:solidFill>
            <a:tailEnd type="triangle" w="med" len="med"/>
          </a:ln>
        </p:spPr>
      </p:cxnSp>
      <p:cxnSp>
        <p:nvCxnSpPr>
          <p:cNvPr id="41" name="Connector 40"/>
          <p:cNvCxnSpPr/>
          <p:nvPr/>
        </p:nvCxnSpPr>
        <p:spPr>
          <a:xfrm>
            <a:off x="2551176" y="5326379"/>
            <a:ext cx="445007" cy="0"/>
          </a:xfrm>
          <a:prstGeom prst="line">
            <a:avLst/>
          </a:prstGeom>
          <a:ln w="15875">
            <a:solidFill>
              <a:srgbClr val="9A9AAA"/>
            </a:solidFill>
            <a:tailEnd type="triangle" w="med" len="med"/>
          </a:ln>
        </p:spPr>
      </p:cxnSp>
      <p:cxnSp>
        <p:nvCxnSpPr>
          <p:cNvPr id="42" name="Connector 41"/>
          <p:cNvCxnSpPr/>
          <p:nvPr/>
        </p:nvCxnSpPr>
        <p:spPr>
          <a:xfrm flipV="1">
            <a:off x="2551176" y="5326379"/>
            <a:ext cx="445007" cy="320041"/>
          </a:xfrm>
          <a:prstGeom prst="line">
            <a:avLst/>
          </a:prstGeom>
          <a:ln w="15875">
            <a:solidFill>
              <a:srgbClr val="9A9AAA"/>
            </a:solidFill>
            <a:tailEnd type="triangle" w="med" len="med"/>
          </a:ln>
        </p:spPr>
      </p:cxnSp>
      <p:cxnSp>
        <p:nvCxnSpPr>
          <p:cNvPr id="43" name="Connector 42"/>
          <p:cNvCxnSpPr/>
          <p:nvPr/>
        </p:nvCxnSpPr>
        <p:spPr>
          <a:xfrm>
            <a:off x="4776215" y="5326379"/>
            <a:ext cx="445008" cy="0"/>
          </a:xfrm>
          <a:prstGeom prst="line">
            <a:avLst/>
          </a:prstGeom>
          <a:ln w="15875">
            <a:solidFill>
              <a:srgbClr val="9A9AAA"/>
            </a:solidFill>
            <a:tailEnd type="triangle" w="med" len="med"/>
          </a:ln>
        </p:spPr>
      </p:cxnSp>
      <p:sp>
        <p:nvSpPr>
          <p:cNvPr id="44" name="TextBox 43"/>
          <p:cNvSpPr txBox="1"/>
          <p:nvPr/>
        </p:nvSpPr>
        <p:spPr>
          <a:xfrm>
            <a:off x="5227319" y="5532120"/>
            <a:ext cx="2194560" cy="274320"/>
          </a:xfrm>
          <a:prstGeom prst="rect">
            <a:avLst/>
          </a:prstGeom>
          <a:noFill/>
        </p:spPr>
        <p:txBody>
          <a:bodyPr wrap="square" lIns="0" rIns="0" tIns="0" bIns="0" anchor="t">
            <a:spAutoFit/>
          </a:bodyPr>
          <a:lstStyle/>
          <a:p>
            <a:pPr algn="l"/>
            <a:r>
              <a:rPr sz="933" b="0" i="1">
                <a:solidFill>
                  <a:srgbClr val="9A9AAA"/>
                </a:solidFill>
                <a:latin typeface="Verdana"/>
              </a:rPr>
              <a:t>Chat Input wie in 2a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600200"/>
            <a:ext cx="8503920" cy="1737360"/>
          </a:xfrm>
        </p:spPr>
        <p:txBody>
          <a:bodyPr wrap="square" anchor="b" lIns="0" rIns="0" tIns="0" bIns="0"/>
          <a:lstStyle/>
          <a:p>
            <a:pPr algn="l"/>
            <a:r>
              <a:rPr sz="4533" b="1" i="0">
                <a:solidFill>
                  <a:srgbClr val="FFFFFF"/>
                </a:solidFill>
                <a:latin typeface="Verdana"/>
              </a:rPr>
              <a:t>Teil 3:</a:t>
            </a:r>
          </a:p>
          <a:p>
            <a:pPr algn="l"/>
            <a:r>
              <a:rPr sz="4533" b="1" i="0">
                <a:solidFill>
                  <a:srgbClr val="DC640D"/>
                </a:solidFill>
                <a:latin typeface="Verdana"/>
              </a:rPr>
              <a:t>Agentische Workflows.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3</a:t>
            </a:r>
          </a:p>
        </p:txBody>
      </p:sp>
      <p:cxnSp>
        <p:nvCxnSpPr>
          <p:cNvPr id="4" name="Connector 3"/>
          <p:cNvCxnSpPr/>
          <p:nvPr/>
        </p:nvCxnSpPr>
        <p:spPr>
          <a:xfrm>
            <a:off x="548640" y="3611880"/>
            <a:ext cx="1709928" cy="0"/>
          </a:xfrm>
          <a:prstGeom prst="line">
            <a:avLst/>
          </a:prstGeom>
          <a:ln w="57150">
            <a:solidFill>
              <a:srgbClr val="DC640D"/>
            </a:solidFill>
          </a:ln>
        </p:spPr>
      </p:cxnSp>
      <p:sp>
        <p:nvSpPr>
          <p:cNvPr id="5" name="TextBox 4"/>
          <p:cNvSpPr txBox="1"/>
          <p:nvPr/>
        </p:nvSpPr>
        <p:spPr>
          <a:xfrm>
            <a:off x="548640" y="3886200"/>
            <a:ext cx="8046720" cy="1097280"/>
          </a:xfrm>
          <a:prstGeom prst="rect">
            <a:avLst/>
          </a:prstGeom>
          <a:noFill/>
        </p:spPr>
        <p:txBody>
          <a:bodyPr wrap="square" lIns="0" rIns="0" tIns="0" bIns="0" anchor="t">
            <a:spAutoFit/>
          </a:bodyPr>
          <a:lstStyle/>
          <a:p>
            <a:pPr algn="l"/>
            <a:r>
              <a:rPr sz="1732" b="0" i="1">
                <a:solidFill>
                  <a:srgbClr val="9A9AAA"/>
                </a:solidFill>
                <a:latin typeface="Verdana"/>
              </a:rPr>
              <a:t>Feste Struktur, wo es Verlässlichkeit braucht. Entscheidungen der KI, wo es Flexibilität braucht.</a:t>
            </a:r>
          </a:p>
        </p:txBody>
      </p:sp>
      <p:sp>
        <p:nvSpPr>
          <p:cNvPr id="6" name="Oval 5"/>
          <p:cNvSpPr/>
          <p:nvPr/>
        </p:nvSpPr>
        <p:spPr>
          <a:xfrm>
            <a:off x="9326880" y="1828800"/>
            <a:ext cx="2011680" cy="2011680"/>
          </a:xfrm>
          <a:prstGeom prst="ellipse">
            <a:avLst/>
          </a:prstGeom>
          <a:solidFill>
            <a:srgbClr val="24232E"/>
          </a:solidFill>
          <a:ln w="19050">
            <a:solidFill>
              <a:srgbClr val="DC640D"/>
            </a:solidFill>
          </a:ln>
        </p:spPr>
        <p:txBody>
          <a:bodyPr rtlCol="0" anchor="ctr"/>
          <a:lstStyle/>
          <a:p>
            <a:pPr algn="ctr"/>
          </a:p>
        </p:txBody>
      </p:sp>
      <p:pic>
        <p:nvPicPr>
          <p:cNvPr id="7" name="Picture 6" descr="LuSplit_o.png"/>
          <p:cNvPicPr>
            <a:picLocks noChangeAspect="1"/>
          </p:cNvPicPr>
          <p:nvPr/>
        </p:nvPicPr>
        <p:blipFill>
          <a:blip r:embed="rId2"/>
          <a:stretch>
            <a:fillRect/>
          </a:stretch>
        </p:blipFill>
        <p:spPr>
          <a:xfrm>
            <a:off x="9829800" y="2331720"/>
            <a:ext cx="1005840" cy="100584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Von fest bis frei.</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3 · EINORDNUNG</a:t>
            </a:r>
          </a:p>
        </p:txBody>
      </p:sp>
      <p:sp>
        <p:nvSpPr>
          <p:cNvPr id="4" name="Rectangle 3"/>
          <p:cNvSpPr/>
          <p:nvPr/>
        </p:nvSpPr>
        <p:spPr>
          <a:xfrm>
            <a:off x="548640" y="2057400"/>
            <a:ext cx="11091672" cy="128016"/>
          </a:xfrm>
          <a:prstGeom prst="rect">
            <a:avLst/>
          </a:prstGeom>
          <a:solidFill>
            <a:srgbClr val="3A3948"/>
          </a:solidFill>
          <a:ln>
            <a:noFill/>
          </a:ln>
        </p:spPr>
        <p:txBody>
          <a:bodyPr rtlCol="0" anchor="ctr"/>
          <a:lstStyle/>
          <a:p>
            <a:pPr algn="ctr"/>
          </a:p>
        </p:txBody>
      </p:sp>
      <p:sp>
        <p:nvSpPr>
          <p:cNvPr id="5" name="Rectangle 4"/>
          <p:cNvSpPr/>
          <p:nvPr/>
        </p:nvSpPr>
        <p:spPr>
          <a:xfrm>
            <a:off x="548640" y="2057400"/>
            <a:ext cx="3660251" cy="128016"/>
          </a:xfrm>
          <a:prstGeom prst="rect">
            <a:avLst/>
          </a:prstGeom>
          <a:solidFill>
            <a:srgbClr val="DC640D"/>
          </a:solidFill>
          <a:ln>
            <a:noFill/>
          </a:ln>
        </p:spPr>
        <p:txBody>
          <a:bodyPr rtlCol="0" anchor="ctr"/>
          <a:lstStyle/>
          <a:p>
            <a:pPr algn="ctr"/>
          </a:p>
        </p:txBody>
      </p:sp>
      <p:sp>
        <p:nvSpPr>
          <p:cNvPr id="6" name="Rectangle 5"/>
          <p:cNvSpPr/>
          <p:nvPr/>
        </p:nvSpPr>
        <p:spPr>
          <a:xfrm>
            <a:off x="4208891" y="2057400"/>
            <a:ext cx="3771168" cy="128016"/>
          </a:xfrm>
          <a:prstGeom prst="rect">
            <a:avLst/>
          </a:prstGeom>
          <a:solidFill>
            <a:srgbClr val="B1063A"/>
          </a:solidFill>
          <a:ln>
            <a:noFill/>
          </a:ln>
        </p:spPr>
        <p:txBody>
          <a:bodyPr rtlCol="0" anchor="ctr"/>
          <a:lstStyle/>
          <a:p>
            <a:pPr algn="ctr"/>
          </a:p>
        </p:txBody>
      </p:sp>
      <p:sp>
        <p:nvSpPr>
          <p:cNvPr id="7" name="Rectangle 6"/>
          <p:cNvSpPr/>
          <p:nvPr/>
        </p:nvSpPr>
        <p:spPr>
          <a:xfrm>
            <a:off x="7980060" y="2057400"/>
            <a:ext cx="3660251" cy="128016"/>
          </a:xfrm>
          <a:prstGeom prst="rect">
            <a:avLst/>
          </a:prstGeom>
          <a:solidFill>
            <a:srgbClr val="18E979"/>
          </a:solidFill>
          <a:ln>
            <a:noFill/>
          </a:ln>
        </p:spPr>
        <p:txBody>
          <a:bodyPr rtlCol="0" anchor="ctr"/>
          <a:lstStyle/>
          <a:p>
            <a:pPr algn="ctr"/>
          </a:p>
        </p:txBody>
      </p:sp>
      <p:sp>
        <p:nvSpPr>
          <p:cNvPr id="8" name="TextBox 7"/>
          <p:cNvSpPr txBox="1"/>
          <p:nvPr/>
        </p:nvSpPr>
        <p:spPr>
          <a:xfrm>
            <a:off x="548640" y="1645920"/>
            <a:ext cx="3657600" cy="274320"/>
          </a:xfrm>
          <a:prstGeom prst="rect">
            <a:avLst/>
          </a:prstGeom>
          <a:noFill/>
        </p:spPr>
        <p:txBody>
          <a:bodyPr wrap="square" lIns="0" rIns="0" tIns="0" bIns="0" anchor="t">
            <a:spAutoFit/>
          </a:bodyPr>
          <a:lstStyle/>
          <a:p>
            <a:pPr algn="l"/>
            <a:r>
              <a:rPr sz="1100" b="0" i="1">
                <a:solidFill>
                  <a:srgbClr val="9A9AAA"/>
                </a:solidFill>
                <a:latin typeface="Verdana"/>
              </a:rPr>
              <a:t>mehr Kontrolle</a:t>
            </a:r>
          </a:p>
        </p:txBody>
      </p:sp>
      <p:sp>
        <p:nvSpPr>
          <p:cNvPr id="9" name="TextBox 8"/>
          <p:cNvSpPr txBox="1"/>
          <p:nvPr/>
        </p:nvSpPr>
        <p:spPr>
          <a:xfrm>
            <a:off x="7982712" y="1645920"/>
            <a:ext cx="3657600" cy="274320"/>
          </a:xfrm>
          <a:prstGeom prst="rect">
            <a:avLst/>
          </a:prstGeom>
          <a:noFill/>
        </p:spPr>
        <p:txBody>
          <a:bodyPr wrap="square" lIns="0" rIns="0" tIns="0" bIns="0" anchor="t">
            <a:spAutoFit/>
          </a:bodyPr>
          <a:lstStyle/>
          <a:p>
            <a:pPr algn="r"/>
            <a:r>
              <a:rPr sz="1100" b="0" i="1">
                <a:solidFill>
                  <a:srgbClr val="9A9AAA"/>
                </a:solidFill>
                <a:latin typeface="Verdana"/>
              </a:rPr>
              <a:t>mehr Flexibilität</a:t>
            </a:r>
          </a:p>
        </p:txBody>
      </p:sp>
      <p:sp>
        <p:nvSpPr>
          <p:cNvPr id="10" name="Rectangle 9"/>
          <p:cNvSpPr/>
          <p:nvPr/>
        </p:nvSpPr>
        <p:spPr>
          <a:xfrm>
            <a:off x="548640" y="2468880"/>
            <a:ext cx="3575304" cy="3337560"/>
          </a:xfrm>
          <a:prstGeom prst="rect">
            <a:avLst/>
          </a:prstGeom>
          <a:solidFill>
            <a:srgbClr val="24232E"/>
          </a:solidFill>
          <a:ln w="9525">
            <a:solidFill>
              <a:srgbClr val="3A3948"/>
            </a:solidFill>
          </a:ln>
        </p:spPr>
        <p:txBody>
          <a:bodyPr rtlCol="0" anchor="ctr"/>
          <a:lstStyle/>
          <a:p>
            <a:pPr algn="ctr"/>
          </a:p>
        </p:txBody>
      </p:sp>
      <p:sp>
        <p:nvSpPr>
          <p:cNvPr id="11" name="Rectangle 10"/>
          <p:cNvSpPr/>
          <p:nvPr/>
        </p:nvSpPr>
        <p:spPr>
          <a:xfrm>
            <a:off x="548640" y="2468880"/>
            <a:ext cx="3575304" cy="64008"/>
          </a:xfrm>
          <a:prstGeom prst="rect">
            <a:avLst/>
          </a:prstGeom>
          <a:solidFill>
            <a:srgbClr val="DC640D"/>
          </a:solidFill>
          <a:ln>
            <a:noFill/>
          </a:ln>
        </p:spPr>
        <p:txBody>
          <a:bodyPr rtlCol="0" anchor="ctr"/>
          <a:lstStyle/>
          <a:p>
            <a:pPr algn="ctr"/>
          </a:p>
        </p:txBody>
      </p:sp>
      <p:sp>
        <p:nvSpPr>
          <p:cNvPr id="12" name="Oval 11"/>
          <p:cNvSpPr/>
          <p:nvPr/>
        </p:nvSpPr>
        <p:spPr>
          <a:xfrm>
            <a:off x="822959" y="2743200"/>
            <a:ext cx="548640" cy="548640"/>
          </a:xfrm>
          <a:prstGeom prst="ellipse">
            <a:avLst/>
          </a:prstGeom>
          <a:solidFill>
            <a:srgbClr val="DC640D"/>
          </a:solidFill>
          <a:ln>
            <a:noFill/>
          </a:ln>
        </p:spPr>
        <p:txBody>
          <a:bodyPr rtlCol="0" anchor="ctr"/>
          <a:lstStyle/>
          <a:p>
            <a:pPr algn="ctr"/>
          </a:p>
        </p:txBody>
      </p:sp>
      <p:pic>
        <p:nvPicPr>
          <p:cNvPr id="13" name="Picture 12" descr="LuWorkflow_w.png"/>
          <p:cNvPicPr>
            <a:picLocks noChangeAspect="1"/>
          </p:cNvPicPr>
          <p:nvPr/>
        </p:nvPicPr>
        <p:blipFill>
          <a:blip r:embed="rId3"/>
          <a:stretch>
            <a:fillRect/>
          </a:stretch>
        </p:blipFill>
        <p:spPr>
          <a:xfrm>
            <a:off x="943660" y="2863900"/>
            <a:ext cx="307238" cy="307238"/>
          </a:xfrm>
          <a:prstGeom prst="rect">
            <a:avLst/>
          </a:prstGeom>
        </p:spPr>
      </p:pic>
      <p:sp>
        <p:nvSpPr>
          <p:cNvPr id="14" name="TextBox 13"/>
          <p:cNvSpPr txBox="1"/>
          <p:nvPr/>
        </p:nvSpPr>
        <p:spPr>
          <a:xfrm>
            <a:off x="1554480" y="2743200"/>
            <a:ext cx="2386584" cy="548640"/>
          </a:xfrm>
          <a:prstGeom prst="rect">
            <a:avLst/>
          </a:prstGeom>
          <a:noFill/>
        </p:spPr>
        <p:txBody>
          <a:bodyPr wrap="square" lIns="0" rIns="0" tIns="0" bIns="0" anchor="ctr">
            <a:spAutoFit/>
          </a:bodyPr>
          <a:lstStyle/>
          <a:p>
            <a:pPr algn="l"/>
            <a:r>
              <a:rPr sz="1100" b="1" i="0" spc="200">
                <a:solidFill>
                  <a:srgbClr val="9A9AAA"/>
                </a:solidFill>
                <a:latin typeface="Verdana"/>
              </a:rPr>
              <a:t>Teil 1</a:t>
            </a:r>
          </a:p>
        </p:txBody>
      </p:sp>
      <p:sp>
        <p:nvSpPr>
          <p:cNvPr id="15" name="TextBox 14"/>
          <p:cNvSpPr txBox="1"/>
          <p:nvPr/>
        </p:nvSpPr>
        <p:spPr>
          <a:xfrm>
            <a:off x="822959" y="3474720"/>
            <a:ext cx="3026664" cy="365760"/>
          </a:xfrm>
          <a:prstGeom prst="rect">
            <a:avLst/>
          </a:prstGeom>
          <a:noFill/>
        </p:spPr>
        <p:txBody>
          <a:bodyPr wrap="square" lIns="0" rIns="0" tIns="0" bIns="0" anchor="t">
            <a:spAutoFit/>
          </a:bodyPr>
          <a:lstStyle/>
          <a:p>
            <a:pPr algn="l"/>
            <a:r>
              <a:rPr sz="1500" b="1" i="0">
                <a:solidFill>
                  <a:srgbClr val="FFFFFF"/>
                </a:solidFill>
                <a:latin typeface="Verdana"/>
              </a:rPr>
              <a:t>Workflow</a:t>
            </a:r>
          </a:p>
        </p:txBody>
      </p:sp>
      <p:sp>
        <p:nvSpPr>
          <p:cNvPr id="16" name="TextBox 15"/>
          <p:cNvSpPr txBox="1"/>
          <p:nvPr/>
        </p:nvSpPr>
        <p:spPr>
          <a:xfrm>
            <a:off x="822959" y="3886200"/>
            <a:ext cx="3026664" cy="640080"/>
          </a:xfrm>
          <a:prstGeom prst="rect">
            <a:avLst/>
          </a:prstGeom>
          <a:noFill/>
        </p:spPr>
        <p:txBody>
          <a:bodyPr wrap="square" lIns="0" rIns="0" tIns="0" bIns="0" anchor="t">
            <a:spAutoFit/>
          </a:bodyPr>
          <a:lstStyle/>
          <a:p>
            <a:pPr algn="l"/>
            <a:r>
              <a:rPr sz="1267" b="0" i="0">
                <a:solidFill>
                  <a:srgbClr val="9A9AAA"/>
                </a:solidFill>
                <a:latin typeface="Verdana"/>
              </a:rPr>
              <a:t>Alle Schritte fest.</a:t>
            </a:r>
          </a:p>
        </p:txBody>
      </p:sp>
      <p:cxnSp>
        <p:nvCxnSpPr>
          <p:cNvPr id="17" name="Connector 16"/>
          <p:cNvCxnSpPr/>
          <p:nvPr/>
        </p:nvCxnSpPr>
        <p:spPr>
          <a:xfrm>
            <a:off x="822959" y="4572000"/>
            <a:ext cx="3026665" cy="0"/>
          </a:xfrm>
          <a:prstGeom prst="line">
            <a:avLst/>
          </a:prstGeom>
          <a:ln w="6350">
            <a:solidFill>
              <a:srgbClr val="3A3948"/>
            </a:solidFill>
          </a:ln>
        </p:spPr>
      </p:cxnSp>
      <p:sp>
        <p:nvSpPr>
          <p:cNvPr id="18" name="TextBox 17"/>
          <p:cNvSpPr txBox="1"/>
          <p:nvPr/>
        </p:nvSpPr>
        <p:spPr>
          <a:xfrm>
            <a:off x="822959" y="4663440"/>
            <a:ext cx="3026664" cy="228600"/>
          </a:xfrm>
          <a:prstGeom prst="rect">
            <a:avLst/>
          </a:prstGeom>
          <a:noFill/>
        </p:spPr>
        <p:txBody>
          <a:bodyPr wrap="square" lIns="0" rIns="0" tIns="0" bIns="0" anchor="t">
            <a:spAutoFit/>
          </a:bodyPr>
          <a:lstStyle/>
          <a:p>
            <a:pPr algn="l"/>
            <a:r>
              <a:rPr sz="933" b="1" i="0" spc="300">
                <a:solidFill>
                  <a:srgbClr val="F6A800"/>
                </a:solidFill>
                <a:latin typeface="Verdana"/>
              </a:rPr>
              <a:t>BEISPIEL</a:t>
            </a:r>
          </a:p>
        </p:txBody>
      </p:sp>
      <p:sp>
        <p:nvSpPr>
          <p:cNvPr id="19" name="TextBox 18"/>
          <p:cNvSpPr txBox="1"/>
          <p:nvPr/>
        </p:nvSpPr>
        <p:spPr>
          <a:xfrm>
            <a:off x="822959" y="4937760"/>
            <a:ext cx="3026664" cy="777240"/>
          </a:xfrm>
          <a:prstGeom prst="rect">
            <a:avLst/>
          </a:prstGeom>
          <a:noFill/>
        </p:spPr>
        <p:txBody>
          <a:bodyPr wrap="square" lIns="0" rIns="0" tIns="0" bIns="0" anchor="t">
            <a:spAutoFit/>
          </a:bodyPr>
          <a:lstStyle/>
          <a:p>
            <a:pPr algn="l"/>
            <a:r>
              <a:rPr sz="1267" b="0" i="0">
                <a:solidFill>
                  <a:srgbClr val="FFFFFF"/>
                </a:solidFill>
                <a:latin typeface="Verdana"/>
              </a:rPr>
              <a:t>Jede Literaturangabe gegen Crossref prüfen.</a:t>
            </a:r>
          </a:p>
        </p:txBody>
      </p:sp>
      <p:sp>
        <p:nvSpPr>
          <p:cNvPr id="20" name="Rectangle 19"/>
          <p:cNvSpPr/>
          <p:nvPr/>
        </p:nvSpPr>
        <p:spPr>
          <a:xfrm>
            <a:off x="4306824" y="2468880"/>
            <a:ext cx="3575304" cy="3337560"/>
          </a:xfrm>
          <a:prstGeom prst="rect">
            <a:avLst/>
          </a:prstGeom>
          <a:solidFill>
            <a:srgbClr val="24232E"/>
          </a:solidFill>
          <a:ln w="9525">
            <a:solidFill>
              <a:srgbClr val="3A3948"/>
            </a:solidFill>
          </a:ln>
        </p:spPr>
        <p:txBody>
          <a:bodyPr rtlCol="0" anchor="ctr"/>
          <a:lstStyle/>
          <a:p>
            <a:pPr algn="ctr"/>
          </a:p>
        </p:txBody>
      </p:sp>
      <p:sp>
        <p:nvSpPr>
          <p:cNvPr id="21" name="Rectangle 20"/>
          <p:cNvSpPr/>
          <p:nvPr/>
        </p:nvSpPr>
        <p:spPr>
          <a:xfrm>
            <a:off x="4306824" y="2468880"/>
            <a:ext cx="3575304" cy="64008"/>
          </a:xfrm>
          <a:prstGeom prst="rect">
            <a:avLst/>
          </a:prstGeom>
          <a:solidFill>
            <a:srgbClr val="B1063A"/>
          </a:solidFill>
          <a:ln>
            <a:noFill/>
          </a:ln>
        </p:spPr>
        <p:txBody>
          <a:bodyPr rtlCol="0" anchor="ctr"/>
          <a:lstStyle/>
          <a:p>
            <a:pPr algn="ctr"/>
          </a:p>
        </p:txBody>
      </p:sp>
      <p:sp>
        <p:nvSpPr>
          <p:cNvPr id="22" name="Oval 21"/>
          <p:cNvSpPr/>
          <p:nvPr/>
        </p:nvSpPr>
        <p:spPr>
          <a:xfrm>
            <a:off x="4581144" y="2743200"/>
            <a:ext cx="548640" cy="548640"/>
          </a:xfrm>
          <a:prstGeom prst="ellipse">
            <a:avLst/>
          </a:prstGeom>
          <a:solidFill>
            <a:srgbClr val="B1063A"/>
          </a:solidFill>
          <a:ln>
            <a:noFill/>
          </a:ln>
        </p:spPr>
        <p:txBody>
          <a:bodyPr rtlCol="0" anchor="ctr"/>
          <a:lstStyle/>
          <a:p>
            <a:pPr algn="ctr"/>
          </a:p>
        </p:txBody>
      </p:sp>
      <p:pic>
        <p:nvPicPr>
          <p:cNvPr id="23" name="Picture 22" descr="LuSplit_w.png"/>
          <p:cNvPicPr>
            <a:picLocks noChangeAspect="1"/>
          </p:cNvPicPr>
          <p:nvPr/>
        </p:nvPicPr>
        <p:blipFill>
          <a:blip r:embed="rId4"/>
          <a:stretch>
            <a:fillRect/>
          </a:stretch>
        </p:blipFill>
        <p:spPr>
          <a:xfrm>
            <a:off x="4701844" y="2863900"/>
            <a:ext cx="307238" cy="307238"/>
          </a:xfrm>
          <a:prstGeom prst="rect">
            <a:avLst/>
          </a:prstGeom>
        </p:spPr>
      </p:pic>
      <p:sp>
        <p:nvSpPr>
          <p:cNvPr id="24" name="TextBox 23"/>
          <p:cNvSpPr txBox="1"/>
          <p:nvPr/>
        </p:nvSpPr>
        <p:spPr>
          <a:xfrm>
            <a:off x="5312664" y="2743200"/>
            <a:ext cx="2386584" cy="548640"/>
          </a:xfrm>
          <a:prstGeom prst="rect">
            <a:avLst/>
          </a:prstGeom>
          <a:noFill/>
        </p:spPr>
        <p:txBody>
          <a:bodyPr wrap="square" lIns="0" rIns="0" tIns="0" bIns="0" anchor="ctr">
            <a:spAutoFit/>
          </a:bodyPr>
          <a:lstStyle/>
          <a:p>
            <a:pPr algn="l"/>
            <a:r>
              <a:rPr sz="1100" b="1" i="0" spc="200">
                <a:solidFill>
                  <a:srgbClr val="9A9AAA"/>
                </a:solidFill>
                <a:latin typeface="Verdana"/>
              </a:rPr>
              <a:t>Teil 3</a:t>
            </a:r>
          </a:p>
        </p:txBody>
      </p:sp>
      <p:sp>
        <p:nvSpPr>
          <p:cNvPr id="25" name="TextBox 24"/>
          <p:cNvSpPr txBox="1"/>
          <p:nvPr/>
        </p:nvSpPr>
        <p:spPr>
          <a:xfrm>
            <a:off x="4581144" y="3474720"/>
            <a:ext cx="3026664" cy="365760"/>
          </a:xfrm>
          <a:prstGeom prst="rect">
            <a:avLst/>
          </a:prstGeom>
          <a:noFill/>
        </p:spPr>
        <p:txBody>
          <a:bodyPr wrap="square" lIns="0" rIns="0" tIns="0" bIns="0" anchor="t">
            <a:spAutoFit/>
          </a:bodyPr>
          <a:lstStyle/>
          <a:p>
            <a:pPr algn="l"/>
            <a:r>
              <a:rPr sz="1500" b="1" i="0">
                <a:solidFill>
                  <a:srgbClr val="FFFFFF"/>
                </a:solidFill>
                <a:latin typeface="Verdana"/>
              </a:rPr>
              <a:t>Agentischer Workflow</a:t>
            </a:r>
          </a:p>
        </p:txBody>
      </p:sp>
      <p:sp>
        <p:nvSpPr>
          <p:cNvPr id="26" name="TextBox 25"/>
          <p:cNvSpPr txBox="1"/>
          <p:nvPr/>
        </p:nvSpPr>
        <p:spPr>
          <a:xfrm>
            <a:off x="4581144" y="3886200"/>
            <a:ext cx="3026664" cy="640080"/>
          </a:xfrm>
          <a:prstGeom prst="rect">
            <a:avLst/>
          </a:prstGeom>
          <a:noFill/>
        </p:spPr>
        <p:txBody>
          <a:bodyPr wrap="square" lIns="0" rIns="0" tIns="0" bIns="0" anchor="t">
            <a:spAutoFit/>
          </a:bodyPr>
          <a:lstStyle/>
          <a:p>
            <a:pPr algn="l"/>
            <a:r>
              <a:rPr sz="1267" b="0" i="0">
                <a:solidFill>
                  <a:srgbClr val="9A9AAA"/>
                </a:solidFill>
                <a:latin typeface="Verdana"/>
              </a:rPr>
              <a:t>Feste Struktur, KI entscheidet an einzelnen Stellen.</a:t>
            </a:r>
          </a:p>
        </p:txBody>
      </p:sp>
      <p:cxnSp>
        <p:nvCxnSpPr>
          <p:cNvPr id="27" name="Connector 26"/>
          <p:cNvCxnSpPr/>
          <p:nvPr/>
        </p:nvCxnSpPr>
        <p:spPr>
          <a:xfrm>
            <a:off x="4581144" y="4572000"/>
            <a:ext cx="3026664" cy="0"/>
          </a:xfrm>
          <a:prstGeom prst="line">
            <a:avLst/>
          </a:prstGeom>
          <a:ln w="6350">
            <a:solidFill>
              <a:srgbClr val="3A3948"/>
            </a:solidFill>
          </a:ln>
        </p:spPr>
      </p:cxnSp>
      <p:sp>
        <p:nvSpPr>
          <p:cNvPr id="28" name="TextBox 27"/>
          <p:cNvSpPr txBox="1"/>
          <p:nvPr/>
        </p:nvSpPr>
        <p:spPr>
          <a:xfrm>
            <a:off x="4581144" y="4663440"/>
            <a:ext cx="3026664" cy="228600"/>
          </a:xfrm>
          <a:prstGeom prst="rect">
            <a:avLst/>
          </a:prstGeom>
          <a:noFill/>
        </p:spPr>
        <p:txBody>
          <a:bodyPr wrap="square" lIns="0" rIns="0" tIns="0" bIns="0" anchor="t">
            <a:spAutoFit/>
          </a:bodyPr>
          <a:lstStyle/>
          <a:p>
            <a:pPr algn="l"/>
            <a:r>
              <a:rPr sz="933" b="1" i="0" spc="300">
                <a:solidFill>
                  <a:srgbClr val="F6A800"/>
                </a:solidFill>
                <a:latin typeface="Verdana"/>
              </a:rPr>
              <a:t>BEISPIEL</a:t>
            </a:r>
          </a:p>
        </p:txBody>
      </p:sp>
      <p:sp>
        <p:nvSpPr>
          <p:cNvPr id="29" name="TextBox 28"/>
          <p:cNvSpPr txBox="1"/>
          <p:nvPr/>
        </p:nvSpPr>
        <p:spPr>
          <a:xfrm>
            <a:off x="4581144" y="4937760"/>
            <a:ext cx="3026664" cy="777240"/>
          </a:xfrm>
          <a:prstGeom prst="rect">
            <a:avLst/>
          </a:prstGeom>
          <a:noFill/>
        </p:spPr>
        <p:txBody>
          <a:bodyPr wrap="square" lIns="0" rIns="0" tIns="0" bIns="0" anchor="t">
            <a:spAutoFit/>
          </a:bodyPr>
          <a:lstStyle/>
          <a:p>
            <a:pPr algn="l"/>
            <a:r>
              <a:rPr sz="1267" b="0" i="0">
                <a:solidFill>
                  <a:srgbClr val="FFFFFF"/>
                </a:solidFill>
                <a:latin typeface="Verdana"/>
              </a:rPr>
              <a:t>Anfragen sortieren, dann je nach Art weiter.</a:t>
            </a:r>
          </a:p>
        </p:txBody>
      </p:sp>
      <p:sp>
        <p:nvSpPr>
          <p:cNvPr id="30" name="Rectangle 29"/>
          <p:cNvSpPr/>
          <p:nvPr/>
        </p:nvSpPr>
        <p:spPr>
          <a:xfrm>
            <a:off x="8065008" y="2468880"/>
            <a:ext cx="3575304" cy="3337560"/>
          </a:xfrm>
          <a:prstGeom prst="rect">
            <a:avLst/>
          </a:prstGeom>
          <a:solidFill>
            <a:srgbClr val="24232E"/>
          </a:solidFill>
          <a:ln w="9525">
            <a:solidFill>
              <a:srgbClr val="3A3948"/>
            </a:solidFill>
          </a:ln>
        </p:spPr>
        <p:txBody>
          <a:bodyPr rtlCol="0" anchor="ctr"/>
          <a:lstStyle/>
          <a:p>
            <a:pPr algn="ctr"/>
          </a:p>
        </p:txBody>
      </p:sp>
      <p:sp>
        <p:nvSpPr>
          <p:cNvPr id="31" name="Rectangle 30"/>
          <p:cNvSpPr/>
          <p:nvPr/>
        </p:nvSpPr>
        <p:spPr>
          <a:xfrm>
            <a:off x="8065008" y="2468880"/>
            <a:ext cx="3575304" cy="64008"/>
          </a:xfrm>
          <a:prstGeom prst="rect">
            <a:avLst/>
          </a:prstGeom>
          <a:solidFill>
            <a:srgbClr val="18E979"/>
          </a:solidFill>
          <a:ln>
            <a:noFill/>
          </a:ln>
        </p:spPr>
        <p:txBody>
          <a:bodyPr rtlCol="0" anchor="ctr"/>
          <a:lstStyle/>
          <a:p>
            <a:pPr algn="ctr"/>
          </a:p>
        </p:txBody>
      </p:sp>
      <p:sp>
        <p:nvSpPr>
          <p:cNvPr id="32" name="Oval 31"/>
          <p:cNvSpPr/>
          <p:nvPr/>
        </p:nvSpPr>
        <p:spPr>
          <a:xfrm>
            <a:off x="8339328" y="2743200"/>
            <a:ext cx="548640" cy="548640"/>
          </a:xfrm>
          <a:prstGeom prst="ellipse">
            <a:avLst/>
          </a:prstGeom>
          <a:solidFill>
            <a:srgbClr val="18E979"/>
          </a:solidFill>
          <a:ln>
            <a:noFill/>
          </a:ln>
        </p:spPr>
        <p:txBody>
          <a:bodyPr rtlCol="0" anchor="ctr"/>
          <a:lstStyle/>
          <a:p>
            <a:pPr algn="ctr"/>
          </a:p>
        </p:txBody>
      </p:sp>
      <p:pic>
        <p:nvPicPr>
          <p:cNvPr id="33" name="Picture 32" descr="LuBot_w.png"/>
          <p:cNvPicPr>
            <a:picLocks noChangeAspect="1"/>
          </p:cNvPicPr>
          <p:nvPr/>
        </p:nvPicPr>
        <p:blipFill>
          <a:blip r:embed="rId5"/>
          <a:stretch>
            <a:fillRect/>
          </a:stretch>
        </p:blipFill>
        <p:spPr>
          <a:xfrm>
            <a:off x="8460028" y="2863900"/>
            <a:ext cx="307238" cy="307238"/>
          </a:xfrm>
          <a:prstGeom prst="rect">
            <a:avLst/>
          </a:prstGeom>
        </p:spPr>
      </p:pic>
      <p:sp>
        <p:nvSpPr>
          <p:cNvPr id="34" name="TextBox 33"/>
          <p:cNvSpPr txBox="1"/>
          <p:nvPr/>
        </p:nvSpPr>
        <p:spPr>
          <a:xfrm>
            <a:off x="9070848" y="2743200"/>
            <a:ext cx="2386584" cy="548640"/>
          </a:xfrm>
          <a:prstGeom prst="rect">
            <a:avLst/>
          </a:prstGeom>
          <a:noFill/>
        </p:spPr>
        <p:txBody>
          <a:bodyPr wrap="square" lIns="0" rIns="0" tIns="0" bIns="0" anchor="ctr">
            <a:spAutoFit/>
          </a:bodyPr>
          <a:lstStyle/>
          <a:p>
            <a:pPr algn="l"/>
            <a:r>
              <a:rPr sz="1100" b="1" i="0" spc="200">
                <a:solidFill>
                  <a:srgbClr val="9A9AAA"/>
                </a:solidFill>
                <a:latin typeface="Verdana"/>
              </a:rPr>
              <a:t>Teil 2</a:t>
            </a:r>
          </a:p>
        </p:txBody>
      </p:sp>
      <p:sp>
        <p:nvSpPr>
          <p:cNvPr id="35" name="TextBox 34"/>
          <p:cNvSpPr txBox="1"/>
          <p:nvPr/>
        </p:nvSpPr>
        <p:spPr>
          <a:xfrm>
            <a:off x="8339328" y="3474720"/>
            <a:ext cx="3026664" cy="365760"/>
          </a:xfrm>
          <a:prstGeom prst="rect">
            <a:avLst/>
          </a:prstGeom>
          <a:noFill/>
        </p:spPr>
        <p:txBody>
          <a:bodyPr wrap="square" lIns="0" rIns="0" tIns="0" bIns="0" anchor="t">
            <a:spAutoFit/>
          </a:bodyPr>
          <a:lstStyle/>
          <a:p>
            <a:pPr algn="l"/>
            <a:r>
              <a:rPr sz="1500" b="1" i="0">
                <a:solidFill>
                  <a:srgbClr val="FFFFFF"/>
                </a:solidFill>
                <a:latin typeface="Verdana"/>
              </a:rPr>
              <a:t>Agent</a:t>
            </a:r>
          </a:p>
        </p:txBody>
      </p:sp>
      <p:sp>
        <p:nvSpPr>
          <p:cNvPr id="36" name="TextBox 35"/>
          <p:cNvSpPr txBox="1"/>
          <p:nvPr/>
        </p:nvSpPr>
        <p:spPr>
          <a:xfrm>
            <a:off x="8339328" y="3886200"/>
            <a:ext cx="3026664" cy="640080"/>
          </a:xfrm>
          <a:prstGeom prst="rect">
            <a:avLst/>
          </a:prstGeom>
          <a:noFill/>
        </p:spPr>
        <p:txBody>
          <a:bodyPr wrap="square" lIns="0" rIns="0" tIns="0" bIns="0" anchor="t">
            <a:spAutoFit/>
          </a:bodyPr>
          <a:lstStyle/>
          <a:p>
            <a:pPr algn="l"/>
            <a:r>
              <a:rPr sz="1267" b="0" i="0">
                <a:solidFill>
                  <a:srgbClr val="9A9AAA"/>
                </a:solidFill>
                <a:latin typeface="Verdana"/>
              </a:rPr>
              <a:t>Das Modell wählt den ganzen Weg.</a:t>
            </a:r>
          </a:p>
        </p:txBody>
      </p:sp>
      <p:cxnSp>
        <p:nvCxnSpPr>
          <p:cNvPr id="37" name="Connector 36"/>
          <p:cNvCxnSpPr/>
          <p:nvPr/>
        </p:nvCxnSpPr>
        <p:spPr>
          <a:xfrm>
            <a:off x="8339328" y="4572000"/>
            <a:ext cx="3026664" cy="0"/>
          </a:xfrm>
          <a:prstGeom prst="line">
            <a:avLst/>
          </a:prstGeom>
          <a:ln w="6350">
            <a:solidFill>
              <a:srgbClr val="3A3948"/>
            </a:solidFill>
          </a:ln>
        </p:spPr>
      </p:cxnSp>
      <p:sp>
        <p:nvSpPr>
          <p:cNvPr id="38" name="TextBox 37"/>
          <p:cNvSpPr txBox="1"/>
          <p:nvPr/>
        </p:nvSpPr>
        <p:spPr>
          <a:xfrm>
            <a:off x="8339328" y="4663440"/>
            <a:ext cx="3026664" cy="228600"/>
          </a:xfrm>
          <a:prstGeom prst="rect">
            <a:avLst/>
          </a:prstGeom>
          <a:noFill/>
        </p:spPr>
        <p:txBody>
          <a:bodyPr wrap="square" lIns="0" rIns="0" tIns="0" bIns="0" anchor="t">
            <a:spAutoFit/>
          </a:bodyPr>
          <a:lstStyle/>
          <a:p>
            <a:pPr algn="l"/>
            <a:r>
              <a:rPr sz="933" b="1" i="0" spc="300">
                <a:solidFill>
                  <a:srgbClr val="F6A800"/>
                </a:solidFill>
                <a:latin typeface="Verdana"/>
              </a:rPr>
              <a:t>BEISPIEL</a:t>
            </a:r>
          </a:p>
        </p:txBody>
      </p:sp>
      <p:sp>
        <p:nvSpPr>
          <p:cNvPr id="39" name="TextBox 38"/>
          <p:cNvSpPr txBox="1"/>
          <p:nvPr/>
        </p:nvSpPr>
        <p:spPr>
          <a:xfrm>
            <a:off x="8339328" y="4937760"/>
            <a:ext cx="3026664" cy="777240"/>
          </a:xfrm>
          <a:prstGeom prst="rect">
            <a:avLst/>
          </a:prstGeom>
          <a:noFill/>
        </p:spPr>
        <p:txBody>
          <a:bodyPr wrap="square" lIns="0" rIns="0" tIns="0" bIns="0" anchor="t">
            <a:spAutoFit/>
          </a:bodyPr>
          <a:lstStyle/>
          <a:p>
            <a:pPr algn="l"/>
            <a:r>
              <a:rPr sz="1267" b="0" i="0">
                <a:solidFill>
                  <a:srgbClr val="FFFFFF"/>
                </a:solidFill>
                <a:latin typeface="Verdana"/>
              </a:rPr>
              <a:t>Offene Recherchefrage mit mehreren Werkzeugen.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Vier agentische Muster.</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3 · MUSTER</a:t>
            </a:r>
          </a:p>
        </p:txBody>
      </p:sp>
      <p:sp>
        <p:nvSpPr>
          <p:cNvPr id="4" name="Rectangle 3"/>
          <p:cNvSpPr/>
          <p:nvPr/>
        </p:nvSpPr>
        <p:spPr>
          <a:xfrm>
            <a:off x="548640" y="1783080"/>
            <a:ext cx="5431536" cy="1874519"/>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31536" cy="64008"/>
          </a:xfrm>
          <a:prstGeom prst="rect">
            <a:avLst/>
          </a:prstGeom>
          <a:solidFill>
            <a:srgbClr val="007A9E"/>
          </a:solidFill>
          <a:ln>
            <a:noFill/>
          </a:ln>
        </p:spPr>
        <p:txBody>
          <a:bodyPr rtlCol="0" anchor="ctr"/>
          <a:lstStyle/>
          <a:p>
            <a:pPr algn="ctr"/>
          </a:p>
        </p:txBody>
      </p:sp>
      <p:sp>
        <p:nvSpPr>
          <p:cNvPr id="6" name="Oval 5"/>
          <p:cNvSpPr/>
          <p:nvPr/>
        </p:nvSpPr>
        <p:spPr>
          <a:xfrm>
            <a:off x="822959" y="2103120"/>
            <a:ext cx="594360" cy="594360"/>
          </a:xfrm>
          <a:prstGeom prst="ellipse">
            <a:avLst/>
          </a:prstGeom>
          <a:solidFill>
            <a:srgbClr val="007A9E"/>
          </a:solidFill>
          <a:ln>
            <a:noFill/>
          </a:ln>
        </p:spPr>
        <p:txBody>
          <a:bodyPr rtlCol="0" anchor="ctr"/>
          <a:lstStyle/>
          <a:p>
            <a:pPr algn="ctr"/>
          </a:p>
        </p:txBody>
      </p:sp>
      <p:pic>
        <p:nvPicPr>
          <p:cNvPr id="7" name="Picture 6" descr="LuSplit_w.png"/>
          <p:cNvPicPr>
            <a:picLocks noChangeAspect="1"/>
          </p:cNvPicPr>
          <p:nvPr/>
        </p:nvPicPr>
        <p:blipFill>
          <a:blip r:embed="rId3"/>
          <a:stretch>
            <a:fillRect/>
          </a:stretch>
        </p:blipFill>
        <p:spPr>
          <a:xfrm>
            <a:off x="953719" y="2233879"/>
            <a:ext cx="332841" cy="332841"/>
          </a:xfrm>
          <a:prstGeom prst="rect">
            <a:avLst/>
          </a:prstGeom>
        </p:spPr>
      </p:pic>
      <p:sp>
        <p:nvSpPr>
          <p:cNvPr id="8" name="TextBox 7"/>
          <p:cNvSpPr txBox="1"/>
          <p:nvPr/>
        </p:nvSpPr>
        <p:spPr>
          <a:xfrm>
            <a:off x="1645919" y="2057400"/>
            <a:ext cx="4059936" cy="365760"/>
          </a:xfrm>
          <a:prstGeom prst="rect">
            <a:avLst/>
          </a:prstGeom>
          <a:noFill/>
        </p:spPr>
        <p:txBody>
          <a:bodyPr wrap="square" lIns="0" rIns="0" tIns="0" bIns="0" anchor="t">
            <a:spAutoFit/>
          </a:bodyPr>
          <a:lstStyle/>
          <a:p>
            <a:pPr algn="l"/>
            <a:r>
              <a:rPr sz="1600" b="1" i="0">
                <a:solidFill>
                  <a:srgbClr val="FFFFFF"/>
                </a:solidFill>
                <a:latin typeface="Verdana"/>
              </a:rPr>
              <a:t>Weiche</a:t>
            </a:r>
          </a:p>
        </p:txBody>
      </p:sp>
      <p:sp>
        <p:nvSpPr>
          <p:cNvPr id="9" name="TextBox 8"/>
          <p:cNvSpPr txBox="1"/>
          <p:nvPr/>
        </p:nvSpPr>
        <p:spPr>
          <a:xfrm>
            <a:off x="1645919" y="2468880"/>
            <a:ext cx="4059936" cy="685800"/>
          </a:xfrm>
          <a:prstGeom prst="rect">
            <a:avLst/>
          </a:prstGeom>
          <a:noFill/>
        </p:spPr>
        <p:txBody>
          <a:bodyPr wrap="square" lIns="0" rIns="0" tIns="0" bIns="0" anchor="t">
            <a:spAutoFit/>
          </a:bodyPr>
          <a:lstStyle/>
          <a:p>
            <a:pPr algn="l"/>
            <a:r>
              <a:rPr sz="1267" b="0" i="0">
                <a:solidFill>
                  <a:srgbClr val="9A9AAA"/>
                </a:solidFill>
                <a:latin typeface="Verdana"/>
              </a:rPr>
              <a:t>Die KI ordnet die Eingabe einer Kategorie zu. Jede Kategorie hat ihren eigenen Weg.</a:t>
            </a:r>
          </a:p>
        </p:txBody>
      </p:sp>
      <p:sp>
        <p:nvSpPr>
          <p:cNvPr id="10" name="TextBox 9"/>
          <p:cNvSpPr txBox="1"/>
          <p:nvPr/>
        </p:nvSpPr>
        <p:spPr>
          <a:xfrm>
            <a:off x="1645919" y="3200400"/>
            <a:ext cx="4059936" cy="320040"/>
          </a:xfrm>
          <a:prstGeom prst="rect">
            <a:avLst/>
          </a:prstGeom>
          <a:noFill/>
        </p:spPr>
        <p:txBody>
          <a:bodyPr wrap="square" lIns="0" rIns="0" tIns="0" bIns="0" anchor="t">
            <a:spAutoFit/>
          </a:bodyPr>
          <a:lstStyle/>
          <a:p>
            <a:pPr algn="l"/>
            <a:r>
              <a:rPr sz="1200" b="0" i="0">
                <a:solidFill>
                  <a:srgbClr val="9A9AAA"/>
                </a:solidFill>
                <a:latin typeface="Verdana"/>
              </a:rPr>
              <a:t>In Langflow: </a:t>
            </a:r>
            <a:r>
              <a:rPr sz="1200" b="1" i="0">
                <a:solidFill>
                  <a:srgbClr val="FFFFFF"/>
                </a:solidFill>
                <a:latin typeface="Verdana"/>
              </a:rPr>
              <a:t>Smart Router</a:t>
            </a:r>
          </a:p>
        </p:txBody>
      </p:sp>
      <p:sp>
        <p:nvSpPr>
          <p:cNvPr id="11" name="Rectangle 10"/>
          <p:cNvSpPr/>
          <p:nvPr/>
        </p:nvSpPr>
        <p:spPr>
          <a:xfrm>
            <a:off x="6208776" y="1783080"/>
            <a:ext cx="5431536" cy="1874519"/>
          </a:xfrm>
          <a:prstGeom prst="rect">
            <a:avLst/>
          </a:prstGeom>
          <a:solidFill>
            <a:srgbClr val="24232E"/>
          </a:solidFill>
          <a:ln w="9525">
            <a:solidFill>
              <a:srgbClr val="3A3948"/>
            </a:solidFill>
          </a:ln>
        </p:spPr>
        <p:txBody>
          <a:bodyPr rtlCol="0" anchor="ctr"/>
          <a:lstStyle/>
          <a:p>
            <a:pPr algn="ctr"/>
          </a:p>
        </p:txBody>
      </p:sp>
      <p:sp>
        <p:nvSpPr>
          <p:cNvPr id="12" name="Rectangle 11"/>
          <p:cNvSpPr/>
          <p:nvPr/>
        </p:nvSpPr>
        <p:spPr>
          <a:xfrm>
            <a:off x="6208776" y="1783080"/>
            <a:ext cx="5431536" cy="64008"/>
          </a:xfrm>
          <a:prstGeom prst="rect">
            <a:avLst/>
          </a:prstGeom>
          <a:solidFill>
            <a:srgbClr val="18E979"/>
          </a:solidFill>
          <a:ln>
            <a:noFill/>
          </a:ln>
        </p:spPr>
        <p:txBody>
          <a:bodyPr rtlCol="0" anchor="ctr"/>
          <a:lstStyle/>
          <a:p>
            <a:pPr algn="ctr"/>
          </a:p>
        </p:txBody>
      </p:sp>
      <p:sp>
        <p:nvSpPr>
          <p:cNvPr id="13" name="Oval 12"/>
          <p:cNvSpPr/>
          <p:nvPr/>
        </p:nvSpPr>
        <p:spPr>
          <a:xfrm>
            <a:off x="6483096" y="2103120"/>
            <a:ext cx="594360" cy="594360"/>
          </a:xfrm>
          <a:prstGeom prst="ellipse">
            <a:avLst/>
          </a:prstGeom>
          <a:solidFill>
            <a:srgbClr val="18E979"/>
          </a:solidFill>
          <a:ln>
            <a:noFill/>
          </a:ln>
        </p:spPr>
        <p:txBody>
          <a:bodyPr rtlCol="0" anchor="ctr"/>
          <a:lstStyle/>
          <a:p>
            <a:pPr algn="ctr"/>
          </a:p>
        </p:txBody>
      </p:sp>
      <p:pic>
        <p:nvPicPr>
          <p:cNvPr id="14" name="Picture 13" descr="LuBot_w.png"/>
          <p:cNvPicPr>
            <a:picLocks noChangeAspect="1"/>
          </p:cNvPicPr>
          <p:nvPr/>
        </p:nvPicPr>
        <p:blipFill>
          <a:blip r:embed="rId4"/>
          <a:stretch>
            <a:fillRect/>
          </a:stretch>
        </p:blipFill>
        <p:spPr>
          <a:xfrm>
            <a:off x="6613855" y="2233879"/>
            <a:ext cx="332841" cy="332841"/>
          </a:xfrm>
          <a:prstGeom prst="rect">
            <a:avLst/>
          </a:prstGeom>
        </p:spPr>
      </p:pic>
      <p:sp>
        <p:nvSpPr>
          <p:cNvPr id="15" name="TextBox 14"/>
          <p:cNvSpPr txBox="1"/>
          <p:nvPr/>
        </p:nvSpPr>
        <p:spPr>
          <a:xfrm>
            <a:off x="7306056" y="2057400"/>
            <a:ext cx="4059936" cy="365760"/>
          </a:xfrm>
          <a:prstGeom prst="rect">
            <a:avLst/>
          </a:prstGeom>
          <a:noFill/>
        </p:spPr>
        <p:txBody>
          <a:bodyPr wrap="square" lIns="0" rIns="0" tIns="0" bIns="0" anchor="t">
            <a:spAutoFit/>
          </a:bodyPr>
          <a:lstStyle/>
          <a:p>
            <a:pPr algn="l"/>
            <a:r>
              <a:rPr sz="1600" b="1" i="0">
                <a:solidFill>
                  <a:srgbClr val="FFFFFF"/>
                </a:solidFill>
                <a:latin typeface="Verdana"/>
              </a:rPr>
              <a:t>Agent als Schritt</a:t>
            </a:r>
          </a:p>
        </p:txBody>
      </p:sp>
      <p:sp>
        <p:nvSpPr>
          <p:cNvPr id="16" name="TextBox 15"/>
          <p:cNvSpPr txBox="1"/>
          <p:nvPr/>
        </p:nvSpPr>
        <p:spPr>
          <a:xfrm>
            <a:off x="7306056" y="2468880"/>
            <a:ext cx="4059936" cy="685800"/>
          </a:xfrm>
          <a:prstGeom prst="rect">
            <a:avLst/>
          </a:prstGeom>
          <a:noFill/>
        </p:spPr>
        <p:txBody>
          <a:bodyPr wrap="square" lIns="0" rIns="0" tIns="0" bIns="0" anchor="t">
            <a:spAutoFit/>
          </a:bodyPr>
          <a:lstStyle/>
          <a:p>
            <a:pPr algn="l"/>
            <a:r>
              <a:rPr sz="1267" b="0" i="0">
                <a:solidFill>
                  <a:srgbClr val="9A9AAA"/>
                </a:solidFill>
                <a:latin typeface="Verdana"/>
              </a:rPr>
              <a:t>Ein fester Ablauf, in dem ein einzelner Schritt ein Agent ist.</a:t>
            </a:r>
          </a:p>
        </p:txBody>
      </p:sp>
      <p:sp>
        <p:nvSpPr>
          <p:cNvPr id="17" name="TextBox 16"/>
          <p:cNvSpPr txBox="1"/>
          <p:nvPr/>
        </p:nvSpPr>
        <p:spPr>
          <a:xfrm>
            <a:off x="7306056" y="3200400"/>
            <a:ext cx="4059936" cy="320040"/>
          </a:xfrm>
          <a:prstGeom prst="rect">
            <a:avLst/>
          </a:prstGeom>
          <a:noFill/>
        </p:spPr>
        <p:txBody>
          <a:bodyPr wrap="square" lIns="0" rIns="0" tIns="0" bIns="0" anchor="t">
            <a:spAutoFit/>
          </a:bodyPr>
          <a:lstStyle/>
          <a:p>
            <a:pPr algn="l"/>
            <a:r>
              <a:rPr sz="1200" b="0" i="0">
                <a:solidFill>
                  <a:srgbClr val="9A9AAA"/>
                </a:solidFill>
                <a:latin typeface="Verdana"/>
              </a:rPr>
              <a:t>In Langflow: </a:t>
            </a:r>
            <a:r>
              <a:rPr sz="1200" b="1" i="0">
                <a:solidFill>
                  <a:srgbClr val="FFFFFF"/>
                </a:solidFill>
                <a:latin typeface="Verdana"/>
              </a:rPr>
              <a:t>Agent in der Kette</a:t>
            </a:r>
          </a:p>
        </p:txBody>
      </p:sp>
      <p:sp>
        <p:nvSpPr>
          <p:cNvPr id="18" name="Rectangle 17"/>
          <p:cNvSpPr/>
          <p:nvPr/>
        </p:nvSpPr>
        <p:spPr>
          <a:xfrm>
            <a:off x="548640" y="3840480"/>
            <a:ext cx="5431536" cy="1874519"/>
          </a:xfrm>
          <a:prstGeom prst="rect">
            <a:avLst/>
          </a:prstGeom>
          <a:solidFill>
            <a:srgbClr val="24232E"/>
          </a:solidFill>
          <a:ln w="9525">
            <a:solidFill>
              <a:srgbClr val="3A3948"/>
            </a:solidFill>
          </a:ln>
        </p:spPr>
        <p:txBody>
          <a:bodyPr rtlCol="0" anchor="ctr"/>
          <a:lstStyle/>
          <a:p>
            <a:pPr algn="ctr"/>
          </a:p>
        </p:txBody>
      </p:sp>
      <p:sp>
        <p:nvSpPr>
          <p:cNvPr id="19" name="Rectangle 18"/>
          <p:cNvSpPr/>
          <p:nvPr/>
        </p:nvSpPr>
        <p:spPr>
          <a:xfrm>
            <a:off x="548640" y="3840480"/>
            <a:ext cx="5431536" cy="64008"/>
          </a:xfrm>
          <a:prstGeom prst="rect">
            <a:avLst/>
          </a:prstGeom>
          <a:solidFill>
            <a:srgbClr val="DC640D"/>
          </a:solidFill>
          <a:ln>
            <a:noFill/>
          </a:ln>
        </p:spPr>
        <p:txBody>
          <a:bodyPr rtlCol="0" anchor="ctr"/>
          <a:lstStyle/>
          <a:p>
            <a:pPr algn="ctr"/>
          </a:p>
        </p:txBody>
      </p:sp>
      <p:sp>
        <p:nvSpPr>
          <p:cNvPr id="20" name="Oval 19"/>
          <p:cNvSpPr/>
          <p:nvPr/>
        </p:nvSpPr>
        <p:spPr>
          <a:xfrm>
            <a:off x="822959" y="4160520"/>
            <a:ext cx="594360" cy="594360"/>
          </a:xfrm>
          <a:prstGeom prst="ellipse">
            <a:avLst/>
          </a:prstGeom>
          <a:solidFill>
            <a:srgbClr val="DC640D"/>
          </a:solidFill>
          <a:ln>
            <a:noFill/>
          </a:ln>
        </p:spPr>
        <p:txBody>
          <a:bodyPr rtlCol="0" anchor="ctr"/>
          <a:lstStyle/>
          <a:p>
            <a:pPr algn="ctr"/>
          </a:p>
        </p:txBody>
      </p:sp>
      <p:pic>
        <p:nvPicPr>
          <p:cNvPr id="21" name="Picture 20" descr="LuLayers_w.png"/>
          <p:cNvPicPr>
            <a:picLocks noChangeAspect="1"/>
          </p:cNvPicPr>
          <p:nvPr/>
        </p:nvPicPr>
        <p:blipFill>
          <a:blip r:embed="rId5"/>
          <a:stretch>
            <a:fillRect/>
          </a:stretch>
        </p:blipFill>
        <p:spPr>
          <a:xfrm>
            <a:off x="953719" y="4291279"/>
            <a:ext cx="332841" cy="332841"/>
          </a:xfrm>
          <a:prstGeom prst="rect">
            <a:avLst/>
          </a:prstGeom>
        </p:spPr>
      </p:pic>
      <p:sp>
        <p:nvSpPr>
          <p:cNvPr id="22" name="TextBox 21"/>
          <p:cNvSpPr txBox="1"/>
          <p:nvPr/>
        </p:nvSpPr>
        <p:spPr>
          <a:xfrm>
            <a:off x="1645919" y="4114800"/>
            <a:ext cx="4059936" cy="365760"/>
          </a:xfrm>
          <a:prstGeom prst="rect">
            <a:avLst/>
          </a:prstGeom>
          <a:noFill/>
        </p:spPr>
        <p:txBody>
          <a:bodyPr wrap="square" lIns="0" rIns="0" tIns="0" bIns="0" anchor="t">
            <a:spAutoFit/>
          </a:bodyPr>
          <a:lstStyle/>
          <a:p>
            <a:pPr algn="l"/>
            <a:r>
              <a:rPr sz="1600" b="1" i="0">
                <a:solidFill>
                  <a:srgbClr val="FFFFFF"/>
                </a:solidFill>
                <a:latin typeface="Verdana"/>
              </a:rPr>
              <a:t>Flow als Werkzeug</a:t>
            </a:r>
          </a:p>
        </p:txBody>
      </p:sp>
      <p:sp>
        <p:nvSpPr>
          <p:cNvPr id="23" name="TextBox 22"/>
          <p:cNvSpPr txBox="1"/>
          <p:nvPr/>
        </p:nvSpPr>
        <p:spPr>
          <a:xfrm>
            <a:off x="1645919" y="4526280"/>
            <a:ext cx="4059936" cy="685800"/>
          </a:xfrm>
          <a:prstGeom prst="rect">
            <a:avLst/>
          </a:prstGeom>
          <a:noFill/>
        </p:spPr>
        <p:txBody>
          <a:bodyPr wrap="square" lIns="0" rIns="0" tIns="0" bIns="0" anchor="t">
            <a:spAutoFit/>
          </a:bodyPr>
          <a:lstStyle/>
          <a:p>
            <a:pPr algn="l"/>
            <a:r>
              <a:rPr sz="1267" b="0" i="0">
                <a:solidFill>
                  <a:srgbClr val="9A9AAA"/>
                </a:solidFill>
                <a:latin typeface="Verdana"/>
              </a:rPr>
              <a:t>Ein fertiger Flow wird zum Werkzeug eines Agenten.</a:t>
            </a:r>
          </a:p>
        </p:txBody>
      </p:sp>
      <p:sp>
        <p:nvSpPr>
          <p:cNvPr id="24" name="TextBox 23"/>
          <p:cNvSpPr txBox="1"/>
          <p:nvPr/>
        </p:nvSpPr>
        <p:spPr>
          <a:xfrm>
            <a:off x="1645919" y="5257800"/>
            <a:ext cx="4059936" cy="320040"/>
          </a:xfrm>
          <a:prstGeom prst="rect">
            <a:avLst/>
          </a:prstGeom>
          <a:noFill/>
        </p:spPr>
        <p:txBody>
          <a:bodyPr wrap="square" lIns="0" rIns="0" tIns="0" bIns="0" anchor="t">
            <a:spAutoFit/>
          </a:bodyPr>
          <a:lstStyle/>
          <a:p>
            <a:pPr algn="l"/>
            <a:r>
              <a:rPr sz="1200" b="0" i="0">
                <a:solidFill>
                  <a:srgbClr val="9A9AAA"/>
                </a:solidFill>
                <a:latin typeface="Verdana"/>
              </a:rPr>
              <a:t>In Langflow: </a:t>
            </a:r>
            <a:r>
              <a:rPr sz="1200" b="1" i="0">
                <a:solidFill>
                  <a:srgbClr val="FFFFFF"/>
                </a:solidFill>
                <a:latin typeface="Verdana"/>
              </a:rPr>
              <a:t>Run Flow mit Tool Mode</a:t>
            </a:r>
          </a:p>
        </p:txBody>
      </p:sp>
      <p:sp>
        <p:nvSpPr>
          <p:cNvPr id="25" name="Rectangle 24"/>
          <p:cNvSpPr/>
          <p:nvPr/>
        </p:nvSpPr>
        <p:spPr>
          <a:xfrm>
            <a:off x="6208776" y="3840480"/>
            <a:ext cx="5431536" cy="1874519"/>
          </a:xfrm>
          <a:prstGeom prst="rect">
            <a:avLst/>
          </a:prstGeom>
          <a:solidFill>
            <a:srgbClr val="24232E"/>
          </a:solidFill>
          <a:ln w="9525">
            <a:solidFill>
              <a:srgbClr val="3A3948"/>
            </a:solidFill>
          </a:ln>
        </p:spPr>
        <p:txBody>
          <a:bodyPr rtlCol="0" anchor="ctr"/>
          <a:lstStyle/>
          <a:p>
            <a:pPr algn="ctr"/>
          </a:p>
        </p:txBody>
      </p:sp>
      <p:sp>
        <p:nvSpPr>
          <p:cNvPr id="26" name="Rectangle 25"/>
          <p:cNvSpPr/>
          <p:nvPr/>
        </p:nvSpPr>
        <p:spPr>
          <a:xfrm>
            <a:off x="6208776" y="3840480"/>
            <a:ext cx="5431536" cy="64008"/>
          </a:xfrm>
          <a:prstGeom prst="rect">
            <a:avLst/>
          </a:prstGeom>
          <a:solidFill>
            <a:srgbClr val="F6A800"/>
          </a:solidFill>
          <a:ln>
            <a:noFill/>
          </a:ln>
        </p:spPr>
        <p:txBody>
          <a:bodyPr rtlCol="0" anchor="ctr"/>
          <a:lstStyle/>
          <a:p>
            <a:pPr algn="ctr"/>
          </a:p>
        </p:txBody>
      </p:sp>
      <p:sp>
        <p:nvSpPr>
          <p:cNvPr id="27" name="Oval 26"/>
          <p:cNvSpPr/>
          <p:nvPr/>
        </p:nvSpPr>
        <p:spPr>
          <a:xfrm>
            <a:off x="6483096" y="4160520"/>
            <a:ext cx="594360" cy="594360"/>
          </a:xfrm>
          <a:prstGeom prst="ellipse">
            <a:avLst/>
          </a:prstGeom>
          <a:solidFill>
            <a:srgbClr val="F6A800"/>
          </a:solidFill>
          <a:ln>
            <a:noFill/>
          </a:ln>
        </p:spPr>
        <p:txBody>
          <a:bodyPr rtlCol="0" anchor="ctr"/>
          <a:lstStyle/>
          <a:p>
            <a:pPr algn="ctr"/>
          </a:p>
        </p:txBody>
      </p:sp>
      <p:pic>
        <p:nvPicPr>
          <p:cNvPr id="28" name="Picture 27" descr="LuSearchCheck_w.png"/>
          <p:cNvPicPr>
            <a:picLocks noChangeAspect="1"/>
          </p:cNvPicPr>
          <p:nvPr/>
        </p:nvPicPr>
        <p:blipFill>
          <a:blip r:embed="rId6"/>
          <a:stretch>
            <a:fillRect/>
          </a:stretch>
        </p:blipFill>
        <p:spPr>
          <a:xfrm>
            <a:off x="6613855" y="4291279"/>
            <a:ext cx="332841" cy="332841"/>
          </a:xfrm>
          <a:prstGeom prst="rect">
            <a:avLst/>
          </a:prstGeom>
        </p:spPr>
      </p:pic>
      <p:sp>
        <p:nvSpPr>
          <p:cNvPr id="29" name="TextBox 28"/>
          <p:cNvSpPr txBox="1"/>
          <p:nvPr/>
        </p:nvSpPr>
        <p:spPr>
          <a:xfrm>
            <a:off x="7306056" y="4114800"/>
            <a:ext cx="4059936" cy="365760"/>
          </a:xfrm>
          <a:prstGeom prst="rect">
            <a:avLst/>
          </a:prstGeom>
          <a:noFill/>
        </p:spPr>
        <p:txBody>
          <a:bodyPr wrap="square" lIns="0" rIns="0" tIns="0" bIns="0" anchor="t">
            <a:spAutoFit/>
          </a:bodyPr>
          <a:lstStyle/>
          <a:p>
            <a:pPr algn="l"/>
            <a:r>
              <a:rPr sz="1600" b="1" i="0">
                <a:solidFill>
                  <a:srgbClr val="FFFFFF"/>
                </a:solidFill>
                <a:latin typeface="Verdana"/>
              </a:rPr>
              <a:t>Prüfen und nachbessern</a:t>
            </a:r>
          </a:p>
        </p:txBody>
      </p:sp>
      <p:sp>
        <p:nvSpPr>
          <p:cNvPr id="30" name="TextBox 29"/>
          <p:cNvSpPr txBox="1"/>
          <p:nvPr/>
        </p:nvSpPr>
        <p:spPr>
          <a:xfrm>
            <a:off x="7306056" y="4526280"/>
            <a:ext cx="4059936" cy="685800"/>
          </a:xfrm>
          <a:prstGeom prst="rect">
            <a:avLst/>
          </a:prstGeom>
          <a:noFill/>
        </p:spPr>
        <p:txBody>
          <a:bodyPr wrap="square" lIns="0" rIns="0" tIns="0" bIns="0" anchor="t">
            <a:spAutoFit/>
          </a:bodyPr>
          <a:lstStyle/>
          <a:p>
            <a:pPr algn="l"/>
            <a:r>
              <a:rPr sz="1267" b="0" i="0">
                <a:solidFill>
                  <a:srgbClr val="9A9AAA"/>
                </a:solidFill>
                <a:latin typeface="Verdana"/>
              </a:rPr>
              <a:t>Ein zweiter KI-Schritt prüft das Ergebnis, bei Problemen geht es zurück.</a:t>
            </a:r>
          </a:p>
        </p:txBody>
      </p:sp>
      <p:sp>
        <p:nvSpPr>
          <p:cNvPr id="31" name="TextBox 30"/>
          <p:cNvSpPr txBox="1"/>
          <p:nvPr/>
        </p:nvSpPr>
        <p:spPr>
          <a:xfrm>
            <a:off x="7306056" y="5257800"/>
            <a:ext cx="4059936" cy="320040"/>
          </a:xfrm>
          <a:prstGeom prst="rect">
            <a:avLst/>
          </a:prstGeom>
          <a:noFill/>
        </p:spPr>
        <p:txBody>
          <a:bodyPr wrap="square" lIns="0" rIns="0" tIns="0" bIns="0" anchor="t">
            <a:spAutoFit/>
          </a:bodyPr>
          <a:lstStyle/>
          <a:p>
            <a:pPr algn="l"/>
            <a:r>
              <a:rPr sz="1200" b="0" i="0">
                <a:solidFill>
                  <a:srgbClr val="9A9AAA"/>
                </a:solidFill>
                <a:latin typeface="Verdana"/>
              </a:rPr>
              <a:t>In Langflow: </a:t>
            </a:r>
            <a:r>
              <a:rPr sz="1200" b="1" i="0">
                <a:solidFill>
                  <a:srgbClr val="FFFFFF"/>
                </a:solidFill>
                <a:latin typeface="Verdana"/>
              </a:rPr>
              <a:t>Prompt, KI-Modell, If-Else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Die Auskunfts-Weiche.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3 · BEISPIEL</a:t>
            </a:r>
          </a:p>
        </p:txBody>
      </p:sp>
      <p:sp>
        <p:nvSpPr>
          <p:cNvPr id="4" name="Rectangle 3"/>
          <p:cNvSpPr/>
          <p:nvPr/>
        </p:nvSpPr>
        <p:spPr>
          <a:xfrm>
            <a:off x="792656" y="3199180"/>
            <a:ext cx="1730300" cy="642518"/>
          </a:xfrm>
          <a:prstGeom prst="rect">
            <a:avLst/>
          </a:prstGeom>
          <a:solidFill>
            <a:srgbClr val="24232E"/>
          </a:solidFill>
          <a:ln w="19050">
            <a:solidFill>
              <a:srgbClr val="9A9AAA"/>
            </a:solidFill>
          </a:ln>
        </p:spPr>
        <p:txBody>
          <a:bodyPr rtlCol="0" anchor="ctr"/>
          <a:lstStyle/>
          <a:p>
            <a:pPr algn="ctr"/>
          </a:p>
        </p:txBody>
      </p:sp>
      <p:sp>
        <p:nvSpPr>
          <p:cNvPr id="5" name="TextBox 4"/>
          <p:cNvSpPr txBox="1"/>
          <p:nvPr/>
        </p:nvSpPr>
        <p:spPr>
          <a:xfrm>
            <a:off x="865808" y="3244900"/>
            <a:ext cx="1583996" cy="353385"/>
          </a:xfrm>
          <a:prstGeom prst="rect">
            <a:avLst/>
          </a:prstGeom>
          <a:noFill/>
        </p:spPr>
        <p:txBody>
          <a:bodyPr wrap="square" lIns="0" rIns="0" tIns="0" bIns="0" anchor="b">
            <a:spAutoFit/>
          </a:bodyPr>
          <a:lstStyle/>
          <a:p>
            <a:pPr algn="ctr"/>
            <a:r>
              <a:rPr sz="1100" b="1" i="0">
                <a:solidFill>
                  <a:srgbClr val="FFFFFF"/>
                </a:solidFill>
                <a:latin typeface="Verdana"/>
              </a:rPr>
              <a:t>Anfrage</a:t>
            </a:r>
          </a:p>
        </p:txBody>
      </p:sp>
      <p:sp>
        <p:nvSpPr>
          <p:cNvPr id="6" name="TextBox 5"/>
          <p:cNvSpPr txBox="1"/>
          <p:nvPr/>
        </p:nvSpPr>
        <p:spPr>
          <a:xfrm>
            <a:off x="865808" y="3571841"/>
            <a:ext cx="1583996" cy="257007"/>
          </a:xfrm>
          <a:prstGeom prst="rect">
            <a:avLst/>
          </a:prstGeom>
          <a:noFill/>
        </p:spPr>
        <p:txBody>
          <a:bodyPr wrap="square" lIns="0" rIns="0" tIns="0" bIns="0" anchor="t">
            <a:spAutoFit/>
          </a:bodyPr>
          <a:lstStyle/>
          <a:p>
            <a:pPr algn="ctr"/>
            <a:r>
              <a:rPr sz="933" b="0" i="1">
                <a:solidFill>
                  <a:srgbClr val="9A9AAA"/>
                </a:solidFill>
                <a:latin typeface="Verdana"/>
              </a:rPr>
              <a:t>Chat Input</a:t>
            </a:r>
          </a:p>
        </p:txBody>
      </p:sp>
      <p:sp>
        <p:nvSpPr>
          <p:cNvPr id="7" name="Rectangle 6"/>
          <p:cNvSpPr/>
          <p:nvPr/>
        </p:nvSpPr>
        <p:spPr>
          <a:xfrm>
            <a:off x="3010991" y="3199180"/>
            <a:ext cx="1730300" cy="642518"/>
          </a:xfrm>
          <a:prstGeom prst="rect">
            <a:avLst/>
          </a:prstGeom>
          <a:solidFill>
            <a:srgbClr val="24232E"/>
          </a:solidFill>
          <a:ln w="19050">
            <a:solidFill>
              <a:srgbClr val="007A9E"/>
            </a:solidFill>
          </a:ln>
        </p:spPr>
        <p:txBody>
          <a:bodyPr rtlCol="0" anchor="ctr"/>
          <a:lstStyle/>
          <a:p>
            <a:pPr algn="ctr"/>
          </a:p>
        </p:txBody>
      </p:sp>
      <p:sp>
        <p:nvSpPr>
          <p:cNvPr id="8" name="TextBox 7"/>
          <p:cNvSpPr txBox="1"/>
          <p:nvPr/>
        </p:nvSpPr>
        <p:spPr>
          <a:xfrm>
            <a:off x="3084143" y="3244900"/>
            <a:ext cx="1583996" cy="353385"/>
          </a:xfrm>
          <a:prstGeom prst="rect">
            <a:avLst/>
          </a:prstGeom>
          <a:noFill/>
        </p:spPr>
        <p:txBody>
          <a:bodyPr wrap="square" lIns="0" rIns="0" tIns="0" bIns="0" anchor="b">
            <a:spAutoFit/>
          </a:bodyPr>
          <a:lstStyle/>
          <a:p>
            <a:pPr algn="ctr"/>
            <a:r>
              <a:rPr sz="1100" b="1" i="0">
                <a:solidFill>
                  <a:srgbClr val="FFFFFF"/>
                </a:solidFill>
                <a:latin typeface="Verdana"/>
              </a:rPr>
              <a:t>Smart Router</a:t>
            </a:r>
          </a:p>
        </p:txBody>
      </p:sp>
      <p:sp>
        <p:nvSpPr>
          <p:cNvPr id="9" name="TextBox 8"/>
          <p:cNvSpPr txBox="1"/>
          <p:nvPr/>
        </p:nvSpPr>
        <p:spPr>
          <a:xfrm>
            <a:off x="3084143" y="3571841"/>
            <a:ext cx="1583996" cy="257007"/>
          </a:xfrm>
          <a:prstGeom prst="rect">
            <a:avLst/>
          </a:prstGeom>
          <a:noFill/>
        </p:spPr>
        <p:txBody>
          <a:bodyPr wrap="square" lIns="0" rIns="0" tIns="0" bIns="0" anchor="t">
            <a:spAutoFit/>
          </a:bodyPr>
          <a:lstStyle/>
          <a:p>
            <a:pPr algn="ctr"/>
            <a:r>
              <a:rPr sz="933" b="0" i="1">
                <a:solidFill>
                  <a:srgbClr val="9A9AAA"/>
                </a:solidFill>
                <a:latin typeface="Verdana"/>
              </a:rPr>
              <a:t>KI entscheidet</a:t>
            </a:r>
          </a:p>
        </p:txBody>
      </p:sp>
      <p:sp>
        <p:nvSpPr>
          <p:cNvPr id="10" name="Rectangle 9"/>
          <p:cNvSpPr/>
          <p:nvPr/>
        </p:nvSpPr>
        <p:spPr>
          <a:xfrm>
            <a:off x="5229325" y="2162860"/>
            <a:ext cx="1730300" cy="642518"/>
          </a:xfrm>
          <a:prstGeom prst="rect">
            <a:avLst/>
          </a:prstGeom>
          <a:solidFill>
            <a:srgbClr val="24232E"/>
          </a:solidFill>
          <a:ln w="19050">
            <a:solidFill>
              <a:srgbClr val="18E979"/>
            </a:solidFill>
          </a:ln>
        </p:spPr>
        <p:txBody>
          <a:bodyPr rtlCol="0" anchor="ctr"/>
          <a:lstStyle/>
          <a:p>
            <a:pPr algn="ctr"/>
          </a:p>
        </p:txBody>
      </p:sp>
      <p:sp>
        <p:nvSpPr>
          <p:cNvPr id="11" name="TextBox 10"/>
          <p:cNvSpPr txBox="1"/>
          <p:nvPr/>
        </p:nvSpPr>
        <p:spPr>
          <a:xfrm>
            <a:off x="5302477" y="2208580"/>
            <a:ext cx="1583996" cy="353385"/>
          </a:xfrm>
          <a:prstGeom prst="rect">
            <a:avLst/>
          </a:prstGeom>
          <a:noFill/>
        </p:spPr>
        <p:txBody>
          <a:bodyPr wrap="square" lIns="0" rIns="0" tIns="0" bIns="0" anchor="b">
            <a:spAutoFit/>
          </a:bodyPr>
          <a:lstStyle/>
          <a:p>
            <a:pPr algn="ctr"/>
            <a:r>
              <a:rPr sz="1100" b="1" i="0">
                <a:solidFill>
                  <a:srgbClr val="FFFFFF"/>
                </a:solidFill>
                <a:latin typeface="Verdana"/>
              </a:rPr>
              <a:t>Recherche-Agent</a:t>
            </a:r>
          </a:p>
        </p:txBody>
      </p:sp>
      <p:sp>
        <p:nvSpPr>
          <p:cNvPr id="12" name="TextBox 11"/>
          <p:cNvSpPr txBox="1"/>
          <p:nvPr/>
        </p:nvSpPr>
        <p:spPr>
          <a:xfrm>
            <a:off x="5302477" y="2535521"/>
            <a:ext cx="1583996" cy="257007"/>
          </a:xfrm>
          <a:prstGeom prst="rect">
            <a:avLst/>
          </a:prstGeom>
          <a:noFill/>
        </p:spPr>
        <p:txBody>
          <a:bodyPr wrap="square" lIns="0" rIns="0" tIns="0" bIns="0" anchor="t">
            <a:spAutoFit/>
          </a:bodyPr>
          <a:lstStyle/>
          <a:p>
            <a:pPr algn="ctr"/>
            <a:r>
              <a:rPr sz="933" b="0" i="1">
                <a:solidFill>
                  <a:srgbClr val="9A9AAA"/>
                </a:solidFill>
                <a:latin typeface="Verdana"/>
              </a:rPr>
              <a:t>aus Teil 2</a:t>
            </a:r>
          </a:p>
        </p:txBody>
      </p:sp>
      <p:sp>
        <p:nvSpPr>
          <p:cNvPr id="13" name="Rectangle 12"/>
          <p:cNvSpPr/>
          <p:nvPr/>
        </p:nvSpPr>
        <p:spPr>
          <a:xfrm>
            <a:off x="5229325" y="3199180"/>
            <a:ext cx="1730300" cy="642518"/>
          </a:xfrm>
          <a:prstGeom prst="rect">
            <a:avLst/>
          </a:prstGeom>
          <a:solidFill>
            <a:srgbClr val="24232E"/>
          </a:solidFill>
          <a:ln w="19050">
            <a:solidFill>
              <a:srgbClr val="F6A800"/>
            </a:solidFill>
          </a:ln>
        </p:spPr>
        <p:txBody>
          <a:bodyPr rtlCol="0" anchor="ctr"/>
          <a:lstStyle/>
          <a:p>
            <a:pPr algn="ctr"/>
          </a:p>
        </p:txBody>
      </p:sp>
      <p:sp>
        <p:nvSpPr>
          <p:cNvPr id="14" name="TextBox 13"/>
          <p:cNvSpPr txBox="1"/>
          <p:nvPr/>
        </p:nvSpPr>
        <p:spPr>
          <a:xfrm>
            <a:off x="5302477" y="3244900"/>
            <a:ext cx="1583996" cy="353385"/>
          </a:xfrm>
          <a:prstGeom prst="rect">
            <a:avLst/>
          </a:prstGeom>
          <a:noFill/>
        </p:spPr>
        <p:txBody>
          <a:bodyPr wrap="square" lIns="0" rIns="0" tIns="0" bIns="0" anchor="b">
            <a:spAutoFit/>
          </a:bodyPr>
          <a:lstStyle/>
          <a:p>
            <a:pPr algn="ctr"/>
            <a:r>
              <a:rPr sz="1100" b="1" i="0">
                <a:solidFill>
                  <a:srgbClr val="FFFFFF"/>
                </a:solidFill>
                <a:latin typeface="Verdana"/>
              </a:rPr>
              <a:t>Prompt mit FAQ</a:t>
            </a:r>
          </a:p>
        </p:txBody>
      </p:sp>
      <p:sp>
        <p:nvSpPr>
          <p:cNvPr id="15" name="TextBox 14"/>
          <p:cNvSpPr txBox="1"/>
          <p:nvPr/>
        </p:nvSpPr>
        <p:spPr>
          <a:xfrm>
            <a:off x="5302477" y="3571841"/>
            <a:ext cx="1583996" cy="257007"/>
          </a:xfrm>
          <a:prstGeom prst="rect">
            <a:avLst/>
          </a:prstGeom>
          <a:noFill/>
        </p:spPr>
        <p:txBody>
          <a:bodyPr wrap="square" lIns="0" rIns="0" tIns="0" bIns="0" anchor="t">
            <a:spAutoFit/>
          </a:bodyPr>
          <a:lstStyle/>
          <a:p>
            <a:pPr algn="ctr"/>
            <a:r>
              <a:rPr sz="933" b="0" i="1">
                <a:solidFill>
                  <a:srgbClr val="9A9AAA"/>
                </a:solidFill>
                <a:latin typeface="Verdana"/>
              </a:rPr>
              <a:t>+ KI-Modell</a:t>
            </a:r>
          </a:p>
        </p:txBody>
      </p:sp>
      <p:sp>
        <p:nvSpPr>
          <p:cNvPr id="16" name="Rectangle 15"/>
          <p:cNvSpPr/>
          <p:nvPr/>
        </p:nvSpPr>
        <p:spPr>
          <a:xfrm>
            <a:off x="5229325" y="4235500"/>
            <a:ext cx="1730300" cy="642518"/>
          </a:xfrm>
          <a:prstGeom prst="rect">
            <a:avLst/>
          </a:prstGeom>
          <a:solidFill>
            <a:srgbClr val="24232E"/>
          </a:solidFill>
          <a:ln w="19050">
            <a:solidFill>
              <a:srgbClr val="FFFFFF"/>
            </a:solidFill>
          </a:ln>
        </p:spPr>
        <p:txBody>
          <a:bodyPr rtlCol="0" anchor="ctr"/>
          <a:lstStyle/>
          <a:p>
            <a:pPr algn="ctr"/>
          </a:p>
        </p:txBody>
      </p:sp>
      <p:sp>
        <p:nvSpPr>
          <p:cNvPr id="17" name="TextBox 16"/>
          <p:cNvSpPr txBox="1"/>
          <p:nvPr/>
        </p:nvSpPr>
        <p:spPr>
          <a:xfrm>
            <a:off x="5302477" y="4281220"/>
            <a:ext cx="1583996" cy="353385"/>
          </a:xfrm>
          <a:prstGeom prst="rect">
            <a:avLst/>
          </a:prstGeom>
          <a:noFill/>
        </p:spPr>
        <p:txBody>
          <a:bodyPr wrap="square" lIns="0" rIns="0" tIns="0" bIns="0" anchor="b">
            <a:spAutoFit/>
          </a:bodyPr>
          <a:lstStyle/>
          <a:p>
            <a:pPr algn="ctr"/>
            <a:r>
              <a:rPr sz="1100" b="1" i="0">
                <a:solidFill>
                  <a:srgbClr val="FFFFFF"/>
                </a:solidFill>
                <a:latin typeface="Verdana"/>
              </a:rPr>
              <a:t>Feste Antwort</a:t>
            </a:r>
          </a:p>
        </p:txBody>
      </p:sp>
      <p:sp>
        <p:nvSpPr>
          <p:cNvPr id="18" name="TextBox 17"/>
          <p:cNvSpPr txBox="1"/>
          <p:nvPr/>
        </p:nvSpPr>
        <p:spPr>
          <a:xfrm>
            <a:off x="5302477" y="4608161"/>
            <a:ext cx="1583996" cy="257007"/>
          </a:xfrm>
          <a:prstGeom prst="rect">
            <a:avLst/>
          </a:prstGeom>
          <a:noFill/>
        </p:spPr>
        <p:txBody>
          <a:bodyPr wrap="square" lIns="0" rIns="0" tIns="0" bIns="0" anchor="t">
            <a:spAutoFit/>
          </a:bodyPr>
          <a:lstStyle/>
          <a:p>
            <a:pPr algn="ctr"/>
            <a:r>
              <a:rPr sz="933" b="0" i="1">
                <a:solidFill>
                  <a:srgbClr val="9A9AAA"/>
                </a:solidFill>
                <a:latin typeface="Verdana"/>
              </a:rPr>
              <a:t>„Wir leiten weiter.“</a:t>
            </a:r>
          </a:p>
        </p:txBody>
      </p:sp>
      <p:sp>
        <p:nvSpPr>
          <p:cNvPr id="19" name="Rectangle 18"/>
          <p:cNvSpPr/>
          <p:nvPr/>
        </p:nvSpPr>
        <p:spPr>
          <a:xfrm>
            <a:off x="7447659" y="2162860"/>
            <a:ext cx="1730300" cy="642518"/>
          </a:xfrm>
          <a:prstGeom prst="rect">
            <a:avLst/>
          </a:prstGeom>
          <a:solidFill>
            <a:srgbClr val="24232E"/>
          </a:solidFill>
          <a:ln w="19050">
            <a:solidFill>
              <a:srgbClr val="9A9AAA"/>
            </a:solidFill>
          </a:ln>
        </p:spPr>
        <p:txBody>
          <a:bodyPr rtlCol="0" anchor="ctr"/>
          <a:lstStyle/>
          <a:p>
            <a:pPr algn="ctr"/>
          </a:p>
        </p:txBody>
      </p:sp>
      <p:sp>
        <p:nvSpPr>
          <p:cNvPr id="20" name="TextBox 19"/>
          <p:cNvSpPr txBox="1"/>
          <p:nvPr/>
        </p:nvSpPr>
        <p:spPr>
          <a:xfrm>
            <a:off x="7520811" y="2162860"/>
            <a:ext cx="1583996" cy="642518"/>
          </a:xfrm>
          <a:prstGeom prst="rect">
            <a:avLst/>
          </a:prstGeom>
          <a:noFill/>
        </p:spPr>
        <p:txBody>
          <a:bodyPr wrap="square" lIns="0" rIns="0" tIns="0" bIns="0" anchor="ctr">
            <a:spAutoFit/>
          </a:bodyPr>
          <a:lstStyle/>
          <a:p>
            <a:pPr algn="ctr"/>
            <a:r>
              <a:rPr sz="1100" b="1" i="0">
                <a:solidFill>
                  <a:srgbClr val="FFFFFF"/>
                </a:solidFill>
                <a:latin typeface="Verdana"/>
              </a:rPr>
              <a:t>Antwortentwurf</a:t>
            </a:r>
          </a:p>
        </p:txBody>
      </p:sp>
      <p:sp>
        <p:nvSpPr>
          <p:cNvPr id="21" name="Rectangle 20"/>
          <p:cNvSpPr/>
          <p:nvPr/>
        </p:nvSpPr>
        <p:spPr>
          <a:xfrm>
            <a:off x="7447659" y="3199180"/>
            <a:ext cx="1730300" cy="642518"/>
          </a:xfrm>
          <a:prstGeom prst="rect">
            <a:avLst/>
          </a:prstGeom>
          <a:solidFill>
            <a:srgbClr val="24232E"/>
          </a:solidFill>
          <a:ln w="19050">
            <a:solidFill>
              <a:srgbClr val="9A9AAA"/>
            </a:solidFill>
          </a:ln>
        </p:spPr>
        <p:txBody>
          <a:bodyPr rtlCol="0" anchor="ctr"/>
          <a:lstStyle/>
          <a:p>
            <a:pPr algn="ctr"/>
          </a:p>
        </p:txBody>
      </p:sp>
      <p:sp>
        <p:nvSpPr>
          <p:cNvPr id="22" name="TextBox 21"/>
          <p:cNvSpPr txBox="1"/>
          <p:nvPr/>
        </p:nvSpPr>
        <p:spPr>
          <a:xfrm>
            <a:off x="7520811" y="3199180"/>
            <a:ext cx="1583996" cy="642518"/>
          </a:xfrm>
          <a:prstGeom prst="rect">
            <a:avLst/>
          </a:prstGeom>
          <a:noFill/>
        </p:spPr>
        <p:txBody>
          <a:bodyPr wrap="square" lIns="0" rIns="0" tIns="0" bIns="0" anchor="ctr">
            <a:spAutoFit/>
          </a:bodyPr>
          <a:lstStyle/>
          <a:p>
            <a:pPr algn="ctr"/>
            <a:r>
              <a:rPr sz="1100" b="1" i="0">
                <a:solidFill>
                  <a:srgbClr val="FFFFFF"/>
                </a:solidFill>
                <a:latin typeface="Verdana"/>
              </a:rPr>
              <a:t>Antwortentwurf</a:t>
            </a:r>
          </a:p>
        </p:txBody>
      </p:sp>
      <p:sp>
        <p:nvSpPr>
          <p:cNvPr id="23" name="Rectangle 22"/>
          <p:cNvSpPr/>
          <p:nvPr/>
        </p:nvSpPr>
        <p:spPr>
          <a:xfrm>
            <a:off x="7447659" y="4235500"/>
            <a:ext cx="1730300" cy="642518"/>
          </a:xfrm>
          <a:prstGeom prst="rect">
            <a:avLst/>
          </a:prstGeom>
          <a:solidFill>
            <a:srgbClr val="24232E"/>
          </a:solidFill>
          <a:ln w="19050">
            <a:solidFill>
              <a:srgbClr val="9A9AAA"/>
            </a:solidFill>
          </a:ln>
        </p:spPr>
        <p:txBody>
          <a:bodyPr rtlCol="0" anchor="ctr"/>
          <a:lstStyle/>
          <a:p>
            <a:pPr algn="ctr"/>
          </a:p>
        </p:txBody>
      </p:sp>
      <p:sp>
        <p:nvSpPr>
          <p:cNvPr id="24" name="TextBox 23"/>
          <p:cNvSpPr txBox="1"/>
          <p:nvPr/>
        </p:nvSpPr>
        <p:spPr>
          <a:xfrm>
            <a:off x="7520811" y="4235500"/>
            <a:ext cx="1583996" cy="642518"/>
          </a:xfrm>
          <a:prstGeom prst="rect">
            <a:avLst/>
          </a:prstGeom>
          <a:noFill/>
        </p:spPr>
        <p:txBody>
          <a:bodyPr wrap="square" lIns="0" rIns="0" tIns="0" bIns="0" anchor="ctr">
            <a:spAutoFit/>
          </a:bodyPr>
          <a:lstStyle/>
          <a:p>
            <a:pPr algn="ctr"/>
            <a:r>
              <a:rPr sz="1100" b="1" i="0">
                <a:solidFill>
                  <a:srgbClr val="FFFFFF"/>
                </a:solidFill>
                <a:latin typeface="Verdana"/>
              </a:rPr>
              <a:t>Antwort</a:t>
            </a:r>
          </a:p>
        </p:txBody>
      </p:sp>
      <p:sp>
        <p:nvSpPr>
          <p:cNvPr id="25" name="Rectangle 24"/>
          <p:cNvSpPr/>
          <p:nvPr/>
        </p:nvSpPr>
        <p:spPr>
          <a:xfrm>
            <a:off x="9665994" y="3199180"/>
            <a:ext cx="1730300" cy="642518"/>
          </a:xfrm>
          <a:prstGeom prst="rect">
            <a:avLst/>
          </a:prstGeom>
          <a:solidFill>
            <a:srgbClr val="24232E"/>
          </a:solidFill>
          <a:ln w="19050">
            <a:solidFill>
              <a:srgbClr val="18E979"/>
            </a:solidFill>
          </a:ln>
        </p:spPr>
        <p:txBody>
          <a:bodyPr rtlCol="0" anchor="ctr"/>
          <a:lstStyle/>
          <a:p>
            <a:pPr algn="ctr"/>
          </a:p>
        </p:txBody>
      </p:sp>
      <p:sp>
        <p:nvSpPr>
          <p:cNvPr id="26" name="TextBox 25"/>
          <p:cNvSpPr txBox="1"/>
          <p:nvPr/>
        </p:nvSpPr>
        <p:spPr>
          <a:xfrm>
            <a:off x="9739146" y="3244900"/>
            <a:ext cx="1583996" cy="353385"/>
          </a:xfrm>
          <a:prstGeom prst="rect">
            <a:avLst/>
          </a:prstGeom>
          <a:noFill/>
        </p:spPr>
        <p:txBody>
          <a:bodyPr wrap="square" lIns="0" rIns="0" tIns="0" bIns="0" anchor="b">
            <a:spAutoFit/>
          </a:bodyPr>
          <a:lstStyle/>
          <a:p>
            <a:pPr algn="ctr"/>
            <a:r>
              <a:rPr sz="1100" b="1" i="0">
                <a:solidFill>
                  <a:srgbClr val="FFFFFF"/>
                </a:solidFill>
                <a:latin typeface="Verdana"/>
              </a:rPr>
              <a:t>Mensch prüft</a:t>
            </a:r>
          </a:p>
        </p:txBody>
      </p:sp>
      <p:sp>
        <p:nvSpPr>
          <p:cNvPr id="27" name="TextBox 26"/>
          <p:cNvSpPr txBox="1"/>
          <p:nvPr/>
        </p:nvSpPr>
        <p:spPr>
          <a:xfrm>
            <a:off x="9739146" y="3571841"/>
            <a:ext cx="1583996" cy="257007"/>
          </a:xfrm>
          <a:prstGeom prst="rect">
            <a:avLst/>
          </a:prstGeom>
          <a:noFill/>
        </p:spPr>
        <p:txBody>
          <a:bodyPr wrap="square" lIns="0" rIns="0" tIns="0" bIns="0" anchor="t">
            <a:spAutoFit/>
          </a:bodyPr>
          <a:lstStyle/>
          <a:p>
            <a:pPr algn="ctr"/>
            <a:r>
              <a:rPr sz="933" b="0" i="1">
                <a:solidFill>
                  <a:srgbClr val="9A9AAA"/>
                </a:solidFill>
                <a:latin typeface="Verdana"/>
              </a:rPr>
              <a:t>und sendet</a:t>
            </a:r>
          </a:p>
        </p:txBody>
      </p:sp>
      <p:cxnSp>
        <p:nvCxnSpPr>
          <p:cNvPr id="28" name="Connector 27"/>
          <p:cNvCxnSpPr/>
          <p:nvPr/>
        </p:nvCxnSpPr>
        <p:spPr>
          <a:xfrm>
            <a:off x="2522957" y="3520439"/>
            <a:ext cx="488034" cy="0"/>
          </a:xfrm>
          <a:prstGeom prst="line">
            <a:avLst/>
          </a:prstGeom>
          <a:ln w="15875">
            <a:solidFill>
              <a:srgbClr val="9A9AAA"/>
            </a:solidFill>
            <a:tailEnd type="triangle" w="med" len="med"/>
          </a:ln>
        </p:spPr>
      </p:cxnSp>
      <p:cxnSp>
        <p:nvCxnSpPr>
          <p:cNvPr id="29" name="Connector 28"/>
          <p:cNvCxnSpPr/>
          <p:nvPr/>
        </p:nvCxnSpPr>
        <p:spPr>
          <a:xfrm flipV="1">
            <a:off x="4741292" y="2484119"/>
            <a:ext cx="488033" cy="1036320"/>
          </a:xfrm>
          <a:prstGeom prst="line">
            <a:avLst/>
          </a:prstGeom>
          <a:ln w="15875">
            <a:solidFill>
              <a:srgbClr val="9A9AAA"/>
            </a:solidFill>
            <a:tailEnd type="triangle" w="med" len="med"/>
          </a:ln>
        </p:spPr>
      </p:cxnSp>
      <p:sp>
        <p:nvSpPr>
          <p:cNvPr id="30" name="TextBox 29"/>
          <p:cNvSpPr txBox="1"/>
          <p:nvPr/>
        </p:nvSpPr>
        <p:spPr>
          <a:xfrm>
            <a:off x="4086325" y="2209800"/>
            <a:ext cx="1051560" cy="228600"/>
          </a:xfrm>
          <a:prstGeom prst="rect">
            <a:avLst/>
          </a:prstGeom>
          <a:noFill/>
        </p:spPr>
        <p:txBody>
          <a:bodyPr wrap="square" lIns="0" rIns="0" tIns="0" bIns="0" anchor="t">
            <a:spAutoFit/>
          </a:bodyPr>
          <a:lstStyle/>
          <a:p>
            <a:pPr algn="r"/>
            <a:r>
              <a:rPr sz="933" b="0" i="1">
                <a:solidFill>
                  <a:srgbClr val="9A9AAA"/>
                </a:solidFill>
                <a:latin typeface="Verdana"/>
              </a:rPr>
              <a:t>Literatur</a:t>
            </a:r>
          </a:p>
        </p:txBody>
      </p:sp>
      <p:cxnSp>
        <p:nvCxnSpPr>
          <p:cNvPr id="31" name="Connector 30"/>
          <p:cNvCxnSpPr/>
          <p:nvPr/>
        </p:nvCxnSpPr>
        <p:spPr>
          <a:xfrm>
            <a:off x="4741292" y="3520439"/>
            <a:ext cx="488033" cy="0"/>
          </a:xfrm>
          <a:prstGeom prst="line">
            <a:avLst/>
          </a:prstGeom>
          <a:ln w="15875">
            <a:solidFill>
              <a:srgbClr val="9A9AAA"/>
            </a:solidFill>
            <a:tailEnd type="triangle" w="med" len="med"/>
          </a:ln>
        </p:spPr>
      </p:cxnSp>
      <p:sp>
        <p:nvSpPr>
          <p:cNvPr id="32" name="TextBox 31"/>
          <p:cNvSpPr txBox="1"/>
          <p:nvPr/>
        </p:nvSpPr>
        <p:spPr>
          <a:xfrm>
            <a:off x="4086325" y="3246120"/>
            <a:ext cx="1051560" cy="228600"/>
          </a:xfrm>
          <a:prstGeom prst="rect">
            <a:avLst/>
          </a:prstGeom>
          <a:noFill/>
        </p:spPr>
        <p:txBody>
          <a:bodyPr wrap="square" lIns="0" rIns="0" tIns="0" bIns="0" anchor="t">
            <a:spAutoFit/>
          </a:bodyPr>
          <a:lstStyle/>
          <a:p>
            <a:pPr algn="r"/>
            <a:r>
              <a:rPr sz="933" b="0" i="1">
                <a:solidFill>
                  <a:srgbClr val="9A9AAA"/>
                </a:solidFill>
                <a:latin typeface="Verdana"/>
              </a:rPr>
              <a:t>Benutzung</a:t>
            </a:r>
          </a:p>
        </p:txBody>
      </p:sp>
      <p:cxnSp>
        <p:nvCxnSpPr>
          <p:cNvPr id="33" name="Connector 32"/>
          <p:cNvCxnSpPr/>
          <p:nvPr/>
        </p:nvCxnSpPr>
        <p:spPr>
          <a:xfrm>
            <a:off x="4741292" y="3520439"/>
            <a:ext cx="488033" cy="1036321"/>
          </a:xfrm>
          <a:prstGeom prst="line">
            <a:avLst/>
          </a:prstGeom>
          <a:ln w="15875">
            <a:solidFill>
              <a:srgbClr val="9A9AAA"/>
            </a:solidFill>
            <a:tailEnd type="triangle" w="med" len="med"/>
          </a:ln>
        </p:spPr>
      </p:cxnSp>
      <p:sp>
        <p:nvSpPr>
          <p:cNvPr id="34" name="TextBox 33"/>
          <p:cNvSpPr txBox="1"/>
          <p:nvPr/>
        </p:nvSpPr>
        <p:spPr>
          <a:xfrm>
            <a:off x="4086325" y="4282440"/>
            <a:ext cx="1051560" cy="228600"/>
          </a:xfrm>
          <a:prstGeom prst="rect">
            <a:avLst/>
          </a:prstGeom>
          <a:noFill/>
        </p:spPr>
        <p:txBody>
          <a:bodyPr wrap="square" lIns="0" rIns="0" tIns="0" bIns="0" anchor="t">
            <a:spAutoFit/>
          </a:bodyPr>
          <a:lstStyle/>
          <a:p>
            <a:pPr algn="r"/>
            <a:r>
              <a:rPr sz="933" b="0" i="1">
                <a:solidFill>
                  <a:srgbClr val="9A9AAA"/>
                </a:solidFill>
                <a:latin typeface="Verdana"/>
              </a:rPr>
              <a:t>Sonstiges</a:t>
            </a:r>
          </a:p>
        </p:txBody>
      </p:sp>
      <p:cxnSp>
        <p:nvCxnSpPr>
          <p:cNvPr id="35" name="Connector 34"/>
          <p:cNvCxnSpPr/>
          <p:nvPr/>
        </p:nvCxnSpPr>
        <p:spPr>
          <a:xfrm>
            <a:off x="6959626" y="2484119"/>
            <a:ext cx="488033" cy="0"/>
          </a:xfrm>
          <a:prstGeom prst="line">
            <a:avLst/>
          </a:prstGeom>
          <a:ln w="15875">
            <a:solidFill>
              <a:srgbClr val="9A9AAA"/>
            </a:solidFill>
            <a:tailEnd type="triangle" w="med" len="med"/>
          </a:ln>
        </p:spPr>
      </p:cxnSp>
      <p:cxnSp>
        <p:nvCxnSpPr>
          <p:cNvPr id="36" name="Connector 35"/>
          <p:cNvCxnSpPr/>
          <p:nvPr/>
        </p:nvCxnSpPr>
        <p:spPr>
          <a:xfrm>
            <a:off x="6959626" y="3520439"/>
            <a:ext cx="488033" cy="0"/>
          </a:xfrm>
          <a:prstGeom prst="line">
            <a:avLst/>
          </a:prstGeom>
          <a:ln w="15875">
            <a:solidFill>
              <a:srgbClr val="9A9AAA"/>
            </a:solidFill>
            <a:tailEnd type="triangle" w="med" len="med"/>
          </a:ln>
        </p:spPr>
      </p:cxnSp>
      <p:cxnSp>
        <p:nvCxnSpPr>
          <p:cNvPr id="37" name="Connector 36"/>
          <p:cNvCxnSpPr/>
          <p:nvPr/>
        </p:nvCxnSpPr>
        <p:spPr>
          <a:xfrm>
            <a:off x="6959626" y="4556760"/>
            <a:ext cx="488033" cy="0"/>
          </a:xfrm>
          <a:prstGeom prst="line">
            <a:avLst/>
          </a:prstGeom>
          <a:ln w="15875">
            <a:solidFill>
              <a:srgbClr val="9A9AAA"/>
            </a:solidFill>
            <a:tailEnd type="triangle" w="med" len="med"/>
          </a:ln>
        </p:spPr>
      </p:cxnSp>
      <p:cxnSp>
        <p:nvCxnSpPr>
          <p:cNvPr id="38" name="Connector 37"/>
          <p:cNvCxnSpPr/>
          <p:nvPr/>
        </p:nvCxnSpPr>
        <p:spPr>
          <a:xfrm>
            <a:off x="9177960" y="2484119"/>
            <a:ext cx="488034" cy="1036320"/>
          </a:xfrm>
          <a:prstGeom prst="line">
            <a:avLst/>
          </a:prstGeom>
          <a:ln w="15875">
            <a:solidFill>
              <a:srgbClr val="9A9AAA"/>
            </a:solidFill>
            <a:tailEnd type="triangle" w="med" len="med"/>
          </a:ln>
        </p:spPr>
      </p:cxnSp>
      <p:cxnSp>
        <p:nvCxnSpPr>
          <p:cNvPr id="39" name="Connector 38"/>
          <p:cNvCxnSpPr/>
          <p:nvPr/>
        </p:nvCxnSpPr>
        <p:spPr>
          <a:xfrm>
            <a:off x="9177960" y="3520439"/>
            <a:ext cx="488034" cy="0"/>
          </a:xfrm>
          <a:prstGeom prst="line">
            <a:avLst/>
          </a:prstGeom>
          <a:ln w="15875">
            <a:solidFill>
              <a:srgbClr val="9A9AAA"/>
            </a:solidFill>
            <a:tailEnd type="triangle" w="med" len="med"/>
          </a:ln>
        </p:spPr>
      </p:cxnSp>
      <p:cxnSp>
        <p:nvCxnSpPr>
          <p:cNvPr id="40" name="Connector 39"/>
          <p:cNvCxnSpPr/>
          <p:nvPr/>
        </p:nvCxnSpPr>
        <p:spPr>
          <a:xfrm flipV="1">
            <a:off x="9177960" y="3520439"/>
            <a:ext cx="488034" cy="1036321"/>
          </a:xfrm>
          <a:prstGeom prst="line">
            <a:avLst/>
          </a:prstGeom>
          <a:ln w="15875">
            <a:solidFill>
              <a:srgbClr val="9A9AAA"/>
            </a:solidFill>
            <a:tailEnd type="triangle" w="med" len="med"/>
          </a:ln>
        </p:spPr>
      </p:cxnSp>
      <p:sp>
        <p:nvSpPr>
          <p:cNvPr id="41" name="Rectangle 40"/>
          <p:cNvSpPr/>
          <p:nvPr/>
        </p:nvSpPr>
        <p:spPr>
          <a:xfrm>
            <a:off x="548640" y="5212080"/>
            <a:ext cx="11091672" cy="594360"/>
          </a:xfrm>
          <a:prstGeom prst="rect">
            <a:avLst/>
          </a:prstGeom>
          <a:noFill/>
          <a:ln w="12700">
            <a:solidFill>
              <a:srgbClr val="DC640D"/>
            </a:solidFill>
          </a:ln>
        </p:spPr>
        <p:txBody>
          <a:bodyPr rtlCol="0" anchor="ctr"/>
          <a:lstStyle/>
          <a:p>
            <a:pPr algn="ctr"/>
          </a:p>
        </p:txBody>
      </p:sp>
      <p:sp>
        <p:nvSpPr>
          <p:cNvPr id="42" name="TextBox 41"/>
          <p:cNvSpPr txBox="1"/>
          <p:nvPr/>
        </p:nvSpPr>
        <p:spPr>
          <a:xfrm>
            <a:off x="822959" y="5212080"/>
            <a:ext cx="10543032" cy="594360"/>
          </a:xfrm>
          <a:prstGeom prst="rect">
            <a:avLst/>
          </a:prstGeom>
          <a:noFill/>
        </p:spPr>
        <p:txBody>
          <a:bodyPr wrap="square" lIns="0" rIns="0" tIns="0" bIns="0" anchor="ctr">
            <a:spAutoFit/>
          </a:bodyPr>
          <a:lstStyle/>
          <a:p>
            <a:pPr algn="l"/>
            <a:r>
              <a:rPr sz="1333" b="1" i="0">
                <a:solidFill>
                  <a:srgbClr val="DC640D"/>
                </a:solidFill>
                <a:latin typeface="Verdana"/>
              </a:rPr>
              <a:t>Fest: </a:t>
            </a:r>
            <a:r>
              <a:rPr sz="1333" b="0" i="0">
                <a:solidFill>
                  <a:srgbClr val="FFFFFF"/>
                </a:solidFill>
                <a:latin typeface="Verdana"/>
              </a:rPr>
              <a:t>welche Wege es gibt und dass ein Mensch prüft.  </a:t>
            </a:r>
            <a:r>
              <a:rPr sz="1333" b="1" i="0">
                <a:solidFill>
                  <a:srgbClr val="DC640D"/>
                </a:solidFill>
                <a:latin typeface="Verdana"/>
              </a:rPr>
              <a:t>KI: </a:t>
            </a:r>
            <a:r>
              <a:rPr sz="1333" b="0" i="0">
                <a:solidFill>
                  <a:srgbClr val="FFFFFF"/>
                </a:solidFill>
                <a:latin typeface="Verdana"/>
              </a:rPr>
              <a:t>welcher Weg passt und wie der Agent sucht.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Wo der Mensch entscheidet.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3 · VERANTWORTUNG</a:t>
            </a:r>
          </a:p>
        </p:txBody>
      </p:sp>
      <p:sp>
        <p:nvSpPr>
          <p:cNvPr id="4" name="TextBox 3"/>
          <p:cNvSpPr txBox="1"/>
          <p:nvPr/>
        </p:nvSpPr>
        <p:spPr>
          <a:xfrm>
            <a:off x="548640" y="1783080"/>
            <a:ext cx="4023360" cy="274320"/>
          </a:xfrm>
          <a:prstGeom prst="rect">
            <a:avLst/>
          </a:prstGeom>
          <a:noFill/>
        </p:spPr>
        <p:txBody>
          <a:bodyPr wrap="square" lIns="0" rIns="0" tIns="0" bIns="0" anchor="t">
            <a:spAutoFit/>
          </a:bodyPr>
          <a:lstStyle/>
          <a:p>
            <a:pPr algn="l"/>
            <a:r>
              <a:rPr sz="933" b="1" i="0" spc="300">
                <a:solidFill>
                  <a:srgbClr val="F6A800"/>
                </a:solidFill>
                <a:latin typeface="Verdana"/>
              </a:rPr>
              <a:t>DREI FRAGEN</a:t>
            </a:r>
          </a:p>
        </p:txBody>
      </p:sp>
      <p:sp>
        <p:nvSpPr>
          <p:cNvPr id="5" name="Rectangle 4"/>
          <p:cNvSpPr/>
          <p:nvPr/>
        </p:nvSpPr>
        <p:spPr>
          <a:xfrm>
            <a:off x="548640" y="2148840"/>
            <a:ext cx="4023360" cy="777240"/>
          </a:xfrm>
          <a:prstGeom prst="rect">
            <a:avLst/>
          </a:prstGeom>
          <a:solidFill>
            <a:srgbClr val="24232E"/>
          </a:solidFill>
          <a:ln w="9525">
            <a:solidFill>
              <a:srgbClr val="3A3948"/>
            </a:solidFill>
          </a:ln>
        </p:spPr>
        <p:txBody>
          <a:bodyPr rtlCol="0" anchor="ctr"/>
          <a:lstStyle/>
          <a:p>
            <a:pPr algn="ctr"/>
          </a:p>
        </p:txBody>
      </p:sp>
      <p:sp>
        <p:nvSpPr>
          <p:cNvPr id="6" name="Oval 5"/>
          <p:cNvSpPr/>
          <p:nvPr/>
        </p:nvSpPr>
        <p:spPr>
          <a:xfrm>
            <a:off x="731520" y="2368296"/>
            <a:ext cx="329184" cy="329184"/>
          </a:xfrm>
          <a:prstGeom prst="ellipse">
            <a:avLst/>
          </a:prstGeom>
          <a:solidFill>
            <a:srgbClr val="DC640D"/>
          </a:solidFill>
          <a:ln w="15875">
            <a:solidFill>
              <a:srgbClr val="FFFFFF"/>
            </a:solidFill>
          </a:ln>
        </p:spPr>
        <p:txBody>
          <a:bodyPr rtlCol="0" anchor="ctr"/>
          <a:lstStyle/>
          <a:p>
            <a:pPr algn="ctr"/>
          </a:p>
        </p:txBody>
      </p:sp>
      <p:sp>
        <p:nvSpPr>
          <p:cNvPr id="7" name="TextBox 6"/>
          <p:cNvSpPr txBox="1"/>
          <p:nvPr/>
        </p:nvSpPr>
        <p:spPr>
          <a:xfrm>
            <a:off x="731520" y="2368296"/>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8" name="TextBox 7"/>
          <p:cNvSpPr txBox="1"/>
          <p:nvPr/>
        </p:nvSpPr>
        <p:spPr>
          <a:xfrm>
            <a:off x="1234440" y="2148840"/>
            <a:ext cx="3154680" cy="777240"/>
          </a:xfrm>
          <a:prstGeom prst="rect">
            <a:avLst/>
          </a:prstGeom>
          <a:noFill/>
        </p:spPr>
        <p:txBody>
          <a:bodyPr wrap="square" lIns="0" rIns="0" tIns="0" bIns="0" anchor="ctr">
            <a:spAutoFit/>
          </a:bodyPr>
          <a:lstStyle/>
          <a:p>
            <a:pPr algn="l"/>
            <a:r>
              <a:rPr sz="1333" b="0" i="0">
                <a:solidFill>
                  <a:srgbClr val="FFFFFF"/>
                </a:solidFill>
                <a:latin typeface="Verdana"/>
              </a:rPr>
              <a:t>Lässt sich ein Fehler leicht rückgängig machen?</a:t>
            </a:r>
          </a:p>
        </p:txBody>
      </p:sp>
      <p:sp>
        <p:nvSpPr>
          <p:cNvPr id="9" name="Rectangle 8"/>
          <p:cNvSpPr/>
          <p:nvPr/>
        </p:nvSpPr>
        <p:spPr>
          <a:xfrm>
            <a:off x="548640" y="3063240"/>
            <a:ext cx="4023360" cy="777240"/>
          </a:xfrm>
          <a:prstGeom prst="rect">
            <a:avLst/>
          </a:prstGeom>
          <a:solidFill>
            <a:srgbClr val="24232E"/>
          </a:solidFill>
          <a:ln w="9525">
            <a:solidFill>
              <a:srgbClr val="3A3948"/>
            </a:solidFill>
          </a:ln>
        </p:spPr>
        <p:txBody>
          <a:bodyPr rtlCol="0" anchor="ctr"/>
          <a:lstStyle/>
          <a:p>
            <a:pPr algn="ctr"/>
          </a:p>
        </p:txBody>
      </p:sp>
      <p:sp>
        <p:nvSpPr>
          <p:cNvPr id="10" name="Oval 9"/>
          <p:cNvSpPr/>
          <p:nvPr/>
        </p:nvSpPr>
        <p:spPr>
          <a:xfrm>
            <a:off x="731520" y="3282696"/>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731520" y="3282696"/>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12" name="TextBox 11"/>
          <p:cNvSpPr txBox="1"/>
          <p:nvPr/>
        </p:nvSpPr>
        <p:spPr>
          <a:xfrm>
            <a:off x="1234440" y="3063240"/>
            <a:ext cx="3154680" cy="777240"/>
          </a:xfrm>
          <a:prstGeom prst="rect">
            <a:avLst/>
          </a:prstGeom>
          <a:noFill/>
        </p:spPr>
        <p:txBody>
          <a:bodyPr wrap="square" lIns="0" rIns="0" tIns="0" bIns="0" anchor="ctr">
            <a:spAutoFit/>
          </a:bodyPr>
          <a:lstStyle/>
          <a:p>
            <a:pPr algn="l"/>
            <a:r>
              <a:rPr sz="1333" b="0" i="0">
                <a:solidFill>
                  <a:srgbClr val="FFFFFF"/>
                </a:solidFill>
                <a:latin typeface="Verdana"/>
              </a:rPr>
              <a:t>Geht etwas nach außen, an Nutzer:innen oder andere Stellen?</a:t>
            </a:r>
          </a:p>
        </p:txBody>
      </p:sp>
      <p:sp>
        <p:nvSpPr>
          <p:cNvPr id="13" name="Rectangle 12"/>
          <p:cNvSpPr/>
          <p:nvPr/>
        </p:nvSpPr>
        <p:spPr>
          <a:xfrm>
            <a:off x="548640" y="3977639"/>
            <a:ext cx="4023360" cy="777240"/>
          </a:xfrm>
          <a:prstGeom prst="rect">
            <a:avLst/>
          </a:prstGeom>
          <a:solidFill>
            <a:srgbClr val="24232E"/>
          </a:solidFill>
          <a:ln w="9525">
            <a:solidFill>
              <a:srgbClr val="3A3948"/>
            </a:solidFill>
          </a:ln>
        </p:spPr>
        <p:txBody>
          <a:bodyPr rtlCol="0" anchor="ctr"/>
          <a:lstStyle/>
          <a:p>
            <a:pPr algn="ctr"/>
          </a:p>
        </p:txBody>
      </p:sp>
      <p:sp>
        <p:nvSpPr>
          <p:cNvPr id="14" name="Oval 13"/>
          <p:cNvSpPr/>
          <p:nvPr/>
        </p:nvSpPr>
        <p:spPr>
          <a:xfrm>
            <a:off x="731520" y="4197096"/>
            <a:ext cx="329184" cy="329184"/>
          </a:xfrm>
          <a:prstGeom prst="ellipse">
            <a:avLst/>
          </a:prstGeom>
          <a:solidFill>
            <a:srgbClr val="DC640D"/>
          </a:solidFill>
          <a:ln w="15875">
            <a:solidFill>
              <a:srgbClr val="FFFFFF"/>
            </a:solidFill>
          </a:ln>
        </p:spPr>
        <p:txBody>
          <a:bodyPr rtlCol="0" anchor="ctr"/>
          <a:lstStyle/>
          <a:p>
            <a:pPr algn="ctr"/>
          </a:p>
        </p:txBody>
      </p:sp>
      <p:sp>
        <p:nvSpPr>
          <p:cNvPr id="15" name="TextBox 14"/>
          <p:cNvSpPr txBox="1"/>
          <p:nvPr/>
        </p:nvSpPr>
        <p:spPr>
          <a:xfrm>
            <a:off x="731520" y="4197096"/>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6" name="TextBox 15"/>
          <p:cNvSpPr txBox="1"/>
          <p:nvPr/>
        </p:nvSpPr>
        <p:spPr>
          <a:xfrm>
            <a:off x="1234440" y="3977639"/>
            <a:ext cx="3154680" cy="777240"/>
          </a:xfrm>
          <a:prstGeom prst="rect">
            <a:avLst/>
          </a:prstGeom>
          <a:noFill/>
        </p:spPr>
        <p:txBody>
          <a:bodyPr wrap="square" lIns="0" rIns="0" tIns="0" bIns="0" anchor="ctr">
            <a:spAutoFit/>
          </a:bodyPr>
          <a:lstStyle/>
          <a:p>
            <a:pPr algn="l"/>
            <a:r>
              <a:rPr sz="1333" b="0" i="0">
                <a:solidFill>
                  <a:srgbClr val="FFFFFF"/>
                </a:solidFill>
                <a:latin typeface="Verdana"/>
              </a:rPr>
              <a:t>Betrifft es Personen, Rechte oder Geld?</a:t>
            </a:r>
          </a:p>
        </p:txBody>
      </p:sp>
      <p:sp>
        <p:nvSpPr>
          <p:cNvPr id="17" name="Rectangle 16"/>
          <p:cNvSpPr/>
          <p:nvPr/>
        </p:nvSpPr>
        <p:spPr>
          <a:xfrm>
            <a:off x="5029200" y="2286000"/>
            <a:ext cx="6611112" cy="109728"/>
          </a:xfrm>
          <a:prstGeom prst="rect">
            <a:avLst/>
          </a:prstGeom>
          <a:solidFill>
            <a:srgbClr val="3A3948"/>
          </a:solidFill>
          <a:ln>
            <a:noFill/>
          </a:ln>
        </p:spPr>
        <p:txBody>
          <a:bodyPr rtlCol="0" anchor="ctr"/>
          <a:lstStyle/>
          <a:p>
            <a:pPr algn="ctr"/>
          </a:p>
        </p:txBody>
      </p:sp>
      <p:sp>
        <p:nvSpPr>
          <p:cNvPr id="18" name="Rectangle 17"/>
          <p:cNvSpPr/>
          <p:nvPr/>
        </p:nvSpPr>
        <p:spPr>
          <a:xfrm>
            <a:off x="5029200" y="2286000"/>
            <a:ext cx="3305556" cy="109728"/>
          </a:xfrm>
          <a:prstGeom prst="rect">
            <a:avLst/>
          </a:prstGeom>
          <a:solidFill>
            <a:srgbClr val="18E979"/>
          </a:solidFill>
          <a:ln>
            <a:noFill/>
          </a:ln>
        </p:spPr>
        <p:txBody>
          <a:bodyPr rtlCol="0" anchor="ctr"/>
          <a:lstStyle/>
          <a:p>
            <a:pPr algn="ctr"/>
          </a:p>
        </p:txBody>
      </p:sp>
      <p:sp>
        <p:nvSpPr>
          <p:cNvPr id="19" name="Rectangle 18"/>
          <p:cNvSpPr/>
          <p:nvPr/>
        </p:nvSpPr>
        <p:spPr>
          <a:xfrm>
            <a:off x="8334756" y="2286000"/>
            <a:ext cx="3305556" cy="109728"/>
          </a:xfrm>
          <a:prstGeom prst="rect">
            <a:avLst/>
          </a:prstGeom>
          <a:solidFill>
            <a:srgbClr val="DC640D"/>
          </a:solidFill>
          <a:ln>
            <a:noFill/>
          </a:ln>
        </p:spPr>
        <p:txBody>
          <a:bodyPr rtlCol="0" anchor="ctr"/>
          <a:lstStyle/>
          <a:p>
            <a:pPr algn="ctr"/>
          </a:p>
        </p:txBody>
      </p:sp>
      <p:sp>
        <p:nvSpPr>
          <p:cNvPr id="20" name="TextBox 19"/>
          <p:cNvSpPr txBox="1"/>
          <p:nvPr/>
        </p:nvSpPr>
        <p:spPr>
          <a:xfrm>
            <a:off x="5029200" y="1874519"/>
            <a:ext cx="2743200" cy="320040"/>
          </a:xfrm>
          <a:prstGeom prst="rect">
            <a:avLst/>
          </a:prstGeom>
          <a:noFill/>
        </p:spPr>
        <p:txBody>
          <a:bodyPr wrap="square" lIns="0" rIns="0" tIns="0" bIns="0" anchor="t">
            <a:spAutoFit/>
          </a:bodyPr>
          <a:lstStyle/>
          <a:p>
            <a:pPr algn="l"/>
            <a:r>
              <a:rPr sz="1200" b="1" i="0">
                <a:solidFill>
                  <a:srgbClr val="18E979"/>
                </a:solidFill>
                <a:latin typeface="Verdana"/>
              </a:rPr>
              <a:t>KI darf allein</a:t>
            </a:r>
          </a:p>
        </p:txBody>
      </p:sp>
      <p:sp>
        <p:nvSpPr>
          <p:cNvPr id="21" name="TextBox 20"/>
          <p:cNvSpPr txBox="1"/>
          <p:nvPr/>
        </p:nvSpPr>
        <p:spPr>
          <a:xfrm>
            <a:off x="8897112" y="1874519"/>
            <a:ext cx="2743200" cy="320040"/>
          </a:xfrm>
          <a:prstGeom prst="rect">
            <a:avLst/>
          </a:prstGeom>
          <a:noFill/>
        </p:spPr>
        <p:txBody>
          <a:bodyPr wrap="square" lIns="0" rIns="0" tIns="0" bIns="0" anchor="t">
            <a:spAutoFit/>
          </a:bodyPr>
          <a:lstStyle/>
          <a:p>
            <a:pPr algn="r"/>
            <a:r>
              <a:rPr sz="1200" b="1" i="0">
                <a:solidFill>
                  <a:srgbClr val="DC640D"/>
                </a:solidFill>
                <a:latin typeface="Verdana"/>
              </a:rPr>
              <a:t>nur mit Freigabe</a:t>
            </a:r>
          </a:p>
        </p:txBody>
      </p:sp>
      <p:sp>
        <p:nvSpPr>
          <p:cNvPr id="22" name="Rectangle 21"/>
          <p:cNvSpPr/>
          <p:nvPr/>
        </p:nvSpPr>
        <p:spPr>
          <a:xfrm>
            <a:off x="5029200" y="2651760"/>
            <a:ext cx="6611112" cy="658368"/>
          </a:xfrm>
          <a:prstGeom prst="rect">
            <a:avLst/>
          </a:prstGeom>
          <a:solidFill>
            <a:srgbClr val="24232E"/>
          </a:solidFill>
          <a:ln w="9525">
            <a:solidFill>
              <a:srgbClr val="3A3948"/>
            </a:solidFill>
          </a:ln>
        </p:spPr>
        <p:txBody>
          <a:bodyPr rtlCol="0" anchor="ctr"/>
          <a:lstStyle/>
          <a:p>
            <a:pPr algn="ctr"/>
          </a:p>
        </p:txBody>
      </p:sp>
      <p:sp>
        <p:nvSpPr>
          <p:cNvPr id="23" name="Oval 22"/>
          <p:cNvSpPr/>
          <p:nvPr/>
        </p:nvSpPr>
        <p:spPr>
          <a:xfrm>
            <a:off x="5212080" y="2889504"/>
            <a:ext cx="182880" cy="182880"/>
          </a:xfrm>
          <a:prstGeom prst="ellipse">
            <a:avLst/>
          </a:prstGeom>
          <a:solidFill>
            <a:srgbClr val="18E979"/>
          </a:solidFill>
          <a:ln>
            <a:noFill/>
          </a:ln>
        </p:spPr>
        <p:txBody>
          <a:bodyPr rtlCol="0" anchor="ctr"/>
          <a:lstStyle/>
          <a:p>
            <a:pPr algn="ctr"/>
          </a:p>
        </p:txBody>
      </p:sp>
      <p:sp>
        <p:nvSpPr>
          <p:cNvPr id="24" name="TextBox 23"/>
          <p:cNvSpPr txBox="1"/>
          <p:nvPr/>
        </p:nvSpPr>
        <p:spPr>
          <a:xfrm>
            <a:off x="5577840" y="2651760"/>
            <a:ext cx="3636111" cy="658368"/>
          </a:xfrm>
          <a:prstGeom prst="rect">
            <a:avLst/>
          </a:prstGeom>
          <a:noFill/>
        </p:spPr>
        <p:txBody>
          <a:bodyPr wrap="square" lIns="0" rIns="0" tIns="0" bIns="0" anchor="ctr">
            <a:spAutoFit/>
          </a:bodyPr>
          <a:lstStyle/>
          <a:p>
            <a:pPr algn="l"/>
            <a:r>
              <a:rPr sz="1333" b="1" i="0">
                <a:solidFill>
                  <a:srgbClr val="FFFFFF"/>
                </a:solidFill>
                <a:latin typeface="Verdana"/>
              </a:rPr>
              <a:t>Schlagwörter vorschlagen</a:t>
            </a:r>
          </a:p>
        </p:txBody>
      </p:sp>
      <p:sp>
        <p:nvSpPr>
          <p:cNvPr id="25" name="TextBox 24"/>
          <p:cNvSpPr txBox="1"/>
          <p:nvPr/>
        </p:nvSpPr>
        <p:spPr>
          <a:xfrm>
            <a:off x="9213951" y="2651760"/>
            <a:ext cx="2243480" cy="658368"/>
          </a:xfrm>
          <a:prstGeom prst="rect">
            <a:avLst/>
          </a:prstGeom>
          <a:noFill/>
        </p:spPr>
        <p:txBody>
          <a:bodyPr wrap="square" lIns="0" rIns="0" tIns="0" bIns="0" anchor="ctr">
            <a:spAutoFit/>
          </a:bodyPr>
          <a:lstStyle/>
          <a:p>
            <a:pPr algn="l"/>
            <a:r>
              <a:rPr sz="1200" b="0" i="0">
                <a:solidFill>
                  <a:srgbClr val="9A9AAA"/>
                </a:solidFill>
                <a:latin typeface="Verdana"/>
              </a:rPr>
              <a:t>Mensch übernimmt oder verwirft</a:t>
            </a:r>
          </a:p>
        </p:txBody>
      </p:sp>
      <p:sp>
        <p:nvSpPr>
          <p:cNvPr id="26" name="Rectangle 25"/>
          <p:cNvSpPr/>
          <p:nvPr/>
        </p:nvSpPr>
        <p:spPr>
          <a:xfrm>
            <a:off x="5029200" y="3429000"/>
            <a:ext cx="6611112" cy="658368"/>
          </a:xfrm>
          <a:prstGeom prst="rect">
            <a:avLst/>
          </a:prstGeom>
          <a:solidFill>
            <a:srgbClr val="24232E"/>
          </a:solidFill>
          <a:ln w="9525">
            <a:solidFill>
              <a:srgbClr val="3A3948"/>
            </a:solidFill>
          </a:ln>
        </p:spPr>
        <p:txBody>
          <a:bodyPr rtlCol="0" anchor="ctr"/>
          <a:lstStyle/>
          <a:p>
            <a:pPr algn="ctr"/>
          </a:p>
        </p:txBody>
      </p:sp>
      <p:sp>
        <p:nvSpPr>
          <p:cNvPr id="27" name="Oval 26"/>
          <p:cNvSpPr/>
          <p:nvPr/>
        </p:nvSpPr>
        <p:spPr>
          <a:xfrm>
            <a:off x="5212080" y="3666744"/>
            <a:ext cx="182880" cy="182880"/>
          </a:xfrm>
          <a:prstGeom prst="ellipse">
            <a:avLst/>
          </a:prstGeom>
          <a:solidFill>
            <a:srgbClr val="18E979"/>
          </a:solidFill>
          <a:ln>
            <a:noFill/>
          </a:ln>
        </p:spPr>
        <p:txBody>
          <a:bodyPr rtlCol="0" anchor="ctr"/>
          <a:lstStyle/>
          <a:p>
            <a:pPr algn="ctr"/>
          </a:p>
        </p:txBody>
      </p:sp>
      <p:sp>
        <p:nvSpPr>
          <p:cNvPr id="28" name="TextBox 27"/>
          <p:cNvSpPr txBox="1"/>
          <p:nvPr/>
        </p:nvSpPr>
        <p:spPr>
          <a:xfrm>
            <a:off x="5577840" y="3429000"/>
            <a:ext cx="3636111" cy="658368"/>
          </a:xfrm>
          <a:prstGeom prst="rect">
            <a:avLst/>
          </a:prstGeom>
          <a:noFill/>
        </p:spPr>
        <p:txBody>
          <a:bodyPr wrap="square" lIns="0" rIns="0" tIns="0" bIns="0" anchor="ctr">
            <a:spAutoFit/>
          </a:bodyPr>
          <a:lstStyle/>
          <a:p>
            <a:pPr algn="l"/>
            <a:r>
              <a:rPr sz="1333" b="1" i="0">
                <a:solidFill>
                  <a:srgbClr val="FFFFFF"/>
                </a:solidFill>
                <a:latin typeface="Verdana"/>
              </a:rPr>
              <a:t>Anfrage einer Kategorie zuordnen</a:t>
            </a:r>
          </a:p>
        </p:txBody>
      </p:sp>
      <p:sp>
        <p:nvSpPr>
          <p:cNvPr id="29" name="TextBox 28"/>
          <p:cNvSpPr txBox="1"/>
          <p:nvPr/>
        </p:nvSpPr>
        <p:spPr>
          <a:xfrm>
            <a:off x="9213951" y="3429000"/>
            <a:ext cx="2243480" cy="658368"/>
          </a:xfrm>
          <a:prstGeom prst="rect">
            <a:avLst/>
          </a:prstGeom>
          <a:noFill/>
        </p:spPr>
        <p:txBody>
          <a:bodyPr wrap="square" lIns="0" rIns="0" tIns="0" bIns="0" anchor="ctr">
            <a:spAutoFit/>
          </a:bodyPr>
          <a:lstStyle/>
          <a:p>
            <a:pPr algn="l"/>
            <a:r>
              <a:rPr sz="1200" b="0" i="0">
                <a:solidFill>
                  <a:srgbClr val="9A9AAA"/>
                </a:solidFill>
                <a:latin typeface="Verdana"/>
              </a:rPr>
              <a:t>Fehler fällt im nächsten Schritt auf</a:t>
            </a:r>
          </a:p>
        </p:txBody>
      </p:sp>
      <p:sp>
        <p:nvSpPr>
          <p:cNvPr id="30" name="Rectangle 29"/>
          <p:cNvSpPr/>
          <p:nvPr/>
        </p:nvSpPr>
        <p:spPr>
          <a:xfrm>
            <a:off x="5029200" y="4206240"/>
            <a:ext cx="6611112" cy="658368"/>
          </a:xfrm>
          <a:prstGeom prst="rect">
            <a:avLst/>
          </a:prstGeom>
          <a:solidFill>
            <a:srgbClr val="24232E"/>
          </a:solidFill>
          <a:ln w="9525">
            <a:solidFill>
              <a:srgbClr val="3A3948"/>
            </a:solidFill>
          </a:ln>
        </p:spPr>
        <p:txBody>
          <a:bodyPr rtlCol="0" anchor="ctr"/>
          <a:lstStyle/>
          <a:p>
            <a:pPr algn="ctr"/>
          </a:p>
        </p:txBody>
      </p:sp>
      <p:sp>
        <p:nvSpPr>
          <p:cNvPr id="31" name="Oval 30"/>
          <p:cNvSpPr/>
          <p:nvPr/>
        </p:nvSpPr>
        <p:spPr>
          <a:xfrm>
            <a:off x="5212080" y="4443983"/>
            <a:ext cx="182880" cy="182880"/>
          </a:xfrm>
          <a:prstGeom prst="ellipse">
            <a:avLst/>
          </a:prstGeom>
          <a:solidFill>
            <a:srgbClr val="DC640D"/>
          </a:solidFill>
          <a:ln>
            <a:noFill/>
          </a:ln>
        </p:spPr>
        <p:txBody>
          <a:bodyPr rtlCol="0" anchor="ctr"/>
          <a:lstStyle/>
          <a:p>
            <a:pPr algn="ctr"/>
          </a:p>
        </p:txBody>
      </p:sp>
      <p:sp>
        <p:nvSpPr>
          <p:cNvPr id="32" name="TextBox 31"/>
          <p:cNvSpPr txBox="1"/>
          <p:nvPr/>
        </p:nvSpPr>
        <p:spPr>
          <a:xfrm>
            <a:off x="5577840" y="4206240"/>
            <a:ext cx="3636111" cy="658368"/>
          </a:xfrm>
          <a:prstGeom prst="rect">
            <a:avLst/>
          </a:prstGeom>
          <a:noFill/>
        </p:spPr>
        <p:txBody>
          <a:bodyPr wrap="square" lIns="0" rIns="0" tIns="0" bIns="0" anchor="ctr">
            <a:spAutoFit/>
          </a:bodyPr>
          <a:lstStyle/>
          <a:p>
            <a:pPr algn="l"/>
            <a:r>
              <a:rPr sz="1333" b="1" i="0">
                <a:solidFill>
                  <a:srgbClr val="FFFFFF"/>
                </a:solidFill>
                <a:latin typeface="Verdana"/>
              </a:rPr>
              <a:t>Antwort an Nutzer:innen</a:t>
            </a:r>
          </a:p>
        </p:txBody>
      </p:sp>
      <p:sp>
        <p:nvSpPr>
          <p:cNvPr id="33" name="TextBox 32"/>
          <p:cNvSpPr txBox="1"/>
          <p:nvPr/>
        </p:nvSpPr>
        <p:spPr>
          <a:xfrm>
            <a:off x="9213951" y="4206240"/>
            <a:ext cx="2243480" cy="658368"/>
          </a:xfrm>
          <a:prstGeom prst="rect">
            <a:avLst/>
          </a:prstGeom>
          <a:noFill/>
        </p:spPr>
        <p:txBody>
          <a:bodyPr wrap="square" lIns="0" rIns="0" tIns="0" bIns="0" anchor="ctr">
            <a:spAutoFit/>
          </a:bodyPr>
          <a:lstStyle/>
          <a:p>
            <a:pPr algn="l"/>
            <a:r>
              <a:rPr sz="1200" b="0" i="0">
                <a:solidFill>
                  <a:srgbClr val="9A9AAA"/>
                </a:solidFill>
                <a:latin typeface="Verdana"/>
              </a:rPr>
              <a:t>als Entwurf, ein Mensch sendet</a:t>
            </a:r>
          </a:p>
        </p:txBody>
      </p:sp>
      <p:sp>
        <p:nvSpPr>
          <p:cNvPr id="34" name="Rectangle 33"/>
          <p:cNvSpPr/>
          <p:nvPr/>
        </p:nvSpPr>
        <p:spPr>
          <a:xfrm>
            <a:off x="5029200" y="4983479"/>
            <a:ext cx="6611112" cy="658368"/>
          </a:xfrm>
          <a:prstGeom prst="rect">
            <a:avLst/>
          </a:prstGeom>
          <a:solidFill>
            <a:srgbClr val="24232E"/>
          </a:solidFill>
          <a:ln w="9525">
            <a:solidFill>
              <a:srgbClr val="3A3948"/>
            </a:solidFill>
          </a:ln>
        </p:spPr>
        <p:txBody>
          <a:bodyPr rtlCol="0" anchor="ctr"/>
          <a:lstStyle/>
          <a:p>
            <a:pPr algn="ctr"/>
          </a:p>
        </p:txBody>
      </p:sp>
      <p:sp>
        <p:nvSpPr>
          <p:cNvPr id="35" name="Oval 34"/>
          <p:cNvSpPr/>
          <p:nvPr/>
        </p:nvSpPr>
        <p:spPr>
          <a:xfrm>
            <a:off x="5212080" y="5221223"/>
            <a:ext cx="182880" cy="182880"/>
          </a:xfrm>
          <a:prstGeom prst="ellipse">
            <a:avLst/>
          </a:prstGeom>
          <a:solidFill>
            <a:srgbClr val="DC640D"/>
          </a:solidFill>
          <a:ln>
            <a:noFill/>
          </a:ln>
        </p:spPr>
        <p:txBody>
          <a:bodyPr rtlCol="0" anchor="ctr"/>
          <a:lstStyle/>
          <a:p>
            <a:pPr algn="ctr"/>
          </a:p>
        </p:txBody>
      </p:sp>
      <p:sp>
        <p:nvSpPr>
          <p:cNvPr id="36" name="TextBox 35"/>
          <p:cNvSpPr txBox="1"/>
          <p:nvPr/>
        </p:nvSpPr>
        <p:spPr>
          <a:xfrm>
            <a:off x="5577840" y="4983479"/>
            <a:ext cx="3636111" cy="658368"/>
          </a:xfrm>
          <a:prstGeom prst="rect">
            <a:avLst/>
          </a:prstGeom>
          <a:noFill/>
        </p:spPr>
        <p:txBody>
          <a:bodyPr wrap="square" lIns="0" rIns="0" tIns="0" bIns="0" anchor="ctr">
            <a:spAutoFit/>
          </a:bodyPr>
          <a:lstStyle/>
          <a:p>
            <a:pPr algn="l"/>
            <a:r>
              <a:rPr sz="1333" b="1" i="0">
                <a:solidFill>
                  <a:srgbClr val="FFFFFF"/>
                </a:solidFill>
                <a:latin typeface="Verdana"/>
              </a:rPr>
              <a:t>Werbe-Mail an alle Fakultäten, Katalogdaten ändern</a:t>
            </a:r>
          </a:p>
        </p:txBody>
      </p:sp>
      <p:sp>
        <p:nvSpPr>
          <p:cNvPr id="37" name="TextBox 36"/>
          <p:cNvSpPr txBox="1"/>
          <p:nvPr/>
        </p:nvSpPr>
        <p:spPr>
          <a:xfrm>
            <a:off x="9213951" y="4983479"/>
            <a:ext cx="2243480" cy="658368"/>
          </a:xfrm>
          <a:prstGeom prst="rect">
            <a:avLst/>
          </a:prstGeom>
          <a:noFill/>
        </p:spPr>
        <p:txBody>
          <a:bodyPr wrap="square" lIns="0" rIns="0" tIns="0" bIns="0" anchor="ctr">
            <a:spAutoFit/>
          </a:bodyPr>
          <a:lstStyle/>
          <a:p>
            <a:pPr algn="l"/>
            <a:r>
              <a:rPr sz="1200" b="0" i="0">
                <a:solidFill>
                  <a:srgbClr val="9A9AAA"/>
                </a:solidFill>
                <a:latin typeface="Verdana"/>
              </a:rPr>
              <a:t>nie automatisch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So plant ihr einen eigenen Flow.</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3 · BAUPLAN</a:t>
            </a:r>
          </a:p>
        </p:txBody>
      </p:sp>
      <p:sp>
        <p:nvSpPr>
          <p:cNvPr id="4" name="Rectangle 3"/>
          <p:cNvSpPr/>
          <p:nvPr/>
        </p:nvSpPr>
        <p:spPr>
          <a:xfrm>
            <a:off x="548640" y="1783080"/>
            <a:ext cx="2072030" cy="31089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2072030" cy="64008"/>
          </a:xfrm>
          <a:prstGeom prst="rect">
            <a:avLst/>
          </a:prstGeom>
          <a:solidFill>
            <a:srgbClr val="DC640D"/>
          </a:solidFill>
          <a:ln>
            <a:noFill/>
          </a:ln>
        </p:spPr>
        <p:txBody>
          <a:bodyPr rtlCol="0" anchor="ctr"/>
          <a:lstStyle/>
          <a:p>
            <a:pPr algn="ctr"/>
          </a:p>
        </p:txBody>
      </p:sp>
      <p:sp>
        <p:nvSpPr>
          <p:cNvPr id="6" name="TextBox 5"/>
          <p:cNvSpPr txBox="1"/>
          <p:nvPr/>
        </p:nvSpPr>
        <p:spPr>
          <a:xfrm>
            <a:off x="731520" y="1965960"/>
            <a:ext cx="731520" cy="640080"/>
          </a:xfrm>
          <a:prstGeom prst="rect">
            <a:avLst/>
          </a:prstGeom>
          <a:noFill/>
        </p:spPr>
        <p:txBody>
          <a:bodyPr wrap="square" lIns="0" rIns="0" tIns="0" bIns="0" anchor="ctr">
            <a:spAutoFit/>
          </a:bodyPr>
          <a:lstStyle/>
          <a:p>
            <a:pPr algn="l"/>
            <a:r>
              <a:rPr sz="3200" b="1" i="0">
                <a:solidFill>
                  <a:srgbClr val="DC640D"/>
                </a:solidFill>
                <a:latin typeface="Verdana"/>
              </a:rPr>
              <a:t>1</a:t>
            </a:r>
          </a:p>
        </p:txBody>
      </p:sp>
      <p:pic>
        <p:nvPicPr>
          <p:cNvPr id="7" name="Picture 6" descr="LuListTodo_y.png"/>
          <p:cNvPicPr>
            <a:picLocks noChangeAspect="1"/>
          </p:cNvPicPr>
          <p:nvPr/>
        </p:nvPicPr>
        <p:blipFill>
          <a:blip r:embed="rId3"/>
          <a:stretch>
            <a:fillRect/>
          </a:stretch>
        </p:blipFill>
        <p:spPr>
          <a:xfrm>
            <a:off x="1980590" y="2075688"/>
            <a:ext cx="411480" cy="411480"/>
          </a:xfrm>
          <a:prstGeom prst="rect">
            <a:avLst/>
          </a:prstGeom>
        </p:spPr>
      </p:pic>
      <p:sp>
        <p:nvSpPr>
          <p:cNvPr id="8" name="TextBox 7"/>
          <p:cNvSpPr txBox="1"/>
          <p:nvPr/>
        </p:nvSpPr>
        <p:spPr>
          <a:xfrm>
            <a:off x="731520" y="2788920"/>
            <a:ext cx="1706270" cy="365760"/>
          </a:xfrm>
          <a:prstGeom prst="rect">
            <a:avLst/>
          </a:prstGeom>
          <a:noFill/>
        </p:spPr>
        <p:txBody>
          <a:bodyPr wrap="square" lIns="0" rIns="0" tIns="0" bIns="0" anchor="t">
            <a:spAutoFit/>
          </a:bodyPr>
          <a:lstStyle/>
          <a:p>
            <a:pPr algn="l"/>
            <a:r>
              <a:rPr sz="1400" b="1" i="0">
                <a:solidFill>
                  <a:srgbClr val="FFFFFF"/>
                </a:solidFill>
                <a:latin typeface="Verdana"/>
              </a:rPr>
              <a:t>Zerlegen</a:t>
            </a:r>
          </a:p>
        </p:txBody>
      </p:sp>
      <p:sp>
        <p:nvSpPr>
          <p:cNvPr id="9" name="TextBox 8"/>
          <p:cNvSpPr txBox="1"/>
          <p:nvPr/>
        </p:nvSpPr>
        <p:spPr>
          <a:xfrm>
            <a:off x="731520" y="3246120"/>
            <a:ext cx="1706270" cy="1554480"/>
          </a:xfrm>
          <a:prstGeom prst="rect">
            <a:avLst/>
          </a:prstGeom>
          <a:noFill/>
        </p:spPr>
        <p:txBody>
          <a:bodyPr wrap="square" lIns="0" rIns="0" tIns="0" bIns="0" anchor="t">
            <a:spAutoFit/>
          </a:bodyPr>
          <a:lstStyle/>
          <a:p>
            <a:pPr algn="l"/>
            <a:r>
              <a:rPr sz="1200" b="0" i="0">
                <a:solidFill>
                  <a:srgbClr val="9A9AAA"/>
                </a:solidFill>
                <a:latin typeface="Verdana"/>
              </a:rPr>
              <a:t>Wie würdet ihr die Aufgabe von Hand erledigen? Schritt für Schritt aufschreiben.</a:t>
            </a:r>
          </a:p>
        </p:txBody>
      </p:sp>
      <p:cxnSp>
        <p:nvCxnSpPr>
          <p:cNvPr id="10" name="Connector 9"/>
          <p:cNvCxnSpPr/>
          <p:nvPr/>
        </p:nvCxnSpPr>
        <p:spPr>
          <a:xfrm>
            <a:off x="2638958" y="2286000"/>
            <a:ext cx="146304" cy="0"/>
          </a:xfrm>
          <a:prstGeom prst="line">
            <a:avLst/>
          </a:prstGeom>
          <a:ln w="19050">
            <a:solidFill>
              <a:srgbClr val="DC640D"/>
            </a:solidFill>
            <a:tailEnd type="triangle" w="med" len="med"/>
          </a:ln>
        </p:spPr>
      </p:cxnSp>
      <p:sp>
        <p:nvSpPr>
          <p:cNvPr id="11" name="Rectangle 10"/>
          <p:cNvSpPr/>
          <p:nvPr/>
        </p:nvSpPr>
        <p:spPr>
          <a:xfrm>
            <a:off x="2803550" y="1783080"/>
            <a:ext cx="2072030" cy="3108960"/>
          </a:xfrm>
          <a:prstGeom prst="rect">
            <a:avLst/>
          </a:prstGeom>
          <a:solidFill>
            <a:srgbClr val="24232E"/>
          </a:solidFill>
          <a:ln w="9525">
            <a:solidFill>
              <a:srgbClr val="3A3948"/>
            </a:solidFill>
          </a:ln>
        </p:spPr>
        <p:txBody>
          <a:bodyPr rtlCol="0" anchor="ctr"/>
          <a:lstStyle/>
          <a:p>
            <a:pPr algn="ctr"/>
          </a:p>
        </p:txBody>
      </p:sp>
      <p:sp>
        <p:nvSpPr>
          <p:cNvPr id="12" name="Rectangle 11"/>
          <p:cNvSpPr/>
          <p:nvPr/>
        </p:nvSpPr>
        <p:spPr>
          <a:xfrm>
            <a:off x="2803550" y="1783080"/>
            <a:ext cx="2072030" cy="64008"/>
          </a:xfrm>
          <a:prstGeom prst="rect">
            <a:avLst/>
          </a:prstGeom>
          <a:solidFill>
            <a:srgbClr val="DC640D"/>
          </a:solidFill>
          <a:ln>
            <a:noFill/>
          </a:ln>
        </p:spPr>
        <p:txBody>
          <a:bodyPr rtlCol="0" anchor="ctr"/>
          <a:lstStyle/>
          <a:p>
            <a:pPr algn="ctr"/>
          </a:p>
        </p:txBody>
      </p:sp>
      <p:sp>
        <p:nvSpPr>
          <p:cNvPr id="13" name="TextBox 12"/>
          <p:cNvSpPr txBox="1"/>
          <p:nvPr/>
        </p:nvSpPr>
        <p:spPr>
          <a:xfrm>
            <a:off x="2986430" y="1965960"/>
            <a:ext cx="731520" cy="640080"/>
          </a:xfrm>
          <a:prstGeom prst="rect">
            <a:avLst/>
          </a:prstGeom>
          <a:noFill/>
        </p:spPr>
        <p:txBody>
          <a:bodyPr wrap="square" lIns="0" rIns="0" tIns="0" bIns="0" anchor="ctr">
            <a:spAutoFit/>
          </a:bodyPr>
          <a:lstStyle/>
          <a:p>
            <a:pPr algn="l"/>
            <a:r>
              <a:rPr sz="3200" b="1" i="0">
                <a:solidFill>
                  <a:srgbClr val="DC640D"/>
                </a:solidFill>
                <a:latin typeface="Verdana"/>
              </a:rPr>
              <a:t>2</a:t>
            </a:r>
          </a:p>
        </p:txBody>
      </p:sp>
      <p:pic>
        <p:nvPicPr>
          <p:cNvPr id="14" name="Picture 13" descr="LuDatabase_y.png"/>
          <p:cNvPicPr>
            <a:picLocks noChangeAspect="1"/>
          </p:cNvPicPr>
          <p:nvPr/>
        </p:nvPicPr>
        <p:blipFill>
          <a:blip r:embed="rId4"/>
          <a:stretch>
            <a:fillRect/>
          </a:stretch>
        </p:blipFill>
        <p:spPr>
          <a:xfrm>
            <a:off x="4235500" y="2075688"/>
            <a:ext cx="411480" cy="411480"/>
          </a:xfrm>
          <a:prstGeom prst="rect">
            <a:avLst/>
          </a:prstGeom>
        </p:spPr>
      </p:pic>
      <p:sp>
        <p:nvSpPr>
          <p:cNvPr id="15" name="TextBox 14"/>
          <p:cNvSpPr txBox="1"/>
          <p:nvPr/>
        </p:nvSpPr>
        <p:spPr>
          <a:xfrm>
            <a:off x="2986430" y="2788920"/>
            <a:ext cx="1706270" cy="365760"/>
          </a:xfrm>
          <a:prstGeom prst="rect">
            <a:avLst/>
          </a:prstGeom>
          <a:noFill/>
        </p:spPr>
        <p:txBody>
          <a:bodyPr wrap="square" lIns="0" rIns="0" tIns="0" bIns="0" anchor="t">
            <a:spAutoFit/>
          </a:bodyPr>
          <a:lstStyle/>
          <a:p>
            <a:pPr algn="l"/>
            <a:r>
              <a:rPr sz="1400" b="1" i="0">
                <a:solidFill>
                  <a:srgbClr val="FFFFFF"/>
                </a:solidFill>
                <a:latin typeface="Verdana"/>
              </a:rPr>
              <a:t>Zuordnen</a:t>
            </a:r>
          </a:p>
        </p:txBody>
      </p:sp>
      <p:sp>
        <p:nvSpPr>
          <p:cNvPr id="16" name="TextBox 15"/>
          <p:cNvSpPr txBox="1"/>
          <p:nvPr/>
        </p:nvSpPr>
        <p:spPr>
          <a:xfrm>
            <a:off x="2986430" y="3246120"/>
            <a:ext cx="1706270" cy="1554480"/>
          </a:xfrm>
          <a:prstGeom prst="rect">
            <a:avLst/>
          </a:prstGeom>
          <a:noFill/>
        </p:spPr>
        <p:txBody>
          <a:bodyPr wrap="square" lIns="0" rIns="0" tIns="0" bIns="0" anchor="t">
            <a:spAutoFit/>
          </a:bodyPr>
          <a:lstStyle/>
          <a:p>
            <a:pPr algn="l"/>
            <a:r>
              <a:rPr sz="1200" b="0" i="0">
                <a:solidFill>
                  <a:srgbClr val="9A9AAA"/>
                </a:solidFill>
                <a:latin typeface="Verdana"/>
              </a:rPr>
              <a:t>Für jeden Schritt: Braucht es KI, oder reicht ein Baustein oder eine Datenquelle?</a:t>
            </a:r>
          </a:p>
        </p:txBody>
      </p:sp>
      <p:cxnSp>
        <p:nvCxnSpPr>
          <p:cNvPr id="17" name="Connector 16"/>
          <p:cNvCxnSpPr/>
          <p:nvPr/>
        </p:nvCxnSpPr>
        <p:spPr>
          <a:xfrm>
            <a:off x="4893868" y="2286000"/>
            <a:ext cx="146304" cy="0"/>
          </a:xfrm>
          <a:prstGeom prst="line">
            <a:avLst/>
          </a:prstGeom>
          <a:ln w="19050">
            <a:solidFill>
              <a:srgbClr val="DC640D"/>
            </a:solidFill>
            <a:tailEnd type="triangle" w="med" len="med"/>
          </a:ln>
        </p:spPr>
      </p:cxnSp>
      <p:sp>
        <p:nvSpPr>
          <p:cNvPr id="18" name="Rectangle 17"/>
          <p:cNvSpPr/>
          <p:nvPr/>
        </p:nvSpPr>
        <p:spPr>
          <a:xfrm>
            <a:off x="5058460" y="1783080"/>
            <a:ext cx="2072030" cy="3108960"/>
          </a:xfrm>
          <a:prstGeom prst="rect">
            <a:avLst/>
          </a:prstGeom>
          <a:solidFill>
            <a:srgbClr val="24232E"/>
          </a:solidFill>
          <a:ln w="9525">
            <a:solidFill>
              <a:srgbClr val="3A3948"/>
            </a:solidFill>
          </a:ln>
        </p:spPr>
        <p:txBody>
          <a:bodyPr rtlCol="0" anchor="ctr"/>
          <a:lstStyle/>
          <a:p>
            <a:pPr algn="ctr"/>
          </a:p>
        </p:txBody>
      </p:sp>
      <p:sp>
        <p:nvSpPr>
          <p:cNvPr id="19" name="Rectangle 18"/>
          <p:cNvSpPr/>
          <p:nvPr/>
        </p:nvSpPr>
        <p:spPr>
          <a:xfrm>
            <a:off x="5058460" y="1783080"/>
            <a:ext cx="2072030" cy="64008"/>
          </a:xfrm>
          <a:prstGeom prst="rect">
            <a:avLst/>
          </a:prstGeom>
          <a:solidFill>
            <a:srgbClr val="DC640D"/>
          </a:solidFill>
          <a:ln>
            <a:noFill/>
          </a:ln>
        </p:spPr>
        <p:txBody>
          <a:bodyPr rtlCol="0" anchor="ctr"/>
          <a:lstStyle/>
          <a:p>
            <a:pPr algn="ctr"/>
          </a:p>
        </p:txBody>
      </p:sp>
      <p:sp>
        <p:nvSpPr>
          <p:cNvPr id="20" name="TextBox 19"/>
          <p:cNvSpPr txBox="1"/>
          <p:nvPr/>
        </p:nvSpPr>
        <p:spPr>
          <a:xfrm>
            <a:off x="5241340" y="1965960"/>
            <a:ext cx="731520" cy="640080"/>
          </a:xfrm>
          <a:prstGeom prst="rect">
            <a:avLst/>
          </a:prstGeom>
          <a:noFill/>
        </p:spPr>
        <p:txBody>
          <a:bodyPr wrap="square" lIns="0" rIns="0" tIns="0" bIns="0" anchor="ctr">
            <a:spAutoFit/>
          </a:bodyPr>
          <a:lstStyle/>
          <a:p>
            <a:pPr algn="l"/>
            <a:r>
              <a:rPr sz="3200" b="1" i="0">
                <a:solidFill>
                  <a:srgbClr val="DC640D"/>
                </a:solidFill>
                <a:latin typeface="Verdana"/>
              </a:rPr>
              <a:t>3</a:t>
            </a:r>
          </a:p>
        </p:txBody>
      </p:sp>
      <p:pic>
        <p:nvPicPr>
          <p:cNvPr id="21" name="Picture 20" descr="LuSplit_y.png"/>
          <p:cNvPicPr>
            <a:picLocks noChangeAspect="1"/>
          </p:cNvPicPr>
          <p:nvPr/>
        </p:nvPicPr>
        <p:blipFill>
          <a:blip r:embed="rId5"/>
          <a:stretch>
            <a:fillRect/>
          </a:stretch>
        </p:blipFill>
        <p:spPr>
          <a:xfrm>
            <a:off x="6490411" y="2075688"/>
            <a:ext cx="411480" cy="411480"/>
          </a:xfrm>
          <a:prstGeom prst="rect">
            <a:avLst/>
          </a:prstGeom>
        </p:spPr>
      </p:pic>
      <p:sp>
        <p:nvSpPr>
          <p:cNvPr id="22" name="TextBox 21"/>
          <p:cNvSpPr txBox="1"/>
          <p:nvPr/>
        </p:nvSpPr>
        <p:spPr>
          <a:xfrm>
            <a:off x="5241340" y="2788920"/>
            <a:ext cx="1706270" cy="365760"/>
          </a:xfrm>
          <a:prstGeom prst="rect">
            <a:avLst/>
          </a:prstGeom>
          <a:noFill/>
        </p:spPr>
        <p:txBody>
          <a:bodyPr wrap="square" lIns="0" rIns="0" tIns="0" bIns="0" anchor="t">
            <a:spAutoFit/>
          </a:bodyPr>
          <a:lstStyle/>
          <a:p>
            <a:pPr algn="l"/>
            <a:r>
              <a:rPr sz="1400" b="1" i="0">
                <a:solidFill>
                  <a:srgbClr val="FFFFFF"/>
                </a:solidFill>
                <a:latin typeface="Verdana"/>
              </a:rPr>
              <a:t>Wählen</a:t>
            </a:r>
          </a:p>
        </p:txBody>
      </p:sp>
      <p:sp>
        <p:nvSpPr>
          <p:cNvPr id="23" name="TextBox 22"/>
          <p:cNvSpPr txBox="1"/>
          <p:nvPr/>
        </p:nvSpPr>
        <p:spPr>
          <a:xfrm>
            <a:off x="5241340" y="3246120"/>
            <a:ext cx="1706270" cy="1554480"/>
          </a:xfrm>
          <a:prstGeom prst="rect">
            <a:avLst/>
          </a:prstGeom>
          <a:noFill/>
        </p:spPr>
        <p:txBody>
          <a:bodyPr wrap="square" lIns="0" rIns="0" tIns="0" bIns="0" anchor="t">
            <a:spAutoFit/>
          </a:bodyPr>
          <a:lstStyle/>
          <a:p>
            <a:pPr algn="l"/>
            <a:r>
              <a:rPr sz="1200" b="0" i="0">
                <a:solidFill>
                  <a:srgbClr val="9A9AAA"/>
                </a:solidFill>
                <a:latin typeface="Verdana"/>
              </a:rPr>
              <a:t>Immer gleicher Weg: Workflow. Weg hängt von der Anfrage ab: Weiche oder Agent.</a:t>
            </a:r>
          </a:p>
        </p:txBody>
      </p:sp>
      <p:cxnSp>
        <p:nvCxnSpPr>
          <p:cNvPr id="24" name="Connector 23"/>
          <p:cNvCxnSpPr/>
          <p:nvPr/>
        </p:nvCxnSpPr>
        <p:spPr>
          <a:xfrm>
            <a:off x="7148779" y="2286000"/>
            <a:ext cx="146304" cy="0"/>
          </a:xfrm>
          <a:prstGeom prst="line">
            <a:avLst/>
          </a:prstGeom>
          <a:ln w="19050">
            <a:solidFill>
              <a:srgbClr val="DC640D"/>
            </a:solidFill>
            <a:tailEnd type="triangle" w="med" len="med"/>
          </a:ln>
        </p:spPr>
      </p:cxnSp>
      <p:sp>
        <p:nvSpPr>
          <p:cNvPr id="25" name="Rectangle 24"/>
          <p:cNvSpPr/>
          <p:nvPr/>
        </p:nvSpPr>
        <p:spPr>
          <a:xfrm>
            <a:off x="7313371" y="1783080"/>
            <a:ext cx="2072030" cy="3108960"/>
          </a:xfrm>
          <a:prstGeom prst="rect">
            <a:avLst/>
          </a:prstGeom>
          <a:solidFill>
            <a:srgbClr val="24232E"/>
          </a:solidFill>
          <a:ln w="9525">
            <a:solidFill>
              <a:srgbClr val="3A3948"/>
            </a:solidFill>
          </a:ln>
        </p:spPr>
        <p:txBody>
          <a:bodyPr rtlCol="0" anchor="ctr"/>
          <a:lstStyle/>
          <a:p>
            <a:pPr algn="ctr"/>
          </a:p>
        </p:txBody>
      </p:sp>
      <p:sp>
        <p:nvSpPr>
          <p:cNvPr id="26" name="Rectangle 25"/>
          <p:cNvSpPr/>
          <p:nvPr/>
        </p:nvSpPr>
        <p:spPr>
          <a:xfrm>
            <a:off x="7313371" y="1783080"/>
            <a:ext cx="2072030" cy="64008"/>
          </a:xfrm>
          <a:prstGeom prst="rect">
            <a:avLst/>
          </a:prstGeom>
          <a:solidFill>
            <a:srgbClr val="DC640D"/>
          </a:solidFill>
          <a:ln>
            <a:noFill/>
          </a:ln>
        </p:spPr>
        <p:txBody>
          <a:bodyPr rtlCol="0" anchor="ctr"/>
          <a:lstStyle/>
          <a:p>
            <a:pPr algn="ctr"/>
          </a:p>
        </p:txBody>
      </p:sp>
      <p:sp>
        <p:nvSpPr>
          <p:cNvPr id="27" name="TextBox 26"/>
          <p:cNvSpPr txBox="1"/>
          <p:nvPr/>
        </p:nvSpPr>
        <p:spPr>
          <a:xfrm>
            <a:off x="7496251" y="1965960"/>
            <a:ext cx="731520" cy="640080"/>
          </a:xfrm>
          <a:prstGeom prst="rect">
            <a:avLst/>
          </a:prstGeom>
          <a:noFill/>
        </p:spPr>
        <p:txBody>
          <a:bodyPr wrap="square" lIns="0" rIns="0" tIns="0" bIns="0" anchor="ctr">
            <a:spAutoFit/>
          </a:bodyPr>
          <a:lstStyle/>
          <a:p>
            <a:pPr algn="l"/>
            <a:r>
              <a:rPr sz="3200" b="1" i="0">
                <a:solidFill>
                  <a:srgbClr val="DC640D"/>
                </a:solidFill>
                <a:latin typeface="Verdana"/>
              </a:rPr>
              <a:t>4</a:t>
            </a:r>
          </a:p>
        </p:txBody>
      </p:sp>
      <p:pic>
        <p:nvPicPr>
          <p:cNvPr id="28" name="Picture 27" descr="LuPlay_y.png"/>
          <p:cNvPicPr>
            <a:picLocks noChangeAspect="1"/>
          </p:cNvPicPr>
          <p:nvPr/>
        </p:nvPicPr>
        <p:blipFill>
          <a:blip r:embed="rId6"/>
          <a:stretch>
            <a:fillRect/>
          </a:stretch>
        </p:blipFill>
        <p:spPr>
          <a:xfrm>
            <a:off x="8745321" y="2075688"/>
            <a:ext cx="411480" cy="411480"/>
          </a:xfrm>
          <a:prstGeom prst="rect">
            <a:avLst/>
          </a:prstGeom>
        </p:spPr>
      </p:pic>
      <p:sp>
        <p:nvSpPr>
          <p:cNvPr id="29" name="TextBox 28"/>
          <p:cNvSpPr txBox="1"/>
          <p:nvPr/>
        </p:nvSpPr>
        <p:spPr>
          <a:xfrm>
            <a:off x="7496251" y="2788920"/>
            <a:ext cx="1706270" cy="365760"/>
          </a:xfrm>
          <a:prstGeom prst="rect">
            <a:avLst/>
          </a:prstGeom>
          <a:noFill/>
        </p:spPr>
        <p:txBody>
          <a:bodyPr wrap="square" lIns="0" rIns="0" tIns="0" bIns="0" anchor="t">
            <a:spAutoFit/>
          </a:bodyPr>
          <a:lstStyle/>
          <a:p>
            <a:pPr algn="l"/>
            <a:r>
              <a:rPr sz="1400" b="1" i="0">
                <a:solidFill>
                  <a:srgbClr val="FFFFFF"/>
                </a:solidFill>
                <a:latin typeface="Verdana"/>
              </a:rPr>
              <a:t>Klein bauen</a:t>
            </a:r>
          </a:p>
        </p:txBody>
      </p:sp>
      <p:sp>
        <p:nvSpPr>
          <p:cNvPr id="30" name="TextBox 29"/>
          <p:cNvSpPr txBox="1"/>
          <p:nvPr/>
        </p:nvSpPr>
        <p:spPr>
          <a:xfrm>
            <a:off x="7496251" y="3246120"/>
            <a:ext cx="1706270" cy="1554480"/>
          </a:xfrm>
          <a:prstGeom prst="rect">
            <a:avLst/>
          </a:prstGeom>
          <a:noFill/>
        </p:spPr>
        <p:txBody>
          <a:bodyPr wrap="square" lIns="0" rIns="0" tIns="0" bIns="0" anchor="t">
            <a:spAutoFit/>
          </a:bodyPr>
          <a:lstStyle/>
          <a:p>
            <a:pPr algn="l"/>
            <a:r>
              <a:rPr sz="1200" b="0" i="0">
                <a:solidFill>
                  <a:srgbClr val="9A9AAA"/>
                </a:solidFill>
                <a:latin typeface="Verdana"/>
              </a:rPr>
              <a:t>Einen Schritt bauen, testen, Zwischenergebnisse ansehen. Dann den nächsten.</a:t>
            </a:r>
          </a:p>
        </p:txBody>
      </p:sp>
      <p:cxnSp>
        <p:nvCxnSpPr>
          <p:cNvPr id="31" name="Connector 30"/>
          <p:cNvCxnSpPr/>
          <p:nvPr/>
        </p:nvCxnSpPr>
        <p:spPr>
          <a:xfrm>
            <a:off x="9403689" y="2286000"/>
            <a:ext cx="146304" cy="0"/>
          </a:xfrm>
          <a:prstGeom prst="line">
            <a:avLst/>
          </a:prstGeom>
          <a:ln w="19050">
            <a:solidFill>
              <a:srgbClr val="DC640D"/>
            </a:solidFill>
            <a:tailEnd type="triangle" w="med" len="med"/>
          </a:ln>
        </p:spPr>
      </p:cxnSp>
      <p:sp>
        <p:nvSpPr>
          <p:cNvPr id="32" name="Rectangle 31"/>
          <p:cNvSpPr/>
          <p:nvPr/>
        </p:nvSpPr>
        <p:spPr>
          <a:xfrm>
            <a:off x="9568281" y="1783080"/>
            <a:ext cx="2072030" cy="3108960"/>
          </a:xfrm>
          <a:prstGeom prst="rect">
            <a:avLst/>
          </a:prstGeom>
          <a:solidFill>
            <a:srgbClr val="24232E"/>
          </a:solidFill>
          <a:ln w="9525">
            <a:solidFill>
              <a:srgbClr val="3A3948"/>
            </a:solidFill>
          </a:ln>
        </p:spPr>
        <p:txBody>
          <a:bodyPr rtlCol="0" anchor="ctr"/>
          <a:lstStyle/>
          <a:p>
            <a:pPr algn="ctr"/>
          </a:p>
        </p:txBody>
      </p:sp>
      <p:sp>
        <p:nvSpPr>
          <p:cNvPr id="33" name="Rectangle 32"/>
          <p:cNvSpPr/>
          <p:nvPr/>
        </p:nvSpPr>
        <p:spPr>
          <a:xfrm>
            <a:off x="9568281" y="1783080"/>
            <a:ext cx="2072030" cy="64008"/>
          </a:xfrm>
          <a:prstGeom prst="rect">
            <a:avLst/>
          </a:prstGeom>
          <a:solidFill>
            <a:srgbClr val="DC640D"/>
          </a:solidFill>
          <a:ln>
            <a:noFill/>
          </a:ln>
        </p:spPr>
        <p:txBody>
          <a:bodyPr rtlCol="0" anchor="ctr"/>
          <a:lstStyle/>
          <a:p>
            <a:pPr algn="ctr"/>
          </a:p>
        </p:txBody>
      </p:sp>
      <p:sp>
        <p:nvSpPr>
          <p:cNvPr id="34" name="TextBox 33"/>
          <p:cNvSpPr txBox="1"/>
          <p:nvPr/>
        </p:nvSpPr>
        <p:spPr>
          <a:xfrm>
            <a:off x="9751161" y="1965960"/>
            <a:ext cx="731520" cy="640080"/>
          </a:xfrm>
          <a:prstGeom prst="rect">
            <a:avLst/>
          </a:prstGeom>
          <a:noFill/>
        </p:spPr>
        <p:txBody>
          <a:bodyPr wrap="square" lIns="0" rIns="0" tIns="0" bIns="0" anchor="ctr">
            <a:spAutoFit/>
          </a:bodyPr>
          <a:lstStyle/>
          <a:p>
            <a:pPr algn="l"/>
            <a:r>
              <a:rPr sz="3200" b="1" i="0">
                <a:solidFill>
                  <a:srgbClr val="DC640D"/>
                </a:solidFill>
                <a:latin typeface="Verdana"/>
              </a:rPr>
              <a:t>5</a:t>
            </a:r>
          </a:p>
        </p:txBody>
      </p:sp>
      <p:pic>
        <p:nvPicPr>
          <p:cNvPr id="35" name="Picture 34" descr="LuUserCheck_y.png"/>
          <p:cNvPicPr>
            <a:picLocks noChangeAspect="1"/>
          </p:cNvPicPr>
          <p:nvPr/>
        </p:nvPicPr>
        <p:blipFill>
          <a:blip r:embed="rId7"/>
          <a:stretch>
            <a:fillRect/>
          </a:stretch>
        </p:blipFill>
        <p:spPr>
          <a:xfrm>
            <a:off x="11000232" y="2075688"/>
            <a:ext cx="411480" cy="411480"/>
          </a:xfrm>
          <a:prstGeom prst="rect">
            <a:avLst/>
          </a:prstGeom>
        </p:spPr>
      </p:pic>
      <p:sp>
        <p:nvSpPr>
          <p:cNvPr id="36" name="TextBox 35"/>
          <p:cNvSpPr txBox="1"/>
          <p:nvPr/>
        </p:nvSpPr>
        <p:spPr>
          <a:xfrm>
            <a:off x="9751161" y="2788920"/>
            <a:ext cx="1706270" cy="365760"/>
          </a:xfrm>
          <a:prstGeom prst="rect">
            <a:avLst/>
          </a:prstGeom>
          <a:noFill/>
        </p:spPr>
        <p:txBody>
          <a:bodyPr wrap="square" lIns="0" rIns="0" tIns="0" bIns="0" anchor="t">
            <a:spAutoFit/>
          </a:bodyPr>
          <a:lstStyle/>
          <a:p>
            <a:pPr algn="l"/>
            <a:r>
              <a:rPr sz="1400" b="1" i="0">
                <a:solidFill>
                  <a:srgbClr val="FFFFFF"/>
                </a:solidFill>
                <a:latin typeface="Verdana"/>
              </a:rPr>
              <a:t>Absichern</a:t>
            </a:r>
          </a:p>
        </p:txBody>
      </p:sp>
      <p:sp>
        <p:nvSpPr>
          <p:cNvPr id="37" name="TextBox 36"/>
          <p:cNvSpPr txBox="1"/>
          <p:nvPr/>
        </p:nvSpPr>
        <p:spPr>
          <a:xfrm>
            <a:off x="9751161" y="3246120"/>
            <a:ext cx="1706270" cy="1554480"/>
          </a:xfrm>
          <a:prstGeom prst="rect">
            <a:avLst/>
          </a:prstGeom>
          <a:noFill/>
        </p:spPr>
        <p:txBody>
          <a:bodyPr wrap="square" lIns="0" rIns="0" tIns="0" bIns="0" anchor="t">
            <a:spAutoFit/>
          </a:bodyPr>
          <a:lstStyle/>
          <a:p>
            <a:pPr algn="l"/>
            <a:r>
              <a:rPr sz="1200" b="0" i="0">
                <a:solidFill>
                  <a:srgbClr val="9A9AAA"/>
                </a:solidFill>
                <a:latin typeface="Verdana"/>
              </a:rPr>
              <a:t>Festlegen, wo ein Mensch prüft, und mit echten Beispielen testen.</a:t>
            </a:r>
          </a:p>
        </p:txBody>
      </p:sp>
      <p:sp>
        <p:nvSpPr>
          <p:cNvPr id="38" name="Rectangle 37"/>
          <p:cNvSpPr/>
          <p:nvPr/>
        </p:nvSpPr>
        <p:spPr>
          <a:xfrm>
            <a:off x="548640" y="5120640"/>
            <a:ext cx="11091672" cy="685800"/>
          </a:xfrm>
          <a:prstGeom prst="rect">
            <a:avLst/>
          </a:prstGeom>
          <a:noFill/>
          <a:ln w="12700">
            <a:solidFill>
              <a:srgbClr val="DC640D"/>
            </a:solidFill>
          </a:ln>
        </p:spPr>
        <p:txBody>
          <a:bodyPr rtlCol="0" anchor="ctr"/>
          <a:lstStyle/>
          <a:p>
            <a:pPr algn="ctr"/>
          </a:p>
        </p:txBody>
      </p:sp>
      <p:pic>
        <p:nvPicPr>
          <p:cNvPr id="39" name="Picture 38" descr="LuMap_o.png"/>
          <p:cNvPicPr>
            <a:picLocks noChangeAspect="1"/>
          </p:cNvPicPr>
          <p:nvPr/>
        </p:nvPicPr>
        <p:blipFill>
          <a:blip r:embed="rId8"/>
          <a:stretch>
            <a:fillRect/>
          </a:stretch>
        </p:blipFill>
        <p:spPr>
          <a:xfrm>
            <a:off x="777240" y="5257800"/>
            <a:ext cx="411480" cy="411480"/>
          </a:xfrm>
          <a:prstGeom prst="rect">
            <a:avLst/>
          </a:prstGeom>
        </p:spPr>
      </p:pic>
      <p:sp>
        <p:nvSpPr>
          <p:cNvPr id="40" name="TextBox 39"/>
          <p:cNvSpPr txBox="1"/>
          <p:nvPr/>
        </p:nvSpPr>
        <p:spPr>
          <a:xfrm>
            <a:off x="1371600" y="5120640"/>
            <a:ext cx="10085832" cy="685800"/>
          </a:xfrm>
          <a:prstGeom prst="rect">
            <a:avLst/>
          </a:prstGeom>
          <a:noFill/>
        </p:spPr>
        <p:txBody>
          <a:bodyPr wrap="square" lIns="0" rIns="0" tIns="0" bIns="0" anchor="ctr">
            <a:spAutoFit/>
          </a:bodyPr>
          <a:lstStyle/>
          <a:p>
            <a:pPr algn="l"/>
            <a:r>
              <a:rPr sz="1333" b="1" i="0">
                <a:solidFill>
                  <a:srgbClr val="FFFFFF"/>
                </a:solidFill>
                <a:latin typeface="Verdana"/>
              </a:rPr>
              <a:t>Erst auf Papier, dann in Langflow. </a:t>
            </a:r>
            <a:r>
              <a:rPr sz="1333" b="0" i="0">
                <a:solidFill>
                  <a:srgbClr val="9A9AAA"/>
                </a:solidFill>
                <a:latin typeface="Verdana"/>
              </a:rPr>
              <a:t>Den Bauplan nutzt ihr gleich für euren Use Case und zu Hause für jedes neue Vorhaben.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Die Weiche bauen.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3A · 15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02919"/>
          </a:xfrm>
          <a:prstGeom prst="rect">
            <a:avLst/>
          </a:prstGeom>
          <a:noFill/>
        </p:spPr>
        <p:txBody>
          <a:bodyPr wrap="square" lIns="0" rIns="0" tIns="0" bIns="0" anchor="t">
            <a:spAutoFit/>
          </a:bodyPr>
          <a:lstStyle/>
          <a:p>
            <a:pPr algn="l"/>
            <a:r>
              <a:rPr sz="1267" b="1" i="0">
                <a:solidFill>
                  <a:srgbClr val="FFFFFF"/>
                </a:solidFill>
                <a:latin typeface="Verdana"/>
              </a:rPr>
              <a:t>Kopie: </a:t>
            </a:r>
            <a:r>
              <a:rPr sz="1267" b="0" i="0">
                <a:solidFill>
                  <a:srgbClr val="9A9AAA"/>
                </a:solidFill>
                <a:latin typeface="Verdana"/>
              </a:rPr>
              <a:t>Euren Agenten-Flow aus 2b duplizieren. Der Agent ist dann schon da.</a:t>
            </a:r>
          </a:p>
        </p:txBody>
      </p:sp>
      <p:sp>
        <p:nvSpPr>
          <p:cNvPr id="7" name="Oval 6"/>
          <p:cNvSpPr/>
          <p:nvPr/>
        </p:nvSpPr>
        <p:spPr>
          <a:xfrm>
            <a:off x="548640" y="2350008"/>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350008"/>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31720"/>
            <a:ext cx="6172200" cy="502919"/>
          </a:xfrm>
          <a:prstGeom prst="rect">
            <a:avLst/>
          </a:prstGeom>
          <a:noFill/>
        </p:spPr>
        <p:txBody>
          <a:bodyPr wrap="square" lIns="0" rIns="0" tIns="0" bIns="0" anchor="t">
            <a:spAutoFit/>
          </a:bodyPr>
          <a:lstStyle/>
          <a:p>
            <a:pPr algn="l"/>
            <a:r>
              <a:rPr sz="1267" b="1" i="0">
                <a:solidFill>
                  <a:srgbClr val="FFFFFF"/>
                </a:solidFill>
                <a:latin typeface="Verdana"/>
              </a:rPr>
              <a:t>Router: </a:t>
            </a:r>
            <a:r>
              <a:rPr sz="1267" b="0" i="0">
                <a:solidFill>
                  <a:srgbClr val="9A9AAA"/>
                </a:solidFill>
                <a:latin typeface="Verdana"/>
              </a:rPr>
              <a:t>Smart Router (unter LLM Operations) dazu. KI-Modell Language Model → Language Model, Chat Input → Input.</a:t>
            </a:r>
          </a:p>
        </p:txBody>
      </p:sp>
      <p:sp>
        <p:nvSpPr>
          <p:cNvPr id="10" name="Oval 9"/>
          <p:cNvSpPr/>
          <p:nvPr/>
        </p:nvSpPr>
        <p:spPr>
          <a:xfrm>
            <a:off x="548640" y="2898648"/>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2898648"/>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880360"/>
            <a:ext cx="6172200" cy="502919"/>
          </a:xfrm>
          <a:prstGeom prst="rect">
            <a:avLst/>
          </a:prstGeom>
          <a:noFill/>
        </p:spPr>
        <p:txBody>
          <a:bodyPr wrap="square" lIns="0" rIns="0" tIns="0" bIns="0" anchor="t">
            <a:spAutoFit/>
          </a:bodyPr>
          <a:lstStyle/>
          <a:p>
            <a:pPr algn="l"/>
            <a:r>
              <a:rPr sz="1267" b="1" i="0">
                <a:solidFill>
                  <a:srgbClr val="FFFFFF"/>
                </a:solidFill>
                <a:latin typeface="Verdana"/>
              </a:rPr>
              <a:t>Routen: </a:t>
            </a:r>
            <a:r>
              <a:rPr sz="1267" b="0" i="0">
                <a:solidFill>
                  <a:srgbClr val="9A9AAA"/>
                </a:solidFill>
                <a:latin typeface="Verdana"/>
              </a:rPr>
              <a:t>Drei Zeilen anlegen: Literatursuche, Benutzung, Sonstiges. Jeweils mit kurzer Beschreibung.</a:t>
            </a:r>
          </a:p>
        </p:txBody>
      </p:sp>
      <p:sp>
        <p:nvSpPr>
          <p:cNvPr id="13" name="Oval 12"/>
          <p:cNvSpPr/>
          <p:nvPr/>
        </p:nvSpPr>
        <p:spPr>
          <a:xfrm>
            <a:off x="548640" y="3447288"/>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447288"/>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429000"/>
            <a:ext cx="6172200" cy="502919"/>
          </a:xfrm>
          <a:prstGeom prst="rect">
            <a:avLst/>
          </a:prstGeom>
          <a:noFill/>
        </p:spPr>
        <p:txBody>
          <a:bodyPr wrap="square" lIns="0" rIns="0" tIns="0" bIns="0" anchor="t">
            <a:spAutoFit/>
          </a:bodyPr>
          <a:lstStyle/>
          <a:p>
            <a:pPr algn="l"/>
            <a:r>
              <a:rPr sz="1267" b="1" i="0">
                <a:solidFill>
                  <a:srgbClr val="FFFFFF"/>
                </a:solidFill>
                <a:latin typeface="Verdana"/>
              </a:rPr>
              <a:t>Literatur: </a:t>
            </a:r>
            <a:r>
              <a:rPr sz="1267" b="0" i="0">
                <a:solidFill>
                  <a:srgbClr val="9A9AAA"/>
                </a:solidFill>
                <a:latin typeface="Verdana"/>
              </a:rPr>
              <a:t>Route Literatursuche → Input des Agenten. Die alte Verbindung vom Chat Input zum Agenten löschen.</a:t>
            </a:r>
          </a:p>
        </p:txBody>
      </p:sp>
      <p:sp>
        <p:nvSpPr>
          <p:cNvPr id="16" name="Oval 15"/>
          <p:cNvSpPr/>
          <p:nvPr/>
        </p:nvSpPr>
        <p:spPr>
          <a:xfrm>
            <a:off x="548640" y="3995927"/>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3995927"/>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3977639"/>
            <a:ext cx="6172200" cy="502919"/>
          </a:xfrm>
          <a:prstGeom prst="rect">
            <a:avLst/>
          </a:prstGeom>
          <a:noFill/>
        </p:spPr>
        <p:txBody>
          <a:bodyPr wrap="square" lIns="0" rIns="0" tIns="0" bIns="0" anchor="t">
            <a:spAutoFit/>
          </a:bodyPr>
          <a:lstStyle/>
          <a:p>
            <a:pPr algn="l"/>
            <a:r>
              <a:rPr sz="1267" b="1" i="0">
                <a:solidFill>
                  <a:srgbClr val="FFFFFF"/>
                </a:solidFill>
                <a:latin typeface="Verdana"/>
              </a:rPr>
              <a:t>Sonstiges: </a:t>
            </a:r>
            <a:r>
              <a:rPr sz="1267" b="0" i="0">
                <a:solidFill>
                  <a:srgbClr val="9A9AAA"/>
                </a:solidFill>
                <a:latin typeface="Verdana"/>
              </a:rPr>
              <a:t>Route Message: „Danke! Wir leiten Ihre Anfrage an das Auskunftsteam weiter.“ → eigener Chat Output.</a:t>
            </a:r>
          </a:p>
        </p:txBody>
      </p:sp>
      <p:sp>
        <p:nvSpPr>
          <p:cNvPr id="19" name="Rectangle 18"/>
          <p:cNvSpPr/>
          <p:nvPr/>
        </p:nvSpPr>
        <p:spPr>
          <a:xfrm>
            <a:off x="7635240" y="1783080"/>
            <a:ext cx="4005072" cy="86868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365759"/>
          </a:xfrm>
          <a:prstGeom prst="rect">
            <a:avLst/>
          </a:prstGeom>
          <a:noFill/>
        </p:spPr>
        <p:txBody>
          <a:bodyPr wrap="square" lIns="0" rIns="0" tIns="0" bIns="0" anchor="t">
            <a:spAutoFit/>
          </a:bodyPr>
          <a:lstStyle/>
          <a:p>
            <a:pPr algn="l"/>
            <a:r>
              <a:rPr sz="1200" b="0" i="0">
                <a:solidFill>
                  <a:srgbClr val="FFFFFF"/>
                </a:solidFill>
                <a:latin typeface="Verdana"/>
              </a:rPr>
              <a:t>Jede Anfrage landet automatisch auf dem passenden Weg.</a:t>
            </a:r>
          </a:p>
        </p:txBody>
      </p:sp>
      <p:sp>
        <p:nvSpPr>
          <p:cNvPr id="23" name="Rectangle 22"/>
          <p:cNvSpPr/>
          <p:nvPr/>
        </p:nvSpPr>
        <p:spPr>
          <a:xfrm>
            <a:off x="7635240" y="2761487"/>
            <a:ext cx="4005072" cy="1051560"/>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2916935"/>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TIPP</a:t>
            </a:r>
          </a:p>
        </p:txBody>
      </p:sp>
      <p:sp>
        <p:nvSpPr>
          <p:cNvPr id="25" name="TextBox 24"/>
          <p:cNvSpPr txBox="1"/>
          <p:nvPr/>
        </p:nvSpPr>
        <p:spPr>
          <a:xfrm>
            <a:off x="7836408" y="3172968"/>
            <a:ext cx="3602736" cy="548639"/>
          </a:xfrm>
          <a:prstGeom prst="rect">
            <a:avLst/>
          </a:prstGeom>
          <a:noFill/>
        </p:spPr>
        <p:txBody>
          <a:bodyPr wrap="square" lIns="0" rIns="0" tIns="0" bIns="0" anchor="t">
            <a:spAutoFit/>
          </a:bodyPr>
          <a:lstStyle/>
          <a:p>
            <a:pPr algn="l"/>
            <a:r>
              <a:rPr sz="1200" b="0" i="0">
                <a:solidFill>
                  <a:srgbClr val="9A9AAA"/>
                </a:solidFill>
                <a:latin typeface="Verdana"/>
              </a:rPr>
              <a:t>Die Beschreibung einer Route ist das, was die KI liest. Je klarer sie ist, desto besser die Zuordnung.</a:t>
            </a:r>
          </a:p>
        </p:txBody>
      </p:sp>
      <p:sp>
        <p:nvSpPr>
          <p:cNvPr id="26" name="Rectangle 25"/>
          <p:cNvSpPr/>
          <p:nvPr/>
        </p:nvSpPr>
        <p:spPr>
          <a:xfrm>
            <a:off x="7635240" y="3922775"/>
            <a:ext cx="4005072" cy="914400"/>
          </a:xfrm>
          <a:prstGeom prst="rect">
            <a:avLst/>
          </a:prstGeom>
          <a:solidFill>
            <a:srgbClr val="24232E"/>
          </a:solidFill>
          <a:ln>
            <a:noFill/>
          </a:ln>
        </p:spPr>
        <p:txBody>
          <a:bodyPr rtlCol="0" anchor="ctr"/>
          <a:lstStyle/>
          <a:p>
            <a:pPr algn="ctr"/>
          </a:p>
        </p:txBody>
      </p:sp>
      <p:sp>
        <p:nvSpPr>
          <p:cNvPr id="27" name="TextBox 26"/>
          <p:cNvSpPr txBox="1"/>
          <p:nvPr/>
        </p:nvSpPr>
        <p:spPr>
          <a:xfrm>
            <a:off x="7836408" y="4078223"/>
            <a:ext cx="3602736" cy="228600"/>
          </a:xfrm>
          <a:prstGeom prst="rect">
            <a:avLst/>
          </a:prstGeom>
          <a:noFill/>
        </p:spPr>
        <p:txBody>
          <a:bodyPr wrap="square" lIns="0" rIns="0" tIns="0" bIns="0" anchor="t">
            <a:spAutoFit/>
          </a:bodyPr>
          <a:lstStyle/>
          <a:p>
            <a:pPr algn="l"/>
            <a:r>
              <a:rPr sz="933" b="1" i="0" spc="300">
                <a:solidFill>
                  <a:srgbClr val="9A9AAA"/>
                </a:solidFill>
                <a:latin typeface="Verdana"/>
              </a:rPr>
              <a:t>WEITERDENKEN</a:t>
            </a:r>
          </a:p>
        </p:txBody>
      </p:sp>
      <p:sp>
        <p:nvSpPr>
          <p:cNvPr id="28" name="TextBox 27"/>
          <p:cNvSpPr txBox="1"/>
          <p:nvPr/>
        </p:nvSpPr>
        <p:spPr>
          <a:xfrm>
            <a:off x="7836408" y="4334255"/>
            <a:ext cx="3602736" cy="411479"/>
          </a:xfrm>
          <a:prstGeom prst="rect">
            <a:avLst/>
          </a:prstGeom>
          <a:noFill/>
        </p:spPr>
        <p:txBody>
          <a:bodyPr wrap="square" lIns="0" rIns="0" tIns="0" bIns="0" anchor="t">
            <a:spAutoFit/>
          </a:bodyPr>
          <a:lstStyle/>
          <a:p>
            <a:pPr algn="l"/>
            <a:r>
              <a:rPr sz="1200" b="0" i="1">
                <a:solidFill>
                  <a:srgbClr val="FFFFFF"/>
                </a:solidFill>
                <a:latin typeface="Verdana"/>
              </a:rPr>
              <a:t>Welche Kategorien hätte eure Auskunft?</a:t>
            </a:r>
          </a:p>
        </p:txBody>
      </p:sp>
      <p:sp>
        <p:nvSpPr>
          <p:cNvPr id="29" name="TextBox 28"/>
          <p:cNvSpPr txBox="1"/>
          <p:nvPr/>
        </p:nvSpPr>
        <p:spPr>
          <a:xfrm>
            <a:off x="548640" y="457200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SO SIEHT DER FLOW AUS</a:t>
            </a:r>
          </a:p>
        </p:txBody>
      </p:sp>
      <p:sp>
        <p:nvSpPr>
          <p:cNvPr id="30" name="Rectangle 29"/>
          <p:cNvSpPr/>
          <p:nvPr/>
        </p:nvSpPr>
        <p:spPr>
          <a:xfrm>
            <a:off x="715518" y="5198364"/>
            <a:ext cx="1335024" cy="256032"/>
          </a:xfrm>
          <a:prstGeom prst="rect">
            <a:avLst/>
          </a:prstGeom>
          <a:solidFill>
            <a:srgbClr val="24232E"/>
          </a:solidFill>
          <a:ln w="19050">
            <a:solidFill>
              <a:srgbClr val="9A9AAA"/>
            </a:solidFill>
          </a:ln>
        </p:spPr>
        <p:txBody>
          <a:bodyPr rtlCol="0" anchor="ctr"/>
          <a:lstStyle/>
          <a:p>
            <a:pPr algn="ctr"/>
          </a:p>
        </p:txBody>
      </p:sp>
      <p:sp>
        <p:nvSpPr>
          <p:cNvPr id="31" name="TextBox 30"/>
          <p:cNvSpPr txBox="1"/>
          <p:nvPr/>
        </p:nvSpPr>
        <p:spPr>
          <a:xfrm>
            <a:off x="788669" y="5198364"/>
            <a:ext cx="1188720" cy="256032"/>
          </a:xfrm>
          <a:prstGeom prst="rect">
            <a:avLst/>
          </a:prstGeom>
          <a:noFill/>
        </p:spPr>
        <p:txBody>
          <a:bodyPr wrap="square" lIns="0" rIns="0" tIns="0" bIns="0" anchor="ctr">
            <a:spAutoFit/>
          </a:bodyPr>
          <a:lstStyle/>
          <a:p>
            <a:pPr algn="ctr"/>
            <a:r>
              <a:rPr sz="933" b="1" i="0">
                <a:solidFill>
                  <a:srgbClr val="FFFFFF"/>
                </a:solidFill>
                <a:latin typeface="Verdana"/>
              </a:rPr>
              <a:t>Chat Input</a:t>
            </a:r>
          </a:p>
        </p:txBody>
      </p:sp>
      <p:sp>
        <p:nvSpPr>
          <p:cNvPr id="32" name="Rectangle 31"/>
          <p:cNvSpPr/>
          <p:nvPr/>
        </p:nvSpPr>
        <p:spPr>
          <a:xfrm>
            <a:off x="715518" y="4878324"/>
            <a:ext cx="1335024" cy="256032"/>
          </a:xfrm>
          <a:prstGeom prst="rect">
            <a:avLst/>
          </a:prstGeom>
          <a:solidFill>
            <a:srgbClr val="24232E"/>
          </a:solidFill>
          <a:ln w="19050">
            <a:solidFill>
              <a:srgbClr val="B1063A"/>
            </a:solidFill>
          </a:ln>
        </p:spPr>
        <p:txBody>
          <a:bodyPr rtlCol="0" anchor="ctr"/>
          <a:lstStyle/>
          <a:p>
            <a:pPr algn="ctr"/>
          </a:p>
        </p:txBody>
      </p:sp>
      <p:sp>
        <p:nvSpPr>
          <p:cNvPr id="33" name="TextBox 32"/>
          <p:cNvSpPr txBox="1"/>
          <p:nvPr/>
        </p:nvSpPr>
        <p:spPr>
          <a:xfrm>
            <a:off x="788669" y="4878324"/>
            <a:ext cx="1188720" cy="256032"/>
          </a:xfrm>
          <a:prstGeom prst="rect">
            <a:avLst/>
          </a:prstGeom>
          <a:noFill/>
        </p:spPr>
        <p:txBody>
          <a:bodyPr wrap="square" lIns="0" rIns="0" tIns="0" bIns="0" anchor="ctr">
            <a:spAutoFit/>
          </a:bodyPr>
          <a:lstStyle/>
          <a:p>
            <a:pPr algn="ctr"/>
            <a:r>
              <a:rPr sz="933" b="1" i="0">
                <a:solidFill>
                  <a:srgbClr val="FFFFFF"/>
                </a:solidFill>
                <a:latin typeface="Verdana"/>
              </a:rPr>
              <a:t>KI-Modell</a:t>
            </a:r>
          </a:p>
        </p:txBody>
      </p:sp>
      <p:sp>
        <p:nvSpPr>
          <p:cNvPr id="34" name="Rectangle 33"/>
          <p:cNvSpPr/>
          <p:nvPr/>
        </p:nvSpPr>
        <p:spPr>
          <a:xfrm>
            <a:off x="2384298" y="5198364"/>
            <a:ext cx="1335024" cy="256032"/>
          </a:xfrm>
          <a:prstGeom prst="rect">
            <a:avLst/>
          </a:prstGeom>
          <a:solidFill>
            <a:srgbClr val="24232E"/>
          </a:solidFill>
          <a:ln w="19050">
            <a:solidFill>
              <a:srgbClr val="007A9E"/>
            </a:solidFill>
          </a:ln>
        </p:spPr>
        <p:txBody>
          <a:bodyPr rtlCol="0" anchor="ctr"/>
          <a:lstStyle/>
          <a:p>
            <a:pPr algn="ctr"/>
          </a:p>
        </p:txBody>
      </p:sp>
      <p:sp>
        <p:nvSpPr>
          <p:cNvPr id="35" name="TextBox 34"/>
          <p:cNvSpPr txBox="1"/>
          <p:nvPr/>
        </p:nvSpPr>
        <p:spPr>
          <a:xfrm>
            <a:off x="2457450" y="5198364"/>
            <a:ext cx="1188720" cy="256032"/>
          </a:xfrm>
          <a:prstGeom prst="rect">
            <a:avLst/>
          </a:prstGeom>
          <a:noFill/>
        </p:spPr>
        <p:txBody>
          <a:bodyPr wrap="square" lIns="0" rIns="0" tIns="0" bIns="0" anchor="ctr">
            <a:spAutoFit/>
          </a:bodyPr>
          <a:lstStyle/>
          <a:p>
            <a:pPr algn="ctr"/>
            <a:r>
              <a:rPr sz="933" b="1" i="0">
                <a:solidFill>
                  <a:srgbClr val="FFFFFF"/>
                </a:solidFill>
                <a:latin typeface="Verdana"/>
              </a:rPr>
              <a:t>Smart Router</a:t>
            </a:r>
          </a:p>
        </p:txBody>
      </p:sp>
      <p:sp>
        <p:nvSpPr>
          <p:cNvPr id="36" name="Rectangle 35"/>
          <p:cNvSpPr/>
          <p:nvPr/>
        </p:nvSpPr>
        <p:spPr>
          <a:xfrm>
            <a:off x="4053078" y="4878324"/>
            <a:ext cx="1335024" cy="256032"/>
          </a:xfrm>
          <a:prstGeom prst="rect">
            <a:avLst/>
          </a:prstGeom>
          <a:solidFill>
            <a:srgbClr val="24232E"/>
          </a:solidFill>
          <a:ln w="19050">
            <a:solidFill>
              <a:srgbClr val="18E979"/>
            </a:solidFill>
          </a:ln>
        </p:spPr>
        <p:txBody>
          <a:bodyPr rtlCol="0" anchor="ctr"/>
          <a:lstStyle/>
          <a:p>
            <a:pPr algn="ctr"/>
          </a:p>
        </p:txBody>
      </p:sp>
      <p:sp>
        <p:nvSpPr>
          <p:cNvPr id="37" name="TextBox 36"/>
          <p:cNvSpPr txBox="1"/>
          <p:nvPr/>
        </p:nvSpPr>
        <p:spPr>
          <a:xfrm>
            <a:off x="4126230" y="4878324"/>
            <a:ext cx="1188720" cy="256032"/>
          </a:xfrm>
          <a:prstGeom prst="rect">
            <a:avLst/>
          </a:prstGeom>
          <a:noFill/>
        </p:spPr>
        <p:txBody>
          <a:bodyPr wrap="square" lIns="0" rIns="0" tIns="0" bIns="0" anchor="ctr">
            <a:spAutoFit/>
          </a:bodyPr>
          <a:lstStyle/>
          <a:p>
            <a:pPr algn="ctr"/>
            <a:r>
              <a:rPr sz="933" b="1" i="0">
                <a:solidFill>
                  <a:srgbClr val="FFFFFF"/>
                </a:solidFill>
                <a:latin typeface="Verdana"/>
              </a:rPr>
              <a:t>Agent aus 2b</a:t>
            </a:r>
          </a:p>
        </p:txBody>
      </p:sp>
      <p:sp>
        <p:nvSpPr>
          <p:cNvPr id="38" name="Rectangle 37"/>
          <p:cNvSpPr/>
          <p:nvPr/>
        </p:nvSpPr>
        <p:spPr>
          <a:xfrm>
            <a:off x="4053078" y="5198364"/>
            <a:ext cx="1335024" cy="256032"/>
          </a:xfrm>
          <a:prstGeom prst="rect">
            <a:avLst/>
          </a:prstGeom>
          <a:solidFill>
            <a:srgbClr val="24232E"/>
          </a:solidFill>
          <a:ln w="19050">
            <a:solidFill>
              <a:srgbClr val="F6A800"/>
            </a:solidFill>
          </a:ln>
        </p:spPr>
        <p:txBody>
          <a:bodyPr rtlCol="0" anchor="ctr"/>
          <a:lstStyle/>
          <a:p>
            <a:pPr algn="ctr"/>
          </a:p>
        </p:txBody>
      </p:sp>
      <p:sp>
        <p:nvSpPr>
          <p:cNvPr id="39" name="TextBox 38"/>
          <p:cNvSpPr txBox="1"/>
          <p:nvPr/>
        </p:nvSpPr>
        <p:spPr>
          <a:xfrm>
            <a:off x="4126230" y="5198364"/>
            <a:ext cx="1188720" cy="256032"/>
          </a:xfrm>
          <a:prstGeom prst="rect">
            <a:avLst/>
          </a:prstGeom>
          <a:noFill/>
        </p:spPr>
        <p:txBody>
          <a:bodyPr wrap="square" lIns="0" rIns="0" tIns="0" bIns="0" anchor="ctr">
            <a:spAutoFit/>
          </a:bodyPr>
          <a:lstStyle/>
          <a:p>
            <a:pPr algn="ctr"/>
            <a:r>
              <a:rPr sz="933" b="1" i="0">
                <a:solidFill>
                  <a:srgbClr val="FFFFFF"/>
                </a:solidFill>
                <a:latin typeface="Verdana"/>
              </a:rPr>
              <a:t>Prompt mit FAQ</a:t>
            </a:r>
          </a:p>
        </p:txBody>
      </p:sp>
      <p:sp>
        <p:nvSpPr>
          <p:cNvPr id="40" name="Rectangle 39"/>
          <p:cNvSpPr/>
          <p:nvPr/>
        </p:nvSpPr>
        <p:spPr>
          <a:xfrm>
            <a:off x="4053078" y="5518404"/>
            <a:ext cx="1335024" cy="256032"/>
          </a:xfrm>
          <a:prstGeom prst="rect">
            <a:avLst/>
          </a:prstGeom>
          <a:solidFill>
            <a:srgbClr val="24232E"/>
          </a:solidFill>
          <a:ln w="19050">
            <a:solidFill>
              <a:srgbClr val="FFFFFF"/>
            </a:solidFill>
          </a:ln>
        </p:spPr>
        <p:txBody>
          <a:bodyPr rtlCol="0" anchor="ctr"/>
          <a:lstStyle/>
          <a:p>
            <a:pPr algn="ctr"/>
          </a:p>
        </p:txBody>
      </p:sp>
      <p:sp>
        <p:nvSpPr>
          <p:cNvPr id="41" name="TextBox 40"/>
          <p:cNvSpPr txBox="1"/>
          <p:nvPr/>
        </p:nvSpPr>
        <p:spPr>
          <a:xfrm>
            <a:off x="4126230" y="5518404"/>
            <a:ext cx="1188720" cy="256032"/>
          </a:xfrm>
          <a:prstGeom prst="rect">
            <a:avLst/>
          </a:prstGeom>
          <a:noFill/>
        </p:spPr>
        <p:txBody>
          <a:bodyPr wrap="square" lIns="0" rIns="0" tIns="0" bIns="0" anchor="ctr">
            <a:spAutoFit/>
          </a:bodyPr>
          <a:lstStyle/>
          <a:p>
            <a:pPr algn="ctr"/>
            <a:r>
              <a:rPr sz="933" b="1" i="0">
                <a:solidFill>
                  <a:srgbClr val="FFFFFF"/>
                </a:solidFill>
                <a:latin typeface="Verdana"/>
              </a:rPr>
              <a:t>Route Message</a:t>
            </a:r>
          </a:p>
        </p:txBody>
      </p:sp>
      <p:sp>
        <p:nvSpPr>
          <p:cNvPr id="42" name="Rectangle 41"/>
          <p:cNvSpPr/>
          <p:nvPr/>
        </p:nvSpPr>
        <p:spPr>
          <a:xfrm>
            <a:off x="5721857" y="5198364"/>
            <a:ext cx="1335024" cy="256032"/>
          </a:xfrm>
          <a:prstGeom prst="rect">
            <a:avLst/>
          </a:prstGeom>
          <a:solidFill>
            <a:srgbClr val="24232E"/>
          </a:solidFill>
          <a:ln w="19050">
            <a:solidFill>
              <a:srgbClr val="9A9AAA"/>
            </a:solidFill>
          </a:ln>
        </p:spPr>
        <p:txBody>
          <a:bodyPr rtlCol="0" anchor="ctr"/>
          <a:lstStyle/>
          <a:p>
            <a:pPr algn="ctr"/>
          </a:p>
        </p:txBody>
      </p:sp>
      <p:sp>
        <p:nvSpPr>
          <p:cNvPr id="43" name="TextBox 42"/>
          <p:cNvSpPr txBox="1"/>
          <p:nvPr/>
        </p:nvSpPr>
        <p:spPr>
          <a:xfrm>
            <a:off x="5795009" y="5198364"/>
            <a:ext cx="1188720" cy="256032"/>
          </a:xfrm>
          <a:prstGeom prst="rect">
            <a:avLst/>
          </a:prstGeom>
          <a:noFill/>
        </p:spPr>
        <p:txBody>
          <a:bodyPr wrap="square" lIns="0" rIns="0" tIns="0" bIns="0" anchor="ctr">
            <a:spAutoFit/>
          </a:bodyPr>
          <a:lstStyle/>
          <a:p>
            <a:pPr algn="ctr"/>
            <a:r>
              <a:rPr sz="933" b="1" i="0">
                <a:solidFill>
                  <a:srgbClr val="FFFFFF"/>
                </a:solidFill>
                <a:latin typeface="Verdana"/>
              </a:rPr>
              <a:t>Chat Output</a:t>
            </a:r>
          </a:p>
        </p:txBody>
      </p:sp>
      <p:cxnSp>
        <p:nvCxnSpPr>
          <p:cNvPr id="44" name="Connector 43"/>
          <p:cNvCxnSpPr/>
          <p:nvPr/>
        </p:nvCxnSpPr>
        <p:spPr>
          <a:xfrm>
            <a:off x="2050541" y="5326379"/>
            <a:ext cx="333757" cy="0"/>
          </a:xfrm>
          <a:prstGeom prst="line">
            <a:avLst/>
          </a:prstGeom>
          <a:ln w="15875">
            <a:solidFill>
              <a:srgbClr val="9A9AAA"/>
            </a:solidFill>
            <a:tailEnd type="triangle" w="med" len="med"/>
          </a:ln>
        </p:spPr>
      </p:cxnSp>
      <p:cxnSp>
        <p:nvCxnSpPr>
          <p:cNvPr id="45" name="Connector 44"/>
          <p:cNvCxnSpPr/>
          <p:nvPr/>
        </p:nvCxnSpPr>
        <p:spPr>
          <a:xfrm>
            <a:off x="2050541" y="5006340"/>
            <a:ext cx="333757" cy="320039"/>
          </a:xfrm>
          <a:prstGeom prst="line">
            <a:avLst/>
          </a:prstGeom>
          <a:ln w="15875">
            <a:solidFill>
              <a:srgbClr val="9A9AAA"/>
            </a:solidFill>
            <a:tailEnd type="triangle" w="med" len="med"/>
          </a:ln>
        </p:spPr>
      </p:cxnSp>
      <p:cxnSp>
        <p:nvCxnSpPr>
          <p:cNvPr id="46" name="Connector 45"/>
          <p:cNvCxnSpPr/>
          <p:nvPr/>
        </p:nvCxnSpPr>
        <p:spPr>
          <a:xfrm flipV="1">
            <a:off x="3719322" y="5006340"/>
            <a:ext cx="333756" cy="320039"/>
          </a:xfrm>
          <a:prstGeom prst="line">
            <a:avLst/>
          </a:prstGeom>
          <a:ln w="15875">
            <a:solidFill>
              <a:srgbClr val="9A9AAA"/>
            </a:solidFill>
            <a:tailEnd type="triangle" w="med" len="med"/>
          </a:ln>
        </p:spPr>
      </p:cxnSp>
      <p:cxnSp>
        <p:nvCxnSpPr>
          <p:cNvPr id="47" name="Connector 46"/>
          <p:cNvCxnSpPr/>
          <p:nvPr/>
        </p:nvCxnSpPr>
        <p:spPr>
          <a:xfrm>
            <a:off x="3719322" y="5326379"/>
            <a:ext cx="333756" cy="0"/>
          </a:xfrm>
          <a:prstGeom prst="line">
            <a:avLst/>
          </a:prstGeom>
          <a:ln w="15875">
            <a:solidFill>
              <a:srgbClr val="9A9AAA"/>
            </a:solidFill>
            <a:tailEnd type="triangle" w="med" len="med"/>
          </a:ln>
        </p:spPr>
      </p:cxnSp>
      <p:cxnSp>
        <p:nvCxnSpPr>
          <p:cNvPr id="48" name="Connector 47"/>
          <p:cNvCxnSpPr/>
          <p:nvPr/>
        </p:nvCxnSpPr>
        <p:spPr>
          <a:xfrm>
            <a:off x="3719322" y="5326379"/>
            <a:ext cx="333756" cy="320041"/>
          </a:xfrm>
          <a:prstGeom prst="line">
            <a:avLst/>
          </a:prstGeom>
          <a:ln w="15875">
            <a:solidFill>
              <a:srgbClr val="9A9AAA"/>
            </a:solidFill>
            <a:tailEnd type="triangle" w="med" len="med"/>
          </a:ln>
        </p:spPr>
      </p:cxnSp>
      <p:cxnSp>
        <p:nvCxnSpPr>
          <p:cNvPr id="49" name="Connector 48"/>
          <p:cNvCxnSpPr/>
          <p:nvPr/>
        </p:nvCxnSpPr>
        <p:spPr>
          <a:xfrm>
            <a:off x="5388102" y="5006340"/>
            <a:ext cx="333755" cy="320039"/>
          </a:xfrm>
          <a:prstGeom prst="line">
            <a:avLst/>
          </a:prstGeom>
          <a:ln w="15875">
            <a:solidFill>
              <a:srgbClr val="9A9AAA"/>
            </a:solidFill>
            <a:tailEnd type="triangle" w="med" len="med"/>
          </a:ln>
        </p:spPr>
      </p:cxnSp>
      <p:cxnSp>
        <p:nvCxnSpPr>
          <p:cNvPr id="50" name="Connector 49"/>
          <p:cNvCxnSpPr/>
          <p:nvPr/>
        </p:nvCxnSpPr>
        <p:spPr>
          <a:xfrm>
            <a:off x="5388102" y="5326379"/>
            <a:ext cx="333755" cy="0"/>
          </a:xfrm>
          <a:prstGeom prst="line">
            <a:avLst/>
          </a:prstGeom>
          <a:ln w="15875">
            <a:solidFill>
              <a:srgbClr val="9A9AAA"/>
            </a:solidFill>
            <a:tailEnd type="triangle" w="med" len="med"/>
          </a:ln>
        </p:spPr>
      </p:cxnSp>
      <p:cxnSp>
        <p:nvCxnSpPr>
          <p:cNvPr id="51" name="Connector 50"/>
          <p:cNvCxnSpPr/>
          <p:nvPr/>
        </p:nvCxnSpPr>
        <p:spPr>
          <a:xfrm flipV="1">
            <a:off x="5388102" y="5326379"/>
            <a:ext cx="333755" cy="320041"/>
          </a:xfrm>
          <a:prstGeom prst="line">
            <a:avLst/>
          </a:prstGeom>
          <a:ln w="15875">
            <a:solidFill>
              <a:srgbClr val="9A9AAA"/>
            </a:solidFill>
            <a:tailEnd type="triangle" w="med" len="med"/>
          </a:ln>
        </p:spPr>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Alle Wege fertig bauen.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PRAXIS 3B · 15 MINUTEN</a:t>
            </a:r>
          </a:p>
        </p:txBody>
      </p:sp>
      <p:sp>
        <p:nvSpPr>
          <p:cNvPr id="4" name="Oval 3"/>
          <p:cNvSpPr/>
          <p:nvPr/>
        </p:nvSpPr>
        <p:spPr>
          <a:xfrm>
            <a:off x="548640" y="1801368"/>
            <a:ext cx="329184" cy="329184"/>
          </a:xfrm>
          <a:prstGeom prst="ellipse">
            <a:avLst/>
          </a:prstGeom>
          <a:solidFill>
            <a:srgbClr val="DC640D"/>
          </a:solidFill>
          <a:ln w="15875">
            <a:solidFill>
              <a:srgbClr val="FFFFFF"/>
            </a:solidFill>
          </a:ln>
        </p:spPr>
        <p:txBody>
          <a:bodyPr rtlCol="0" anchor="ctr"/>
          <a:lstStyle/>
          <a:p>
            <a:pPr algn="ctr"/>
          </a:p>
        </p:txBody>
      </p:sp>
      <p:sp>
        <p:nvSpPr>
          <p:cNvPr id="5" name="TextBox 4"/>
          <p:cNvSpPr txBox="1"/>
          <p:nvPr/>
        </p:nvSpPr>
        <p:spPr>
          <a:xfrm>
            <a:off x="548640" y="1801368"/>
            <a:ext cx="329184" cy="329184"/>
          </a:xfrm>
          <a:prstGeom prst="rect">
            <a:avLst/>
          </a:prstGeom>
          <a:noFill/>
        </p:spPr>
        <p:txBody>
          <a:bodyPr wrap="square" lIns="0" rIns="0" tIns="0" bIns="0" anchor="ctr">
            <a:spAutoFit/>
          </a:bodyPr>
          <a:lstStyle/>
          <a:p>
            <a:pPr algn="ctr"/>
            <a:r>
              <a:rPr sz="1200" b="1" i="0">
                <a:solidFill>
                  <a:srgbClr val="FFFFFF"/>
                </a:solidFill>
                <a:latin typeface="Verdana"/>
              </a:rPr>
              <a:t>1</a:t>
            </a:r>
          </a:p>
        </p:txBody>
      </p:sp>
      <p:sp>
        <p:nvSpPr>
          <p:cNvPr id="6" name="TextBox 5"/>
          <p:cNvSpPr txBox="1"/>
          <p:nvPr/>
        </p:nvSpPr>
        <p:spPr>
          <a:xfrm>
            <a:off x="1051560" y="1783080"/>
            <a:ext cx="6172200" cy="502919"/>
          </a:xfrm>
          <a:prstGeom prst="rect">
            <a:avLst/>
          </a:prstGeom>
          <a:noFill/>
        </p:spPr>
        <p:txBody>
          <a:bodyPr wrap="square" lIns="0" rIns="0" tIns="0" bIns="0" anchor="t">
            <a:spAutoFit/>
          </a:bodyPr>
          <a:lstStyle/>
          <a:p>
            <a:pPr algn="l"/>
            <a:r>
              <a:rPr sz="1267" b="1" i="0">
                <a:solidFill>
                  <a:srgbClr val="FFFFFF"/>
                </a:solidFill>
                <a:latin typeface="Verdana"/>
              </a:rPr>
              <a:t>Benutzung: </a:t>
            </a:r>
            <a:r>
              <a:rPr sz="1267" b="0" i="0">
                <a:solidFill>
                  <a:srgbClr val="9A9AAA"/>
                </a:solidFill>
                <a:latin typeface="Verdana"/>
              </a:rPr>
              <a:t>Route Benutzung → Prompt Template mit {frage} und dem FAQ-Text eurer Bibliothek → KI-Modell → Chat Output.</a:t>
            </a:r>
          </a:p>
        </p:txBody>
      </p:sp>
      <p:sp>
        <p:nvSpPr>
          <p:cNvPr id="7" name="Oval 6"/>
          <p:cNvSpPr/>
          <p:nvPr/>
        </p:nvSpPr>
        <p:spPr>
          <a:xfrm>
            <a:off x="548640" y="2350008"/>
            <a:ext cx="329184" cy="329184"/>
          </a:xfrm>
          <a:prstGeom prst="ellipse">
            <a:avLst/>
          </a:prstGeom>
          <a:solidFill>
            <a:srgbClr val="DC640D"/>
          </a:solidFill>
          <a:ln w="15875">
            <a:solidFill>
              <a:srgbClr val="FFFFFF"/>
            </a:solidFill>
          </a:ln>
        </p:spPr>
        <p:txBody>
          <a:bodyPr rtlCol="0" anchor="ctr"/>
          <a:lstStyle/>
          <a:p>
            <a:pPr algn="ctr"/>
          </a:p>
        </p:txBody>
      </p:sp>
      <p:sp>
        <p:nvSpPr>
          <p:cNvPr id="8" name="TextBox 7"/>
          <p:cNvSpPr txBox="1"/>
          <p:nvPr/>
        </p:nvSpPr>
        <p:spPr>
          <a:xfrm>
            <a:off x="548640" y="2350008"/>
            <a:ext cx="329184" cy="329184"/>
          </a:xfrm>
          <a:prstGeom prst="rect">
            <a:avLst/>
          </a:prstGeom>
          <a:noFill/>
        </p:spPr>
        <p:txBody>
          <a:bodyPr wrap="square" lIns="0" rIns="0" tIns="0" bIns="0" anchor="ctr">
            <a:spAutoFit/>
          </a:bodyPr>
          <a:lstStyle/>
          <a:p>
            <a:pPr algn="ctr"/>
            <a:r>
              <a:rPr sz="1200" b="1" i="0">
                <a:solidFill>
                  <a:srgbClr val="FFFFFF"/>
                </a:solidFill>
                <a:latin typeface="Verdana"/>
              </a:rPr>
              <a:t>2</a:t>
            </a:r>
          </a:p>
        </p:txBody>
      </p:sp>
      <p:sp>
        <p:nvSpPr>
          <p:cNvPr id="9" name="TextBox 8"/>
          <p:cNvSpPr txBox="1"/>
          <p:nvPr/>
        </p:nvSpPr>
        <p:spPr>
          <a:xfrm>
            <a:off x="1051560" y="2331720"/>
            <a:ext cx="6172200" cy="502919"/>
          </a:xfrm>
          <a:prstGeom prst="rect">
            <a:avLst/>
          </a:prstGeom>
          <a:noFill/>
        </p:spPr>
        <p:txBody>
          <a:bodyPr wrap="square" lIns="0" rIns="0" tIns="0" bIns="0" anchor="t">
            <a:spAutoFit/>
          </a:bodyPr>
          <a:lstStyle/>
          <a:p>
            <a:pPr algn="l"/>
            <a:r>
              <a:rPr sz="1267" b="1" i="0">
                <a:solidFill>
                  <a:srgbClr val="FFFFFF"/>
                </a:solidFill>
                <a:latin typeface="Verdana"/>
              </a:rPr>
              <a:t>Testen: </a:t>
            </a:r>
            <a:r>
              <a:rPr sz="1267" b="0" i="0">
                <a:solidFill>
                  <a:srgbClr val="9A9AAA"/>
                </a:solidFill>
                <a:latin typeface="Verdana"/>
              </a:rPr>
              <a:t>„Habt ihr Literatur zu Open Science?“, „Wie lange kann ich ein Buch ausleihen?“, „Ich habe meinen Schirm verloren.“</a:t>
            </a:r>
          </a:p>
        </p:txBody>
      </p:sp>
      <p:sp>
        <p:nvSpPr>
          <p:cNvPr id="10" name="Oval 9"/>
          <p:cNvSpPr/>
          <p:nvPr/>
        </p:nvSpPr>
        <p:spPr>
          <a:xfrm>
            <a:off x="548640" y="2898648"/>
            <a:ext cx="329184" cy="329184"/>
          </a:xfrm>
          <a:prstGeom prst="ellipse">
            <a:avLst/>
          </a:prstGeom>
          <a:solidFill>
            <a:srgbClr val="DC640D"/>
          </a:solidFill>
          <a:ln w="15875">
            <a:solidFill>
              <a:srgbClr val="FFFFFF"/>
            </a:solidFill>
          </a:ln>
        </p:spPr>
        <p:txBody>
          <a:bodyPr rtlCol="0" anchor="ctr"/>
          <a:lstStyle/>
          <a:p>
            <a:pPr algn="ctr"/>
          </a:p>
        </p:txBody>
      </p:sp>
      <p:sp>
        <p:nvSpPr>
          <p:cNvPr id="11" name="TextBox 10"/>
          <p:cNvSpPr txBox="1"/>
          <p:nvPr/>
        </p:nvSpPr>
        <p:spPr>
          <a:xfrm>
            <a:off x="548640" y="2898648"/>
            <a:ext cx="329184" cy="329184"/>
          </a:xfrm>
          <a:prstGeom prst="rect">
            <a:avLst/>
          </a:prstGeom>
          <a:noFill/>
        </p:spPr>
        <p:txBody>
          <a:bodyPr wrap="square" lIns="0" rIns="0" tIns="0" bIns="0" anchor="ctr">
            <a:spAutoFit/>
          </a:bodyPr>
          <a:lstStyle/>
          <a:p>
            <a:pPr algn="ctr"/>
            <a:r>
              <a:rPr sz="1200" b="1" i="0">
                <a:solidFill>
                  <a:srgbClr val="FFFFFF"/>
                </a:solidFill>
                <a:latin typeface="Verdana"/>
              </a:rPr>
              <a:t>3</a:t>
            </a:r>
          </a:p>
        </p:txBody>
      </p:sp>
      <p:sp>
        <p:nvSpPr>
          <p:cNvPr id="12" name="TextBox 11"/>
          <p:cNvSpPr txBox="1"/>
          <p:nvPr/>
        </p:nvSpPr>
        <p:spPr>
          <a:xfrm>
            <a:off x="1051560" y="2880360"/>
            <a:ext cx="6172200" cy="502919"/>
          </a:xfrm>
          <a:prstGeom prst="rect">
            <a:avLst/>
          </a:prstGeom>
          <a:noFill/>
        </p:spPr>
        <p:txBody>
          <a:bodyPr wrap="square" lIns="0" rIns="0" tIns="0" bIns="0" anchor="t">
            <a:spAutoFit/>
          </a:bodyPr>
          <a:lstStyle/>
          <a:p>
            <a:pPr algn="l"/>
            <a:r>
              <a:rPr sz="1267" b="1" i="0">
                <a:solidFill>
                  <a:srgbClr val="FFFFFF"/>
                </a:solidFill>
                <a:latin typeface="Verdana"/>
              </a:rPr>
              <a:t>Prüfen: </a:t>
            </a:r>
            <a:r>
              <a:rPr sz="1267" b="0" i="0">
                <a:solidFill>
                  <a:srgbClr val="9A9AAA"/>
                </a:solidFill>
                <a:latin typeface="Verdana"/>
              </a:rPr>
              <a:t>In den Zwischenergebnissen nachsehen: Welche Route hat der Router gewählt? Stimmt das?</a:t>
            </a:r>
          </a:p>
        </p:txBody>
      </p:sp>
      <p:sp>
        <p:nvSpPr>
          <p:cNvPr id="13" name="Oval 12"/>
          <p:cNvSpPr/>
          <p:nvPr/>
        </p:nvSpPr>
        <p:spPr>
          <a:xfrm>
            <a:off x="548640" y="3447288"/>
            <a:ext cx="329184" cy="329184"/>
          </a:xfrm>
          <a:prstGeom prst="ellipse">
            <a:avLst/>
          </a:prstGeom>
          <a:solidFill>
            <a:srgbClr val="DC640D"/>
          </a:solidFill>
          <a:ln w="15875">
            <a:solidFill>
              <a:srgbClr val="FFFFFF"/>
            </a:solidFill>
          </a:ln>
        </p:spPr>
        <p:txBody>
          <a:bodyPr rtlCol="0" anchor="ctr"/>
          <a:lstStyle/>
          <a:p>
            <a:pPr algn="ctr"/>
          </a:p>
        </p:txBody>
      </p:sp>
      <p:sp>
        <p:nvSpPr>
          <p:cNvPr id="14" name="TextBox 13"/>
          <p:cNvSpPr txBox="1"/>
          <p:nvPr/>
        </p:nvSpPr>
        <p:spPr>
          <a:xfrm>
            <a:off x="548640" y="3447288"/>
            <a:ext cx="329184" cy="329184"/>
          </a:xfrm>
          <a:prstGeom prst="rect">
            <a:avLst/>
          </a:prstGeom>
          <a:noFill/>
        </p:spPr>
        <p:txBody>
          <a:bodyPr wrap="square" lIns="0" rIns="0" tIns="0" bIns="0" anchor="ctr">
            <a:spAutoFit/>
          </a:bodyPr>
          <a:lstStyle/>
          <a:p>
            <a:pPr algn="ctr"/>
            <a:r>
              <a:rPr sz="1200" b="1" i="0">
                <a:solidFill>
                  <a:srgbClr val="FFFFFF"/>
                </a:solidFill>
                <a:latin typeface="Verdana"/>
              </a:rPr>
              <a:t>4</a:t>
            </a:r>
          </a:p>
        </p:txBody>
      </p:sp>
      <p:sp>
        <p:nvSpPr>
          <p:cNvPr id="15" name="TextBox 14"/>
          <p:cNvSpPr txBox="1"/>
          <p:nvPr/>
        </p:nvSpPr>
        <p:spPr>
          <a:xfrm>
            <a:off x="1051560" y="3429000"/>
            <a:ext cx="6172200" cy="502919"/>
          </a:xfrm>
          <a:prstGeom prst="rect">
            <a:avLst/>
          </a:prstGeom>
          <a:noFill/>
        </p:spPr>
        <p:txBody>
          <a:bodyPr wrap="square" lIns="0" rIns="0" tIns="0" bIns="0" anchor="t">
            <a:spAutoFit/>
          </a:bodyPr>
          <a:lstStyle/>
          <a:p>
            <a:pPr algn="l"/>
            <a:r>
              <a:rPr sz="1267" b="1" i="0">
                <a:solidFill>
                  <a:srgbClr val="FFFFFF"/>
                </a:solidFill>
                <a:latin typeface="Verdana"/>
              </a:rPr>
              <a:t>Absichern: </a:t>
            </a:r>
            <a:r>
              <a:rPr sz="1267" b="0" i="0">
                <a:solidFill>
                  <a:srgbClr val="9A9AAA"/>
                </a:solidFill>
                <a:latin typeface="Verdana"/>
              </a:rPr>
              <a:t>Die Prompts so ändern, dass jede Antwort als Entwurf für das Auskunftsteam markiert ist.</a:t>
            </a:r>
          </a:p>
        </p:txBody>
      </p:sp>
      <p:sp>
        <p:nvSpPr>
          <p:cNvPr id="16" name="Oval 15"/>
          <p:cNvSpPr/>
          <p:nvPr/>
        </p:nvSpPr>
        <p:spPr>
          <a:xfrm>
            <a:off x="548640" y="3995927"/>
            <a:ext cx="329184" cy="329184"/>
          </a:xfrm>
          <a:prstGeom prst="ellipse">
            <a:avLst/>
          </a:prstGeom>
          <a:solidFill>
            <a:srgbClr val="DC640D"/>
          </a:solidFill>
          <a:ln w="15875">
            <a:solidFill>
              <a:srgbClr val="FFFFFF"/>
            </a:solidFill>
          </a:ln>
        </p:spPr>
        <p:txBody>
          <a:bodyPr rtlCol="0" anchor="ctr"/>
          <a:lstStyle/>
          <a:p>
            <a:pPr algn="ctr"/>
          </a:p>
        </p:txBody>
      </p:sp>
      <p:sp>
        <p:nvSpPr>
          <p:cNvPr id="17" name="TextBox 16"/>
          <p:cNvSpPr txBox="1"/>
          <p:nvPr/>
        </p:nvSpPr>
        <p:spPr>
          <a:xfrm>
            <a:off x="548640" y="3995927"/>
            <a:ext cx="329184" cy="329184"/>
          </a:xfrm>
          <a:prstGeom prst="rect">
            <a:avLst/>
          </a:prstGeom>
          <a:noFill/>
        </p:spPr>
        <p:txBody>
          <a:bodyPr wrap="square" lIns="0" rIns="0" tIns="0" bIns="0" anchor="ctr">
            <a:spAutoFit/>
          </a:bodyPr>
          <a:lstStyle/>
          <a:p>
            <a:pPr algn="ctr"/>
            <a:r>
              <a:rPr sz="1200" b="1" i="0">
                <a:solidFill>
                  <a:srgbClr val="FFFFFF"/>
                </a:solidFill>
                <a:latin typeface="Verdana"/>
              </a:rPr>
              <a:t>5</a:t>
            </a:r>
          </a:p>
        </p:txBody>
      </p:sp>
      <p:sp>
        <p:nvSpPr>
          <p:cNvPr id="18" name="TextBox 17"/>
          <p:cNvSpPr txBox="1"/>
          <p:nvPr/>
        </p:nvSpPr>
        <p:spPr>
          <a:xfrm>
            <a:off x="1051560" y="3977639"/>
            <a:ext cx="6172200" cy="502919"/>
          </a:xfrm>
          <a:prstGeom prst="rect">
            <a:avLst/>
          </a:prstGeom>
          <a:noFill/>
        </p:spPr>
        <p:txBody>
          <a:bodyPr wrap="square" lIns="0" rIns="0" tIns="0" bIns="0" anchor="t">
            <a:spAutoFit/>
          </a:bodyPr>
          <a:lstStyle/>
          <a:p>
            <a:pPr algn="l"/>
            <a:r>
              <a:rPr sz="1267" b="1" i="0">
                <a:solidFill>
                  <a:srgbClr val="FFFFFF"/>
                </a:solidFill>
                <a:latin typeface="Verdana"/>
              </a:rPr>
              <a:t>Bonus: </a:t>
            </a:r>
            <a:r>
              <a:rPr sz="1267" b="0" i="0">
                <a:solidFill>
                  <a:srgbClr val="9A9AAA"/>
                </a:solidFill>
                <a:latin typeface="Verdana"/>
              </a:rPr>
              <a:t>Euren Workflow aus 1c über Run Flow (Tool Mode) als weiteres Werkzeug an den Agenten hängen.</a:t>
            </a:r>
          </a:p>
        </p:txBody>
      </p:sp>
      <p:sp>
        <p:nvSpPr>
          <p:cNvPr id="19" name="Rectangle 18"/>
          <p:cNvSpPr/>
          <p:nvPr/>
        </p:nvSpPr>
        <p:spPr>
          <a:xfrm>
            <a:off x="7635240" y="1783080"/>
            <a:ext cx="4005072" cy="868680"/>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7635240" y="1783080"/>
            <a:ext cx="4005072" cy="64008"/>
          </a:xfrm>
          <a:prstGeom prst="rect">
            <a:avLst/>
          </a:prstGeom>
          <a:solidFill>
            <a:srgbClr val="F6A800"/>
          </a:solidFill>
          <a:ln>
            <a:noFill/>
          </a:ln>
        </p:spPr>
        <p:txBody>
          <a:bodyPr rtlCol="0" anchor="ctr"/>
          <a:lstStyle/>
          <a:p>
            <a:pPr algn="ctr"/>
          </a:p>
        </p:txBody>
      </p:sp>
      <p:sp>
        <p:nvSpPr>
          <p:cNvPr id="21" name="TextBox 20"/>
          <p:cNvSpPr txBox="1"/>
          <p:nvPr/>
        </p:nvSpPr>
        <p:spPr>
          <a:xfrm>
            <a:off x="7836408" y="1938528"/>
            <a:ext cx="3602736" cy="228600"/>
          </a:xfrm>
          <a:prstGeom prst="rect">
            <a:avLst/>
          </a:prstGeom>
          <a:noFill/>
        </p:spPr>
        <p:txBody>
          <a:bodyPr wrap="square" lIns="0" rIns="0" tIns="0" bIns="0" anchor="t">
            <a:spAutoFit/>
          </a:bodyPr>
          <a:lstStyle/>
          <a:p>
            <a:pPr algn="l"/>
            <a:r>
              <a:rPr sz="933" b="1" i="0" spc="300">
                <a:solidFill>
                  <a:srgbClr val="F6A800"/>
                </a:solidFill>
                <a:latin typeface="Verdana"/>
              </a:rPr>
              <a:t>ZIEL</a:t>
            </a:r>
          </a:p>
        </p:txBody>
      </p:sp>
      <p:sp>
        <p:nvSpPr>
          <p:cNvPr id="22" name="TextBox 21"/>
          <p:cNvSpPr txBox="1"/>
          <p:nvPr/>
        </p:nvSpPr>
        <p:spPr>
          <a:xfrm>
            <a:off x="7836408" y="2194560"/>
            <a:ext cx="3602736" cy="365759"/>
          </a:xfrm>
          <a:prstGeom prst="rect">
            <a:avLst/>
          </a:prstGeom>
          <a:noFill/>
        </p:spPr>
        <p:txBody>
          <a:bodyPr wrap="square" lIns="0" rIns="0" tIns="0" bIns="0" anchor="t">
            <a:spAutoFit/>
          </a:bodyPr>
          <a:lstStyle/>
          <a:p>
            <a:pPr algn="l"/>
            <a:r>
              <a:rPr sz="1200" b="0" i="0">
                <a:solidFill>
                  <a:srgbClr val="FFFFFF"/>
                </a:solidFill>
                <a:latin typeface="Verdana"/>
              </a:rPr>
              <a:t>Jeder Weg liefert einen Antwortentwurf, den ein Mensch prüft.</a:t>
            </a:r>
          </a:p>
        </p:txBody>
      </p:sp>
      <p:sp>
        <p:nvSpPr>
          <p:cNvPr id="23" name="Rectangle 22"/>
          <p:cNvSpPr/>
          <p:nvPr/>
        </p:nvSpPr>
        <p:spPr>
          <a:xfrm>
            <a:off x="7635240" y="2761487"/>
            <a:ext cx="4005072" cy="1051560"/>
          </a:xfrm>
          <a:prstGeom prst="rect">
            <a:avLst/>
          </a:prstGeom>
          <a:noFill/>
          <a:ln w="12700">
            <a:solidFill>
              <a:srgbClr val="DC640D"/>
            </a:solidFill>
          </a:ln>
        </p:spPr>
        <p:txBody>
          <a:bodyPr rtlCol="0" anchor="ctr"/>
          <a:lstStyle/>
          <a:p>
            <a:pPr algn="ctr"/>
          </a:p>
        </p:txBody>
      </p:sp>
      <p:sp>
        <p:nvSpPr>
          <p:cNvPr id="24" name="TextBox 23"/>
          <p:cNvSpPr txBox="1"/>
          <p:nvPr/>
        </p:nvSpPr>
        <p:spPr>
          <a:xfrm>
            <a:off x="7836408" y="2916935"/>
            <a:ext cx="3602736" cy="228600"/>
          </a:xfrm>
          <a:prstGeom prst="rect">
            <a:avLst/>
          </a:prstGeom>
          <a:noFill/>
        </p:spPr>
        <p:txBody>
          <a:bodyPr wrap="square" lIns="0" rIns="0" tIns="0" bIns="0" anchor="t">
            <a:spAutoFit/>
          </a:bodyPr>
          <a:lstStyle/>
          <a:p>
            <a:pPr algn="l"/>
            <a:r>
              <a:rPr sz="933" b="1" i="0" spc="300">
                <a:solidFill>
                  <a:srgbClr val="DC640D"/>
                </a:solidFill>
                <a:latin typeface="Verdana"/>
              </a:rPr>
              <a:t>TIPP</a:t>
            </a:r>
          </a:p>
        </p:txBody>
      </p:sp>
      <p:sp>
        <p:nvSpPr>
          <p:cNvPr id="25" name="TextBox 24"/>
          <p:cNvSpPr txBox="1"/>
          <p:nvPr/>
        </p:nvSpPr>
        <p:spPr>
          <a:xfrm>
            <a:off x="7836408" y="3172968"/>
            <a:ext cx="3602736" cy="548639"/>
          </a:xfrm>
          <a:prstGeom prst="rect">
            <a:avLst/>
          </a:prstGeom>
          <a:noFill/>
        </p:spPr>
        <p:txBody>
          <a:bodyPr wrap="square" lIns="0" rIns="0" tIns="0" bIns="0" anchor="t">
            <a:spAutoFit/>
          </a:bodyPr>
          <a:lstStyle/>
          <a:p>
            <a:pPr algn="l"/>
            <a:r>
              <a:rPr sz="1200" b="0" i="0">
                <a:solidFill>
                  <a:srgbClr val="9A9AAA"/>
                </a:solidFill>
                <a:latin typeface="Verdana"/>
              </a:rPr>
              <a:t>Kein FAQ-Text zur Hand? Mit dem Baustein URL die Seite mit den Öffnungszeiten eurer Bibliothek laden.</a:t>
            </a:r>
          </a:p>
        </p:txBody>
      </p:sp>
      <p:sp>
        <p:nvSpPr>
          <p:cNvPr id="26" name="Rectangle 25"/>
          <p:cNvSpPr/>
          <p:nvPr/>
        </p:nvSpPr>
        <p:spPr>
          <a:xfrm>
            <a:off x="7635240" y="3922775"/>
            <a:ext cx="4005072" cy="914400"/>
          </a:xfrm>
          <a:prstGeom prst="rect">
            <a:avLst/>
          </a:prstGeom>
          <a:solidFill>
            <a:srgbClr val="24232E"/>
          </a:solidFill>
          <a:ln>
            <a:noFill/>
          </a:ln>
        </p:spPr>
        <p:txBody>
          <a:bodyPr rtlCol="0" anchor="ctr"/>
          <a:lstStyle/>
          <a:p>
            <a:pPr algn="ctr"/>
          </a:p>
        </p:txBody>
      </p:sp>
      <p:sp>
        <p:nvSpPr>
          <p:cNvPr id="27" name="TextBox 26"/>
          <p:cNvSpPr txBox="1"/>
          <p:nvPr/>
        </p:nvSpPr>
        <p:spPr>
          <a:xfrm>
            <a:off x="7836408" y="4078223"/>
            <a:ext cx="3602736" cy="228600"/>
          </a:xfrm>
          <a:prstGeom prst="rect">
            <a:avLst/>
          </a:prstGeom>
          <a:noFill/>
        </p:spPr>
        <p:txBody>
          <a:bodyPr wrap="square" lIns="0" rIns="0" tIns="0" bIns="0" anchor="t">
            <a:spAutoFit/>
          </a:bodyPr>
          <a:lstStyle/>
          <a:p>
            <a:pPr algn="l"/>
            <a:r>
              <a:rPr sz="933" b="1" i="0" spc="300">
                <a:solidFill>
                  <a:srgbClr val="9A9AAA"/>
                </a:solidFill>
                <a:latin typeface="Verdana"/>
              </a:rPr>
              <a:t>WEITERDENKEN</a:t>
            </a:r>
          </a:p>
        </p:txBody>
      </p:sp>
      <p:sp>
        <p:nvSpPr>
          <p:cNvPr id="28" name="TextBox 27"/>
          <p:cNvSpPr txBox="1"/>
          <p:nvPr/>
        </p:nvSpPr>
        <p:spPr>
          <a:xfrm>
            <a:off x="7836408" y="4334255"/>
            <a:ext cx="3602736" cy="411479"/>
          </a:xfrm>
          <a:prstGeom prst="rect">
            <a:avLst/>
          </a:prstGeom>
          <a:noFill/>
        </p:spPr>
        <p:txBody>
          <a:bodyPr wrap="square" lIns="0" rIns="0" tIns="0" bIns="0" anchor="t">
            <a:spAutoFit/>
          </a:bodyPr>
          <a:lstStyle/>
          <a:p>
            <a:pPr algn="l"/>
            <a:r>
              <a:rPr sz="1200" b="0" i="1">
                <a:solidFill>
                  <a:srgbClr val="FFFFFF"/>
                </a:solidFill>
                <a:latin typeface="Verdana"/>
              </a:rPr>
              <a:t>Welche Anfrage bringt den Router durcheinander?</a:t>
            </a:r>
          </a:p>
        </p:txBody>
      </p:sp>
      <p:sp>
        <p:nvSpPr>
          <p:cNvPr id="29" name="TextBox 28"/>
          <p:cNvSpPr txBox="1"/>
          <p:nvPr/>
        </p:nvSpPr>
        <p:spPr>
          <a:xfrm>
            <a:off x="548640" y="4572000"/>
            <a:ext cx="5486400" cy="228600"/>
          </a:xfrm>
          <a:prstGeom prst="rect">
            <a:avLst/>
          </a:prstGeom>
          <a:noFill/>
        </p:spPr>
        <p:txBody>
          <a:bodyPr wrap="square" lIns="0" rIns="0" tIns="0" bIns="0" anchor="t">
            <a:spAutoFit/>
          </a:bodyPr>
          <a:lstStyle/>
          <a:p>
            <a:pPr algn="l"/>
            <a:r>
              <a:rPr sz="933" b="1" i="0" spc="300">
                <a:solidFill>
                  <a:srgbClr val="F6A800"/>
                </a:solidFill>
                <a:latin typeface="Verdana"/>
              </a:rPr>
              <a:t>DER WEG BENUTZUNG</a:t>
            </a:r>
          </a:p>
        </p:txBody>
      </p:sp>
      <p:sp>
        <p:nvSpPr>
          <p:cNvPr id="30" name="Rectangle 29"/>
          <p:cNvSpPr/>
          <p:nvPr/>
        </p:nvSpPr>
        <p:spPr>
          <a:xfrm>
            <a:off x="715518" y="4894326"/>
            <a:ext cx="1335024" cy="384048"/>
          </a:xfrm>
          <a:prstGeom prst="rect">
            <a:avLst/>
          </a:prstGeom>
          <a:solidFill>
            <a:srgbClr val="24232E"/>
          </a:solidFill>
          <a:ln w="19050">
            <a:solidFill>
              <a:srgbClr val="007A9E"/>
            </a:solidFill>
          </a:ln>
        </p:spPr>
        <p:txBody>
          <a:bodyPr rtlCol="0" anchor="ctr"/>
          <a:lstStyle/>
          <a:p>
            <a:pPr algn="ctr"/>
          </a:p>
        </p:txBody>
      </p:sp>
      <p:sp>
        <p:nvSpPr>
          <p:cNvPr id="31" name="TextBox 30"/>
          <p:cNvSpPr txBox="1"/>
          <p:nvPr/>
        </p:nvSpPr>
        <p:spPr>
          <a:xfrm>
            <a:off x="788669" y="4894326"/>
            <a:ext cx="1188720" cy="384048"/>
          </a:xfrm>
          <a:prstGeom prst="rect">
            <a:avLst/>
          </a:prstGeom>
          <a:noFill/>
        </p:spPr>
        <p:txBody>
          <a:bodyPr wrap="square" lIns="0" rIns="0" tIns="0" bIns="0" anchor="ctr">
            <a:spAutoFit/>
          </a:bodyPr>
          <a:lstStyle/>
          <a:p>
            <a:pPr algn="ctr"/>
            <a:r>
              <a:rPr sz="933" b="1" i="0">
                <a:solidFill>
                  <a:srgbClr val="FFFFFF"/>
                </a:solidFill>
                <a:latin typeface="Verdana"/>
              </a:rPr>
              <a:t>Smart Router</a:t>
            </a:r>
          </a:p>
        </p:txBody>
      </p:sp>
      <p:sp>
        <p:nvSpPr>
          <p:cNvPr id="32" name="Rectangle 31"/>
          <p:cNvSpPr/>
          <p:nvPr/>
        </p:nvSpPr>
        <p:spPr>
          <a:xfrm>
            <a:off x="715518" y="5374386"/>
            <a:ext cx="1335024" cy="384048"/>
          </a:xfrm>
          <a:prstGeom prst="rect">
            <a:avLst/>
          </a:prstGeom>
          <a:solidFill>
            <a:srgbClr val="24232E"/>
          </a:solidFill>
          <a:ln w="19050">
            <a:solidFill>
              <a:srgbClr val="DC640D"/>
            </a:solidFill>
          </a:ln>
        </p:spPr>
        <p:txBody>
          <a:bodyPr rtlCol="0" anchor="ctr"/>
          <a:lstStyle/>
          <a:p>
            <a:pPr algn="ctr"/>
          </a:p>
        </p:txBody>
      </p:sp>
      <p:sp>
        <p:nvSpPr>
          <p:cNvPr id="33" name="TextBox 32"/>
          <p:cNvSpPr txBox="1"/>
          <p:nvPr/>
        </p:nvSpPr>
        <p:spPr>
          <a:xfrm>
            <a:off x="788669" y="5374386"/>
            <a:ext cx="1188720" cy="384048"/>
          </a:xfrm>
          <a:prstGeom prst="rect">
            <a:avLst/>
          </a:prstGeom>
          <a:noFill/>
        </p:spPr>
        <p:txBody>
          <a:bodyPr wrap="square" lIns="0" rIns="0" tIns="0" bIns="0" anchor="ctr">
            <a:spAutoFit/>
          </a:bodyPr>
          <a:lstStyle/>
          <a:p>
            <a:pPr algn="ctr"/>
            <a:r>
              <a:rPr sz="933" b="1" i="0">
                <a:solidFill>
                  <a:srgbClr val="FFFFFF"/>
                </a:solidFill>
                <a:latin typeface="Verdana"/>
              </a:rPr>
              <a:t>URL (optional)</a:t>
            </a:r>
          </a:p>
        </p:txBody>
      </p:sp>
      <p:sp>
        <p:nvSpPr>
          <p:cNvPr id="34" name="Rectangle 33"/>
          <p:cNvSpPr/>
          <p:nvPr/>
        </p:nvSpPr>
        <p:spPr>
          <a:xfrm>
            <a:off x="2384298" y="4894326"/>
            <a:ext cx="1335024" cy="384048"/>
          </a:xfrm>
          <a:prstGeom prst="rect">
            <a:avLst/>
          </a:prstGeom>
          <a:solidFill>
            <a:srgbClr val="24232E"/>
          </a:solidFill>
          <a:ln w="19050">
            <a:solidFill>
              <a:srgbClr val="F6A800"/>
            </a:solidFill>
          </a:ln>
        </p:spPr>
        <p:txBody>
          <a:bodyPr rtlCol="0" anchor="ctr"/>
          <a:lstStyle/>
          <a:p>
            <a:pPr algn="ctr"/>
          </a:p>
        </p:txBody>
      </p:sp>
      <p:sp>
        <p:nvSpPr>
          <p:cNvPr id="35" name="TextBox 34"/>
          <p:cNvSpPr txBox="1"/>
          <p:nvPr/>
        </p:nvSpPr>
        <p:spPr>
          <a:xfrm>
            <a:off x="2457450" y="4894326"/>
            <a:ext cx="1188720" cy="384048"/>
          </a:xfrm>
          <a:prstGeom prst="rect">
            <a:avLst/>
          </a:prstGeom>
          <a:noFill/>
        </p:spPr>
        <p:txBody>
          <a:bodyPr wrap="square" lIns="0" rIns="0" tIns="0" bIns="0" anchor="ctr">
            <a:spAutoFit/>
          </a:bodyPr>
          <a:lstStyle/>
          <a:p>
            <a:pPr algn="ctr"/>
            <a:r>
              <a:rPr sz="933" b="1" i="0">
                <a:solidFill>
                  <a:srgbClr val="FFFFFF"/>
                </a:solidFill>
                <a:latin typeface="Verdana"/>
              </a:rPr>
              <a:t>Prompt {frage} {faq}</a:t>
            </a:r>
          </a:p>
        </p:txBody>
      </p:sp>
      <p:sp>
        <p:nvSpPr>
          <p:cNvPr id="36" name="Rectangle 35"/>
          <p:cNvSpPr/>
          <p:nvPr/>
        </p:nvSpPr>
        <p:spPr>
          <a:xfrm>
            <a:off x="4053078" y="4894326"/>
            <a:ext cx="1335024" cy="384048"/>
          </a:xfrm>
          <a:prstGeom prst="rect">
            <a:avLst/>
          </a:prstGeom>
          <a:solidFill>
            <a:srgbClr val="24232E"/>
          </a:solidFill>
          <a:ln w="19050">
            <a:solidFill>
              <a:srgbClr val="B1063A"/>
            </a:solidFill>
          </a:ln>
        </p:spPr>
        <p:txBody>
          <a:bodyPr rtlCol="0" anchor="ctr"/>
          <a:lstStyle/>
          <a:p>
            <a:pPr algn="ctr"/>
          </a:p>
        </p:txBody>
      </p:sp>
      <p:sp>
        <p:nvSpPr>
          <p:cNvPr id="37" name="TextBox 36"/>
          <p:cNvSpPr txBox="1"/>
          <p:nvPr/>
        </p:nvSpPr>
        <p:spPr>
          <a:xfrm>
            <a:off x="4126230" y="4894326"/>
            <a:ext cx="1188720" cy="384048"/>
          </a:xfrm>
          <a:prstGeom prst="rect">
            <a:avLst/>
          </a:prstGeom>
          <a:noFill/>
        </p:spPr>
        <p:txBody>
          <a:bodyPr wrap="square" lIns="0" rIns="0" tIns="0" bIns="0" anchor="ctr">
            <a:spAutoFit/>
          </a:bodyPr>
          <a:lstStyle/>
          <a:p>
            <a:pPr algn="ctr"/>
            <a:r>
              <a:rPr sz="933" b="1" i="0">
                <a:solidFill>
                  <a:srgbClr val="FFFFFF"/>
                </a:solidFill>
                <a:latin typeface="Verdana"/>
              </a:rPr>
              <a:t>KI-Modell</a:t>
            </a:r>
          </a:p>
        </p:txBody>
      </p:sp>
      <p:sp>
        <p:nvSpPr>
          <p:cNvPr id="38" name="Rectangle 37"/>
          <p:cNvSpPr/>
          <p:nvPr/>
        </p:nvSpPr>
        <p:spPr>
          <a:xfrm>
            <a:off x="5721857" y="4894326"/>
            <a:ext cx="1335024" cy="384048"/>
          </a:xfrm>
          <a:prstGeom prst="rect">
            <a:avLst/>
          </a:prstGeom>
          <a:solidFill>
            <a:srgbClr val="24232E"/>
          </a:solidFill>
          <a:ln w="19050">
            <a:solidFill>
              <a:srgbClr val="9A9AAA"/>
            </a:solidFill>
          </a:ln>
        </p:spPr>
        <p:txBody>
          <a:bodyPr rtlCol="0" anchor="ctr"/>
          <a:lstStyle/>
          <a:p>
            <a:pPr algn="ctr"/>
          </a:p>
        </p:txBody>
      </p:sp>
      <p:sp>
        <p:nvSpPr>
          <p:cNvPr id="39" name="TextBox 38"/>
          <p:cNvSpPr txBox="1"/>
          <p:nvPr/>
        </p:nvSpPr>
        <p:spPr>
          <a:xfrm>
            <a:off x="5795009" y="4894326"/>
            <a:ext cx="1188720" cy="384048"/>
          </a:xfrm>
          <a:prstGeom prst="rect">
            <a:avLst/>
          </a:prstGeom>
          <a:noFill/>
        </p:spPr>
        <p:txBody>
          <a:bodyPr wrap="square" lIns="0" rIns="0" tIns="0" bIns="0" anchor="ctr">
            <a:spAutoFit/>
          </a:bodyPr>
          <a:lstStyle/>
          <a:p>
            <a:pPr algn="ctr"/>
            <a:r>
              <a:rPr sz="933" b="1" i="0">
                <a:solidFill>
                  <a:srgbClr val="FFFFFF"/>
                </a:solidFill>
                <a:latin typeface="Verdana"/>
              </a:rPr>
              <a:t>Chat Output</a:t>
            </a:r>
          </a:p>
        </p:txBody>
      </p:sp>
      <p:cxnSp>
        <p:nvCxnSpPr>
          <p:cNvPr id="40" name="Connector 39"/>
          <p:cNvCxnSpPr/>
          <p:nvPr/>
        </p:nvCxnSpPr>
        <p:spPr>
          <a:xfrm>
            <a:off x="2050541" y="5086350"/>
            <a:ext cx="333757" cy="0"/>
          </a:xfrm>
          <a:prstGeom prst="line">
            <a:avLst/>
          </a:prstGeom>
          <a:ln w="15875">
            <a:solidFill>
              <a:srgbClr val="9A9AAA"/>
            </a:solidFill>
            <a:tailEnd type="triangle" w="med" len="med"/>
          </a:ln>
        </p:spPr>
      </p:cxnSp>
      <p:sp>
        <p:nvSpPr>
          <p:cNvPr id="41" name="TextBox 40"/>
          <p:cNvSpPr txBox="1"/>
          <p:nvPr/>
        </p:nvSpPr>
        <p:spPr>
          <a:xfrm>
            <a:off x="1241298" y="4812030"/>
            <a:ext cx="1051560" cy="228600"/>
          </a:xfrm>
          <a:prstGeom prst="rect">
            <a:avLst/>
          </a:prstGeom>
          <a:noFill/>
        </p:spPr>
        <p:txBody>
          <a:bodyPr wrap="square" lIns="0" rIns="0" tIns="0" bIns="0" anchor="t">
            <a:spAutoFit/>
          </a:bodyPr>
          <a:lstStyle/>
          <a:p>
            <a:pPr algn="r"/>
            <a:r>
              <a:rPr sz="933" b="0" i="1">
                <a:solidFill>
                  <a:srgbClr val="9A9AAA"/>
                </a:solidFill>
                <a:latin typeface="Verdana"/>
              </a:rPr>
              <a:t>Benutzung</a:t>
            </a:r>
          </a:p>
        </p:txBody>
      </p:sp>
      <p:cxnSp>
        <p:nvCxnSpPr>
          <p:cNvPr id="42" name="Connector 41"/>
          <p:cNvCxnSpPr/>
          <p:nvPr/>
        </p:nvCxnSpPr>
        <p:spPr>
          <a:xfrm flipV="1">
            <a:off x="2050541" y="5086350"/>
            <a:ext cx="333757" cy="480060"/>
          </a:xfrm>
          <a:prstGeom prst="line">
            <a:avLst/>
          </a:prstGeom>
          <a:ln w="15875">
            <a:solidFill>
              <a:srgbClr val="9A9AAA"/>
            </a:solidFill>
            <a:tailEnd type="triangle" w="med" len="med"/>
          </a:ln>
        </p:spPr>
      </p:cxnSp>
      <p:cxnSp>
        <p:nvCxnSpPr>
          <p:cNvPr id="43" name="Connector 42"/>
          <p:cNvCxnSpPr/>
          <p:nvPr/>
        </p:nvCxnSpPr>
        <p:spPr>
          <a:xfrm>
            <a:off x="3719322" y="5086350"/>
            <a:ext cx="333756" cy="0"/>
          </a:xfrm>
          <a:prstGeom prst="line">
            <a:avLst/>
          </a:prstGeom>
          <a:ln w="15875">
            <a:solidFill>
              <a:srgbClr val="9A9AAA"/>
            </a:solidFill>
            <a:tailEnd type="triangle" w="med" len="med"/>
          </a:ln>
        </p:spPr>
      </p:cxnSp>
      <p:cxnSp>
        <p:nvCxnSpPr>
          <p:cNvPr id="44" name="Connector 43"/>
          <p:cNvCxnSpPr/>
          <p:nvPr/>
        </p:nvCxnSpPr>
        <p:spPr>
          <a:xfrm>
            <a:off x="5388102" y="5086350"/>
            <a:ext cx="333755" cy="0"/>
          </a:xfrm>
          <a:prstGeom prst="line">
            <a:avLst/>
          </a:prstGeom>
          <a:ln w="15875">
            <a:solidFill>
              <a:srgbClr val="9A9AAA"/>
            </a:solidFill>
            <a:tailEnd type="triangle" w="med" len="med"/>
          </a:ln>
        </p:spPr>
      </p:cxn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1600200"/>
            <a:ext cx="8503920" cy="1737360"/>
          </a:xfrm>
        </p:spPr>
        <p:txBody>
          <a:bodyPr wrap="square" anchor="b" lIns="0" rIns="0" tIns="0" bIns="0"/>
          <a:lstStyle/>
          <a:p>
            <a:pPr algn="l"/>
            <a:r>
              <a:rPr sz="4533" b="1" i="0">
                <a:solidFill>
                  <a:srgbClr val="FFFFFF"/>
                </a:solidFill>
                <a:latin typeface="Verdana"/>
              </a:rPr>
              <a:t>Teil 4:</a:t>
            </a:r>
          </a:p>
          <a:p>
            <a:pPr algn="l"/>
            <a:r>
              <a:rPr sz="4533" b="1" i="0">
                <a:solidFill>
                  <a:srgbClr val="DC640D"/>
                </a:solidFill>
                <a:latin typeface="Verdana"/>
              </a:rPr>
              <a:t>Eure Use Cases.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4</a:t>
            </a:r>
          </a:p>
        </p:txBody>
      </p:sp>
      <p:cxnSp>
        <p:nvCxnSpPr>
          <p:cNvPr id="4" name="Connector 3"/>
          <p:cNvCxnSpPr/>
          <p:nvPr/>
        </p:nvCxnSpPr>
        <p:spPr>
          <a:xfrm>
            <a:off x="548640" y="3611880"/>
            <a:ext cx="1709928" cy="0"/>
          </a:xfrm>
          <a:prstGeom prst="line">
            <a:avLst/>
          </a:prstGeom>
          <a:ln w="57150">
            <a:solidFill>
              <a:srgbClr val="DC640D"/>
            </a:solidFill>
          </a:ln>
        </p:spPr>
      </p:cxnSp>
      <p:sp>
        <p:nvSpPr>
          <p:cNvPr id="5" name="TextBox 4"/>
          <p:cNvSpPr txBox="1"/>
          <p:nvPr/>
        </p:nvSpPr>
        <p:spPr>
          <a:xfrm>
            <a:off x="548640" y="3886200"/>
            <a:ext cx="8046720" cy="1097280"/>
          </a:xfrm>
          <a:prstGeom prst="rect">
            <a:avLst/>
          </a:prstGeom>
          <a:noFill/>
        </p:spPr>
        <p:txBody>
          <a:bodyPr wrap="square" lIns="0" rIns="0" tIns="0" bIns="0" anchor="t">
            <a:spAutoFit/>
          </a:bodyPr>
          <a:lstStyle/>
          <a:p>
            <a:pPr algn="l"/>
            <a:r>
              <a:rPr sz="1732" b="0" i="1">
                <a:solidFill>
                  <a:srgbClr val="9A9AAA"/>
                </a:solidFill>
                <a:latin typeface="Verdana"/>
              </a:rPr>
              <a:t>Jetzt baut ihr selbst: an einer Challenge oder an eurer eigenen Idee.</a:t>
            </a:r>
          </a:p>
        </p:txBody>
      </p:sp>
      <p:sp>
        <p:nvSpPr>
          <p:cNvPr id="6" name="Oval 5"/>
          <p:cNvSpPr/>
          <p:nvPr/>
        </p:nvSpPr>
        <p:spPr>
          <a:xfrm>
            <a:off x="9326880" y="1828800"/>
            <a:ext cx="2011680" cy="2011680"/>
          </a:xfrm>
          <a:prstGeom prst="ellipse">
            <a:avLst/>
          </a:prstGeom>
          <a:solidFill>
            <a:srgbClr val="24232E"/>
          </a:solidFill>
          <a:ln w="19050">
            <a:solidFill>
              <a:srgbClr val="DC640D"/>
            </a:solidFill>
          </a:ln>
        </p:spPr>
        <p:txBody>
          <a:bodyPr rtlCol="0" anchor="ctr"/>
          <a:lstStyle/>
          <a:p>
            <a:pPr algn="ctr"/>
          </a:p>
        </p:txBody>
      </p:sp>
      <p:pic>
        <p:nvPicPr>
          <p:cNvPr id="7" name="Picture 6" descr="LuRocket_o.png"/>
          <p:cNvPicPr>
            <a:picLocks noChangeAspect="1"/>
          </p:cNvPicPr>
          <p:nvPr/>
        </p:nvPicPr>
        <p:blipFill>
          <a:blip r:embed="rId2"/>
          <a:stretch>
            <a:fillRect/>
          </a:stretch>
        </p:blipFill>
        <p:spPr>
          <a:xfrm>
            <a:off x="9829800" y="2331720"/>
            <a:ext cx="1005840" cy="100584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So arbeitet ihr in der Gruppe.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4 · ARBEITSWEISE</a:t>
            </a:r>
          </a:p>
        </p:txBody>
      </p:sp>
      <p:sp>
        <p:nvSpPr>
          <p:cNvPr id="4" name="Rectangle 3"/>
          <p:cNvSpPr/>
          <p:nvPr/>
        </p:nvSpPr>
        <p:spPr>
          <a:xfrm>
            <a:off x="548640" y="1783080"/>
            <a:ext cx="2635758" cy="31089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2635758" cy="64008"/>
          </a:xfrm>
          <a:prstGeom prst="rect">
            <a:avLst/>
          </a:prstGeom>
          <a:solidFill>
            <a:srgbClr val="DC640D"/>
          </a:solidFill>
          <a:ln>
            <a:noFill/>
          </a:ln>
        </p:spPr>
        <p:txBody>
          <a:bodyPr rtlCol="0" anchor="ctr"/>
          <a:lstStyle/>
          <a:p>
            <a:pPr algn="ctr"/>
          </a:p>
        </p:txBody>
      </p:sp>
      <p:sp>
        <p:nvSpPr>
          <p:cNvPr id="6" name="TextBox 5"/>
          <p:cNvSpPr txBox="1"/>
          <p:nvPr/>
        </p:nvSpPr>
        <p:spPr>
          <a:xfrm>
            <a:off x="777240"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1</a:t>
            </a:r>
          </a:p>
        </p:txBody>
      </p:sp>
      <p:pic>
        <p:nvPicPr>
          <p:cNvPr id="7" name="Picture 6" descr="LuFlag_y.png"/>
          <p:cNvPicPr>
            <a:picLocks noChangeAspect="1"/>
          </p:cNvPicPr>
          <p:nvPr/>
        </p:nvPicPr>
        <p:blipFill>
          <a:blip r:embed="rId3"/>
          <a:stretch>
            <a:fillRect/>
          </a:stretch>
        </p:blipFill>
        <p:spPr>
          <a:xfrm>
            <a:off x="2452878" y="2121408"/>
            <a:ext cx="457200" cy="457200"/>
          </a:xfrm>
          <a:prstGeom prst="rect">
            <a:avLst/>
          </a:prstGeom>
        </p:spPr>
      </p:pic>
      <p:sp>
        <p:nvSpPr>
          <p:cNvPr id="8" name="TextBox 7"/>
          <p:cNvSpPr txBox="1"/>
          <p:nvPr/>
        </p:nvSpPr>
        <p:spPr>
          <a:xfrm>
            <a:off x="777240" y="2880360"/>
            <a:ext cx="2178558" cy="365760"/>
          </a:xfrm>
          <a:prstGeom prst="rect">
            <a:avLst/>
          </a:prstGeom>
          <a:noFill/>
        </p:spPr>
        <p:txBody>
          <a:bodyPr wrap="square" lIns="0" rIns="0" tIns="0" bIns="0" anchor="t">
            <a:spAutoFit/>
          </a:bodyPr>
          <a:lstStyle/>
          <a:p>
            <a:pPr algn="l"/>
            <a:r>
              <a:rPr sz="1500" b="1" i="0">
                <a:solidFill>
                  <a:srgbClr val="FFFFFF"/>
                </a:solidFill>
                <a:latin typeface="Verdana"/>
              </a:rPr>
              <a:t>Wählen</a:t>
            </a:r>
          </a:p>
        </p:txBody>
      </p:sp>
      <p:sp>
        <p:nvSpPr>
          <p:cNvPr id="9" name="TextBox 8"/>
          <p:cNvSpPr txBox="1"/>
          <p:nvPr/>
        </p:nvSpPr>
        <p:spPr>
          <a:xfrm>
            <a:off x="777240" y="3337560"/>
            <a:ext cx="2178558" cy="1371600"/>
          </a:xfrm>
          <a:prstGeom prst="rect">
            <a:avLst/>
          </a:prstGeom>
          <a:noFill/>
        </p:spPr>
        <p:txBody>
          <a:bodyPr wrap="square" lIns="0" rIns="0" tIns="0" bIns="0" anchor="t">
            <a:spAutoFit/>
          </a:bodyPr>
          <a:lstStyle/>
          <a:p>
            <a:pPr algn="l"/>
            <a:r>
              <a:rPr sz="1267" b="0" i="0">
                <a:solidFill>
                  <a:srgbClr val="9A9AAA"/>
                </a:solidFill>
                <a:latin typeface="Verdana"/>
              </a:rPr>
              <a:t>Challenge oder eigene Idee. Eine Person teilt ihren Laptop.</a:t>
            </a:r>
          </a:p>
        </p:txBody>
      </p:sp>
      <p:sp>
        <p:nvSpPr>
          <p:cNvPr id="10" name="Rectangle 9"/>
          <p:cNvSpPr/>
          <p:nvPr/>
        </p:nvSpPr>
        <p:spPr>
          <a:xfrm>
            <a:off x="3367278" y="1783080"/>
            <a:ext cx="2635758" cy="3108960"/>
          </a:xfrm>
          <a:prstGeom prst="rect">
            <a:avLst/>
          </a:prstGeom>
          <a:solidFill>
            <a:srgbClr val="24232E"/>
          </a:solidFill>
          <a:ln w="9525">
            <a:solidFill>
              <a:srgbClr val="3A3948"/>
            </a:solidFill>
          </a:ln>
        </p:spPr>
        <p:txBody>
          <a:bodyPr rtlCol="0" anchor="ctr"/>
          <a:lstStyle/>
          <a:p>
            <a:pPr algn="ctr"/>
          </a:p>
        </p:txBody>
      </p:sp>
      <p:sp>
        <p:nvSpPr>
          <p:cNvPr id="11" name="Rectangle 10"/>
          <p:cNvSpPr/>
          <p:nvPr/>
        </p:nvSpPr>
        <p:spPr>
          <a:xfrm>
            <a:off x="3367278" y="1783080"/>
            <a:ext cx="2635758" cy="64008"/>
          </a:xfrm>
          <a:prstGeom prst="rect">
            <a:avLst/>
          </a:prstGeom>
          <a:solidFill>
            <a:srgbClr val="DC640D"/>
          </a:solidFill>
          <a:ln>
            <a:noFill/>
          </a:ln>
        </p:spPr>
        <p:txBody>
          <a:bodyPr rtlCol="0" anchor="ctr"/>
          <a:lstStyle/>
          <a:p>
            <a:pPr algn="ctr"/>
          </a:p>
        </p:txBody>
      </p:sp>
      <p:sp>
        <p:nvSpPr>
          <p:cNvPr id="12" name="TextBox 11"/>
          <p:cNvSpPr txBox="1"/>
          <p:nvPr/>
        </p:nvSpPr>
        <p:spPr>
          <a:xfrm>
            <a:off x="3595878"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2</a:t>
            </a:r>
          </a:p>
        </p:txBody>
      </p:sp>
      <p:pic>
        <p:nvPicPr>
          <p:cNvPr id="13" name="Picture 12" descr="LuListTodo_y.png"/>
          <p:cNvPicPr>
            <a:picLocks noChangeAspect="1"/>
          </p:cNvPicPr>
          <p:nvPr/>
        </p:nvPicPr>
        <p:blipFill>
          <a:blip r:embed="rId4"/>
          <a:stretch>
            <a:fillRect/>
          </a:stretch>
        </p:blipFill>
        <p:spPr>
          <a:xfrm>
            <a:off x="5271516" y="2121408"/>
            <a:ext cx="457200" cy="457200"/>
          </a:xfrm>
          <a:prstGeom prst="rect">
            <a:avLst/>
          </a:prstGeom>
        </p:spPr>
      </p:pic>
      <p:sp>
        <p:nvSpPr>
          <p:cNvPr id="14" name="TextBox 13"/>
          <p:cNvSpPr txBox="1"/>
          <p:nvPr/>
        </p:nvSpPr>
        <p:spPr>
          <a:xfrm>
            <a:off x="3595878" y="2880360"/>
            <a:ext cx="2178558" cy="365760"/>
          </a:xfrm>
          <a:prstGeom prst="rect">
            <a:avLst/>
          </a:prstGeom>
          <a:noFill/>
        </p:spPr>
        <p:txBody>
          <a:bodyPr wrap="square" lIns="0" rIns="0" tIns="0" bIns="0" anchor="t">
            <a:spAutoFit/>
          </a:bodyPr>
          <a:lstStyle/>
          <a:p>
            <a:pPr algn="l"/>
            <a:r>
              <a:rPr sz="1500" b="1" i="0">
                <a:solidFill>
                  <a:srgbClr val="FFFFFF"/>
                </a:solidFill>
                <a:latin typeface="Verdana"/>
              </a:rPr>
              <a:t>Planen</a:t>
            </a:r>
          </a:p>
        </p:txBody>
      </p:sp>
      <p:sp>
        <p:nvSpPr>
          <p:cNvPr id="15" name="TextBox 14"/>
          <p:cNvSpPr txBox="1"/>
          <p:nvPr/>
        </p:nvSpPr>
        <p:spPr>
          <a:xfrm>
            <a:off x="3595878" y="3337560"/>
            <a:ext cx="2178558" cy="1371600"/>
          </a:xfrm>
          <a:prstGeom prst="rect">
            <a:avLst/>
          </a:prstGeom>
          <a:noFill/>
        </p:spPr>
        <p:txBody>
          <a:bodyPr wrap="square" lIns="0" rIns="0" tIns="0" bIns="0" anchor="t">
            <a:spAutoFit/>
          </a:bodyPr>
          <a:lstStyle/>
          <a:p>
            <a:pPr algn="l"/>
            <a:r>
              <a:rPr sz="1267" b="0" i="0">
                <a:solidFill>
                  <a:srgbClr val="9A9AAA"/>
                </a:solidFill>
                <a:latin typeface="Verdana"/>
              </a:rPr>
              <a:t>10 Minuten Bauplan auf Papier: Schritte, KI ja oder nein, Workflow oder Agent.</a:t>
            </a:r>
          </a:p>
        </p:txBody>
      </p:sp>
      <p:sp>
        <p:nvSpPr>
          <p:cNvPr id="16" name="Rectangle 15"/>
          <p:cNvSpPr/>
          <p:nvPr/>
        </p:nvSpPr>
        <p:spPr>
          <a:xfrm>
            <a:off x="6185916" y="1783080"/>
            <a:ext cx="2635758" cy="3108960"/>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6185916" y="1783080"/>
            <a:ext cx="2635758" cy="64008"/>
          </a:xfrm>
          <a:prstGeom prst="rect">
            <a:avLst/>
          </a:prstGeom>
          <a:solidFill>
            <a:srgbClr val="DC640D"/>
          </a:solidFill>
          <a:ln>
            <a:noFill/>
          </a:ln>
        </p:spPr>
        <p:txBody>
          <a:bodyPr rtlCol="0" anchor="ctr"/>
          <a:lstStyle/>
          <a:p>
            <a:pPr algn="ctr"/>
          </a:p>
        </p:txBody>
      </p:sp>
      <p:sp>
        <p:nvSpPr>
          <p:cNvPr id="18" name="TextBox 17"/>
          <p:cNvSpPr txBox="1"/>
          <p:nvPr/>
        </p:nvSpPr>
        <p:spPr>
          <a:xfrm>
            <a:off x="6414516"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3</a:t>
            </a:r>
          </a:p>
        </p:txBody>
      </p:sp>
      <p:pic>
        <p:nvPicPr>
          <p:cNvPr id="19" name="Picture 18" descr="LuBlocks_y.png"/>
          <p:cNvPicPr>
            <a:picLocks noChangeAspect="1"/>
          </p:cNvPicPr>
          <p:nvPr/>
        </p:nvPicPr>
        <p:blipFill>
          <a:blip r:embed="rId5"/>
          <a:stretch>
            <a:fillRect/>
          </a:stretch>
        </p:blipFill>
        <p:spPr>
          <a:xfrm>
            <a:off x="8090154" y="2121408"/>
            <a:ext cx="457200" cy="457200"/>
          </a:xfrm>
          <a:prstGeom prst="rect">
            <a:avLst/>
          </a:prstGeom>
        </p:spPr>
      </p:pic>
      <p:sp>
        <p:nvSpPr>
          <p:cNvPr id="20" name="TextBox 19"/>
          <p:cNvSpPr txBox="1"/>
          <p:nvPr/>
        </p:nvSpPr>
        <p:spPr>
          <a:xfrm>
            <a:off x="6414516" y="2880360"/>
            <a:ext cx="2178558" cy="365760"/>
          </a:xfrm>
          <a:prstGeom prst="rect">
            <a:avLst/>
          </a:prstGeom>
          <a:noFill/>
        </p:spPr>
        <p:txBody>
          <a:bodyPr wrap="square" lIns="0" rIns="0" tIns="0" bIns="0" anchor="t">
            <a:spAutoFit/>
          </a:bodyPr>
          <a:lstStyle/>
          <a:p>
            <a:pPr algn="l"/>
            <a:r>
              <a:rPr sz="1500" b="1" i="0">
                <a:solidFill>
                  <a:srgbClr val="FFFFFF"/>
                </a:solidFill>
                <a:latin typeface="Verdana"/>
              </a:rPr>
              <a:t>Bauen</a:t>
            </a:r>
          </a:p>
        </p:txBody>
      </p:sp>
      <p:sp>
        <p:nvSpPr>
          <p:cNvPr id="21" name="TextBox 20"/>
          <p:cNvSpPr txBox="1"/>
          <p:nvPr/>
        </p:nvSpPr>
        <p:spPr>
          <a:xfrm>
            <a:off x="6414516" y="3337560"/>
            <a:ext cx="2178558" cy="1371600"/>
          </a:xfrm>
          <a:prstGeom prst="rect">
            <a:avLst/>
          </a:prstGeom>
          <a:noFill/>
        </p:spPr>
        <p:txBody>
          <a:bodyPr wrap="square" lIns="0" rIns="0" tIns="0" bIns="0" anchor="t">
            <a:spAutoFit/>
          </a:bodyPr>
          <a:lstStyle/>
          <a:p>
            <a:pPr algn="l"/>
            <a:r>
              <a:rPr sz="1267" b="0" i="0">
                <a:solidFill>
                  <a:srgbClr val="9A9AAA"/>
                </a:solidFill>
                <a:latin typeface="Verdana"/>
              </a:rPr>
              <a:t>Mit einem Start-Flow oder leer. Klein anfangen, oft testen.</a:t>
            </a:r>
          </a:p>
        </p:txBody>
      </p:sp>
      <p:sp>
        <p:nvSpPr>
          <p:cNvPr id="22" name="Rectangle 21"/>
          <p:cNvSpPr/>
          <p:nvPr/>
        </p:nvSpPr>
        <p:spPr>
          <a:xfrm>
            <a:off x="9004554" y="1783080"/>
            <a:ext cx="2635758" cy="3108960"/>
          </a:xfrm>
          <a:prstGeom prst="rect">
            <a:avLst/>
          </a:prstGeom>
          <a:solidFill>
            <a:srgbClr val="24232E"/>
          </a:solidFill>
          <a:ln w="9525">
            <a:solidFill>
              <a:srgbClr val="3A3948"/>
            </a:solidFill>
          </a:ln>
        </p:spPr>
        <p:txBody>
          <a:bodyPr rtlCol="0" anchor="ctr"/>
          <a:lstStyle/>
          <a:p>
            <a:pPr algn="ctr"/>
          </a:p>
        </p:txBody>
      </p:sp>
      <p:sp>
        <p:nvSpPr>
          <p:cNvPr id="23" name="Rectangle 22"/>
          <p:cNvSpPr/>
          <p:nvPr/>
        </p:nvSpPr>
        <p:spPr>
          <a:xfrm>
            <a:off x="9004554" y="1783080"/>
            <a:ext cx="2635758" cy="64008"/>
          </a:xfrm>
          <a:prstGeom prst="rect">
            <a:avLst/>
          </a:prstGeom>
          <a:solidFill>
            <a:srgbClr val="DC640D"/>
          </a:solidFill>
          <a:ln>
            <a:noFill/>
          </a:ln>
        </p:spPr>
        <p:txBody>
          <a:bodyPr rtlCol="0" anchor="ctr"/>
          <a:lstStyle/>
          <a:p>
            <a:pPr algn="ctr"/>
          </a:p>
        </p:txBody>
      </p:sp>
      <p:sp>
        <p:nvSpPr>
          <p:cNvPr id="24" name="TextBox 23"/>
          <p:cNvSpPr txBox="1"/>
          <p:nvPr/>
        </p:nvSpPr>
        <p:spPr>
          <a:xfrm>
            <a:off x="9233154"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4</a:t>
            </a:r>
          </a:p>
        </p:txBody>
      </p:sp>
      <p:pic>
        <p:nvPicPr>
          <p:cNvPr id="25" name="Picture 24" descr="LuDownload_y.png"/>
          <p:cNvPicPr>
            <a:picLocks noChangeAspect="1"/>
          </p:cNvPicPr>
          <p:nvPr/>
        </p:nvPicPr>
        <p:blipFill>
          <a:blip r:embed="rId6"/>
          <a:stretch>
            <a:fillRect/>
          </a:stretch>
        </p:blipFill>
        <p:spPr>
          <a:xfrm>
            <a:off x="10908792" y="2121408"/>
            <a:ext cx="457200" cy="457200"/>
          </a:xfrm>
          <a:prstGeom prst="rect">
            <a:avLst/>
          </a:prstGeom>
        </p:spPr>
      </p:pic>
      <p:sp>
        <p:nvSpPr>
          <p:cNvPr id="26" name="TextBox 25"/>
          <p:cNvSpPr txBox="1"/>
          <p:nvPr/>
        </p:nvSpPr>
        <p:spPr>
          <a:xfrm>
            <a:off x="9233154" y="2880360"/>
            <a:ext cx="2178558" cy="365760"/>
          </a:xfrm>
          <a:prstGeom prst="rect">
            <a:avLst/>
          </a:prstGeom>
          <a:noFill/>
        </p:spPr>
        <p:txBody>
          <a:bodyPr wrap="square" lIns="0" rIns="0" tIns="0" bIns="0" anchor="t">
            <a:spAutoFit/>
          </a:bodyPr>
          <a:lstStyle/>
          <a:p>
            <a:pPr algn="l"/>
            <a:r>
              <a:rPr sz="1500" b="1" i="0">
                <a:solidFill>
                  <a:srgbClr val="FFFFFF"/>
                </a:solidFill>
                <a:latin typeface="Verdana"/>
              </a:rPr>
              <a:t>Sichern</a:t>
            </a:r>
          </a:p>
        </p:txBody>
      </p:sp>
      <p:sp>
        <p:nvSpPr>
          <p:cNvPr id="27" name="TextBox 26"/>
          <p:cNvSpPr txBox="1"/>
          <p:nvPr/>
        </p:nvSpPr>
        <p:spPr>
          <a:xfrm>
            <a:off x="9233154" y="3337560"/>
            <a:ext cx="2178558" cy="1371600"/>
          </a:xfrm>
          <a:prstGeom prst="rect">
            <a:avLst/>
          </a:prstGeom>
          <a:noFill/>
        </p:spPr>
        <p:txBody>
          <a:bodyPr wrap="square" lIns="0" rIns="0" tIns="0" bIns="0" anchor="t">
            <a:spAutoFit/>
          </a:bodyPr>
          <a:lstStyle/>
          <a:p>
            <a:pPr algn="l"/>
            <a:r>
              <a:rPr sz="1267" b="0" i="0">
                <a:solidFill>
                  <a:srgbClr val="9A9AAA"/>
                </a:solidFill>
                <a:latin typeface="Verdana"/>
              </a:rPr>
              <a:t>Vor dem Show &amp; Tell: drei Punkte beim Flow, dann Export.</a:t>
            </a:r>
          </a:p>
        </p:txBody>
      </p:sp>
      <p:sp>
        <p:nvSpPr>
          <p:cNvPr id="28" name="Rectangle 27"/>
          <p:cNvSpPr/>
          <p:nvPr/>
        </p:nvSpPr>
        <p:spPr>
          <a:xfrm>
            <a:off x="548640" y="5120640"/>
            <a:ext cx="11091672" cy="685800"/>
          </a:xfrm>
          <a:prstGeom prst="rect">
            <a:avLst/>
          </a:prstGeom>
          <a:noFill/>
          <a:ln w="12700">
            <a:solidFill>
              <a:srgbClr val="DC640D"/>
            </a:solidFill>
          </a:ln>
        </p:spPr>
        <p:txBody>
          <a:bodyPr rtlCol="0" anchor="ctr"/>
          <a:lstStyle/>
          <a:p>
            <a:pPr algn="ctr"/>
          </a:p>
        </p:txBody>
      </p:sp>
      <p:sp>
        <p:nvSpPr>
          <p:cNvPr id="29" name="TextBox 28"/>
          <p:cNvSpPr txBox="1"/>
          <p:nvPr/>
        </p:nvSpPr>
        <p:spPr>
          <a:xfrm>
            <a:off x="822959" y="5120640"/>
            <a:ext cx="10543032" cy="685800"/>
          </a:xfrm>
          <a:prstGeom prst="rect">
            <a:avLst/>
          </a:prstGeom>
          <a:noFill/>
        </p:spPr>
        <p:txBody>
          <a:bodyPr wrap="square" lIns="0" rIns="0" tIns="0" bIns="0" anchor="ctr">
            <a:spAutoFit/>
          </a:bodyPr>
          <a:lstStyle/>
          <a:p>
            <a:pPr algn="l"/>
            <a:r>
              <a:rPr sz="1333" b="0" i="1">
                <a:solidFill>
                  <a:srgbClr val="FFFFFF"/>
                </a:solidFill>
                <a:latin typeface="Verdana"/>
              </a:rPr>
              <a:t>Ihr müsst nicht fertig werden. Ein durchdachter kleiner Flow mit einer klugen Diskussion ist mehr wert als ein halbfertiger großer.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Drei Stufen pro Challenge.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4 · CHALLENGES</a:t>
            </a:r>
          </a:p>
        </p:txBody>
      </p:sp>
      <p:cxnSp>
        <p:nvCxnSpPr>
          <p:cNvPr id="4" name="Connector 3"/>
          <p:cNvCxnSpPr/>
          <p:nvPr/>
        </p:nvCxnSpPr>
        <p:spPr>
          <a:xfrm>
            <a:off x="2305812" y="2112264"/>
            <a:ext cx="7577328" cy="0"/>
          </a:xfrm>
          <a:prstGeom prst="line">
            <a:avLst/>
          </a:prstGeom>
          <a:ln w="19050">
            <a:solidFill>
              <a:srgbClr val="DC640D"/>
            </a:solidFill>
            <a:prstDash val="dash"/>
          </a:ln>
        </p:spPr>
      </p:cxnSp>
      <p:sp>
        <p:nvSpPr>
          <p:cNvPr id="5" name="Oval 4"/>
          <p:cNvSpPr/>
          <p:nvPr/>
        </p:nvSpPr>
        <p:spPr>
          <a:xfrm>
            <a:off x="1976628" y="1783080"/>
            <a:ext cx="658368" cy="658368"/>
          </a:xfrm>
          <a:prstGeom prst="ellipse">
            <a:avLst/>
          </a:prstGeom>
          <a:solidFill>
            <a:srgbClr val="18E979"/>
          </a:solidFill>
          <a:ln>
            <a:noFill/>
          </a:ln>
        </p:spPr>
        <p:txBody>
          <a:bodyPr rtlCol="0" anchor="ctr"/>
          <a:lstStyle/>
          <a:p>
            <a:pPr algn="ctr"/>
          </a:p>
        </p:txBody>
      </p:sp>
      <p:pic>
        <p:nvPicPr>
          <p:cNvPr id="6" name="Picture 5" descr="LuPlay_w.png"/>
          <p:cNvPicPr>
            <a:picLocks noChangeAspect="1"/>
          </p:cNvPicPr>
          <p:nvPr/>
        </p:nvPicPr>
        <p:blipFill>
          <a:blip r:embed="rId3"/>
          <a:stretch>
            <a:fillRect/>
          </a:stretch>
        </p:blipFill>
        <p:spPr>
          <a:xfrm>
            <a:off x="2121468" y="1927920"/>
            <a:ext cx="368686" cy="368686"/>
          </a:xfrm>
          <a:prstGeom prst="rect">
            <a:avLst/>
          </a:prstGeom>
        </p:spPr>
      </p:pic>
      <p:sp>
        <p:nvSpPr>
          <p:cNvPr id="7" name="Rectangle 6"/>
          <p:cNvSpPr/>
          <p:nvPr/>
        </p:nvSpPr>
        <p:spPr>
          <a:xfrm>
            <a:off x="548640" y="2697480"/>
            <a:ext cx="3514344" cy="2148840"/>
          </a:xfrm>
          <a:prstGeom prst="rect">
            <a:avLst/>
          </a:prstGeom>
          <a:solidFill>
            <a:srgbClr val="24232E"/>
          </a:solidFill>
          <a:ln w="9525">
            <a:solidFill>
              <a:srgbClr val="3A3948"/>
            </a:solidFill>
          </a:ln>
        </p:spPr>
        <p:txBody>
          <a:bodyPr rtlCol="0" anchor="ctr"/>
          <a:lstStyle/>
          <a:p>
            <a:pPr algn="ctr"/>
          </a:p>
        </p:txBody>
      </p:sp>
      <p:sp>
        <p:nvSpPr>
          <p:cNvPr id="8" name="Rectangle 7"/>
          <p:cNvSpPr/>
          <p:nvPr/>
        </p:nvSpPr>
        <p:spPr>
          <a:xfrm>
            <a:off x="548640" y="2697480"/>
            <a:ext cx="3514344" cy="64008"/>
          </a:xfrm>
          <a:prstGeom prst="rect">
            <a:avLst/>
          </a:prstGeom>
          <a:solidFill>
            <a:srgbClr val="18E979"/>
          </a:solidFill>
          <a:ln>
            <a:noFill/>
          </a:ln>
        </p:spPr>
        <p:txBody>
          <a:bodyPr rtlCol="0" anchor="ctr"/>
          <a:lstStyle/>
          <a:p>
            <a:pPr algn="ctr"/>
          </a:p>
        </p:txBody>
      </p:sp>
      <p:sp>
        <p:nvSpPr>
          <p:cNvPr id="9" name="TextBox 8"/>
          <p:cNvSpPr txBox="1"/>
          <p:nvPr/>
        </p:nvSpPr>
        <p:spPr>
          <a:xfrm>
            <a:off x="822959" y="2880360"/>
            <a:ext cx="2965704" cy="365760"/>
          </a:xfrm>
          <a:prstGeom prst="rect">
            <a:avLst/>
          </a:prstGeom>
          <a:noFill/>
        </p:spPr>
        <p:txBody>
          <a:bodyPr wrap="square" lIns="0" rIns="0" tIns="0" bIns="0" anchor="t">
            <a:spAutoFit/>
          </a:bodyPr>
          <a:lstStyle/>
          <a:p>
            <a:pPr algn="l"/>
            <a:r>
              <a:rPr sz="1732" b="1" i="0">
                <a:solidFill>
                  <a:srgbClr val="FFFFFF"/>
                </a:solidFill>
                <a:latin typeface="Verdana"/>
              </a:rPr>
              <a:t>Einstieg</a:t>
            </a:r>
          </a:p>
        </p:txBody>
      </p:sp>
      <p:sp>
        <p:nvSpPr>
          <p:cNvPr id="10" name="TextBox 9"/>
          <p:cNvSpPr txBox="1"/>
          <p:nvPr/>
        </p:nvSpPr>
        <p:spPr>
          <a:xfrm>
            <a:off x="822959" y="3291839"/>
            <a:ext cx="2965704" cy="274320"/>
          </a:xfrm>
          <a:prstGeom prst="rect">
            <a:avLst/>
          </a:prstGeom>
          <a:noFill/>
        </p:spPr>
        <p:txBody>
          <a:bodyPr wrap="square" lIns="0" rIns="0" tIns="0" bIns="0" anchor="t">
            <a:spAutoFit/>
          </a:bodyPr>
          <a:lstStyle/>
          <a:p>
            <a:pPr algn="l"/>
            <a:r>
              <a:rPr sz="1267" b="0" i="1">
                <a:solidFill>
                  <a:srgbClr val="18E979"/>
                </a:solidFill>
                <a:latin typeface="Verdana"/>
              </a:rPr>
              <a:t>Verstehen und anpassen</a:t>
            </a:r>
          </a:p>
        </p:txBody>
      </p:sp>
      <p:cxnSp>
        <p:nvCxnSpPr>
          <p:cNvPr id="11" name="Connector 10"/>
          <p:cNvCxnSpPr/>
          <p:nvPr/>
        </p:nvCxnSpPr>
        <p:spPr>
          <a:xfrm>
            <a:off x="822959" y="3685032"/>
            <a:ext cx="2965705" cy="0"/>
          </a:xfrm>
          <a:prstGeom prst="line">
            <a:avLst/>
          </a:prstGeom>
          <a:ln w="6350">
            <a:solidFill>
              <a:srgbClr val="3A3948"/>
            </a:solidFill>
          </a:ln>
        </p:spPr>
      </p:cxnSp>
      <p:sp>
        <p:nvSpPr>
          <p:cNvPr id="12" name="TextBox 11"/>
          <p:cNvSpPr txBox="1"/>
          <p:nvPr/>
        </p:nvSpPr>
        <p:spPr>
          <a:xfrm>
            <a:off x="822959" y="3794760"/>
            <a:ext cx="2965704" cy="1005840"/>
          </a:xfrm>
          <a:prstGeom prst="rect">
            <a:avLst/>
          </a:prstGeom>
          <a:noFill/>
        </p:spPr>
        <p:txBody>
          <a:bodyPr wrap="square" lIns="0" rIns="0" tIns="0" bIns="0" anchor="t">
            <a:spAutoFit/>
          </a:bodyPr>
          <a:lstStyle/>
          <a:p>
            <a:pPr algn="l"/>
            <a:r>
              <a:rPr sz="1267" b="0" i="0">
                <a:solidFill>
                  <a:srgbClr val="9A9AAA"/>
                </a:solidFill>
                <a:latin typeface="Verdana"/>
              </a:rPr>
              <a:t>Den Start-Flow ohne neue Bausteine verändern: Prompt umschreiben, eigene Daten ausprobieren.</a:t>
            </a:r>
          </a:p>
        </p:txBody>
      </p:sp>
      <p:sp>
        <p:nvSpPr>
          <p:cNvPr id="13" name="Oval 12"/>
          <p:cNvSpPr/>
          <p:nvPr/>
        </p:nvSpPr>
        <p:spPr>
          <a:xfrm>
            <a:off x="5765292" y="1783080"/>
            <a:ext cx="658368" cy="658368"/>
          </a:xfrm>
          <a:prstGeom prst="ellipse">
            <a:avLst/>
          </a:prstGeom>
          <a:solidFill>
            <a:srgbClr val="F6A800"/>
          </a:solidFill>
          <a:ln>
            <a:noFill/>
          </a:ln>
        </p:spPr>
        <p:txBody>
          <a:bodyPr rtlCol="0" anchor="ctr"/>
          <a:lstStyle/>
          <a:p>
            <a:pPr algn="ctr"/>
          </a:p>
        </p:txBody>
      </p:sp>
      <p:pic>
        <p:nvPicPr>
          <p:cNvPr id="14" name="Picture 13" descr="LuBlocks_w.png"/>
          <p:cNvPicPr>
            <a:picLocks noChangeAspect="1"/>
          </p:cNvPicPr>
          <p:nvPr/>
        </p:nvPicPr>
        <p:blipFill>
          <a:blip r:embed="rId4"/>
          <a:stretch>
            <a:fillRect/>
          </a:stretch>
        </p:blipFill>
        <p:spPr>
          <a:xfrm>
            <a:off x="5910132" y="1927920"/>
            <a:ext cx="368686" cy="368686"/>
          </a:xfrm>
          <a:prstGeom prst="rect">
            <a:avLst/>
          </a:prstGeom>
        </p:spPr>
      </p:pic>
      <p:sp>
        <p:nvSpPr>
          <p:cNvPr id="15" name="Rectangle 14"/>
          <p:cNvSpPr/>
          <p:nvPr/>
        </p:nvSpPr>
        <p:spPr>
          <a:xfrm>
            <a:off x="4337304" y="2697480"/>
            <a:ext cx="3514344" cy="2148840"/>
          </a:xfrm>
          <a:prstGeom prst="rect">
            <a:avLst/>
          </a:prstGeom>
          <a:solidFill>
            <a:srgbClr val="24232E"/>
          </a:solidFill>
          <a:ln w="9525">
            <a:solidFill>
              <a:srgbClr val="3A3948"/>
            </a:solidFill>
          </a:ln>
        </p:spPr>
        <p:txBody>
          <a:bodyPr rtlCol="0" anchor="ctr"/>
          <a:lstStyle/>
          <a:p>
            <a:pPr algn="ctr"/>
          </a:p>
        </p:txBody>
      </p:sp>
      <p:sp>
        <p:nvSpPr>
          <p:cNvPr id="16" name="Rectangle 15"/>
          <p:cNvSpPr/>
          <p:nvPr/>
        </p:nvSpPr>
        <p:spPr>
          <a:xfrm>
            <a:off x="4337304" y="2697480"/>
            <a:ext cx="3514344" cy="64008"/>
          </a:xfrm>
          <a:prstGeom prst="rect">
            <a:avLst/>
          </a:prstGeom>
          <a:solidFill>
            <a:srgbClr val="F6A800"/>
          </a:solidFill>
          <a:ln>
            <a:noFill/>
          </a:ln>
        </p:spPr>
        <p:txBody>
          <a:bodyPr rtlCol="0" anchor="ctr"/>
          <a:lstStyle/>
          <a:p>
            <a:pPr algn="ctr"/>
          </a:p>
        </p:txBody>
      </p:sp>
      <p:sp>
        <p:nvSpPr>
          <p:cNvPr id="17" name="TextBox 16"/>
          <p:cNvSpPr txBox="1"/>
          <p:nvPr/>
        </p:nvSpPr>
        <p:spPr>
          <a:xfrm>
            <a:off x="4611624" y="2880360"/>
            <a:ext cx="2965704" cy="365760"/>
          </a:xfrm>
          <a:prstGeom prst="rect">
            <a:avLst/>
          </a:prstGeom>
          <a:noFill/>
        </p:spPr>
        <p:txBody>
          <a:bodyPr wrap="square" lIns="0" rIns="0" tIns="0" bIns="0" anchor="t">
            <a:spAutoFit/>
          </a:bodyPr>
          <a:lstStyle/>
          <a:p>
            <a:pPr algn="l"/>
            <a:r>
              <a:rPr sz="1732" b="1" i="0">
                <a:solidFill>
                  <a:srgbClr val="FFFFFF"/>
                </a:solidFill>
                <a:latin typeface="Verdana"/>
              </a:rPr>
              <a:t>Ausbau</a:t>
            </a:r>
          </a:p>
        </p:txBody>
      </p:sp>
      <p:sp>
        <p:nvSpPr>
          <p:cNvPr id="18" name="TextBox 17"/>
          <p:cNvSpPr txBox="1"/>
          <p:nvPr/>
        </p:nvSpPr>
        <p:spPr>
          <a:xfrm>
            <a:off x="4611624" y="3291839"/>
            <a:ext cx="2965704" cy="274320"/>
          </a:xfrm>
          <a:prstGeom prst="rect">
            <a:avLst/>
          </a:prstGeom>
          <a:noFill/>
        </p:spPr>
        <p:txBody>
          <a:bodyPr wrap="square" lIns="0" rIns="0" tIns="0" bIns="0" anchor="t">
            <a:spAutoFit/>
          </a:bodyPr>
          <a:lstStyle/>
          <a:p>
            <a:pPr algn="l"/>
            <a:r>
              <a:rPr sz="1267" b="0" i="1">
                <a:solidFill>
                  <a:srgbClr val="F6A800"/>
                </a:solidFill>
                <a:latin typeface="Verdana"/>
              </a:rPr>
              <a:t>Bausteine hinzufügen</a:t>
            </a:r>
          </a:p>
        </p:txBody>
      </p:sp>
      <p:cxnSp>
        <p:nvCxnSpPr>
          <p:cNvPr id="19" name="Connector 18"/>
          <p:cNvCxnSpPr/>
          <p:nvPr/>
        </p:nvCxnSpPr>
        <p:spPr>
          <a:xfrm>
            <a:off x="4611624" y="3685032"/>
            <a:ext cx="2965703" cy="0"/>
          </a:xfrm>
          <a:prstGeom prst="line">
            <a:avLst/>
          </a:prstGeom>
          <a:ln w="6350">
            <a:solidFill>
              <a:srgbClr val="3A3948"/>
            </a:solidFill>
          </a:ln>
        </p:spPr>
      </p:cxnSp>
      <p:sp>
        <p:nvSpPr>
          <p:cNvPr id="20" name="TextBox 19"/>
          <p:cNvSpPr txBox="1"/>
          <p:nvPr/>
        </p:nvSpPr>
        <p:spPr>
          <a:xfrm>
            <a:off x="4611624" y="3794760"/>
            <a:ext cx="2965704" cy="1005840"/>
          </a:xfrm>
          <a:prstGeom prst="rect">
            <a:avLst/>
          </a:prstGeom>
          <a:noFill/>
        </p:spPr>
        <p:txBody>
          <a:bodyPr wrap="square" lIns="0" rIns="0" tIns="0" bIns="0" anchor="t">
            <a:spAutoFit/>
          </a:bodyPr>
          <a:lstStyle/>
          <a:p>
            <a:pPr algn="l"/>
            <a:r>
              <a:rPr sz="1267" b="0" i="0">
                <a:solidFill>
                  <a:srgbClr val="9A9AAA"/>
                </a:solidFill>
                <a:latin typeface="Verdana"/>
              </a:rPr>
              <a:t>Neue Bausteine einbauen und verbinden, z. B. PDF statt Text oder ein Agent mit Werkzeugen.</a:t>
            </a:r>
          </a:p>
        </p:txBody>
      </p:sp>
      <p:sp>
        <p:nvSpPr>
          <p:cNvPr id="21" name="Oval 20"/>
          <p:cNvSpPr/>
          <p:nvPr/>
        </p:nvSpPr>
        <p:spPr>
          <a:xfrm>
            <a:off x="9553956" y="1783080"/>
            <a:ext cx="658368" cy="658368"/>
          </a:xfrm>
          <a:prstGeom prst="ellipse">
            <a:avLst/>
          </a:prstGeom>
          <a:solidFill>
            <a:srgbClr val="B1063A"/>
          </a:solidFill>
          <a:ln>
            <a:noFill/>
          </a:ln>
        </p:spPr>
        <p:txBody>
          <a:bodyPr rtlCol="0" anchor="ctr"/>
          <a:lstStyle/>
          <a:p>
            <a:pPr algn="ctr"/>
          </a:p>
        </p:txBody>
      </p:sp>
      <p:pic>
        <p:nvPicPr>
          <p:cNvPr id="22" name="Picture 21" descr="LuSparkles_w.png"/>
          <p:cNvPicPr>
            <a:picLocks noChangeAspect="1"/>
          </p:cNvPicPr>
          <p:nvPr/>
        </p:nvPicPr>
        <p:blipFill>
          <a:blip r:embed="rId5"/>
          <a:stretch>
            <a:fillRect/>
          </a:stretch>
        </p:blipFill>
        <p:spPr>
          <a:xfrm>
            <a:off x="9698796" y="1927920"/>
            <a:ext cx="368686" cy="368686"/>
          </a:xfrm>
          <a:prstGeom prst="rect">
            <a:avLst/>
          </a:prstGeom>
        </p:spPr>
      </p:pic>
      <p:sp>
        <p:nvSpPr>
          <p:cNvPr id="23" name="Rectangle 22"/>
          <p:cNvSpPr/>
          <p:nvPr/>
        </p:nvSpPr>
        <p:spPr>
          <a:xfrm>
            <a:off x="8125968" y="2697480"/>
            <a:ext cx="3514344" cy="2148840"/>
          </a:xfrm>
          <a:prstGeom prst="rect">
            <a:avLst/>
          </a:prstGeom>
          <a:solidFill>
            <a:srgbClr val="24232E"/>
          </a:solidFill>
          <a:ln w="9525">
            <a:solidFill>
              <a:srgbClr val="3A3948"/>
            </a:solidFill>
          </a:ln>
        </p:spPr>
        <p:txBody>
          <a:bodyPr rtlCol="0" anchor="ctr"/>
          <a:lstStyle/>
          <a:p>
            <a:pPr algn="ctr"/>
          </a:p>
        </p:txBody>
      </p:sp>
      <p:sp>
        <p:nvSpPr>
          <p:cNvPr id="24" name="Rectangle 23"/>
          <p:cNvSpPr/>
          <p:nvPr/>
        </p:nvSpPr>
        <p:spPr>
          <a:xfrm>
            <a:off x="8125968" y="2697480"/>
            <a:ext cx="3514344" cy="64008"/>
          </a:xfrm>
          <a:prstGeom prst="rect">
            <a:avLst/>
          </a:prstGeom>
          <a:solidFill>
            <a:srgbClr val="B1063A"/>
          </a:solidFill>
          <a:ln>
            <a:noFill/>
          </a:ln>
        </p:spPr>
        <p:txBody>
          <a:bodyPr rtlCol="0" anchor="ctr"/>
          <a:lstStyle/>
          <a:p>
            <a:pPr algn="ctr"/>
          </a:p>
        </p:txBody>
      </p:sp>
      <p:sp>
        <p:nvSpPr>
          <p:cNvPr id="25" name="TextBox 24"/>
          <p:cNvSpPr txBox="1"/>
          <p:nvPr/>
        </p:nvSpPr>
        <p:spPr>
          <a:xfrm>
            <a:off x="8400288" y="2880360"/>
            <a:ext cx="2965704" cy="365760"/>
          </a:xfrm>
          <a:prstGeom prst="rect">
            <a:avLst/>
          </a:prstGeom>
          <a:noFill/>
        </p:spPr>
        <p:txBody>
          <a:bodyPr wrap="square" lIns="0" rIns="0" tIns="0" bIns="0" anchor="t">
            <a:spAutoFit/>
          </a:bodyPr>
          <a:lstStyle/>
          <a:p>
            <a:pPr algn="l"/>
            <a:r>
              <a:rPr sz="1732" b="1" i="0">
                <a:solidFill>
                  <a:srgbClr val="FFFFFF"/>
                </a:solidFill>
                <a:latin typeface="Verdana"/>
              </a:rPr>
              <a:t>Vertiefung</a:t>
            </a:r>
          </a:p>
        </p:txBody>
      </p:sp>
      <p:sp>
        <p:nvSpPr>
          <p:cNvPr id="26" name="TextBox 25"/>
          <p:cNvSpPr txBox="1"/>
          <p:nvPr/>
        </p:nvSpPr>
        <p:spPr>
          <a:xfrm>
            <a:off x="8400288" y="3291839"/>
            <a:ext cx="2965704" cy="274320"/>
          </a:xfrm>
          <a:prstGeom prst="rect">
            <a:avLst/>
          </a:prstGeom>
          <a:noFill/>
        </p:spPr>
        <p:txBody>
          <a:bodyPr wrap="square" lIns="0" rIns="0" tIns="0" bIns="0" anchor="t">
            <a:spAutoFit/>
          </a:bodyPr>
          <a:lstStyle/>
          <a:p>
            <a:pPr algn="l"/>
            <a:r>
              <a:rPr sz="1267" b="0" i="1">
                <a:solidFill>
                  <a:srgbClr val="DC640D"/>
                </a:solidFill>
                <a:latin typeface="Verdana"/>
              </a:rPr>
              <a:t>Etwas Neues bauen</a:t>
            </a:r>
          </a:p>
        </p:txBody>
      </p:sp>
      <p:cxnSp>
        <p:nvCxnSpPr>
          <p:cNvPr id="27" name="Connector 26"/>
          <p:cNvCxnSpPr/>
          <p:nvPr/>
        </p:nvCxnSpPr>
        <p:spPr>
          <a:xfrm>
            <a:off x="8400288" y="3685032"/>
            <a:ext cx="2965704" cy="0"/>
          </a:xfrm>
          <a:prstGeom prst="line">
            <a:avLst/>
          </a:prstGeom>
          <a:ln w="6350">
            <a:solidFill>
              <a:srgbClr val="3A3948"/>
            </a:solidFill>
          </a:ln>
        </p:spPr>
      </p:cxnSp>
      <p:sp>
        <p:nvSpPr>
          <p:cNvPr id="28" name="TextBox 27"/>
          <p:cNvSpPr txBox="1"/>
          <p:nvPr/>
        </p:nvSpPr>
        <p:spPr>
          <a:xfrm>
            <a:off x="8400288" y="3794760"/>
            <a:ext cx="2965704" cy="1005840"/>
          </a:xfrm>
          <a:prstGeom prst="rect">
            <a:avLst/>
          </a:prstGeom>
          <a:noFill/>
        </p:spPr>
        <p:txBody>
          <a:bodyPr wrap="square" lIns="0" rIns="0" tIns="0" bIns="0" anchor="t">
            <a:spAutoFit/>
          </a:bodyPr>
          <a:lstStyle/>
          <a:p>
            <a:pPr algn="l"/>
            <a:r>
              <a:rPr sz="1267" b="0" i="0">
                <a:solidFill>
                  <a:srgbClr val="9A9AAA"/>
                </a:solidFill>
                <a:latin typeface="Verdana"/>
              </a:rPr>
              <a:t>Ein agentischer Workflow: Weiche, Agent als Schritt oder Prüfen und nachbessern.</a:t>
            </a:r>
          </a:p>
        </p:txBody>
      </p:sp>
      <p:sp>
        <p:nvSpPr>
          <p:cNvPr id="29" name="Rectangle 28"/>
          <p:cNvSpPr/>
          <p:nvPr/>
        </p:nvSpPr>
        <p:spPr>
          <a:xfrm>
            <a:off x="548640" y="5074920"/>
            <a:ext cx="11091672" cy="777240"/>
          </a:xfrm>
          <a:prstGeom prst="rect">
            <a:avLst/>
          </a:prstGeom>
          <a:noFill/>
          <a:ln w="12700">
            <a:solidFill>
              <a:srgbClr val="DC640D"/>
            </a:solidFill>
          </a:ln>
        </p:spPr>
        <p:txBody>
          <a:bodyPr rtlCol="0" anchor="ctr"/>
          <a:lstStyle/>
          <a:p>
            <a:pPr algn="ctr"/>
          </a:p>
        </p:txBody>
      </p:sp>
      <p:sp>
        <p:nvSpPr>
          <p:cNvPr id="30" name="TextBox 29"/>
          <p:cNvSpPr txBox="1"/>
          <p:nvPr/>
        </p:nvSpPr>
        <p:spPr>
          <a:xfrm>
            <a:off x="822959" y="5074920"/>
            <a:ext cx="10543032" cy="777240"/>
          </a:xfrm>
          <a:prstGeom prst="rect">
            <a:avLst/>
          </a:prstGeom>
          <a:noFill/>
        </p:spPr>
        <p:txBody>
          <a:bodyPr wrap="square" lIns="0" rIns="0" tIns="0" bIns="0" anchor="ctr">
            <a:spAutoFit/>
          </a:bodyPr>
          <a:lstStyle/>
          <a:p>
            <a:pPr algn="l"/>
            <a:r>
              <a:rPr sz="1333" b="0" i="1">
                <a:solidFill>
                  <a:srgbClr val="FFFFFF"/>
                </a:solidFill>
                <a:latin typeface="Verdana"/>
              </a:rPr>
              <a:t>Ihr müsst nicht alle Stufen schaffen. Eine Stufe gut verstanden ist mehr wert als drei halb.</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Vier Challenges.</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TEIL 4 · CHALLENGES</a:t>
            </a:r>
          </a:p>
        </p:txBody>
      </p:sp>
      <p:sp>
        <p:nvSpPr>
          <p:cNvPr id="4" name="Rectangle 3"/>
          <p:cNvSpPr/>
          <p:nvPr/>
        </p:nvSpPr>
        <p:spPr>
          <a:xfrm>
            <a:off x="548640" y="1783080"/>
            <a:ext cx="2635758" cy="40233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2635758" cy="64008"/>
          </a:xfrm>
          <a:prstGeom prst="rect">
            <a:avLst/>
          </a:prstGeom>
          <a:solidFill>
            <a:srgbClr val="DC640D"/>
          </a:solidFill>
          <a:ln>
            <a:noFill/>
          </a:ln>
        </p:spPr>
        <p:txBody>
          <a:bodyPr rtlCol="0" anchor="ctr"/>
          <a:lstStyle/>
          <a:p>
            <a:pPr algn="ctr"/>
          </a:p>
        </p:txBody>
      </p:sp>
      <p:sp>
        <p:nvSpPr>
          <p:cNvPr id="6" name="TextBox 5"/>
          <p:cNvSpPr txBox="1"/>
          <p:nvPr/>
        </p:nvSpPr>
        <p:spPr>
          <a:xfrm>
            <a:off x="777240"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A</a:t>
            </a:r>
          </a:p>
        </p:txBody>
      </p:sp>
      <p:pic>
        <p:nvPicPr>
          <p:cNvPr id="7" name="Picture 6" descr="LuSearchCheck_y.png"/>
          <p:cNvPicPr>
            <a:picLocks noChangeAspect="1"/>
          </p:cNvPicPr>
          <p:nvPr/>
        </p:nvPicPr>
        <p:blipFill>
          <a:blip r:embed="rId3"/>
          <a:stretch>
            <a:fillRect/>
          </a:stretch>
        </p:blipFill>
        <p:spPr>
          <a:xfrm>
            <a:off x="2452878" y="2121408"/>
            <a:ext cx="457200" cy="457200"/>
          </a:xfrm>
          <a:prstGeom prst="rect">
            <a:avLst/>
          </a:prstGeom>
        </p:spPr>
      </p:pic>
      <p:sp>
        <p:nvSpPr>
          <p:cNvPr id="8" name="TextBox 7"/>
          <p:cNvSpPr txBox="1"/>
          <p:nvPr/>
        </p:nvSpPr>
        <p:spPr>
          <a:xfrm>
            <a:off x="777240" y="2788920"/>
            <a:ext cx="2178558" cy="548640"/>
          </a:xfrm>
          <a:prstGeom prst="rect">
            <a:avLst/>
          </a:prstGeom>
          <a:noFill/>
        </p:spPr>
        <p:txBody>
          <a:bodyPr wrap="square" lIns="0" rIns="0" tIns="0" bIns="0" anchor="t">
            <a:spAutoFit/>
          </a:bodyPr>
          <a:lstStyle/>
          <a:p>
            <a:pPr algn="l"/>
            <a:r>
              <a:rPr sz="1467" b="1" i="0">
                <a:solidFill>
                  <a:srgbClr val="FFFFFF"/>
                </a:solidFill>
                <a:latin typeface="Verdana"/>
              </a:rPr>
              <a:t>Referenz-Checker</a:t>
            </a:r>
          </a:p>
        </p:txBody>
      </p:sp>
      <p:sp>
        <p:nvSpPr>
          <p:cNvPr id="9" name="TextBox 8"/>
          <p:cNvSpPr txBox="1"/>
          <p:nvPr/>
        </p:nvSpPr>
        <p:spPr>
          <a:xfrm>
            <a:off x="777240" y="3383280"/>
            <a:ext cx="2178558" cy="914400"/>
          </a:xfrm>
          <a:prstGeom prst="rect">
            <a:avLst/>
          </a:prstGeom>
          <a:noFill/>
        </p:spPr>
        <p:txBody>
          <a:bodyPr wrap="square" lIns="0" rIns="0" tIns="0" bIns="0" anchor="t">
            <a:spAutoFit/>
          </a:bodyPr>
          <a:lstStyle/>
          <a:p>
            <a:pPr algn="l"/>
            <a:r>
              <a:rPr sz="1200" b="0" i="0">
                <a:solidFill>
                  <a:srgbClr val="9A9AAA"/>
                </a:solidFill>
                <a:latin typeface="Verdana"/>
              </a:rPr>
              <a:t>Ein Literaturverzeichnis in einer Minute prüfen</a:t>
            </a:r>
          </a:p>
        </p:txBody>
      </p:sp>
      <p:cxnSp>
        <p:nvCxnSpPr>
          <p:cNvPr id="10" name="Connector 9"/>
          <p:cNvCxnSpPr/>
          <p:nvPr/>
        </p:nvCxnSpPr>
        <p:spPr>
          <a:xfrm>
            <a:off x="777240" y="4297680"/>
            <a:ext cx="2178558" cy="0"/>
          </a:xfrm>
          <a:prstGeom prst="line">
            <a:avLst/>
          </a:prstGeom>
          <a:ln w="6350">
            <a:solidFill>
              <a:srgbClr val="3A3948"/>
            </a:solidFill>
          </a:ln>
        </p:spPr>
      </p:cxnSp>
      <p:sp>
        <p:nvSpPr>
          <p:cNvPr id="11" name="TextBox 10"/>
          <p:cNvSpPr txBox="1"/>
          <p:nvPr/>
        </p:nvSpPr>
        <p:spPr>
          <a:xfrm>
            <a:off x="777240" y="438912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MUSTER</a:t>
            </a:r>
          </a:p>
        </p:txBody>
      </p:sp>
      <p:sp>
        <p:nvSpPr>
          <p:cNvPr id="12" name="TextBox 11"/>
          <p:cNvSpPr txBox="1"/>
          <p:nvPr/>
        </p:nvSpPr>
        <p:spPr>
          <a:xfrm>
            <a:off x="777240" y="4617720"/>
            <a:ext cx="2178558" cy="320040"/>
          </a:xfrm>
          <a:prstGeom prst="rect">
            <a:avLst/>
          </a:prstGeom>
          <a:noFill/>
        </p:spPr>
        <p:txBody>
          <a:bodyPr wrap="square" lIns="0" rIns="0" tIns="0" bIns="0" anchor="t">
            <a:spAutoFit/>
          </a:bodyPr>
          <a:lstStyle/>
          <a:p>
            <a:pPr algn="l"/>
            <a:r>
              <a:rPr sz="1200" b="0" i="0">
                <a:solidFill>
                  <a:srgbClr val="FFFFFF"/>
                </a:solidFill>
                <a:latin typeface="Verdana"/>
              </a:rPr>
              <a:t>Workflow, Ausbau mit Agent</a:t>
            </a:r>
          </a:p>
        </p:txBody>
      </p:sp>
      <p:sp>
        <p:nvSpPr>
          <p:cNvPr id="13" name="TextBox 12"/>
          <p:cNvSpPr txBox="1"/>
          <p:nvPr/>
        </p:nvSpPr>
        <p:spPr>
          <a:xfrm>
            <a:off x="777240" y="498348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14" name="TextBox 13"/>
          <p:cNvSpPr txBox="1"/>
          <p:nvPr/>
        </p:nvSpPr>
        <p:spPr>
          <a:xfrm>
            <a:off x="777240" y="5212080"/>
            <a:ext cx="2178558" cy="548640"/>
          </a:xfrm>
          <a:prstGeom prst="rect">
            <a:avLst/>
          </a:prstGeom>
          <a:noFill/>
        </p:spPr>
        <p:txBody>
          <a:bodyPr wrap="square" lIns="0" rIns="0" tIns="0" bIns="0" anchor="t">
            <a:spAutoFit/>
          </a:bodyPr>
          <a:lstStyle/>
          <a:p>
            <a:pPr algn="l"/>
            <a:r>
              <a:rPr sz="1150" b="0" i="0">
                <a:solidFill>
                  <a:srgbClr val="FFFFFF"/>
                </a:solidFill>
                <a:latin typeface="Verdana"/>
              </a:rPr>
              <a:t>01 Referenz-Checker</a:t>
            </a:r>
          </a:p>
        </p:txBody>
      </p:sp>
      <p:sp>
        <p:nvSpPr>
          <p:cNvPr id="15" name="Rectangle 14"/>
          <p:cNvSpPr/>
          <p:nvPr/>
        </p:nvSpPr>
        <p:spPr>
          <a:xfrm>
            <a:off x="3367278" y="1783080"/>
            <a:ext cx="2635758" cy="4023360"/>
          </a:xfrm>
          <a:prstGeom prst="rect">
            <a:avLst/>
          </a:prstGeom>
          <a:solidFill>
            <a:srgbClr val="24232E"/>
          </a:solidFill>
          <a:ln w="9525">
            <a:solidFill>
              <a:srgbClr val="3A3948"/>
            </a:solidFill>
          </a:ln>
        </p:spPr>
        <p:txBody>
          <a:bodyPr rtlCol="0" anchor="ctr"/>
          <a:lstStyle/>
          <a:p>
            <a:pPr algn="ctr"/>
          </a:p>
        </p:txBody>
      </p:sp>
      <p:sp>
        <p:nvSpPr>
          <p:cNvPr id="16" name="Rectangle 15"/>
          <p:cNvSpPr/>
          <p:nvPr/>
        </p:nvSpPr>
        <p:spPr>
          <a:xfrm>
            <a:off x="3367278" y="1783080"/>
            <a:ext cx="2635758" cy="64008"/>
          </a:xfrm>
          <a:prstGeom prst="rect">
            <a:avLst/>
          </a:prstGeom>
          <a:solidFill>
            <a:srgbClr val="DC640D"/>
          </a:solidFill>
          <a:ln>
            <a:noFill/>
          </a:ln>
        </p:spPr>
        <p:txBody>
          <a:bodyPr rtlCol="0" anchor="ctr"/>
          <a:lstStyle/>
          <a:p>
            <a:pPr algn="ctr"/>
          </a:p>
        </p:txBody>
      </p:sp>
      <p:sp>
        <p:nvSpPr>
          <p:cNvPr id="17" name="TextBox 16"/>
          <p:cNvSpPr txBox="1"/>
          <p:nvPr/>
        </p:nvSpPr>
        <p:spPr>
          <a:xfrm>
            <a:off x="3595878"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B</a:t>
            </a:r>
          </a:p>
        </p:txBody>
      </p:sp>
      <p:pic>
        <p:nvPicPr>
          <p:cNvPr id="18" name="Picture 17" descr="LuFileSearch_y.png"/>
          <p:cNvPicPr>
            <a:picLocks noChangeAspect="1"/>
          </p:cNvPicPr>
          <p:nvPr/>
        </p:nvPicPr>
        <p:blipFill>
          <a:blip r:embed="rId4"/>
          <a:stretch>
            <a:fillRect/>
          </a:stretch>
        </p:blipFill>
        <p:spPr>
          <a:xfrm>
            <a:off x="5271516" y="2121408"/>
            <a:ext cx="457200" cy="457200"/>
          </a:xfrm>
          <a:prstGeom prst="rect">
            <a:avLst/>
          </a:prstGeom>
        </p:spPr>
      </p:pic>
      <p:sp>
        <p:nvSpPr>
          <p:cNvPr id="19" name="TextBox 18"/>
          <p:cNvSpPr txBox="1"/>
          <p:nvPr/>
        </p:nvSpPr>
        <p:spPr>
          <a:xfrm>
            <a:off x="3595878" y="2788920"/>
            <a:ext cx="2178558" cy="548640"/>
          </a:xfrm>
          <a:prstGeom prst="rect">
            <a:avLst/>
          </a:prstGeom>
          <a:noFill/>
        </p:spPr>
        <p:txBody>
          <a:bodyPr wrap="square" lIns="0" rIns="0" tIns="0" bIns="0" anchor="t">
            <a:spAutoFit/>
          </a:bodyPr>
          <a:lstStyle/>
          <a:p>
            <a:pPr algn="l"/>
            <a:r>
              <a:rPr sz="1467" b="1" i="0">
                <a:solidFill>
                  <a:srgbClr val="FFFFFF"/>
                </a:solidFill>
                <a:latin typeface="Verdana"/>
              </a:rPr>
              <a:t>Quellen einer Masterarbeit</a:t>
            </a:r>
          </a:p>
        </p:txBody>
      </p:sp>
      <p:sp>
        <p:nvSpPr>
          <p:cNvPr id="20" name="TextBox 19"/>
          <p:cNvSpPr txBox="1"/>
          <p:nvPr/>
        </p:nvSpPr>
        <p:spPr>
          <a:xfrm>
            <a:off x="3595878" y="3383280"/>
            <a:ext cx="2178558" cy="914400"/>
          </a:xfrm>
          <a:prstGeom prst="rect">
            <a:avLst/>
          </a:prstGeom>
          <a:noFill/>
        </p:spPr>
        <p:txBody>
          <a:bodyPr wrap="square" lIns="0" rIns="0" tIns="0" bIns="0" anchor="t">
            <a:spAutoFit/>
          </a:bodyPr>
          <a:lstStyle/>
          <a:p>
            <a:pPr algn="l"/>
            <a:r>
              <a:rPr sz="1200" b="0" i="0">
                <a:solidFill>
                  <a:srgbClr val="9A9AAA"/>
                </a:solidFill>
                <a:latin typeface="Verdana"/>
              </a:rPr>
              <a:t>Alle Quellen herausziehen, anreichern und analysieren</a:t>
            </a:r>
          </a:p>
        </p:txBody>
      </p:sp>
      <p:cxnSp>
        <p:nvCxnSpPr>
          <p:cNvPr id="21" name="Connector 20"/>
          <p:cNvCxnSpPr/>
          <p:nvPr/>
        </p:nvCxnSpPr>
        <p:spPr>
          <a:xfrm>
            <a:off x="3595878" y="4297680"/>
            <a:ext cx="2178558" cy="0"/>
          </a:xfrm>
          <a:prstGeom prst="line">
            <a:avLst/>
          </a:prstGeom>
          <a:ln w="6350">
            <a:solidFill>
              <a:srgbClr val="3A3948"/>
            </a:solidFill>
          </a:ln>
        </p:spPr>
      </p:cxnSp>
      <p:sp>
        <p:nvSpPr>
          <p:cNvPr id="22" name="TextBox 21"/>
          <p:cNvSpPr txBox="1"/>
          <p:nvPr/>
        </p:nvSpPr>
        <p:spPr>
          <a:xfrm>
            <a:off x="3595878" y="438912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MUSTER</a:t>
            </a:r>
          </a:p>
        </p:txBody>
      </p:sp>
      <p:sp>
        <p:nvSpPr>
          <p:cNvPr id="23" name="TextBox 22"/>
          <p:cNvSpPr txBox="1"/>
          <p:nvPr/>
        </p:nvSpPr>
        <p:spPr>
          <a:xfrm>
            <a:off x="3595878" y="4617720"/>
            <a:ext cx="2178558" cy="320040"/>
          </a:xfrm>
          <a:prstGeom prst="rect">
            <a:avLst/>
          </a:prstGeom>
          <a:noFill/>
        </p:spPr>
        <p:txBody>
          <a:bodyPr wrap="square" lIns="0" rIns="0" tIns="0" bIns="0" anchor="t">
            <a:spAutoFit/>
          </a:bodyPr>
          <a:lstStyle/>
          <a:p>
            <a:pPr algn="l"/>
            <a:r>
              <a:rPr sz="1200" b="0" i="0">
                <a:solidFill>
                  <a:srgbClr val="FFFFFF"/>
                </a:solidFill>
                <a:latin typeface="Verdana"/>
              </a:rPr>
              <a:t>Workflow</a:t>
            </a:r>
          </a:p>
        </p:txBody>
      </p:sp>
      <p:sp>
        <p:nvSpPr>
          <p:cNvPr id="24" name="TextBox 23"/>
          <p:cNvSpPr txBox="1"/>
          <p:nvPr/>
        </p:nvSpPr>
        <p:spPr>
          <a:xfrm>
            <a:off x="3595878" y="498348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25" name="TextBox 24"/>
          <p:cNvSpPr txBox="1"/>
          <p:nvPr/>
        </p:nvSpPr>
        <p:spPr>
          <a:xfrm>
            <a:off x="3595878" y="5212080"/>
            <a:ext cx="2178558" cy="548640"/>
          </a:xfrm>
          <a:prstGeom prst="rect">
            <a:avLst/>
          </a:prstGeom>
          <a:noFill/>
        </p:spPr>
        <p:txBody>
          <a:bodyPr wrap="square" lIns="0" rIns="0" tIns="0" bIns="0" anchor="t">
            <a:spAutoFit/>
          </a:bodyPr>
          <a:lstStyle/>
          <a:p>
            <a:pPr algn="l"/>
            <a:r>
              <a:rPr sz="1150" b="0" i="0">
                <a:solidFill>
                  <a:srgbClr val="FFFFFF"/>
                </a:solidFill>
                <a:latin typeface="Verdana"/>
              </a:rPr>
              <a:t>02 Masterarbeit – Quellen analysieren</a:t>
            </a:r>
          </a:p>
        </p:txBody>
      </p:sp>
      <p:sp>
        <p:nvSpPr>
          <p:cNvPr id="26" name="Rectangle 25"/>
          <p:cNvSpPr/>
          <p:nvPr/>
        </p:nvSpPr>
        <p:spPr>
          <a:xfrm>
            <a:off x="6185916" y="1783080"/>
            <a:ext cx="2635758" cy="4023360"/>
          </a:xfrm>
          <a:prstGeom prst="rect">
            <a:avLst/>
          </a:prstGeom>
          <a:solidFill>
            <a:srgbClr val="24232E"/>
          </a:solidFill>
          <a:ln w="9525">
            <a:solidFill>
              <a:srgbClr val="3A3948"/>
            </a:solidFill>
          </a:ln>
        </p:spPr>
        <p:txBody>
          <a:bodyPr rtlCol="0" anchor="ctr"/>
          <a:lstStyle/>
          <a:p>
            <a:pPr algn="ctr"/>
          </a:p>
        </p:txBody>
      </p:sp>
      <p:sp>
        <p:nvSpPr>
          <p:cNvPr id="27" name="Rectangle 26"/>
          <p:cNvSpPr/>
          <p:nvPr/>
        </p:nvSpPr>
        <p:spPr>
          <a:xfrm>
            <a:off x="6185916" y="1783080"/>
            <a:ext cx="2635758" cy="64008"/>
          </a:xfrm>
          <a:prstGeom prst="rect">
            <a:avLst/>
          </a:prstGeom>
          <a:solidFill>
            <a:srgbClr val="DC640D"/>
          </a:solidFill>
          <a:ln>
            <a:noFill/>
          </a:ln>
        </p:spPr>
        <p:txBody>
          <a:bodyPr rtlCol="0" anchor="ctr"/>
          <a:lstStyle/>
          <a:p>
            <a:pPr algn="ctr"/>
          </a:p>
        </p:txBody>
      </p:sp>
      <p:sp>
        <p:nvSpPr>
          <p:cNvPr id="28" name="TextBox 27"/>
          <p:cNvSpPr txBox="1"/>
          <p:nvPr/>
        </p:nvSpPr>
        <p:spPr>
          <a:xfrm>
            <a:off x="6414516"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C</a:t>
            </a:r>
          </a:p>
        </p:txBody>
      </p:sp>
      <p:pic>
        <p:nvPicPr>
          <p:cNvPr id="29" name="Picture 28" descr="LuBookOpen_y.png"/>
          <p:cNvPicPr>
            <a:picLocks noChangeAspect="1"/>
          </p:cNvPicPr>
          <p:nvPr/>
        </p:nvPicPr>
        <p:blipFill>
          <a:blip r:embed="rId5"/>
          <a:stretch>
            <a:fillRect/>
          </a:stretch>
        </p:blipFill>
        <p:spPr>
          <a:xfrm>
            <a:off x="8090154" y="2121408"/>
            <a:ext cx="457200" cy="457200"/>
          </a:xfrm>
          <a:prstGeom prst="rect">
            <a:avLst/>
          </a:prstGeom>
        </p:spPr>
      </p:pic>
      <p:sp>
        <p:nvSpPr>
          <p:cNvPr id="30" name="TextBox 29"/>
          <p:cNvSpPr txBox="1"/>
          <p:nvPr/>
        </p:nvSpPr>
        <p:spPr>
          <a:xfrm>
            <a:off x="6414516" y="2788920"/>
            <a:ext cx="2178558" cy="548640"/>
          </a:xfrm>
          <a:prstGeom prst="rect">
            <a:avLst/>
          </a:prstGeom>
          <a:noFill/>
        </p:spPr>
        <p:txBody>
          <a:bodyPr wrap="square" lIns="0" rIns="0" tIns="0" bIns="0" anchor="t">
            <a:spAutoFit/>
          </a:bodyPr>
          <a:lstStyle/>
          <a:p>
            <a:pPr algn="l"/>
            <a:r>
              <a:rPr sz="1467" b="1" i="0">
                <a:solidFill>
                  <a:srgbClr val="FFFFFF"/>
                </a:solidFill>
                <a:latin typeface="Verdana"/>
              </a:rPr>
              <a:t>Literaturüberblick</a:t>
            </a:r>
          </a:p>
        </p:txBody>
      </p:sp>
      <p:sp>
        <p:nvSpPr>
          <p:cNvPr id="31" name="TextBox 30"/>
          <p:cNvSpPr txBox="1"/>
          <p:nvPr/>
        </p:nvSpPr>
        <p:spPr>
          <a:xfrm>
            <a:off x="6414516" y="3383280"/>
            <a:ext cx="2178558" cy="914400"/>
          </a:xfrm>
          <a:prstGeom prst="rect">
            <a:avLst/>
          </a:prstGeom>
          <a:noFill/>
        </p:spPr>
        <p:txBody>
          <a:bodyPr wrap="square" lIns="0" rIns="0" tIns="0" bIns="0" anchor="t">
            <a:spAutoFit/>
          </a:bodyPr>
          <a:lstStyle/>
          <a:p>
            <a:pPr algn="l"/>
            <a:r>
              <a:rPr sz="1200" b="0" i="0">
                <a:solidFill>
                  <a:srgbClr val="9A9AAA"/>
                </a:solidFill>
                <a:latin typeface="Verdana"/>
              </a:rPr>
              <a:t>Literatur verlagsübergreifend sammeln und Forschungslücken finden</a:t>
            </a:r>
          </a:p>
        </p:txBody>
      </p:sp>
      <p:cxnSp>
        <p:nvCxnSpPr>
          <p:cNvPr id="32" name="Connector 31"/>
          <p:cNvCxnSpPr/>
          <p:nvPr/>
        </p:nvCxnSpPr>
        <p:spPr>
          <a:xfrm>
            <a:off x="6414516" y="4297680"/>
            <a:ext cx="2178558" cy="0"/>
          </a:xfrm>
          <a:prstGeom prst="line">
            <a:avLst/>
          </a:prstGeom>
          <a:ln w="6350">
            <a:solidFill>
              <a:srgbClr val="3A3948"/>
            </a:solidFill>
          </a:ln>
        </p:spPr>
      </p:cxnSp>
      <p:sp>
        <p:nvSpPr>
          <p:cNvPr id="33" name="TextBox 32"/>
          <p:cNvSpPr txBox="1"/>
          <p:nvPr/>
        </p:nvSpPr>
        <p:spPr>
          <a:xfrm>
            <a:off x="6414516" y="438912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MUSTER</a:t>
            </a:r>
          </a:p>
        </p:txBody>
      </p:sp>
      <p:sp>
        <p:nvSpPr>
          <p:cNvPr id="34" name="TextBox 33"/>
          <p:cNvSpPr txBox="1"/>
          <p:nvPr/>
        </p:nvSpPr>
        <p:spPr>
          <a:xfrm>
            <a:off x="6414516" y="4617720"/>
            <a:ext cx="2178558" cy="320040"/>
          </a:xfrm>
          <a:prstGeom prst="rect">
            <a:avLst/>
          </a:prstGeom>
          <a:noFill/>
        </p:spPr>
        <p:txBody>
          <a:bodyPr wrap="square" lIns="0" rIns="0" tIns="0" bIns="0" anchor="t">
            <a:spAutoFit/>
          </a:bodyPr>
          <a:lstStyle/>
          <a:p>
            <a:pPr algn="l"/>
            <a:r>
              <a:rPr sz="1200" b="0" i="0">
                <a:solidFill>
                  <a:srgbClr val="FFFFFF"/>
                </a:solidFill>
                <a:latin typeface="Verdana"/>
              </a:rPr>
              <a:t>Workflow, Ausbau agentisch</a:t>
            </a:r>
          </a:p>
        </p:txBody>
      </p:sp>
      <p:sp>
        <p:nvSpPr>
          <p:cNvPr id="35" name="TextBox 34"/>
          <p:cNvSpPr txBox="1"/>
          <p:nvPr/>
        </p:nvSpPr>
        <p:spPr>
          <a:xfrm>
            <a:off x="6414516" y="498348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36" name="TextBox 35"/>
          <p:cNvSpPr txBox="1"/>
          <p:nvPr/>
        </p:nvSpPr>
        <p:spPr>
          <a:xfrm>
            <a:off x="6414516" y="5212080"/>
            <a:ext cx="2178558" cy="548640"/>
          </a:xfrm>
          <a:prstGeom prst="rect">
            <a:avLst/>
          </a:prstGeom>
          <a:noFill/>
        </p:spPr>
        <p:txBody>
          <a:bodyPr wrap="square" lIns="0" rIns="0" tIns="0" bIns="0" anchor="t">
            <a:spAutoFit/>
          </a:bodyPr>
          <a:lstStyle/>
          <a:p>
            <a:pPr algn="l"/>
            <a:r>
              <a:rPr sz="1150" b="0" i="0">
                <a:solidFill>
                  <a:srgbClr val="FFFFFF"/>
                </a:solidFill>
                <a:latin typeface="Verdana"/>
              </a:rPr>
              <a:t>03 Literaturreview – Forschungslücken finden</a:t>
            </a:r>
          </a:p>
        </p:txBody>
      </p:sp>
      <p:sp>
        <p:nvSpPr>
          <p:cNvPr id="37" name="Rectangle 36"/>
          <p:cNvSpPr/>
          <p:nvPr/>
        </p:nvSpPr>
        <p:spPr>
          <a:xfrm>
            <a:off x="9004554" y="1783080"/>
            <a:ext cx="2635758" cy="4023360"/>
          </a:xfrm>
          <a:prstGeom prst="rect">
            <a:avLst/>
          </a:prstGeom>
          <a:solidFill>
            <a:srgbClr val="24232E"/>
          </a:solidFill>
          <a:ln w="9525">
            <a:solidFill>
              <a:srgbClr val="3A3948"/>
            </a:solidFill>
          </a:ln>
        </p:spPr>
        <p:txBody>
          <a:bodyPr rtlCol="0" anchor="ctr"/>
          <a:lstStyle/>
          <a:p>
            <a:pPr algn="ctr"/>
          </a:p>
        </p:txBody>
      </p:sp>
      <p:sp>
        <p:nvSpPr>
          <p:cNvPr id="38" name="Rectangle 37"/>
          <p:cNvSpPr/>
          <p:nvPr/>
        </p:nvSpPr>
        <p:spPr>
          <a:xfrm>
            <a:off x="9004554" y="1783080"/>
            <a:ext cx="2635758" cy="64008"/>
          </a:xfrm>
          <a:prstGeom prst="rect">
            <a:avLst/>
          </a:prstGeom>
          <a:solidFill>
            <a:srgbClr val="DC640D"/>
          </a:solidFill>
          <a:ln>
            <a:noFill/>
          </a:ln>
        </p:spPr>
        <p:txBody>
          <a:bodyPr rtlCol="0" anchor="ctr"/>
          <a:lstStyle/>
          <a:p>
            <a:pPr algn="ctr"/>
          </a:p>
        </p:txBody>
      </p:sp>
      <p:sp>
        <p:nvSpPr>
          <p:cNvPr id="39" name="TextBox 38"/>
          <p:cNvSpPr txBox="1"/>
          <p:nvPr/>
        </p:nvSpPr>
        <p:spPr>
          <a:xfrm>
            <a:off x="9233154" y="2011680"/>
            <a:ext cx="914400" cy="685800"/>
          </a:xfrm>
          <a:prstGeom prst="rect">
            <a:avLst/>
          </a:prstGeom>
          <a:noFill/>
        </p:spPr>
        <p:txBody>
          <a:bodyPr wrap="square" lIns="0" rIns="0" tIns="0" bIns="0" anchor="ctr">
            <a:spAutoFit/>
          </a:bodyPr>
          <a:lstStyle/>
          <a:p>
            <a:pPr algn="l"/>
            <a:r>
              <a:rPr sz="4000" b="1" i="0">
                <a:solidFill>
                  <a:srgbClr val="DC640D"/>
                </a:solidFill>
                <a:latin typeface="Verdana"/>
              </a:rPr>
              <a:t>D</a:t>
            </a:r>
          </a:p>
        </p:txBody>
      </p:sp>
      <p:pic>
        <p:nvPicPr>
          <p:cNvPr id="40" name="Picture 39" descr="LuLightbulb_y.png"/>
          <p:cNvPicPr>
            <a:picLocks noChangeAspect="1"/>
          </p:cNvPicPr>
          <p:nvPr/>
        </p:nvPicPr>
        <p:blipFill>
          <a:blip r:embed="rId6"/>
          <a:stretch>
            <a:fillRect/>
          </a:stretch>
        </p:blipFill>
        <p:spPr>
          <a:xfrm>
            <a:off x="10908792" y="2121408"/>
            <a:ext cx="457200" cy="457200"/>
          </a:xfrm>
          <a:prstGeom prst="rect">
            <a:avLst/>
          </a:prstGeom>
        </p:spPr>
      </p:pic>
      <p:sp>
        <p:nvSpPr>
          <p:cNvPr id="41" name="TextBox 40"/>
          <p:cNvSpPr txBox="1"/>
          <p:nvPr/>
        </p:nvSpPr>
        <p:spPr>
          <a:xfrm>
            <a:off x="9233154" y="2788920"/>
            <a:ext cx="2178558" cy="548640"/>
          </a:xfrm>
          <a:prstGeom prst="rect">
            <a:avLst/>
          </a:prstGeom>
          <a:noFill/>
        </p:spPr>
        <p:txBody>
          <a:bodyPr wrap="square" lIns="0" rIns="0" tIns="0" bIns="0" anchor="t">
            <a:spAutoFit/>
          </a:bodyPr>
          <a:lstStyle/>
          <a:p>
            <a:pPr algn="l"/>
            <a:r>
              <a:rPr sz="1467" b="1" i="0">
                <a:solidFill>
                  <a:srgbClr val="FFFFFF"/>
                </a:solidFill>
                <a:latin typeface="Verdana"/>
              </a:rPr>
              <a:t>Eure eigene Idee</a:t>
            </a:r>
          </a:p>
        </p:txBody>
      </p:sp>
      <p:sp>
        <p:nvSpPr>
          <p:cNvPr id="42" name="TextBox 41"/>
          <p:cNvSpPr txBox="1"/>
          <p:nvPr/>
        </p:nvSpPr>
        <p:spPr>
          <a:xfrm>
            <a:off x="9233154" y="3383280"/>
            <a:ext cx="2178558" cy="914400"/>
          </a:xfrm>
          <a:prstGeom prst="rect">
            <a:avLst/>
          </a:prstGeom>
          <a:noFill/>
        </p:spPr>
        <p:txBody>
          <a:bodyPr wrap="square" lIns="0" rIns="0" tIns="0" bIns="0" anchor="t">
            <a:spAutoFit/>
          </a:bodyPr>
          <a:lstStyle/>
          <a:p>
            <a:pPr algn="l"/>
            <a:r>
              <a:rPr sz="1200" b="0" i="0">
                <a:solidFill>
                  <a:srgbClr val="9A9AAA"/>
                </a:solidFill>
                <a:latin typeface="Verdana"/>
              </a:rPr>
              <a:t>Ein Problem aus eurem Alltag, das euch schon lange ärgert</a:t>
            </a:r>
          </a:p>
        </p:txBody>
      </p:sp>
      <p:cxnSp>
        <p:nvCxnSpPr>
          <p:cNvPr id="43" name="Connector 42"/>
          <p:cNvCxnSpPr/>
          <p:nvPr/>
        </p:nvCxnSpPr>
        <p:spPr>
          <a:xfrm>
            <a:off x="9233154" y="4297680"/>
            <a:ext cx="2178558" cy="0"/>
          </a:xfrm>
          <a:prstGeom prst="line">
            <a:avLst/>
          </a:prstGeom>
          <a:ln w="6350">
            <a:solidFill>
              <a:srgbClr val="3A3948"/>
            </a:solidFill>
          </a:ln>
        </p:spPr>
      </p:cxnSp>
      <p:sp>
        <p:nvSpPr>
          <p:cNvPr id="44" name="TextBox 43"/>
          <p:cNvSpPr txBox="1"/>
          <p:nvPr/>
        </p:nvSpPr>
        <p:spPr>
          <a:xfrm>
            <a:off x="9233154" y="438912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MUSTER</a:t>
            </a:r>
          </a:p>
        </p:txBody>
      </p:sp>
      <p:sp>
        <p:nvSpPr>
          <p:cNvPr id="45" name="TextBox 44"/>
          <p:cNvSpPr txBox="1"/>
          <p:nvPr/>
        </p:nvSpPr>
        <p:spPr>
          <a:xfrm>
            <a:off x="9233154" y="4617720"/>
            <a:ext cx="2178558" cy="320040"/>
          </a:xfrm>
          <a:prstGeom prst="rect">
            <a:avLst/>
          </a:prstGeom>
          <a:noFill/>
        </p:spPr>
        <p:txBody>
          <a:bodyPr wrap="square" lIns="0" rIns="0" tIns="0" bIns="0" anchor="t">
            <a:spAutoFit/>
          </a:bodyPr>
          <a:lstStyle/>
          <a:p>
            <a:pPr algn="l"/>
            <a:r>
              <a:rPr sz="1200" b="0" i="0">
                <a:solidFill>
                  <a:srgbClr val="FFFFFF"/>
                </a:solidFill>
                <a:latin typeface="Verdana"/>
              </a:rPr>
              <a:t>frei</a:t>
            </a:r>
          </a:p>
        </p:txBody>
      </p:sp>
      <p:sp>
        <p:nvSpPr>
          <p:cNvPr id="46" name="TextBox 45"/>
          <p:cNvSpPr txBox="1"/>
          <p:nvPr/>
        </p:nvSpPr>
        <p:spPr>
          <a:xfrm>
            <a:off x="9233154" y="4983480"/>
            <a:ext cx="2178558"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47" name="TextBox 46"/>
          <p:cNvSpPr txBox="1"/>
          <p:nvPr/>
        </p:nvSpPr>
        <p:spPr>
          <a:xfrm>
            <a:off x="9233154" y="5212080"/>
            <a:ext cx="2178558" cy="548640"/>
          </a:xfrm>
          <a:prstGeom prst="rect">
            <a:avLst/>
          </a:prstGeom>
          <a:noFill/>
        </p:spPr>
        <p:txBody>
          <a:bodyPr wrap="square" lIns="0" rIns="0" tIns="0" bIns="0" anchor="t">
            <a:spAutoFit/>
          </a:bodyPr>
          <a:lstStyle/>
          <a:p>
            <a:pPr algn="l"/>
            <a:r>
              <a:rPr sz="1150" b="0" i="0">
                <a:solidFill>
                  <a:srgbClr val="FFFFFF"/>
                </a:solidFill>
                <a:latin typeface="Verdana"/>
              </a:rPr>
              <a:t>freie Wahl, z. B. 04 oder 05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Der Referenz-Checker.</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CHALLENGE A</a:t>
            </a:r>
          </a:p>
        </p:txBody>
      </p:sp>
      <p:sp>
        <p:nvSpPr>
          <p:cNvPr id="4" name="TextBox 3"/>
          <p:cNvSpPr txBox="1"/>
          <p:nvPr/>
        </p:nvSpPr>
        <p:spPr>
          <a:xfrm>
            <a:off x="548640" y="1783080"/>
            <a:ext cx="4114800" cy="685800"/>
          </a:xfrm>
          <a:prstGeom prst="rect">
            <a:avLst/>
          </a:prstGeom>
          <a:noFill/>
        </p:spPr>
        <p:txBody>
          <a:bodyPr wrap="square" lIns="0" rIns="0" tIns="0" bIns="0" anchor="t">
            <a:spAutoFit/>
          </a:bodyPr>
          <a:lstStyle/>
          <a:p>
            <a:pPr algn="l"/>
            <a:r>
              <a:rPr sz="1467" b="0" i="1">
                <a:solidFill>
                  <a:srgbClr val="DC640D"/>
                </a:solidFill>
                <a:latin typeface="Verdana"/>
              </a:rPr>
              <a:t>„Die Studentin schwört, dass es den Artikel gibt.“</a:t>
            </a:r>
          </a:p>
        </p:txBody>
      </p:sp>
      <p:sp>
        <p:nvSpPr>
          <p:cNvPr id="5" name="TextBox 4"/>
          <p:cNvSpPr txBox="1"/>
          <p:nvPr/>
        </p:nvSpPr>
        <p:spPr>
          <a:xfrm>
            <a:off x="548640" y="2560320"/>
            <a:ext cx="4114800" cy="1051560"/>
          </a:xfrm>
          <a:prstGeom prst="rect">
            <a:avLst/>
          </a:prstGeom>
          <a:noFill/>
        </p:spPr>
        <p:txBody>
          <a:bodyPr wrap="square" lIns="0" rIns="0" tIns="0" bIns="0" anchor="t">
            <a:spAutoFit/>
          </a:bodyPr>
          <a:lstStyle/>
          <a:p>
            <a:pPr algn="l"/>
            <a:r>
              <a:rPr sz="1333" b="0" i="0">
                <a:solidFill>
                  <a:srgbClr val="FFFFFF"/>
                </a:solidFill>
                <a:latin typeface="Verdana"/>
              </a:rPr>
              <a:t>Ein Werkzeug, mit dem Auskunft, Schreibberatung oder Studierende ein Literaturverzeichnis in einer Minute prüfen.</a:t>
            </a:r>
          </a:p>
        </p:txBody>
      </p:sp>
      <p:cxnSp>
        <p:nvCxnSpPr>
          <p:cNvPr id="6" name="Connector 5"/>
          <p:cNvCxnSpPr/>
          <p:nvPr/>
        </p:nvCxnSpPr>
        <p:spPr>
          <a:xfrm>
            <a:off x="548640" y="3749039"/>
            <a:ext cx="4114800" cy="0"/>
          </a:xfrm>
          <a:prstGeom prst="line">
            <a:avLst/>
          </a:prstGeom>
          <a:ln w="6350">
            <a:solidFill>
              <a:srgbClr val="3A3948"/>
            </a:solidFill>
          </a:ln>
        </p:spPr>
      </p:cxnSp>
      <p:sp>
        <p:nvSpPr>
          <p:cNvPr id="7" name="TextBox 6"/>
          <p:cNvSpPr txBox="1"/>
          <p:nvPr/>
        </p:nvSpPr>
        <p:spPr>
          <a:xfrm>
            <a:off x="548640" y="3886200"/>
            <a:ext cx="4114800"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8" name="TextBox 7"/>
          <p:cNvSpPr txBox="1"/>
          <p:nvPr/>
        </p:nvSpPr>
        <p:spPr>
          <a:xfrm>
            <a:off x="548640" y="4142232"/>
            <a:ext cx="4114800" cy="548640"/>
          </a:xfrm>
          <a:prstGeom prst="rect">
            <a:avLst/>
          </a:prstGeom>
          <a:noFill/>
        </p:spPr>
        <p:txBody>
          <a:bodyPr wrap="square" lIns="0" rIns="0" tIns="0" bIns="0" anchor="t">
            <a:spAutoFit/>
          </a:bodyPr>
          <a:lstStyle/>
          <a:p>
            <a:pPr algn="l"/>
            <a:r>
              <a:rPr sz="1333" b="1" i="0">
                <a:solidFill>
                  <a:srgbClr val="FFFFFF"/>
                </a:solidFill>
                <a:latin typeface="Verdana"/>
              </a:rPr>
              <a:t>01 Referenz-Checker</a:t>
            </a:r>
          </a:p>
        </p:txBody>
      </p:sp>
      <p:sp>
        <p:nvSpPr>
          <p:cNvPr id="9" name="TextBox 8"/>
          <p:cNvSpPr txBox="1"/>
          <p:nvPr/>
        </p:nvSpPr>
        <p:spPr>
          <a:xfrm>
            <a:off x="548640" y="4800600"/>
            <a:ext cx="4114800" cy="228600"/>
          </a:xfrm>
          <a:prstGeom prst="rect">
            <a:avLst/>
          </a:prstGeom>
          <a:noFill/>
        </p:spPr>
        <p:txBody>
          <a:bodyPr wrap="square" lIns="0" rIns="0" tIns="0" bIns="0" anchor="t">
            <a:spAutoFit/>
          </a:bodyPr>
          <a:lstStyle/>
          <a:p>
            <a:pPr algn="l"/>
            <a:r>
              <a:rPr sz="933" b="1" i="0" spc="300">
                <a:solidFill>
                  <a:srgbClr val="F6A800"/>
                </a:solidFill>
                <a:latin typeface="Verdana"/>
              </a:rPr>
              <a:t>DATEN</a:t>
            </a:r>
          </a:p>
        </p:txBody>
      </p:sp>
      <p:sp>
        <p:nvSpPr>
          <p:cNvPr id="10" name="TextBox 9"/>
          <p:cNvSpPr txBox="1"/>
          <p:nvPr/>
        </p:nvSpPr>
        <p:spPr>
          <a:xfrm>
            <a:off x="548640" y="5056632"/>
            <a:ext cx="4114800" cy="731520"/>
          </a:xfrm>
          <a:prstGeom prst="rect">
            <a:avLst/>
          </a:prstGeom>
          <a:noFill/>
        </p:spPr>
        <p:txBody>
          <a:bodyPr wrap="square" lIns="0" rIns="0" tIns="0" bIns="0" anchor="t">
            <a:spAutoFit/>
          </a:bodyPr>
          <a:lstStyle/>
          <a:p>
            <a:pPr algn="l"/>
            <a:r>
              <a:rPr sz="1200" b="0" i="0">
                <a:solidFill>
                  <a:srgbClr val="9A9AAA"/>
                </a:solidFill>
                <a:latin typeface="Verdana"/>
              </a:rPr>
              <a:t>Testliste mit zehn fehlerhaften Angaben, Beispiel-Masterarbeit (PDF)</a:t>
            </a:r>
          </a:p>
        </p:txBody>
      </p:sp>
      <p:sp>
        <p:nvSpPr>
          <p:cNvPr id="11" name="Rectangle 10"/>
          <p:cNvSpPr/>
          <p:nvPr/>
        </p:nvSpPr>
        <p:spPr>
          <a:xfrm>
            <a:off x="5074920" y="1783080"/>
            <a:ext cx="6565392" cy="868680"/>
          </a:xfrm>
          <a:prstGeom prst="rect">
            <a:avLst/>
          </a:prstGeom>
          <a:solidFill>
            <a:srgbClr val="24232E"/>
          </a:solidFill>
          <a:ln w="9525">
            <a:solidFill>
              <a:srgbClr val="3A3948"/>
            </a:solidFill>
          </a:ln>
        </p:spPr>
        <p:txBody>
          <a:bodyPr rtlCol="0" anchor="ctr"/>
          <a:lstStyle/>
          <a:p>
            <a:pPr algn="ctr"/>
          </a:p>
        </p:txBody>
      </p:sp>
      <p:sp>
        <p:nvSpPr>
          <p:cNvPr id="12" name="Oval 11"/>
          <p:cNvSpPr/>
          <p:nvPr/>
        </p:nvSpPr>
        <p:spPr>
          <a:xfrm>
            <a:off x="5303520" y="1965960"/>
            <a:ext cx="274320" cy="274320"/>
          </a:xfrm>
          <a:prstGeom prst="ellipse">
            <a:avLst/>
          </a:prstGeom>
          <a:solidFill>
            <a:srgbClr val="18E979"/>
          </a:solidFill>
          <a:ln>
            <a:noFill/>
          </a:ln>
        </p:spPr>
        <p:txBody>
          <a:bodyPr rtlCol="0" anchor="ctr"/>
          <a:lstStyle/>
          <a:p>
            <a:pPr algn="ctr"/>
          </a:p>
        </p:txBody>
      </p:sp>
      <p:sp>
        <p:nvSpPr>
          <p:cNvPr id="13" name="TextBox 12"/>
          <p:cNvSpPr txBox="1"/>
          <p:nvPr/>
        </p:nvSpPr>
        <p:spPr>
          <a:xfrm>
            <a:off x="5760720" y="1920240"/>
            <a:ext cx="2286000" cy="365760"/>
          </a:xfrm>
          <a:prstGeom prst="rect">
            <a:avLst/>
          </a:prstGeom>
          <a:noFill/>
        </p:spPr>
        <p:txBody>
          <a:bodyPr wrap="square" lIns="0" rIns="0" tIns="0" bIns="0" anchor="ctr">
            <a:spAutoFit/>
          </a:bodyPr>
          <a:lstStyle/>
          <a:p>
            <a:pPr algn="l"/>
            <a:r>
              <a:rPr sz="1333" b="1" i="0">
                <a:solidFill>
                  <a:srgbClr val="FFFFFF"/>
                </a:solidFill>
                <a:latin typeface="Verdana"/>
              </a:rPr>
              <a:t>Einstieg</a:t>
            </a:r>
          </a:p>
        </p:txBody>
      </p:sp>
      <p:sp>
        <p:nvSpPr>
          <p:cNvPr id="14" name="TextBox 13"/>
          <p:cNvSpPr txBox="1"/>
          <p:nvPr/>
        </p:nvSpPr>
        <p:spPr>
          <a:xfrm>
            <a:off x="7269479" y="1920240"/>
            <a:ext cx="4187952" cy="640080"/>
          </a:xfrm>
          <a:prstGeom prst="rect">
            <a:avLst/>
          </a:prstGeom>
          <a:noFill/>
        </p:spPr>
        <p:txBody>
          <a:bodyPr wrap="square" lIns="0" rIns="0" tIns="0" bIns="0" anchor="t">
            <a:spAutoFit/>
          </a:bodyPr>
          <a:lstStyle/>
          <a:p>
            <a:pPr algn="l"/>
            <a:r>
              <a:rPr sz="1200" b="0" i="0">
                <a:solidFill>
                  <a:srgbClr val="9A9AAA"/>
                </a:solidFill>
                <a:latin typeface="Verdana"/>
              </a:rPr>
              <a:t>Bericht direkt an die Studentin schreiben lassen: freundlich und mit konkreten Korrekturen</a:t>
            </a:r>
          </a:p>
        </p:txBody>
      </p:sp>
      <p:sp>
        <p:nvSpPr>
          <p:cNvPr id="15" name="Rectangle 14"/>
          <p:cNvSpPr/>
          <p:nvPr/>
        </p:nvSpPr>
        <p:spPr>
          <a:xfrm>
            <a:off x="5074920" y="2770632"/>
            <a:ext cx="6565392" cy="868680"/>
          </a:xfrm>
          <a:prstGeom prst="rect">
            <a:avLst/>
          </a:prstGeom>
          <a:solidFill>
            <a:srgbClr val="24232E"/>
          </a:solidFill>
          <a:ln w="9525">
            <a:solidFill>
              <a:srgbClr val="3A3948"/>
            </a:solidFill>
          </a:ln>
        </p:spPr>
        <p:txBody>
          <a:bodyPr rtlCol="0" anchor="ctr"/>
          <a:lstStyle/>
          <a:p>
            <a:pPr algn="ctr"/>
          </a:p>
        </p:txBody>
      </p:sp>
      <p:sp>
        <p:nvSpPr>
          <p:cNvPr id="16" name="Oval 15"/>
          <p:cNvSpPr/>
          <p:nvPr/>
        </p:nvSpPr>
        <p:spPr>
          <a:xfrm>
            <a:off x="5303520" y="2953512"/>
            <a:ext cx="274320" cy="274320"/>
          </a:xfrm>
          <a:prstGeom prst="ellipse">
            <a:avLst/>
          </a:prstGeom>
          <a:solidFill>
            <a:srgbClr val="F6A800"/>
          </a:solidFill>
          <a:ln>
            <a:noFill/>
          </a:ln>
        </p:spPr>
        <p:txBody>
          <a:bodyPr rtlCol="0" anchor="ctr"/>
          <a:lstStyle/>
          <a:p>
            <a:pPr algn="ctr"/>
          </a:p>
        </p:txBody>
      </p:sp>
      <p:sp>
        <p:nvSpPr>
          <p:cNvPr id="17" name="TextBox 16"/>
          <p:cNvSpPr txBox="1"/>
          <p:nvPr/>
        </p:nvSpPr>
        <p:spPr>
          <a:xfrm>
            <a:off x="5760720" y="2907792"/>
            <a:ext cx="2286000" cy="365760"/>
          </a:xfrm>
          <a:prstGeom prst="rect">
            <a:avLst/>
          </a:prstGeom>
          <a:noFill/>
        </p:spPr>
        <p:txBody>
          <a:bodyPr wrap="square" lIns="0" rIns="0" tIns="0" bIns="0" anchor="ctr">
            <a:spAutoFit/>
          </a:bodyPr>
          <a:lstStyle/>
          <a:p>
            <a:pPr algn="l"/>
            <a:r>
              <a:rPr sz="1333" b="1" i="0">
                <a:solidFill>
                  <a:srgbClr val="FFFFFF"/>
                </a:solidFill>
                <a:latin typeface="Verdana"/>
              </a:rPr>
              <a:t>Ausbau</a:t>
            </a:r>
          </a:p>
        </p:txBody>
      </p:sp>
      <p:sp>
        <p:nvSpPr>
          <p:cNvPr id="18" name="TextBox 17"/>
          <p:cNvSpPr txBox="1"/>
          <p:nvPr/>
        </p:nvSpPr>
        <p:spPr>
          <a:xfrm>
            <a:off x="7269479" y="2907792"/>
            <a:ext cx="4187952" cy="640080"/>
          </a:xfrm>
          <a:prstGeom prst="rect">
            <a:avLst/>
          </a:prstGeom>
          <a:noFill/>
        </p:spPr>
        <p:txBody>
          <a:bodyPr wrap="square" lIns="0" rIns="0" tIns="0" bIns="0" anchor="t">
            <a:spAutoFit/>
          </a:bodyPr>
          <a:lstStyle/>
          <a:p>
            <a:pPr algn="l"/>
            <a:r>
              <a:rPr sz="1200" b="0" i="0">
                <a:solidFill>
                  <a:srgbClr val="9A9AAA"/>
                </a:solidFill>
                <a:latin typeface="Verdana"/>
              </a:rPr>
              <a:t>PDF statt Text hochladen, den Zitierstil prüfen, Bücher in der Katalogsuche nachschlagen</a:t>
            </a:r>
          </a:p>
        </p:txBody>
      </p:sp>
      <p:sp>
        <p:nvSpPr>
          <p:cNvPr id="19" name="Rectangle 18"/>
          <p:cNvSpPr/>
          <p:nvPr/>
        </p:nvSpPr>
        <p:spPr>
          <a:xfrm>
            <a:off x="5074920" y="3758184"/>
            <a:ext cx="6565392" cy="868680"/>
          </a:xfrm>
          <a:prstGeom prst="rect">
            <a:avLst/>
          </a:prstGeom>
          <a:solidFill>
            <a:srgbClr val="24232E"/>
          </a:solidFill>
          <a:ln w="9525">
            <a:solidFill>
              <a:srgbClr val="3A3948"/>
            </a:solidFill>
          </a:ln>
        </p:spPr>
        <p:txBody>
          <a:bodyPr rtlCol="0" anchor="ctr"/>
          <a:lstStyle/>
          <a:p>
            <a:pPr algn="ctr"/>
          </a:p>
        </p:txBody>
      </p:sp>
      <p:sp>
        <p:nvSpPr>
          <p:cNvPr id="20" name="Oval 19"/>
          <p:cNvSpPr/>
          <p:nvPr/>
        </p:nvSpPr>
        <p:spPr>
          <a:xfrm>
            <a:off x="5303520" y="3941064"/>
            <a:ext cx="274320" cy="274320"/>
          </a:xfrm>
          <a:prstGeom prst="ellipse">
            <a:avLst/>
          </a:prstGeom>
          <a:solidFill>
            <a:srgbClr val="B1063A"/>
          </a:solidFill>
          <a:ln>
            <a:noFill/>
          </a:ln>
        </p:spPr>
        <p:txBody>
          <a:bodyPr rtlCol="0" anchor="ctr"/>
          <a:lstStyle/>
          <a:p>
            <a:pPr algn="ctr"/>
          </a:p>
        </p:txBody>
      </p:sp>
      <p:sp>
        <p:nvSpPr>
          <p:cNvPr id="21" name="TextBox 20"/>
          <p:cNvSpPr txBox="1"/>
          <p:nvPr/>
        </p:nvSpPr>
        <p:spPr>
          <a:xfrm>
            <a:off x="5760720" y="3895344"/>
            <a:ext cx="2286000" cy="365760"/>
          </a:xfrm>
          <a:prstGeom prst="rect">
            <a:avLst/>
          </a:prstGeom>
          <a:noFill/>
        </p:spPr>
        <p:txBody>
          <a:bodyPr wrap="square" lIns="0" rIns="0" tIns="0" bIns="0" anchor="ctr">
            <a:spAutoFit/>
          </a:bodyPr>
          <a:lstStyle/>
          <a:p>
            <a:pPr algn="l"/>
            <a:r>
              <a:rPr sz="1333" b="1" i="0">
                <a:solidFill>
                  <a:srgbClr val="FFFFFF"/>
                </a:solidFill>
                <a:latin typeface="Verdana"/>
              </a:rPr>
              <a:t>Vertiefung</a:t>
            </a:r>
          </a:p>
        </p:txBody>
      </p:sp>
      <p:sp>
        <p:nvSpPr>
          <p:cNvPr id="22" name="TextBox 21"/>
          <p:cNvSpPr txBox="1"/>
          <p:nvPr/>
        </p:nvSpPr>
        <p:spPr>
          <a:xfrm>
            <a:off x="7269479" y="3895344"/>
            <a:ext cx="4187952" cy="640080"/>
          </a:xfrm>
          <a:prstGeom prst="rect">
            <a:avLst/>
          </a:prstGeom>
          <a:noFill/>
        </p:spPr>
        <p:txBody>
          <a:bodyPr wrap="square" lIns="0" rIns="0" tIns="0" bIns="0" anchor="t">
            <a:spAutoFit/>
          </a:bodyPr>
          <a:lstStyle/>
          <a:p>
            <a:pPr algn="l"/>
            <a:r>
              <a:rPr sz="1200" b="0" i="0">
                <a:solidFill>
                  <a:srgbClr val="9A9AAA"/>
                </a:solidFill>
                <a:latin typeface="Verdana"/>
              </a:rPr>
              <a:t>Agent mit Crossref und Katalog als Werkzeugen; ausführlicher Bericht nur bei Problemen</a:t>
            </a:r>
          </a:p>
        </p:txBody>
      </p:sp>
      <p:sp>
        <p:nvSpPr>
          <p:cNvPr id="23" name="Rectangle 22"/>
          <p:cNvSpPr/>
          <p:nvPr/>
        </p:nvSpPr>
        <p:spPr>
          <a:xfrm>
            <a:off x="5074920" y="4892040"/>
            <a:ext cx="6565392" cy="960120"/>
          </a:xfrm>
          <a:prstGeom prst="rect">
            <a:avLst/>
          </a:prstGeom>
          <a:noFill/>
          <a:ln w="12700">
            <a:solidFill>
              <a:srgbClr val="DC640D"/>
            </a:solidFill>
          </a:ln>
        </p:spPr>
        <p:txBody>
          <a:bodyPr rtlCol="0" anchor="ctr"/>
          <a:lstStyle/>
          <a:p>
            <a:pPr algn="ctr"/>
          </a:p>
        </p:txBody>
      </p:sp>
      <p:sp>
        <p:nvSpPr>
          <p:cNvPr id="24" name="TextBox 23"/>
          <p:cNvSpPr txBox="1"/>
          <p:nvPr/>
        </p:nvSpPr>
        <p:spPr>
          <a:xfrm>
            <a:off x="5303520" y="5029200"/>
            <a:ext cx="6108192" cy="228600"/>
          </a:xfrm>
          <a:prstGeom prst="rect">
            <a:avLst/>
          </a:prstGeom>
          <a:noFill/>
        </p:spPr>
        <p:txBody>
          <a:bodyPr wrap="square" lIns="0" rIns="0" tIns="0" bIns="0" anchor="t">
            <a:spAutoFit/>
          </a:bodyPr>
          <a:lstStyle/>
          <a:p>
            <a:pPr algn="l"/>
            <a:r>
              <a:rPr sz="933" b="1" i="0" spc="300">
                <a:solidFill>
                  <a:srgbClr val="F6A800"/>
                </a:solidFill>
                <a:latin typeface="Verdana"/>
              </a:rPr>
              <a:t>ZUM DISKUTIEREN</a:t>
            </a:r>
          </a:p>
        </p:txBody>
      </p:sp>
      <p:sp>
        <p:nvSpPr>
          <p:cNvPr id="25" name="TextBox 24"/>
          <p:cNvSpPr txBox="1"/>
          <p:nvPr/>
        </p:nvSpPr>
        <p:spPr>
          <a:xfrm>
            <a:off x="5303520" y="5303520"/>
            <a:ext cx="6108192" cy="457200"/>
          </a:xfrm>
          <a:prstGeom prst="rect">
            <a:avLst/>
          </a:prstGeom>
          <a:noFill/>
        </p:spPr>
        <p:txBody>
          <a:bodyPr wrap="square" lIns="0" rIns="0" tIns="0" bIns="0" anchor="t">
            <a:spAutoFit/>
          </a:bodyPr>
          <a:lstStyle/>
          <a:p>
            <a:pPr algn="l"/>
            <a:r>
              <a:rPr sz="1333" b="0" i="1">
                <a:solidFill>
                  <a:srgbClr val="FFFFFF"/>
                </a:solidFill>
                <a:latin typeface="Verdana"/>
              </a:rPr>
              <a:t>Darf man Abschlussarbeiten durch einen externen KI-Dienst schicken?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Quellen einer Masterarbeit.</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CHALLENGE B</a:t>
            </a:r>
          </a:p>
        </p:txBody>
      </p:sp>
      <p:sp>
        <p:nvSpPr>
          <p:cNvPr id="4" name="TextBox 3"/>
          <p:cNvSpPr txBox="1"/>
          <p:nvPr/>
        </p:nvSpPr>
        <p:spPr>
          <a:xfrm>
            <a:off x="548640" y="1783080"/>
            <a:ext cx="4114800" cy="685800"/>
          </a:xfrm>
          <a:prstGeom prst="rect">
            <a:avLst/>
          </a:prstGeom>
          <a:noFill/>
        </p:spPr>
        <p:txBody>
          <a:bodyPr wrap="square" lIns="0" rIns="0" tIns="0" bIns="0" anchor="t">
            <a:spAutoFit/>
          </a:bodyPr>
          <a:lstStyle/>
          <a:p>
            <a:pPr algn="l"/>
            <a:r>
              <a:rPr sz="1467" b="0" i="1">
                <a:solidFill>
                  <a:srgbClr val="DC640D"/>
                </a:solidFill>
                <a:latin typeface="Verdana"/>
              </a:rPr>
              <a:t>„Auf welche Literatur stützt sich diese Arbeit eigentlich?“</a:t>
            </a:r>
          </a:p>
        </p:txBody>
      </p:sp>
      <p:sp>
        <p:nvSpPr>
          <p:cNvPr id="5" name="TextBox 4"/>
          <p:cNvSpPr txBox="1"/>
          <p:nvPr/>
        </p:nvSpPr>
        <p:spPr>
          <a:xfrm>
            <a:off x="548640" y="2560320"/>
            <a:ext cx="4114800" cy="1051560"/>
          </a:xfrm>
          <a:prstGeom prst="rect">
            <a:avLst/>
          </a:prstGeom>
          <a:noFill/>
        </p:spPr>
        <p:txBody>
          <a:bodyPr wrap="square" lIns="0" rIns="0" tIns="0" bIns="0" anchor="t">
            <a:spAutoFit/>
          </a:bodyPr>
          <a:lstStyle/>
          <a:p>
            <a:pPr algn="l"/>
            <a:r>
              <a:rPr sz="1333" b="0" i="0">
                <a:solidFill>
                  <a:srgbClr val="FFFFFF"/>
                </a:solidFill>
                <a:latin typeface="Verdana"/>
              </a:rPr>
              <a:t>Aus einer Arbeit alle Quellen herausziehen, anreichern und analysieren: Wie aktuell? Wie zugänglich?</a:t>
            </a:r>
          </a:p>
        </p:txBody>
      </p:sp>
      <p:cxnSp>
        <p:nvCxnSpPr>
          <p:cNvPr id="6" name="Connector 5"/>
          <p:cNvCxnSpPr/>
          <p:nvPr/>
        </p:nvCxnSpPr>
        <p:spPr>
          <a:xfrm>
            <a:off x="548640" y="3749039"/>
            <a:ext cx="4114800" cy="0"/>
          </a:xfrm>
          <a:prstGeom prst="line">
            <a:avLst/>
          </a:prstGeom>
          <a:ln w="6350">
            <a:solidFill>
              <a:srgbClr val="3A3948"/>
            </a:solidFill>
          </a:ln>
        </p:spPr>
      </p:cxnSp>
      <p:sp>
        <p:nvSpPr>
          <p:cNvPr id="7" name="TextBox 6"/>
          <p:cNvSpPr txBox="1"/>
          <p:nvPr/>
        </p:nvSpPr>
        <p:spPr>
          <a:xfrm>
            <a:off x="548640" y="3886200"/>
            <a:ext cx="4114800"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8" name="TextBox 7"/>
          <p:cNvSpPr txBox="1"/>
          <p:nvPr/>
        </p:nvSpPr>
        <p:spPr>
          <a:xfrm>
            <a:off x="548640" y="4142232"/>
            <a:ext cx="4114800" cy="548640"/>
          </a:xfrm>
          <a:prstGeom prst="rect">
            <a:avLst/>
          </a:prstGeom>
          <a:noFill/>
        </p:spPr>
        <p:txBody>
          <a:bodyPr wrap="square" lIns="0" rIns="0" tIns="0" bIns="0" anchor="t">
            <a:spAutoFit/>
          </a:bodyPr>
          <a:lstStyle/>
          <a:p>
            <a:pPr algn="l"/>
            <a:r>
              <a:rPr sz="1333" b="1" i="0">
                <a:solidFill>
                  <a:srgbClr val="FFFFFF"/>
                </a:solidFill>
                <a:latin typeface="Verdana"/>
              </a:rPr>
              <a:t>02 Masterarbeit – Quellen analysieren</a:t>
            </a:r>
          </a:p>
        </p:txBody>
      </p:sp>
      <p:sp>
        <p:nvSpPr>
          <p:cNvPr id="9" name="TextBox 8"/>
          <p:cNvSpPr txBox="1"/>
          <p:nvPr/>
        </p:nvSpPr>
        <p:spPr>
          <a:xfrm>
            <a:off x="548640" y="4800600"/>
            <a:ext cx="4114800" cy="228600"/>
          </a:xfrm>
          <a:prstGeom prst="rect">
            <a:avLst/>
          </a:prstGeom>
          <a:noFill/>
        </p:spPr>
        <p:txBody>
          <a:bodyPr wrap="square" lIns="0" rIns="0" tIns="0" bIns="0" anchor="t">
            <a:spAutoFit/>
          </a:bodyPr>
          <a:lstStyle/>
          <a:p>
            <a:pPr algn="l"/>
            <a:r>
              <a:rPr sz="933" b="1" i="0" spc="300">
                <a:solidFill>
                  <a:srgbClr val="F6A800"/>
                </a:solidFill>
                <a:latin typeface="Verdana"/>
              </a:rPr>
              <a:t>DATEN</a:t>
            </a:r>
          </a:p>
        </p:txBody>
      </p:sp>
      <p:sp>
        <p:nvSpPr>
          <p:cNvPr id="10" name="TextBox 9"/>
          <p:cNvSpPr txBox="1"/>
          <p:nvPr/>
        </p:nvSpPr>
        <p:spPr>
          <a:xfrm>
            <a:off x="548640" y="5056632"/>
            <a:ext cx="4114800" cy="731520"/>
          </a:xfrm>
          <a:prstGeom prst="rect">
            <a:avLst/>
          </a:prstGeom>
          <a:noFill/>
        </p:spPr>
        <p:txBody>
          <a:bodyPr wrap="square" lIns="0" rIns="0" tIns="0" bIns="0" anchor="t">
            <a:spAutoFit/>
          </a:bodyPr>
          <a:lstStyle/>
          <a:p>
            <a:pPr algn="l"/>
            <a:r>
              <a:rPr sz="1200" b="0" i="0">
                <a:solidFill>
                  <a:srgbClr val="9A9AAA"/>
                </a:solidFill>
                <a:latin typeface="Verdana"/>
              </a:rPr>
              <a:t>Fiktive Masterarbeit mit 17 echten Quellen (PDF)</a:t>
            </a:r>
          </a:p>
        </p:txBody>
      </p:sp>
      <p:sp>
        <p:nvSpPr>
          <p:cNvPr id="11" name="Rectangle 10"/>
          <p:cNvSpPr/>
          <p:nvPr/>
        </p:nvSpPr>
        <p:spPr>
          <a:xfrm>
            <a:off x="5074920" y="1783080"/>
            <a:ext cx="6565392" cy="868680"/>
          </a:xfrm>
          <a:prstGeom prst="rect">
            <a:avLst/>
          </a:prstGeom>
          <a:solidFill>
            <a:srgbClr val="24232E"/>
          </a:solidFill>
          <a:ln w="9525">
            <a:solidFill>
              <a:srgbClr val="3A3948"/>
            </a:solidFill>
          </a:ln>
        </p:spPr>
        <p:txBody>
          <a:bodyPr rtlCol="0" anchor="ctr"/>
          <a:lstStyle/>
          <a:p>
            <a:pPr algn="ctr"/>
          </a:p>
        </p:txBody>
      </p:sp>
      <p:sp>
        <p:nvSpPr>
          <p:cNvPr id="12" name="Oval 11"/>
          <p:cNvSpPr/>
          <p:nvPr/>
        </p:nvSpPr>
        <p:spPr>
          <a:xfrm>
            <a:off x="5303520" y="1965960"/>
            <a:ext cx="274320" cy="274320"/>
          </a:xfrm>
          <a:prstGeom prst="ellipse">
            <a:avLst/>
          </a:prstGeom>
          <a:solidFill>
            <a:srgbClr val="18E979"/>
          </a:solidFill>
          <a:ln>
            <a:noFill/>
          </a:ln>
        </p:spPr>
        <p:txBody>
          <a:bodyPr rtlCol="0" anchor="ctr"/>
          <a:lstStyle/>
          <a:p>
            <a:pPr algn="ctr"/>
          </a:p>
        </p:txBody>
      </p:sp>
      <p:sp>
        <p:nvSpPr>
          <p:cNvPr id="13" name="TextBox 12"/>
          <p:cNvSpPr txBox="1"/>
          <p:nvPr/>
        </p:nvSpPr>
        <p:spPr>
          <a:xfrm>
            <a:off x="5760720" y="1920240"/>
            <a:ext cx="2286000" cy="365760"/>
          </a:xfrm>
          <a:prstGeom prst="rect">
            <a:avLst/>
          </a:prstGeom>
          <a:noFill/>
        </p:spPr>
        <p:txBody>
          <a:bodyPr wrap="square" lIns="0" rIns="0" tIns="0" bIns="0" anchor="ctr">
            <a:spAutoFit/>
          </a:bodyPr>
          <a:lstStyle/>
          <a:p>
            <a:pPr algn="l"/>
            <a:r>
              <a:rPr sz="1333" b="1" i="0">
                <a:solidFill>
                  <a:srgbClr val="FFFFFF"/>
                </a:solidFill>
                <a:latin typeface="Verdana"/>
              </a:rPr>
              <a:t>Einstieg</a:t>
            </a:r>
          </a:p>
        </p:txBody>
      </p:sp>
      <p:sp>
        <p:nvSpPr>
          <p:cNvPr id="14" name="TextBox 13"/>
          <p:cNvSpPr txBox="1"/>
          <p:nvPr/>
        </p:nvSpPr>
        <p:spPr>
          <a:xfrm>
            <a:off x="7269479" y="1920240"/>
            <a:ext cx="4187952" cy="640080"/>
          </a:xfrm>
          <a:prstGeom prst="rect">
            <a:avLst/>
          </a:prstGeom>
          <a:noFill/>
        </p:spPr>
        <p:txBody>
          <a:bodyPr wrap="square" lIns="0" rIns="0" tIns="0" bIns="0" anchor="t">
            <a:spAutoFit/>
          </a:bodyPr>
          <a:lstStyle/>
          <a:p>
            <a:pPr algn="l"/>
            <a:r>
              <a:rPr sz="1200" b="0" i="0">
                <a:solidFill>
                  <a:srgbClr val="9A9AAA"/>
                </a:solidFill>
                <a:latin typeface="Verdana"/>
              </a:rPr>
              <a:t>Verschiedene Aufträge ausprobieren, den Prompt an Gutachter:in, Studierende oder Erwerbung anpassen</a:t>
            </a:r>
          </a:p>
        </p:txBody>
      </p:sp>
      <p:sp>
        <p:nvSpPr>
          <p:cNvPr id="15" name="Rectangle 14"/>
          <p:cNvSpPr/>
          <p:nvPr/>
        </p:nvSpPr>
        <p:spPr>
          <a:xfrm>
            <a:off x="5074920" y="2770632"/>
            <a:ext cx="6565392" cy="868680"/>
          </a:xfrm>
          <a:prstGeom prst="rect">
            <a:avLst/>
          </a:prstGeom>
          <a:solidFill>
            <a:srgbClr val="24232E"/>
          </a:solidFill>
          <a:ln w="9525">
            <a:solidFill>
              <a:srgbClr val="3A3948"/>
            </a:solidFill>
          </a:ln>
        </p:spPr>
        <p:txBody>
          <a:bodyPr rtlCol="0" anchor="ctr"/>
          <a:lstStyle/>
          <a:p>
            <a:pPr algn="ctr"/>
          </a:p>
        </p:txBody>
      </p:sp>
      <p:sp>
        <p:nvSpPr>
          <p:cNvPr id="16" name="Oval 15"/>
          <p:cNvSpPr/>
          <p:nvPr/>
        </p:nvSpPr>
        <p:spPr>
          <a:xfrm>
            <a:off x="5303520" y="2953512"/>
            <a:ext cx="274320" cy="274320"/>
          </a:xfrm>
          <a:prstGeom prst="ellipse">
            <a:avLst/>
          </a:prstGeom>
          <a:solidFill>
            <a:srgbClr val="F6A800"/>
          </a:solidFill>
          <a:ln>
            <a:noFill/>
          </a:ln>
        </p:spPr>
        <p:txBody>
          <a:bodyPr rtlCol="0" anchor="ctr"/>
          <a:lstStyle/>
          <a:p>
            <a:pPr algn="ctr"/>
          </a:p>
        </p:txBody>
      </p:sp>
      <p:sp>
        <p:nvSpPr>
          <p:cNvPr id="17" name="TextBox 16"/>
          <p:cNvSpPr txBox="1"/>
          <p:nvPr/>
        </p:nvSpPr>
        <p:spPr>
          <a:xfrm>
            <a:off x="5760720" y="2907792"/>
            <a:ext cx="2286000" cy="365760"/>
          </a:xfrm>
          <a:prstGeom prst="rect">
            <a:avLst/>
          </a:prstGeom>
          <a:noFill/>
        </p:spPr>
        <p:txBody>
          <a:bodyPr wrap="square" lIns="0" rIns="0" tIns="0" bIns="0" anchor="ctr">
            <a:spAutoFit/>
          </a:bodyPr>
          <a:lstStyle/>
          <a:p>
            <a:pPr algn="l"/>
            <a:r>
              <a:rPr sz="1333" b="1" i="0">
                <a:solidFill>
                  <a:srgbClr val="FFFFFF"/>
                </a:solidFill>
                <a:latin typeface="Verdana"/>
              </a:rPr>
              <a:t>Ausbau</a:t>
            </a:r>
          </a:p>
        </p:txBody>
      </p:sp>
      <p:sp>
        <p:nvSpPr>
          <p:cNvPr id="18" name="TextBox 17"/>
          <p:cNvSpPr txBox="1"/>
          <p:nvPr/>
        </p:nvSpPr>
        <p:spPr>
          <a:xfrm>
            <a:off x="7269479" y="2907792"/>
            <a:ext cx="4187952" cy="640080"/>
          </a:xfrm>
          <a:prstGeom prst="rect">
            <a:avLst/>
          </a:prstGeom>
          <a:noFill/>
        </p:spPr>
        <p:txBody>
          <a:bodyPr wrap="square" lIns="0" rIns="0" tIns="0" bIns="0" anchor="t">
            <a:spAutoFit/>
          </a:bodyPr>
          <a:lstStyle/>
          <a:p>
            <a:pPr algn="l"/>
            <a:r>
              <a:rPr sz="1200" b="0" i="0">
                <a:solidFill>
                  <a:srgbClr val="9A9AAA"/>
                </a:solidFill>
                <a:latin typeface="Verdana"/>
              </a:rPr>
              <a:t>Quellen als CSV für Excel speichern, Volltexte holen, die Angaben zusätzlich prüfen</a:t>
            </a:r>
          </a:p>
        </p:txBody>
      </p:sp>
      <p:sp>
        <p:nvSpPr>
          <p:cNvPr id="19" name="Rectangle 18"/>
          <p:cNvSpPr/>
          <p:nvPr/>
        </p:nvSpPr>
        <p:spPr>
          <a:xfrm>
            <a:off x="5074920" y="3758184"/>
            <a:ext cx="6565392" cy="868680"/>
          </a:xfrm>
          <a:prstGeom prst="rect">
            <a:avLst/>
          </a:prstGeom>
          <a:solidFill>
            <a:srgbClr val="24232E"/>
          </a:solidFill>
          <a:ln w="9525">
            <a:solidFill>
              <a:srgbClr val="3A3948"/>
            </a:solidFill>
          </a:ln>
        </p:spPr>
        <p:txBody>
          <a:bodyPr rtlCol="0" anchor="ctr"/>
          <a:lstStyle/>
          <a:p>
            <a:pPr algn="ctr"/>
          </a:p>
        </p:txBody>
      </p:sp>
      <p:sp>
        <p:nvSpPr>
          <p:cNvPr id="20" name="Oval 19"/>
          <p:cNvSpPr/>
          <p:nvPr/>
        </p:nvSpPr>
        <p:spPr>
          <a:xfrm>
            <a:off x="5303520" y="3941064"/>
            <a:ext cx="274320" cy="274320"/>
          </a:xfrm>
          <a:prstGeom prst="ellipse">
            <a:avLst/>
          </a:prstGeom>
          <a:solidFill>
            <a:srgbClr val="B1063A"/>
          </a:solidFill>
          <a:ln>
            <a:noFill/>
          </a:ln>
        </p:spPr>
        <p:txBody>
          <a:bodyPr rtlCol="0" anchor="ctr"/>
          <a:lstStyle/>
          <a:p>
            <a:pPr algn="ctr"/>
          </a:p>
        </p:txBody>
      </p:sp>
      <p:sp>
        <p:nvSpPr>
          <p:cNvPr id="21" name="TextBox 20"/>
          <p:cNvSpPr txBox="1"/>
          <p:nvPr/>
        </p:nvSpPr>
        <p:spPr>
          <a:xfrm>
            <a:off x="5760720" y="3895344"/>
            <a:ext cx="2286000" cy="365760"/>
          </a:xfrm>
          <a:prstGeom prst="rect">
            <a:avLst/>
          </a:prstGeom>
          <a:noFill/>
        </p:spPr>
        <p:txBody>
          <a:bodyPr wrap="square" lIns="0" rIns="0" tIns="0" bIns="0" anchor="ctr">
            <a:spAutoFit/>
          </a:bodyPr>
          <a:lstStyle/>
          <a:p>
            <a:pPr algn="l"/>
            <a:r>
              <a:rPr sz="1333" b="1" i="0">
                <a:solidFill>
                  <a:srgbClr val="FFFFFF"/>
                </a:solidFill>
                <a:latin typeface="Verdana"/>
              </a:rPr>
              <a:t>Vertiefung</a:t>
            </a:r>
          </a:p>
        </p:txBody>
      </p:sp>
      <p:sp>
        <p:nvSpPr>
          <p:cNvPr id="22" name="TextBox 21"/>
          <p:cNvSpPr txBox="1"/>
          <p:nvPr/>
        </p:nvSpPr>
        <p:spPr>
          <a:xfrm>
            <a:off x="7269479" y="3895344"/>
            <a:ext cx="4187952" cy="640080"/>
          </a:xfrm>
          <a:prstGeom prst="rect">
            <a:avLst/>
          </a:prstGeom>
          <a:noFill/>
        </p:spPr>
        <p:txBody>
          <a:bodyPr wrap="square" lIns="0" rIns="0" tIns="0" bIns="0" anchor="t">
            <a:spAutoFit/>
          </a:bodyPr>
          <a:lstStyle/>
          <a:p>
            <a:pPr algn="l"/>
            <a:r>
              <a:rPr sz="1200" b="0" i="0">
                <a:solidFill>
                  <a:srgbClr val="9A9AAA"/>
                </a:solidFill>
                <a:latin typeface="Verdana"/>
              </a:rPr>
              <a:t>Fehlende aktuelle Literatur empfehlen oder Erwerbungsvorschläge erzeugen</a:t>
            </a:r>
          </a:p>
        </p:txBody>
      </p:sp>
      <p:sp>
        <p:nvSpPr>
          <p:cNvPr id="23" name="Rectangle 22"/>
          <p:cNvSpPr/>
          <p:nvPr/>
        </p:nvSpPr>
        <p:spPr>
          <a:xfrm>
            <a:off x="5074920" y="4892040"/>
            <a:ext cx="6565392" cy="960120"/>
          </a:xfrm>
          <a:prstGeom prst="rect">
            <a:avLst/>
          </a:prstGeom>
          <a:noFill/>
          <a:ln w="12700">
            <a:solidFill>
              <a:srgbClr val="DC640D"/>
            </a:solidFill>
          </a:ln>
        </p:spPr>
        <p:txBody>
          <a:bodyPr rtlCol="0" anchor="ctr"/>
          <a:lstStyle/>
          <a:p>
            <a:pPr algn="ctr"/>
          </a:p>
        </p:txBody>
      </p:sp>
      <p:sp>
        <p:nvSpPr>
          <p:cNvPr id="24" name="TextBox 23"/>
          <p:cNvSpPr txBox="1"/>
          <p:nvPr/>
        </p:nvSpPr>
        <p:spPr>
          <a:xfrm>
            <a:off x="5303520" y="5029200"/>
            <a:ext cx="6108192" cy="228600"/>
          </a:xfrm>
          <a:prstGeom prst="rect">
            <a:avLst/>
          </a:prstGeom>
          <a:noFill/>
        </p:spPr>
        <p:txBody>
          <a:bodyPr wrap="square" lIns="0" rIns="0" tIns="0" bIns="0" anchor="t">
            <a:spAutoFit/>
          </a:bodyPr>
          <a:lstStyle/>
          <a:p>
            <a:pPr algn="l"/>
            <a:r>
              <a:rPr sz="933" b="1" i="0" spc="300">
                <a:solidFill>
                  <a:srgbClr val="F6A800"/>
                </a:solidFill>
                <a:latin typeface="Verdana"/>
              </a:rPr>
              <a:t>ZUM DISKUTIEREN</a:t>
            </a:r>
          </a:p>
        </p:txBody>
      </p:sp>
      <p:sp>
        <p:nvSpPr>
          <p:cNvPr id="25" name="TextBox 24"/>
          <p:cNvSpPr txBox="1"/>
          <p:nvPr/>
        </p:nvSpPr>
        <p:spPr>
          <a:xfrm>
            <a:off x="5303520" y="5303520"/>
            <a:ext cx="6108192" cy="457200"/>
          </a:xfrm>
          <a:prstGeom prst="rect">
            <a:avLst/>
          </a:prstGeom>
          <a:noFill/>
        </p:spPr>
        <p:txBody>
          <a:bodyPr wrap="square" lIns="0" rIns="0" tIns="0" bIns="0" anchor="t">
            <a:spAutoFit/>
          </a:bodyPr>
          <a:lstStyle/>
          <a:p>
            <a:pPr algn="l"/>
            <a:r>
              <a:rPr sz="1333" b="0" i="1">
                <a:solidFill>
                  <a:srgbClr val="FFFFFF"/>
                </a:solidFill>
                <a:latin typeface="Verdana"/>
              </a:rPr>
              <a:t>Wo ist die Grenze zwischen Beratung und Bewertung einer Arbeit?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Forschungslücken finden.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CHALLENGE C</a:t>
            </a:r>
          </a:p>
        </p:txBody>
      </p:sp>
      <p:sp>
        <p:nvSpPr>
          <p:cNvPr id="4" name="TextBox 3"/>
          <p:cNvSpPr txBox="1"/>
          <p:nvPr/>
        </p:nvSpPr>
        <p:spPr>
          <a:xfrm>
            <a:off x="548640" y="1783080"/>
            <a:ext cx="4114800" cy="685800"/>
          </a:xfrm>
          <a:prstGeom prst="rect">
            <a:avLst/>
          </a:prstGeom>
          <a:noFill/>
        </p:spPr>
        <p:txBody>
          <a:bodyPr wrap="square" lIns="0" rIns="0" tIns="0" bIns="0" anchor="t">
            <a:spAutoFit/>
          </a:bodyPr>
          <a:lstStyle/>
          <a:p>
            <a:pPr algn="l"/>
            <a:r>
              <a:rPr sz="1467" b="0" i="1">
                <a:solidFill>
                  <a:srgbClr val="DC640D"/>
                </a:solidFill>
                <a:latin typeface="Verdana"/>
              </a:rPr>
              <a:t>„Ich brauche einen Überblick über die Forschung zu …, bis Freitag.“</a:t>
            </a:r>
          </a:p>
        </p:txBody>
      </p:sp>
      <p:sp>
        <p:nvSpPr>
          <p:cNvPr id="5" name="TextBox 4"/>
          <p:cNvSpPr txBox="1"/>
          <p:nvPr/>
        </p:nvSpPr>
        <p:spPr>
          <a:xfrm>
            <a:off x="548640" y="2560320"/>
            <a:ext cx="4114800" cy="1051560"/>
          </a:xfrm>
          <a:prstGeom prst="rect">
            <a:avLst/>
          </a:prstGeom>
          <a:noFill/>
        </p:spPr>
        <p:txBody>
          <a:bodyPr wrap="square" lIns="0" rIns="0" tIns="0" bIns="0" anchor="t">
            <a:spAutoFit/>
          </a:bodyPr>
          <a:lstStyle/>
          <a:p>
            <a:pPr algn="l"/>
            <a:r>
              <a:rPr sz="1333" b="0" i="0">
                <a:solidFill>
                  <a:srgbClr val="FFFFFF"/>
                </a:solidFill>
                <a:latin typeface="Verdana"/>
              </a:rPr>
              <a:t>Zu einer Forschungsfrage Literatur verlagsübergreifend sammeln, freie Volltexte auswerten und Lücken benennen.</a:t>
            </a:r>
          </a:p>
        </p:txBody>
      </p:sp>
      <p:cxnSp>
        <p:nvCxnSpPr>
          <p:cNvPr id="6" name="Connector 5"/>
          <p:cNvCxnSpPr/>
          <p:nvPr/>
        </p:nvCxnSpPr>
        <p:spPr>
          <a:xfrm>
            <a:off x="548640" y="3749039"/>
            <a:ext cx="4114800" cy="0"/>
          </a:xfrm>
          <a:prstGeom prst="line">
            <a:avLst/>
          </a:prstGeom>
          <a:ln w="6350">
            <a:solidFill>
              <a:srgbClr val="3A3948"/>
            </a:solidFill>
          </a:ln>
        </p:spPr>
      </p:cxnSp>
      <p:sp>
        <p:nvSpPr>
          <p:cNvPr id="7" name="TextBox 6"/>
          <p:cNvSpPr txBox="1"/>
          <p:nvPr/>
        </p:nvSpPr>
        <p:spPr>
          <a:xfrm>
            <a:off x="548640" y="3886200"/>
            <a:ext cx="4114800" cy="228600"/>
          </a:xfrm>
          <a:prstGeom prst="rect">
            <a:avLst/>
          </a:prstGeom>
          <a:noFill/>
        </p:spPr>
        <p:txBody>
          <a:bodyPr wrap="square" lIns="0" rIns="0" tIns="0" bIns="0" anchor="t">
            <a:spAutoFit/>
          </a:bodyPr>
          <a:lstStyle/>
          <a:p>
            <a:pPr algn="l"/>
            <a:r>
              <a:rPr sz="933" b="1" i="0" spc="300">
                <a:solidFill>
                  <a:srgbClr val="F6A800"/>
                </a:solidFill>
                <a:latin typeface="Verdana"/>
              </a:rPr>
              <a:t>START-FLOW</a:t>
            </a:r>
          </a:p>
        </p:txBody>
      </p:sp>
      <p:sp>
        <p:nvSpPr>
          <p:cNvPr id="8" name="TextBox 7"/>
          <p:cNvSpPr txBox="1"/>
          <p:nvPr/>
        </p:nvSpPr>
        <p:spPr>
          <a:xfrm>
            <a:off x="548640" y="4142232"/>
            <a:ext cx="4114800" cy="548640"/>
          </a:xfrm>
          <a:prstGeom prst="rect">
            <a:avLst/>
          </a:prstGeom>
          <a:noFill/>
        </p:spPr>
        <p:txBody>
          <a:bodyPr wrap="square" lIns="0" rIns="0" tIns="0" bIns="0" anchor="t">
            <a:spAutoFit/>
          </a:bodyPr>
          <a:lstStyle/>
          <a:p>
            <a:pPr algn="l"/>
            <a:r>
              <a:rPr sz="1333" b="1" i="0">
                <a:solidFill>
                  <a:srgbClr val="FFFFFF"/>
                </a:solidFill>
                <a:latin typeface="Verdana"/>
              </a:rPr>
              <a:t>03 Literaturreview – Forschungslücken finden</a:t>
            </a:r>
          </a:p>
        </p:txBody>
      </p:sp>
      <p:sp>
        <p:nvSpPr>
          <p:cNvPr id="9" name="TextBox 8"/>
          <p:cNvSpPr txBox="1"/>
          <p:nvPr/>
        </p:nvSpPr>
        <p:spPr>
          <a:xfrm>
            <a:off x="548640" y="4800600"/>
            <a:ext cx="4114800" cy="228600"/>
          </a:xfrm>
          <a:prstGeom prst="rect">
            <a:avLst/>
          </a:prstGeom>
          <a:noFill/>
        </p:spPr>
        <p:txBody>
          <a:bodyPr wrap="square" lIns="0" rIns="0" tIns="0" bIns="0" anchor="t">
            <a:spAutoFit/>
          </a:bodyPr>
          <a:lstStyle/>
          <a:p>
            <a:pPr algn="l"/>
            <a:r>
              <a:rPr sz="933" b="1" i="0" spc="300">
                <a:solidFill>
                  <a:srgbClr val="F6A800"/>
                </a:solidFill>
                <a:latin typeface="Verdana"/>
              </a:rPr>
              <a:t>DATEN</a:t>
            </a:r>
          </a:p>
        </p:txBody>
      </p:sp>
      <p:sp>
        <p:nvSpPr>
          <p:cNvPr id="10" name="TextBox 9"/>
          <p:cNvSpPr txBox="1"/>
          <p:nvPr/>
        </p:nvSpPr>
        <p:spPr>
          <a:xfrm>
            <a:off x="548640" y="5056632"/>
            <a:ext cx="4114800" cy="731520"/>
          </a:xfrm>
          <a:prstGeom prst="rect">
            <a:avLst/>
          </a:prstGeom>
          <a:noFill/>
        </p:spPr>
        <p:txBody>
          <a:bodyPr wrap="square" lIns="0" rIns="0" tIns="0" bIns="0" anchor="t">
            <a:spAutoFit/>
          </a:bodyPr>
          <a:lstStyle/>
          <a:p>
            <a:pPr algn="l"/>
            <a:r>
              <a:rPr sz="1200" b="0" i="0">
                <a:solidFill>
                  <a:srgbClr val="9A9AAA"/>
                </a:solidFill>
                <a:latin typeface="Verdana"/>
              </a:rPr>
              <a:t>Beispielfrage: Wie verändern Sprachmodelle die Auskunft in wissenschaftlichen Bibliotheken?</a:t>
            </a:r>
          </a:p>
        </p:txBody>
      </p:sp>
      <p:sp>
        <p:nvSpPr>
          <p:cNvPr id="11" name="Rectangle 10"/>
          <p:cNvSpPr/>
          <p:nvPr/>
        </p:nvSpPr>
        <p:spPr>
          <a:xfrm>
            <a:off x="5074920" y="1783080"/>
            <a:ext cx="6565392" cy="868680"/>
          </a:xfrm>
          <a:prstGeom prst="rect">
            <a:avLst/>
          </a:prstGeom>
          <a:solidFill>
            <a:srgbClr val="24232E"/>
          </a:solidFill>
          <a:ln w="9525">
            <a:solidFill>
              <a:srgbClr val="3A3948"/>
            </a:solidFill>
          </a:ln>
        </p:spPr>
        <p:txBody>
          <a:bodyPr rtlCol="0" anchor="ctr"/>
          <a:lstStyle/>
          <a:p>
            <a:pPr algn="ctr"/>
          </a:p>
        </p:txBody>
      </p:sp>
      <p:sp>
        <p:nvSpPr>
          <p:cNvPr id="12" name="Oval 11"/>
          <p:cNvSpPr/>
          <p:nvPr/>
        </p:nvSpPr>
        <p:spPr>
          <a:xfrm>
            <a:off x="5303520" y="1965960"/>
            <a:ext cx="274320" cy="274320"/>
          </a:xfrm>
          <a:prstGeom prst="ellipse">
            <a:avLst/>
          </a:prstGeom>
          <a:solidFill>
            <a:srgbClr val="18E979"/>
          </a:solidFill>
          <a:ln>
            <a:noFill/>
          </a:ln>
        </p:spPr>
        <p:txBody>
          <a:bodyPr rtlCol="0" anchor="ctr"/>
          <a:lstStyle/>
          <a:p>
            <a:pPr algn="ctr"/>
          </a:p>
        </p:txBody>
      </p:sp>
      <p:sp>
        <p:nvSpPr>
          <p:cNvPr id="13" name="TextBox 12"/>
          <p:cNvSpPr txBox="1"/>
          <p:nvPr/>
        </p:nvSpPr>
        <p:spPr>
          <a:xfrm>
            <a:off x="5760720" y="1920240"/>
            <a:ext cx="2286000" cy="365760"/>
          </a:xfrm>
          <a:prstGeom prst="rect">
            <a:avLst/>
          </a:prstGeom>
          <a:noFill/>
        </p:spPr>
        <p:txBody>
          <a:bodyPr wrap="square" lIns="0" rIns="0" tIns="0" bIns="0" anchor="ctr">
            <a:spAutoFit/>
          </a:bodyPr>
          <a:lstStyle/>
          <a:p>
            <a:pPr algn="l"/>
            <a:r>
              <a:rPr sz="1333" b="1" i="0">
                <a:solidFill>
                  <a:srgbClr val="FFFFFF"/>
                </a:solidFill>
                <a:latin typeface="Verdana"/>
              </a:rPr>
              <a:t>Einstieg</a:t>
            </a:r>
          </a:p>
        </p:txBody>
      </p:sp>
      <p:sp>
        <p:nvSpPr>
          <p:cNvPr id="14" name="TextBox 13"/>
          <p:cNvSpPr txBox="1"/>
          <p:nvPr/>
        </p:nvSpPr>
        <p:spPr>
          <a:xfrm>
            <a:off x="7269479" y="1920240"/>
            <a:ext cx="4187952" cy="640080"/>
          </a:xfrm>
          <a:prstGeom prst="rect">
            <a:avLst/>
          </a:prstGeom>
          <a:noFill/>
        </p:spPr>
        <p:txBody>
          <a:bodyPr wrap="square" lIns="0" rIns="0" tIns="0" bIns="0" anchor="t">
            <a:spAutoFit/>
          </a:bodyPr>
          <a:lstStyle/>
          <a:p>
            <a:pPr algn="l"/>
            <a:r>
              <a:rPr sz="1200" b="0" i="0">
                <a:solidFill>
                  <a:srgbClr val="9A9AAA"/>
                </a:solidFill>
                <a:latin typeface="Verdana"/>
              </a:rPr>
              <a:t>Eigene Forschungsfrage stellen, Filter der Literatursuche ändern, Suchbegriffe verbessern</a:t>
            </a:r>
          </a:p>
        </p:txBody>
      </p:sp>
      <p:sp>
        <p:nvSpPr>
          <p:cNvPr id="15" name="Rectangle 14"/>
          <p:cNvSpPr/>
          <p:nvPr/>
        </p:nvSpPr>
        <p:spPr>
          <a:xfrm>
            <a:off x="5074920" y="2770632"/>
            <a:ext cx="6565392" cy="868680"/>
          </a:xfrm>
          <a:prstGeom prst="rect">
            <a:avLst/>
          </a:prstGeom>
          <a:solidFill>
            <a:srgbClr val="24232E"/>
          </a:solidFill>
          <a:ln w="9525">
            <a:solidFill>
              <a:srgbClr val="3A3948"/>
            </a:solidFill>
          </a:ln>
        </p:spPr>
        <p:txBody>
          <a:bodyPr rtlCol="0" anchor="ctr"/>
          <a:lstStyle/>
          <a:p>
            <a:pPr algn="ctr"/>
          </a:p>
        </p:txBody>
      </p:sp>
      <p:sp>
        <p:nvSpPr>
          <p:cNvPr id="16" name="Oval 15"/>
          <p:cNvSpPr/>
          <p:nvPr/>
        </p:nvSpPr>
        <p:spPr>
          <a:xfrm>
            <a:off x="5303520" y="2953512"/>
            <a:ext cx="274320" cy="274320"/>
          </a:xfrm>
          <a:prstGeom prst="ellipse">
            <a:avLst/>
          </a:prstGeom>
          <a:solidFill>
            <a:srgbClr val="F6A800"/>
          </a:solidFill>
          <a:ln>
            <a:noFill/>
          </a:ln>
        </p:spPr>
        <p:txBody>
          <a:bodyPr rtlCol="0" anchor="ctr"/>
          <a:lstStyle/>
          <a:p>
            <a:pPr algn="ctr"/>
          </a:p>
        </p:txBody>
      </p:sp>
      <p:sp>
        <p:nvSpPr>
          <p:cNvPr id="17" name="TextBox 16"/>
          <p:cNvSpPr txBox="1"/>
          <p:nvPr/>
        </p:nvSpPr>
        <p:spPr>
          <a:xfrm>
            <a:off x="5760720" y="2907792"/>
            <a:ext cx="2286000" cy="365760"/>
          </a:xfrm>
          <a:prstGeom prst="rect">
            <a:avLst/>
          </a:prstGeom>
          <a:noFill/>
        </p:spPr>
        <p:txBody>
          <a:bodyPr wrap="square" lIns="0" rIns="0" tIns="0" bIns="0" anchor="ctr">
            <a:spAutoFit/>
          </a:bodyPr>
          <a:lstStyle/>
          <a:p>
            <a:pPr algn="l"/>
            <a:r>
              <a:rPr sz="1333" b="1" i="0">
                <a:solidFill>
                  <a:srgbClr val="FFFFFF"/>
                </a:solidFill>
                <a:latin typeface="Verdana"/>
              </a:rPr>
              <a:t>Ausbau</a:t>
            </a:r>
          </a:p>
        </p:txBody>
      </p:sp>
      <p:sp>
        <p:nvSpPr>
          <p:cNvPr id="18" name="TextBox 17"/>
          <p:cNvSpPr txBox="1"/>
          <p:nvPr/>
        </p:nvSpPr>
        <p:spPr>
          <a:xfrm>
            <a:off x="7269479" y="2907792"/>
            <a:ext cx="4187952" cy="640080"/>
          </a:xfrm>
          <a:prstGeom prst="rect">
            <a:avLst/>
          </a:prstGeom>
          <a:noFill/>
        </p:spPr>
        <p:txBody>
          <a:bodyPr wrap="square" lIns="0" rIns="0" tIns="0" bIns="0" anchor="t">
            <a:spAutoFit/>
          </a:bodyPr>
          <a:lstStyle/>
          <a:p>
            <a:pPr algn="l"/>
            <a:r>
              <a:rPr sz="1200" b="0" i="0">
                <a:solidFill>
                  <a:srgbClr val="9A9AAA"/>
                </a:solidFill>
                <a:latin typeface="Verdana"/>
              </a:rPr>
              <a:t>Jede Publikation einzeln zusammenfassen (Batch Run) und über Ein- und Ausschluss entscheiden</a:t>
            </a:r>
          </a:p>
        </p:txBody>
      </p:sp>
      <p:sp>
        <p:nvSpPr>
          <p:cNvPr id="19" name="Rectangle 18"/>
          <p:cNvSpPr/>
          <p:nvPr/>
        </p:nvSpPr>
        <p:spPr>
          <a:xfrm>
            <a:off x="5074920" y="3758184"/>
            <a:ext cx="6565392" cy="868680"/>
          </a:xfrm>
          <a:prstGeom prst="rect">
            <a:avLst/>
          </a:prstGeom>
          <a:solidFill>
            <a:srgbClr val="24232E"/>
          </a:solidFill>
          <a:ln w="9525">
            <a:solidFill>
              <a:srgbClr val="3A3948"/>
            </a:solidFill>
          </a:ln>
        </p:spPr>
        <p:txBody>
          <a:bodyPr rtlCol="0" anchor="ctr"/>
          <a:lstStyle/>
          <a:p>
            <a:pPr algn="ctr"/>
          </a:p>
        </p:txBody>
      </p:sp>
      <p:sp>
        <p:nvSpPr>
          <p:cNvPr id="20" name="Oval 19"/>
          <p:cNvSpPr/>
          <p:nvPr/>
        </p:nvSpPr>
        <p:spPr>
          <a:xfrm>
            <a:off x="5303520" y="3941064"/>
            <a:ext cx="274320" cy="274320"/>
          </a:xfrm>
          <a:prstGeom prst="ellipse">
            <a:avLst/>
          </a:prstGeom>
          <a:solidFill>
            <a:srgbClr val="B1063A"/>
          </a:solidFill>
          <a:ln>
            <a:noFill/>
          </a:ln>
        </p:spPr>
        <p:txBody>
          <a:bodyPr rtlCol="0" anchor="ctr"/>
          <a:lstStyle/>
          <a:p>
            <a:pPr algn="ctr"/>
          </a:p>
        </p:txBody>
      </p:sp>
      <p:sp>
        <p:nvSpPr>
          <p:cNvPr id="21" name="TextBox 20"/>
          <p:cNvSpPr txBox="1"/>
          <p:nvPr/>
        </p:nvSpPr>
        <p:spPr>
          <a:xfrm>
            <a:off x="5760720" y="3895344"/>
            <a:ext cx="2286000" cy="365760"/>
          </a:xfrm>
          <a:prstGeom prst="rect">
            <a:avLst/>
          </a:prstGeom>
          <a:noFill/>
        </p:spPr>
        <p:txBody>
          <a:bodyPr wrap="square" lIns="0" rIns="0" tIns="0" bIns="0" anchor="ctr">
            <a:spAutoFit/>
          </a:bodyPr>
          <a:lstStyle/>
          <a:p>
            <a:pPr algn="l"/>
            <a:r>
              <a:rPr sz="1333" b="1" i="0">
                <a:solidFill>
                  <a:srgbClr val="FFFFFF"/>
                </a:solidFill>
                <a:latin typeface="Verdana"/>
              </a:rPr>
              <a:t>Vertiefung</a:t>
            </a:r>
          </a:p>
        </p:txBody>
      </p:sp>
      <p:sp>
        <p:nvSpPr>
          <p:cNvPr id="22" name="TextBox 21"/>
          <p:cNvSpPr txBox="1"/>
          <p:nvPr/>
        </p:nvSpPr>
        <p:spPr>
          <a:xfrm>
            <a:off x="7269479" y="3895344"/>
            <a:ext cx="4187952" cy="640080"/>
          </a:xfrm>
          <a:prstGeom prst="rect">
            <a:avLst/>
          </a:prstGeom>
          <a:noFill/>
        </p:spPr>
        <p:txBody>
          <a:bodyPr wrap="square" lIns="0" rIns="0" tIns="0" bIns="0" anchor="t">
            <a:spAutoFit/>
          </a:bodyPr>
          <a:lstStyle/>
          <a:p>
            <a:pPr algn="l"/>
            <a:r>
              <a:rPr sz="1200" b="0" i="0">
                <a:solidFill>
                  <a:srgbClr val="9A9AAA"/>
                </a:solidFill>
                <a:latin typeface="Verdana"/>
              </a:rPr>
              <a:t>Ein Agent, der selbst entscheidet, wann er genug Literatur gefunden hat</a:t>
            </a:r>
          </a:p>
        </p:txBody>
      </p:sp>
      <p:sp>
        <p:nvSpPr>
          <p:cNvPr id="23" name="Rectangle 22"/>
          <p:cNvSpPr/>
          <p:nvPr/>
        </p:nvSpPr>
        <p:spPr>
          <a:xfrm>
            <a:off x="5074920" y="4892040"/>
            <a:ext cx="6565392" cy="960120"/>
          </a:xfrm>
          <a:prstGeom prst="rect">
            <a:avLst/>
          </a:prstGeom>
          <a:noFill/>
          <a:ln w="12700">
            <a:solidFill>
              <a:srgbClr val="DC640D"/>
            </a:solidFill>
          </a:ln>
        </p:spPr>
        <p:txBody>
          <a:bodyPr rtlCol="0" anchor="ctr"/>
          <a:lstStyle/>
          <a:p>
            <a:pPr algn="ctr"/>
          </a:p>
        </p:txBody>
      </p:sp>
      <p:sp>
        <p:nvSpPr>
          <p:cNvPr id="24" name="TextBox 23"/>
          <p:cNvSpPr txBox="1"/>
          <p:nvPr/>
        </p:nvSpPr>
        <p:spPr>
          <a:xfrm>
            <a:off x="5303520" y="5029200"/>
            <a:ext cx="6108192" cy="228600"/>
          </a:xfrm>
          <a:prstGeom prst="rect">
            <a:avLst/>
          </a:prstGeom>
          <a:noFill/>
        </p:spPr>
        <p:txBody>
          <a:bodyPr wrap="square" lIns="0" rIns="0" tIns="0" bIns="0" anchor="t">
            <a:spAutoFit/>
          </a:bodyPr>
          <a:lstStyle/>
          <a:p>
            <a:pPr algn="l"/>
            <a:r>
              <a:rPr sz="933" b="1" i="0" spc="300">
                <a:solidFill>
                  <a:srgbClr val="F6A800"/>
                </a:solidFill>
                <a:latin typeface="Verdana"/>
              </a:rPr>
              <a:t>ZUM DISKUTIEREN</a:t>
            </a:r>
          </a:p>
        </p:txBody>
      </p:sp>
      <p:sp>
        <p:nvSpPr>
          <p:cNvPr id="25" name="TextBox 24"/>
          <p:cNvSpPr txBox="1"/>
          <p:nvPr/>
        </p:nvSpPr>
        <p:spPr>
          <a:xfrm>
            <a:off x="5303520" y="5303520"/>
            <a:ext cx="6108192" cy="457200"/>
          </a:xfrm>
          <a:prstGeom prst="rect">
            <a:avLst/>
          </a:prstGeom>
          <a:noFill/>
        </p:spPr>
        <p:txBody>
          <a:bodyPr wrap="square" lIns="0" rIns="0" tIns="0" bIns="0" anchor="t">
            <a:spAutoFit/>
          </a:bodyPr>
          <a:lstStyle/>
          <a:p>
            <a:pPr algn="l"/>
            <a:r>
              <a:rPr sz="1333" b="0" i="1">
                <a:solidFill>
                  <a:srgbClr val="FFFFFF"/>
                </a:solidFill>
                <a:latin typeface="Verdana"/>
              </a:rPr>
              <a:t>Kann eine KI eine Forschungslücke erkennen oder nur eine Lücke in den gefundenen Texten?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Eure eigene Idee.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CHALLENGE D</a:t>
            </a:r>
          </a:p>
        </p:txBody>
      </p:sp>
      <p:sp>
        <p:nvSpPr>
          <p:cNvPr id="4" name="Rectangle 3"/>
          <p:cNvSpPr/>
          <p:nvPr/>
        </p:nvSpPr>
        <p:spPr>
          <a:xfrm>
            <a:off x="548640" y="1783080"/>
            <a:ext cx="3514344" cy="1874519"/>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3514344" cy="64008"/>
          </a:xfrm>
          <a:prstGeom prst="rect">
            <a:avLst/>
          </a:prstGeom>
          <a:solidFill>
            <a:srgbClr val="DC640D"/>
          </a:solidFill>
          <a:ln>
            <a:noFill/>
          </a:ln>
        </p:spPr>
        <p:txBody>
          <a:bodyPr rtlCol="0" anchor="ctr"/>
          <a:lstStyle/>
          <a:p>
            <a:pPr algn="ctr"/>
          </a:p>
        </p:txBody>
      </p:sp>
      <p:sp>
        <p:nvSpPr>
          <p:cNvPr id="6" name="Oval 5"/>
          <p:cNvSpPr/>
          <p:nvPr/>
        </p:nvSpPr>
        <p:spPr>
          <a:xfrm>
            <a:off x="822959" y="2057400"/>
            <a:ext cx="548640" cy="548640"/>
          </a:xfrm>
          <a:prstGeom prst="ellipse">
            <a:avLst/>
          </a:prstGeom>
          <a:solidFill>
            <a:srgbClr val="DC640D"/>
          </a:solidFill>
          <a:ln>
            <a:noFill/>
          </a:ln>
        </p:spPr>
        <p:txBody>
          <a:bodyPr rtlCol="0" anchor="ctr"/>
          <a:lstStyle/>
          <a:p>
            <a:pPr algn="ctr"/>
          </a:p>
        </p:txBody>
      </p:sp>
      <p:pic>
        <p:nvPicPr>
          <p:cNvPr id="7" name="Picture 6" descr="LuMail_w.png"/>
          <p:cNvPicPr>
            <a:picLocks noChangeAspect="1"/>
          </p:cNvPicPr>
          <p:nvPr/>
        </p:nvPicPr>
        <p:blipFill>
          <a:blip r:embed="rId3"/>
          <a:stretch>
            <a:fillRect/>
          </a:stretch>
        </p:blipFill>
        <p:spPr>
          <a:xfrm>
            <a:off x="943660" y="2178100"/>
            <a:ext cx="307238" cy="307238"/>
          </a:xfrm>
          <a:prstGeom prst="rect">
            <a:avLst/>
          </a:prstGeom>
        </p:spPr>
      </p:pic>
      <p:sp>
        <p:nvSpPr>
          <p:cNvPr id="8" name="TextBox 7"/>
          <p:cNvSpPr txBox="1"/>
          <p:nvPr/>
        </p:nvSpPr>
        <p:spPr>
          <a:xfrm>
            <a:off x="1554480" y="2057400"/>
            <a:ext cx="2279904" cy="548640"/>
          </a:xfrm>
          <a:prstGeom prst="rect">
            <a:avLst/>
          </a:prstGeom>
          <a:noFill/>
        </p:spPr>
        <p:txBody>
          <a:bodyPr wrap="square" lIns="0" rIns="0" tIns="0" bIns="0" anchor="ctr">
            <a:spAutoFit/>
          </a:bodyPr>
          <a:lstStyle/>
          <a:p>
            <a:pPr algn="l"/>
            <a:r>
              <a:rPr sz="1333" b="1" i="0">
                <a:solidFill>
                  <a:srgbClr val="FFFFFF"/>
                </a:solidFill>
                <a:latin typeface="Verdana"/>
              </a:rPr>
              <a:t>Anfragen beantworten</a:t>
            </a:r>
          </a:p>
        </p:txBody>
      </p:sp>
      <p:sp>
        <p:nvSpPr>
          <p:cNvPr id="9" name="TextBox 8"/>
          <p:cNvSpPr txBox="1"/>
          <p:nvPr/>
        </p:nvSpPr>
        <p:spPr>
          <a:xfrm>
            <a:off x="822959" y="2788920"/>
            <a:ext cx="2965704" cy="777240"/>
          </a:xfrm>
          <a:prstGeom prst="rect">
            <a:avLst/>
          </a:prstGeom>
          <a:noFill/>
        </p:spPr>
        <p:txBody>
          <a:bodyPr wrap="square" lIns="0" rIns="0" tIns="0" bIns="0" anchor="t">
            <a:spAutoFit/>
          </a:bodyPr>
          <a:lstStyle/>
          <a:p>
            <a:pPr algn="l"/>
            <a:r>
              <a:rPr sz="1200" b="0" i="0">
                <a:solidFill>
                  <a:srgbClr val="9A9AAA"/>
                </a:solidFill>
                <a:latin typeface="Verdana"/>
              </a:rPr>
              <a:t>Die Auskunfts-Weiche aus Teil 3 mit euren echten Kategorien ausbauen</a:t>
            </a:r>
          </a:p>
        </p:txBody>
      </p:sp>
      <p:sp>
        <p:nvSpPr>
          <p:cNvPr id="10" name="Rectangle 9"/>
          <p:cNvSpPr/>
          <p:nvPr/>
        </p:nvSpPr>
        <p:spPr>
          <a:xfrm>
            <a:off x="4337304" y="1783080"/>
            <a:ext cx="3514344" cy="1874519"/>
          </a:xfrm>
          <a:prstGeom prst="rect">
            <a:avLst/>
          </a:prstGeom>
          <a:solidFill>
            <a:srgbClr val="24232E"/>
          </a:solidFill>
          <a:ln w="9525">
            <a:solidFill>
              <a:srgbClr val="3A3948"/>
            </a:solidFill>
          </a:ln>
        </p:spPr>
        <p:txBody>
          <a:bodyPr rtlCol="0" anchor="ctr"/>
          <a:lstStyle/>
          <a:p>
            <a:pPr algn="ctr"/>
          </a:p>
        </p:txBody>
      </p:sp>
      <p:sp>
        <p:nvSpPr>
          <p:cNvPr id="11" name="Rectangle 10"/>
          <p:cNvSpPr/>
          <p:nvPr/>
        </p:nvSpPr>
        <p:spPr>
          <a:xfrm>
            <a:off x="4337304" y="1783080"/>
            <a:ext cx="3514344" cy="64008"/>
          </a:xfrm>
          <a:prstGeom prst="rect">
            <a:avLst/>
          </a:prstGeom>
          <a:solidFill>
            <a:srgbClr val="DC640D"/>
          </a:solidFill>
          <a:ln>
            <a:noFill/>
          </a:ln>
        </p:spPr>
        <p:txBody>
          <a:bodyPr rtlCol="0" anchor="ctr"/>
          <a:lstStyle/>
          <a:p>
            <a:pPr algn="ctr"/>
          </a:p>
        </p:txBody>
      </p:sp>
      <p:sp>
        <p:nvSpPr>
          <p:cNvPr id="12" name="Oval 11"/>
          <p:cNvSpPr/>
          <p:nvPr/>
        </p:nvSpPr>
        <p:spPr>
          <a:xfrm>
            <a:off x="4611624" y="2057400"/>
            <a:ext cx="548640" cy="548640"/>
          </a:xfrm>
          <a:prstGeom prst="ellipse">
            <a:avLst/>
          </a:prstGeom>
          <a:solidFill>
            <a:srgbClr val="DC640D"/>
          </a:solidFill>
          <a:ln>
            <a:noFill/>
          </a:ln>
        </p:spPr>
        <p:txBody>
          <a:bodyPr rtlCol="0" anchor="ctr"/>
          <a:lstStyle/>
          <a:p>
            <a:pPr algn="ctr"/>
          </a:p>
        </p:txBody>
      </p:sp>
      <p:pic>
        <p:nvPicPr>
          <p:cNvPr id="13" name="Picture 12" descr="LuTags_w.png"/>
          <p:cNvPicPr>
            <a:picLocks noChangeAspect="1"/>
          </p:cNvPicPr>
          <p:nvPr/>
        </p:nvPicPr>
        <p:blipFill>
          <a:blip r:embed="rId4"/>
          <a:stretch>
            <a:fillRect/>
          </a:stretch>
        </p:blipFill>
        <p:spPr>
          <a:xfrm>
            <a:off x="4732324" y="2178100"/>
            <a:ext cx="307238" cy="307238"/>
          </a:xfrm>
          <a:prstGeom prst="rect">
            <a:avLst/>
          </a:prstGeom>
        </p:spPr>
      </p:pic>
      <p:sp>
        <p:nvSpPr>
          <p:cNvPr id="14" name="TextBox 13"/>
          <p:cNvSpPr txBox="1"/>
          <p:nvPr/>
        </p:nvSpPr>
        <p:spPr>
          <a:xfrm>
            <a:off x="5343144" y="2057400"/>
            <a:ext cx="2279904" cy="548640"/>
          </a:xfrm>
          <a:prstGeom prst="rect">
            <a:avLst/>
          </a:prstGeom>
          <a:noFill/>
        </p:spPr>
        <p:txBody>
          <a:bodyPr wrap="square" lIns="0" rIns="0" tIns="0" bIns="0" anchor="ctr">
            <a:spAutoFit/>
          </a:bodyPr>
          <a:lstStyle/>
          <a:p>
            <a:pPr algn="l"/>
            <a:r>
              <a:rPr sz="1333" b="1" i="0">
                <a:solidFill>
                  <a:srgbClr val="FFFFFF"/>
                </a:solidFill>
                <a:latin typeface="Verdana"/>
              </a:rPr>
              <a:t>Metadaten aus dem Titelblatt</a:t>
            </a:r>
          </a:p>
        </p:txBody>
      </p:sp>
      <p:sp>
        <p:nvSpPr>
          <p:cNvPr id="15" name="TextBox 14"/>
          <p:cNvSpPr txBox="1"/>
          <p:nvPr/>
        </p:nvSpPr>
        <p:spPr>
          <a:xfrm>
            <a:off x="4611624" y="2788920"/>
            <a:ext cx="2965704" cy="777240"/>
          </a:xfrm>
          <a:prstGeom prst="rect">
            <a:avLst/>
          </a:prstGeom>
          <a:noFill/>
        </p:spPr>
        <p:txBody>
          <a:bodyPr wrap="square" lIns="0" rIns="0" tIns="0" bIns="0" anchor="t">
            <a:spAutoFit/>
          </a:bodyPr>
          <a:lstStyle/>
          <a:p>
            <a:pPr algn="l"/>
            <a:r>
              <a:rPr sz="1200" b="0" i="0">
                <a:solidFill>
                  <a:srgbClr val="9A9AAA"/>
                </a:solidFill>
                <a:latin typeface="Verdana"/>
              </a:rPr>
              <a:t>Titel, Autor:in, Jahr und Schlagwörter aus dem PDF einer Dissertation ziehen</a:t>
            </a:r>
          </a:p>
        </p:txBody>
      </p:sp>
      <p:sp>
        <p:nvSpPr>
          <p:cNvPr id="16" name="Rectangle 15"/>
          <p:cNvSpPr/>
          <p:nvPr/>
        </p:nvSpPr>
        <p:spPr>
          <a:xfrm>
            <a:off x="8125968" y="1783080"/>
            <a:ext cx="3514344" cy="1874519"/>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8125968" y="1783080"/>
            <a:ext cx="3514344" cy="64008"/>
          </a:xfrm>
          <a:prstGeom prst="rect">
            <a:avLst/>
          </a:prstGeom>
          <a:solidFill>
            <a:srgbClr val="DC640D"/>
          </a:solidFill>
          <a:ln>
            <a:noFill/>
          </a:ln>
        </p:spPr>
        <p:txBody>
          <a:bodyPr rtlCol="0" anchor="ctr"/>
          <a:lstStyle/>
          <a:p>
            <a:pPr algn="ctr"/>
          </a:p>
        </p:txBody>
      </p:sp>
      <p:sp>
        <p:nvSpPr>
          <p:cNvPr id="18" name="Oval 17"/>
          <p:cNvSpPr/>
          <p:nvPr/>
        </p:nvSpPr>
        <p:spPr>
          <a:xfrm>
            <a:off x="8400288" y="2057400"/>
            <a:ext cx="548640" cy="548640"/>
          </a:xfrm>
          <a:prstGeom prst="ellipse">
            <a:avLst/>
          </a:prstGeom>
          <a:solidFill>
            <a:srgbClr val="DC640D"/>
          </a:solidFill>
          <a:ln>
            <a:noFill/>
          </a:ln>
        </p:spPr>
        <p:txBody>
          <a:bodyPr rtlCol="0" anchor="ctr"/>
          <a:lstStyle/>
          <a:p>
            <a:pPr algn="ctr"/>
          </a:p>
        </p:txBody>
      </p:sp>
      <p:pic>
        <p:nvPicPr>
          <p:cNvPr id="19" name="Picture 18" descr="LuLanguages_w.png"/>
          <p:cNvPicPr>
            <a:picLocks noChangeAspect="1"/>
          </p:cNvPicPr>
          <p:nvPr/>
        </p:nvPicPr>
        <p:blipFill>
          <a:blip r:embed="rId5"/>
          <a:stretch>
            <a:fillRect/>
          </a:stretch>
        </p:blipFill>
        <p:spPr>
          <a:xfrm>
            <a:off x="8520988" y="2178100"/>
            <a:ext cx="307238" cy="307238"/>
          </a:xfrm>
          <a:prstGeom prst="rect">
            <a:avLst/>
          </a:prstGeom>
        </p:spPr>
      </p:pic>
      <p:sp>
        <p:nvSpPr>
          <p:cNvPr id="20" name="TextBox 19"/>
          <p:cNvSpPr txBox="1"/>
          <p:nvPr/>
        </p:nvSpPr>
        <p:spPr>
          <a:xfrm>
            <a:off x="9131808" y="2057400"/>
            <a:ext cx="2279904" cy="548640"/>
          </a:xfrm>
          <a:prstGeom prst="rect">
            <a:avLst/>
          </a:prstGeom>
          <a:noFill/>
        </p:spPr>
        <p:txBody>
          <a:bodyPr wrap="square" lIns="0" rIns="0" tIns="0" bIns="0" anchor="ctr">
            <a:spAutoFit/>
          </a:bodyPr>
          <a:lstStyle/>
          <a:p>
            <a:pPr algn="l"/>
            <a:r>
              <a:rPr sz="1333" b="1" i="0">
                <a:solidFill>
                  <a:srgbClr val="FFFFFF"/>
                </a:solidFill>
                <a:latin typeface="Verdana"/>
              </a:rPr>
              <a:t>Leichte Sprache</a:t>
            </a:r>
          </a:p>
        </p:txBody>
      </p:sp>
      <p:sp>
        <p:nvSpPr>
          <p:cNvPr id="21" name="TextBox 20"/>
          <p:cNvSpPr txBox="1"/>
          <p:nvPr/>
        </p:nvSpPr>
        <p:spPr>
          <a:xfrm>
            <a:off x="8400288" y="2788920"/>
            <a:ext cx="2965704" cy="777240"/>
          </a:xfrm>
          <a:prstGeom prst="rect">
            <a:avLst/>
          </a:prstGeom>
          <a:noFill/>
        </p:spPr>
        <p:txBody>
          <a:bodyPr wrap="square" lIns="0" rIns="0" tIns="0" bIns="0" anchor="t">
            <a:spAutoFit/>
          </a:bodyPr>
          <a:lstStyle/>
          <a:p>
            <a:pPr algn="l"/>
            <a:r>
              <a:rPr sz="1200" b="0" i="0">
                <a:solidFill>
                  <a:srgbClr val="9A9AAA"/>
                </a:solidFill>
                <a:latin typeface="Verdana"/>
              </a:rPr>
              <a:t>Benutzungsordnung oder Webseite der Bibliothek in Leichte Sprache übersetzen</a:t>
            </a:r>
          </a:p>
        </p:txBody>
      </p:sp>
      <p:sp>
        <p:nvSpPr>
          <p:cNvPr id="22" name="Rectangle 21"/>
          <p:cNvSpPr/>
          <p:nvPr/>
        </p:nvSpPr>
        <p:spPr>
          <a:xfrm>
            <a:off x="548640" y="3840480"/>
            <a:ext cx="3514344" cy="1874519"/>
          </a:xfrm>
          <a:prstGeom prst="rect">
            <a:avLst/>
          </a:prstGeom>
          <a:solidFill>
            <a:srgbClr val="24232E"/>
          </a:solidFill>
          <a:ln w="9525">
            <a:solidFill>
              <a:srgbClr val="3A3948"/>
            </a:solidFill>
          </a:ln>
        </p:spPr>
        <p:txBody>
          <a:bodyPr rtlCol="0" anchor="ctr"/>
          <a:lstStyle/>
          <a:p>
            <a:pPr algn="ctr"/>
          </a:p>
        </p:txBody>
      </p:sp>
      <p:sp>
        <p:nvSpPr>
          <p:cNvPr id="23" name="Rectangle 22"/>
          <p:cNvSpPr/>
          <p:nvPr/>
        </p:nvSpPr>
        <p:spPr>
          <a:xfrm>
            <a:off x="548640" y="3840480"/>
            <a:ext cx="3514344" cy="64008"/>
          </a:xfrm>
          <a:prstGeom prst="rect">
            <a:avLst/>
          </a:prstGeom>
          <a:solidFill>
            <a:srgbClr val="DC640D"/>
          </a:solidFill>
          <a:ln>
            <a:noFill/>
          </a:ln>
        </p:spPr>
        <p:txBody>
          <a:bodyPr rtlCol="0" anchor="ctr"/>
          <a:lstStyle/>
          <a:p>
            <a:pPr algn="ctr"/>
          </a:p>
        </p:txBody>
      </p:sp>
      <p:sp>
        <p:nvSpPr>
          <p:cNvPr id="24" name="Oval 23"/>
          <p:cNvSpPr/>
          <p:nvPr/>
        </p:nvSpPr>
        <p:spPr>
          <a:xfrm>
            <a:off x="822959" y="4114800"/>
            <a:ext cx="548640" cy="548640"/>
          </a:xfrm>
          <a:prstGeom prst="ellipse">
            <a:avLst/>
          </a:prstGeom>
          <a:solidFill>
            <a:srgbClr val="DC640D"/>
          </a:solidFill>
          <a:ln>
            <a:noFill/>
          </a:ln>
        </p:spPr>
        <p:txBody>
          <a:bodyPr rtlCol="0" anchor="ctr"/>
          <a:lstStyle/>
          <a:p>
            <a:pPr algn="ctr"/>
          </a:p>
        </p:txBody>
      </p:sp>
      <p:pic>
        <p:nvPicPr>
          <p:cNvPr id="25" name="Picture 24" descr="LuMegaphone_w.png"/>
          <p:cNvPicPr>
            <a:picLocks noChangeAspect="1"/>
          </p:cNvPicPr>
          <p:nvPr/>
        </p:nvPicPr>
        <p:blipFill>
          <a:blip r:embed="rId6"/>
          <a:stretch>
            <a:fillRect/>
          </a:stretch>
        </p:blipFill>
        <p:spPr>
          <a:xfrm>
            <a:off x="943660" y="4235500"/>
            <a:ext cx="307238" cy="307238"/>
          </a:xfrm>
          <a:prstGeom prst="rect">
            <a:avLst/>
          </a:prstGeom>
        </p:spPr>
      </p:pic>
      <p:sp>
        <p:nvSpPr>
          <p:cNvPr id="26" name="TextBox 25"/>
          <p:cNvSpPr txBox="1"/>
          <p:nvPr/>
        </p:nvSpPr>
        <p:spPr>
          <a:xfrm>
            <a:off x="1554480" y="4114800"/>
            <a:ext cx="2279904" cy="548640"/>
          </a:xfrm>
          <a:prstGeom prst="rect">
            <a:avLst/>
          </a:prstGeom>
          <a:noFill/>
        </p:spPr>
        <p:txBody>
          <a:bodyPr wrap="square" lIns="0" rIns="0" tIns="0" bIns="0" anchor="ctr">
            <a:spAutoFit/>
          </a:bodyPr>
          <a:lstStyle/>
          <a:p>
            <a:pPr algn="l"/>
            <a:r>
              <a:rPr sz="1333" b="1" i="0">
                <a:solidFill>
                  <a:srgbClr val="FFFFFF"/>
                </a:solidFill>
                <a:latin typeface="Verdana"/>
              </a:rPr>
              <a:t>Neuerwerbungen vorstellen</a:t>
            </a:r>
          </a:p>
        </p:txBody>
      </p:sp>
      <p:sp>
        <p:nvSpPr>
          <p:cNvPr id="27" name="TextBox 26"/>
          <p:cNvSpPr txBox="1"/>
          <p:nvPr/>
        </p:nvSpPr>
        <p:spPr>
          <a:xfrm>
            <a:off x="822959" y="4846320"/>
            <a:ext cx="2965704" cy="777240"/>
          </a:xfrm>
          <a:prstGeom prst="rect">
            <a:avLst/>
          </a:prstGeom>
          <a:noFill/>
        </p:spPr>
        <p:txBody>
          <a:bodyPr wrap="square" lIns="0" rIns="0" tIns="0" bIns="0" anchor="t">
            <a:spAutoFit/>
          </a:bodyPr>
          <a:lstStyle/>
          <a:p>
            <a:pPr algn="l"/>
            <a:r>
              <a:rPr sz="1200" b="0" i="0">
                <a:solidFill>
                  <a:srgbClr val="9A9AAA"/>
                </a:solidFill>
                <a:latin typeface="Verdana"/>
              </a:rPr>
              <a:t>Aus einer Liste von ISBNs kurze Buchvorstellungen für Social Media schreiben</a:t>
            </a:r>
          </a:p>
        </p:txBody>
      </p:sp>
      <p:sp>
        <p:nvSpPr>
          <p:cNvPr id="28" name="Rectangle 27"/>
          <p:cNvSpPr/>
          <p:nvPr/>
        </p:nvSpPr>
        <p:spPr>
          <a:xfrm>
            <a:off x="4337304" y="3840480"/>
            <a:ext cx="3514344" cy="1874519"/>
          </a:xfrm>
          <a:prstGeom prst="rect">
            <a:avLst/>
          </a:prstGeom>
          <a:solidFill>
            <a:srgbClr val="24232E"/>
          </a:solidFill>
          <a:ln w="9525">
            <a:solidFill>
              <a:srgbClr val="3A3948"/>
            </a:solidFill>
          </a:ln>
        </p:spPr>
        <p:txBody>
          <a:bodyPr rtlCol="0" anchor="ctr"/>
          <a:lstStyle/>
          <a:p>
            <a:pPr algn="ctr"/>
          </a:p>
        </p:txBody>
      </p:sp>
      <p:sp>
        <p:nvSpPr>
          <p:cNvPr id="29" name="Rectangle 28"/>
          <p:cNvSpPr/>
          <p:nvPr/>
        </p:nvSpPr>
        <p:spPr>
          <a:xfrm>
            <a:off x="4337304" y="3840480"/>
            <a:ext cx="3514344" cy="64008"/>
          </a:xfrm>
          <a:prstGeom prst="rect">
            <a:avLst/>
          </a:prstGeom>
          <a:solidFill>
            <a:srgbClr val="DC640D"/>
          </a:solidFill>
          <a:ln>
            <a:noFill/>
          </a:ln>
        </p:spPr>
        <p:txBody>
          <a:bodyPr rtlCol="0" anchor="ctr"/>
          <a:lstStyle/>
          <a:p>
            <a:pPr algn="ctr"/>
          </a:p>
        </p:txBody>
      </p:sp>
      <p:sp>
        <p:nvSpPr>
          <p:cNvPr id="30" name="Oval 29"/>
          <p:cNvSpPr/>
          <p:nvPr/>
        </p:nvSpPr>
        <p:spPr>
          <a:xfrm>
            <a:off x="4611624" y="4114800"/>
            <a:ext cx="548640" cy="548640"/>
          </a:xfrm>
          <a:prstGeom prst="ellipse">
            <a:avLst/>
          </a:prstGeom>
          <a:solidFill>
            <a:srgbClr val="DC640D"/>
          </a:solidFill>
          <a:ln>
            <a:noFill/>
          </a:ln>
        </p:spPr>
        <p:txBody>
          <a:bodyPr rtlCol="0" anchor="ctr"/>
          <a:lstStyle/>
          <a:p>
            <a:pPr algn="ctr"/>
          </a:p>
        </p:txBody>
      </p:sp>
      <p:pic>
        <p:nvPicPr>
          <p:cNvPr id="31" name="Picture 30" descr="LuLockOpen_w.png"/>
          <p:cNvPicPr>
            <a:picLocks noChangeAspect="1"/>
          </p:cNvPicPr>
          <p:nvPr/>
        </p:nvPicPr>
        <p:blipFill>
          <a:blip r:embed="rId7"/>
          <a:stretch>
            <a:fillRect/>
          </a:stretch>
        </p:blipFill>
        <p:spPr>
          <a:xfrm>
            <a:off x="4732324" y="4235500"/>
            <a:ext cx="307238" cy="307238"/>
          </a:xfrm>
          <a:prstGeom prst="rect">
            <a:avLst/>
          </a:prstGeom>
        </p:spPr>
      </p:pic>
      <p:sp>
        <p:nvSpPr>
          <p:cNvPr id="32" name="TextBox 31"/>
          <p:cNvSpPr txBox="1"/>
          <p:nvPr/>
        </p:nvSpPr>
        <p:spPr>
          <a:xfrm>
            <a:off x="5343144" y="4114800"/>
            <a:ext cx="2279904" cy="548640"/>
          </a:xfrm>
          <a:prstGeom prst="rect">
            <a:avLst/>
          </a:prstGeom>
          <a:noFill/>
        </p:spPr>
        <p:txBody>
          <a:bodyPr wrap="square" lIns="0" rIns="0" tIns="0" bIns="0" anchor="ctr">
            <a:spAutoFit/>
          </a:bodyPr>
          <a:lstStyle/>
          <a:p>
            <a:pPr algn="l"/>
            <a:r>
              <a:rPr sz="1333" b="1" i="0">
                <a:solidFill>
                  <a:srgbClr val="FFFFFF"/>
                </a:solidFill>
                <a:latin typeface="Verdana"/>
              </a:rPr>
              <a:t>Open-Access-Beratung</a:t>
            </a:r>
          </a:p>
        </p:txBody>
      </p:sp>
      <p:sp>
        <p:nvSpPr>
          <p:cNvPr id="33" name="TextBox 32"/>
          <p:cNvSpPr txBox="1"/>
          <p:nvPr/>
        </p:nvSpPr>
        <p:spPr>
          <a:xfrm>
            <a:off x="4611624" y="4846320"/>
            <a:ext cx="2965704" cy="777240"/>
          </a:xfrm>
          <a:prstGeom prst="rect">
            <a:avLst/>
          </a:prstGeom>
          <a:noFill/>
        </p:spPr>
        <p:txBody>
          <a:bodyPr wrap="square" lIns="0" rIns="0" tIns="0" bIns="0" anchor="t">
            <a:spAutoFit/>
          </a:bodyPr>
          <a:lstStyle/>
          <a:p>
            <a:pPr algn="l"/>
            <a:r>
              <a:rPr sz="1200" b="0" i="0">
                <a:solidFill>
                  <a:srgbClr val="9A9AAA"/>
                </a:solidFill>
                <a:latin typeface="Verdana"/>
              </a:rPr>
              <a:t>Zu einer Liste von DOIs prüfen, welche frei verfügbar sind und wo</a:t>
            </a:r>
          </a:p>
        </p:txBody>
      </p:sp>
      <p:sp>
        <p:nvSpPr>
          <p:cNvPr id="34" name="Rectangle 33"/>
          <p:cNvSpPr/>
          <p:nvPr/>
        </p:nvSpPr>
        <p:spPr>
          <a:xfrm>
            <a:off x="8125968" y="3840480"/>
            <a:ext cx="3514344" cy="1874519"/>
          </a:xfrm>
          <a:prstGeom prst="rect">
            <a:avLst/>
          </a:prstGeom>
          <a:solidFill>
            <a:srgbClr val="24232E"/>
          </a:solidFill>
          <a:ln w="9525">
            <a:solidFill>
              <a:srgbClr val="3A3948"/>
            </a:solidFill>
          </a:ln>
        </p:spPr>
        <p:txBody>
          <a:bodyPr rtlCol="0" anchor="ctr"/>
          <a:lstStyle/>
          <a:p>
            <a:pPr algn="ctr"/>
          </a:p>
        </p:txBody>
      </p:sp>
      <p:sp>
        <p:nvSpPr>
          <p:cNvPr id="35" name="Rectangle 34"/>
          <p:cNvSpPr/>
          <p:nvPr/>
        </p:nvSpPr>
        <p:spPr>
          <a:xfrm>
            <a:off x="8125968" y="3840480"/>
            <a:ext cx="3514344" cy="64008"/>
          </a:xfrm>
          <a:prstGeom prst="rect">
            <a:avLst/>
          </a:prstGeom>
          <a:solidFill>
            <a:srgbClr val="F6A800"/>
          </a:solidFill>
          <a:ln>
            <a:noFill/>
          </a:ln>
        </p:spPr>
        <p:txBody>
          <a:bodyPr rtlCol="0" anchor="ctr"/>
          <a:lstStyle/>
          <a:p>
            <a:pPr algn="ctr"/>
          </a:p>
        </p:txBody>
      </p:sp>
      <p:sp>
        <p:nvSpPr>
          <p:cNvPr id="36" name="Oval 35"/>
          <p:cNvSpPr/>
          <p:nvPr/>
        </p:nvSpPr>
        <p:spPr>
          <a:xfrm>
            <a:off x="8400288" y="4114800"/>
            <a:ext cx="548640" cy="548640"/>
          </a:xfrm>
          <a:prstGeom prst="ellipse">
            <a:avLst/>
          </a:prstGeom>
          <a:solidFill>
            <a:srgbClr val="F6A800"/>
          </a:solidFill>
          <a:ln>
            <a:noFill/>
          </a:ln>
        </p:spPr>
        <p:txBody>
          <a:bodyPr rtlCol="0" anchor="ctr"/>
          <a:lstStyle/>
          <a:p>
            <a:pPr algn="ctr"/>
          </a:p>
        </p:txBody>
      </p:sp>
      <p:pic>
        <p:nvPicPr>
          <p:cNvPr id="37" name="Picture 36" descr="LuCalendarDays_w.png"/>
          <p:cNvPicPr>
            <a:picLocks noChangeAspect="1"/>
          </p:cNvPicPr>
          <p:nvPr/>
        </p:nvPicPr>
        <p:blipFill>
          <a:blip r:embed="rId8"/>
          <a:stretch>
            <a:fillRect/>
          </a:stretch>
        </p:blipFill>
        <p:spPr>
          <a:xfrm>
            <a:off x="8520988" y="4235500"/>
            <a:ext cx="307238" cy="307238"/>
          </a:xfrm>
          <a:prstGeom prst="rect">
            <a:avLst/>
          </a:prstGeom>
        </p:spPr>
      </p:pic>
      <p:sp>
        <p:nvSpPr>
          <p:cNvPr id="38" name="TextBox 37"/>
          <p:cNvSpPr txBox="1"/>
          <p:nvPr/>
        </p:nvSpPr>
        <p:spPr>
          <a:xfrm>
            <a:off x="9131808" y="4114800"/>
            <a:ext cx="2279904" cy="548640"/>
          </a:xfrm>
          <a:prstGeom prst="rect">
            <a:avLst/>
          </a:prstGeom>
          <a:noFill/>
        </p:spPr>
        <p:txBody>
          <a:bodyPr wrap="square" lIns="0" rIns="0" tIns="0" bIns="0" anchor="ctr">
            <a:spAutoFit/>
          </a:bodyPr>
          <a:lstStyle/>
          <a:p>
            <a:pPr algn="l"/>
            <a:r>
              <a:rPr sz="1333" b="1" i="0">
                <a:solidFill>
                  <a:srgbClr val="FFFFFF"/>
                </a:solidFill>
                <a:latin typeface="Verdana"/>
              </a:rPr>
              <a:t>Schulungsplanung</a:t>
            </a:r>
          </a:p>
        </p:txBody>
      </p:sp>
      <p:sp>
        <p:nvSpPr>
          <p:cNvPr id="39" name="TextBox 38"/>
          <p:cNvSpPr txBox="1"/>
          <p:nvPr/>
        </p:nvSpPr>
        <p:spPr>
          <a:xfrm>
            <a:off x="8400288" y="4846320"/>
            <a:ext cx="2965704" cy="777240"/>
          </a:xfrm>
          <a:prstGeom prst="rect">
            <a:avLst/>
          </a:prstGeom>
          <a:noFill/>
        </p:spPr>
        <p:txBody>
          <a:bodyPr wrap="square" lIns="0" rIns="0" tIns="0" bIns="0" anchor="t">
            <a:spAutoFit/>
          </a:bodyPr>
          <a:lstStyle/>
          <a:p>
            <a:pPr algn="l"/>
            <a:r>
              <a:rPr sz="1200" b="0" i="0">
                <a:solidFill>
                  <a:srgbClr val="9A9AAA"/>
                </a:solidFill>
                <a:latin typeface="Verdana"/>
              </a:rPr>
              <a:t>Termine planen, HTML-Tabelle und Werbe-Mail erzeugen. Start-Flow 05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Drei Minuten pro Gruppe.</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SHOW &amp; TELL</a:t>
            </a:r>
          </a:p>
        </p:txBody>
      </p:sp>
      <p:sp>
        <p:nvSpPr>
          <p:cNvPr id="4" name="Rectangle 3"/>
          <p:cNvSpPr/>
          <p:nvPr/>
        </p:nvSpPr>
        <p:spPr>
          <a:xfrm>
            <a:off x="548640" y="1783080"/>
            <a:ext cx="2948322" cy="1463040"/>
          </a:xfrm>
          <a:prstGeom prst="rect">
            <a:avLst/>
          </a:prstGeom>
          <a:solidFill>
            <a:srgbClr val="24232E"/>
          </a:solidFill>
          <a:ln w="9525">
            <a:solidFill>
              <a:srgbClr val="3A3948"/>
            </a:solidFill>
          </a:ln>
        </p:spPr>
        <p:txBody>
          <a:bodyPr rtlCol="0" anchor="ctr"/>
          <a:lstStyle/>
          <a:p>
            <a:pPr algn="ctr"/>
          </a:p>
        </p:txBody>
      </p:sp>
      <p:sp>
        <p:nvSpPr>
          <p:cNvPr id="5" name="TextBox 4"/>
          <p:cNvSpPr txBox="1"/>
          <p:nvPr/>
        </p:nvSpPr>
        <p:spPr>
          <a:xfrm>
            <a:off x="777240" y="1965960"/>
            <a:ext cx="1851042" cy="365760"/>
          </a:xfrm>
          <a:prstGeom prst="rect">
            <a:avLst/>
          </a:prstGeom>
          <a:noFill/>
        </p:spPr>
        <p:txBody>
          <a:bodyPr wrap="square" lIns="0" rIns="0" tIns="0" bIns="0" anchor="t">
            <a:spAutoFit/>
          </a:bodyPr>
          <a:lstStyle/>
          <a:p>
            <a:pPr algn="l"/>
            <a:r>
              <a:rPr sz="1600" b="1" i="0">
                <a:solidFill>
                  <a:srgbClr val="FFFFFF"/>
                </a:solidFill>
                <a:latin typeface="Verdana"/>
              </a:rPr>
              <a:t>Aufgabe</a:t>
            </a:r>
          </a:p>
        </p:txBody>
      </p:sp>
      <p:sp>
        <p:nvSpPr>
          <p:cNvPr id="6" name="TextBox 5"/>
          <p:cNvSpPr txBox="1"/>
          <p:nvPr/>
        </p:nvSpPr>
        <p:spPr>
          <a:xfrm>
            <a:off x="2628282" y="1984248"/>
            <a:ext cx="685800" cy="320040"/>
          </a:xfrm>
          <a:prstGeom prst="rect">
            <a:avLst/>
          </a:prstGeom>
          <a:noFill/>
        </p:spPr>
        <p:txBody>
          <a:bodyPr wrap="square" lIns="0" rIns="0" tIns="0" bIns="0" anchor="t">
            <a:spAutoFit/>
          </a:bodyPr>
          <a:lstStyle/>
          <a:p>
            <a:pPr algn="r"/>
            <a:r>
              <a:rPr sz="1200" b="1" i="0">
                <a:solidFill>
                  <a:srgbClr val="FFFFFF"/>
                </a:solidFill>
                <a:latin typeface="Verdana"/>
              </a:rPr>
              <a:t>30 s</a:t>
            </a:r>
          </a:p>
        </p:txBody>
      </p:sp>
      <p:sp>
        <p:nvSpPr>
          <p:cNvPr id="7" name="TextBox 6"/>
          <p:cNvSpPr txBox="1"/>
          <p:nvPr/>
        </p:nvSpPr>
        <p:spPr>
          <a:xfrm>
            <a:off x="777240" y="2468880"/>
            <a:ext cx="2491122" cy="685800"/>
          </a:xfrm>
          <a:prstGeom prst="rect">
            <a:avLst/>
          </a:prstGeom>
          <a:noFill/>
        </p:spPr>
        <p:txBody>
          <a:bodyPr wrap="square" lIns="0" rIns="0" tIns="0" bIns="0" anchor="t">
            <a:spAutoFit/>
          </a:bodyPr>
          <a:lstStyle/>
          <a:p>
            <a:pPr algn="l"/>
            <a:r>
              <a:rPr sz="1267" b="0" i="0">
                <a:solidFill>
                  <a:srgbClr val="FFFFFF"/>
                </a:solidFill>
                <a:latin typeface="Verdana"/>
              </a:rPr>
              <a:t>Welches Problem wolltet ihr lösen?</a:t>
            </a:r>
          </a:p>
        </p:txBody>
      </p:sp>
      <p:sp>
        <p:nvSpPr>
          <p:cNvPr id="8" name="Rectangle 7"/>
          <p:cNvSpPr/>
          <p:nvPr/>
        </p:nvSpPr>
        <p:spPr>
          <a:xfrm>
            <a:off x="3588402" y="1783080"/>
            <a:ext cx="4422483" cy="1463040"/>
          </a:xfrm>
          <a:prstGeom prst="rect">
            <a:avLst/>
          </a:prstGeom>
          <a:solidFill>
            <a:srgbClr val="DC640D"/>
          </a:solidFill>
          <a:ln>
            <a:noFill/>
          </a:ln>
        </p:spPr>
        <p:txBody>
          <a:bodyPr rtlCol="0" anchor="ctr"/>
          <a:lstStyle/>
          <a:p>
            <a:pPr algn="ctr"/>
          </a:p>
        </p:txBody>
      </p:sp>
      <p:sp>
        <p:nvSpPr>
          <p:cNvPr id="9" name="TextBox 8"/>
          <p:cNvSpPr txBox="1"/>
          <p:nvPr/>
        </p:nvSpPr>
        <p:spPr>
          <a:xfrm>
            <a:off x="3817002" y="1965960"/>
            <a:ext cx="3325203" cy="365760"/>
          </a:xfrm>
          <a:prstGeom prst="rect">
            <a:avLst/>
          </a:prstGeom>
          <a:noFill/>
        </p:spPr>
        <p:txBody>
          <a:bodyPr wrap="square" lIns="0" rIns="0" tIns="0" bIns="0" anchor="t">
            <a:spAutoFit/>
          </a:bodyPr>
          <a:lstStyle/>
          <a:p>
            <a:pPr algn="l"/>
            <a:r>
              <a:rPr sz="1600" b="1" i="0">
                <a:solidFill>
                  <a:srgbClr val="FFFFFF"/>
                </a:solidFill>
                <a:latin typeface="Verdana"/>
              </a:rPr>
              <a:t>Demo</a:t>
            </a:r>
          </a:p>
        </p:txBody>
      </p:sp>
      <p:sp>
        <p:nvSpPr>
          <p:cNvPr id="10" name="TextBox 9"/>
          <p:cNvSpPr txBox="1"/>
          <p:nvPr/>
        </p:nvSpPr>
        <p:spPr>
          <a:xfrm>
            <a:off x="7142205" y="1984248"/>
            <a:ext cx="685800" cy="320040"/>
          </a:xfrm>
          <a:prstGeom prst="rect">
            <a:avLst/>
          </a:prstGeom>
          <a:noFill/>
        </p:spPr>
        <p:txBody>
          <a:bodyPr wrap="square" lIns="0" rIns="0" tIns="0" bIns="0" anchor="t">
            <a:spAutoFit/>
          </a:bodyPr>
          <a:lstStyle/>
          <a:p>
            <a:pPr algn="r"/>
            <a:r>
              <a:rPr sz="1200" b="1" i="0">
                <a:solidFill>
                  <a:srgbClr val="FFFFFF"/>
                </a:solidFill>
                <a:latin typeface="Verdana"/>
              </a:rPr>
              <a:t>90 s</a:t>
            </a:r>
          </a:p>
        </p:txBody>
      </p:sp>
      <p:sp>
        <p:nvSpPr>
          <p:cNvPr id="11" name="TextBox 10"/>
          <p:cNvSpPr txBox="1"/>
          <p:nvPr/>
        </p:nvSpPr>
        <p:spPr>
          <a:xfrm>
            <a:off x="3817002" y="2468880"/>
            <a:ext cx="3965283" cy="685800"/>
          </a:xfrm>
          <a:prstGeom prst="rect">
            <a:avLst/>
          </a:prstGeom>
          <a:noFill/>
        </p:spPr>
        <p:txBody>
          <a:bodyPr wrap="square" lIns="0" rIns="0" tIns="0" bIns="0" anchor="t">
            <a:spAutoFit/>
          </a:bodyPr>
          <a:lstStyle/>
          <a:p>
            <a:pPr algn="l"/>
            <a:r>
              <a:rPr sz="1267" b="0" i="0">
                <a:solidFill>
                  <a:srgbClr val="FFFFFF"/>
                </a:solidFill>
                <a:latin typeface="Verdana"/>
              </a:rPr>
              <a:t>Den Flow live zeigen, mit einem echten Beispiel</a:t>
            </a:r>
          </a:p>
        </p:txBody>
      </p:sp>
      <p:sp>
        <p:nvSpPr>
          <p:cNvPr id="12" name="Rectangle 11"/>
          <p:cNvSpPr/>
          <p:nvPr/>
        </p:nvSpPr>
        <p:spPr>
          <a:xfrm>
            <a:off x="8102325" y="1783080"/>
            <a:ext cx="3537986" cy="1463040"/>
          </a:xfrm>
          <a:prstGeom prst="rect">
            <a:avLst/>
          </a:prstGeom>
          <a:solidFill>
            <a:srgbClr val="F6A800"/>
          </a:solidFill>
          <a:ln>
            <a:noFill/>
          </a:ln>
        </p:spPr>
        <p:txBody>
          <a:bodyPr rtlCol="0" anchor="ctr"/>
          <a:lstStyle/>
          <a:p>
            <a:pPr algn="ctr"/>
          </a:p>
        </p:txBody>
      </p:sp>
      <p:sp>
        <p:nvSpPr>
          <p:cNvPr id="13" name="TextBox 12"/>
          <p:cNvSpPr txBox="1"/>
          <p:nvPr/>
        </p:nvSpPr>
        <p:spPr>
          <a:xfrm>
            <a:off x="8330925" y="1965960"/>
            <a:ext cx="2440706" cy="365760"/>
          </a:xfrm>
          <a:prstGeom prst="rect">
            <a:avLst/>
          </a:prstGeom>
          <a:noFill/>
        </p:spPr>
        <p:txBody>
          <a:bodyPr wrap="square" lIns="0" rIns="0" tIns="0" bIns="0" anchor="t">
            <a:spAutoFit/>
          </a:bodyPr>
          <a:lstStyle/>
          <a:p>
            <a:pPr algn="l"/>
            <a:r>
              <a:rPr sz="1600" b="1" i="0">
                <a:solidFill>
                  <a:srgbClr val="17161C"/>
                </a:solidFill>
                <a:latin typeface="Verdana"/>
              </a:rPr>
              <a:t>Gelernt</a:t>
            </a:r>
          </a:p>
        </p:txBody>
      </p:sp>
      <p:sp>
        <p:nvSpPr>
          <p:cNvPr id="14" name="TextBox 13"/>
          <p:cNvSpPr txBox="1"/>
          <p:nvPr/>
        </p:nvSpPr>
        <p:spPr>
          <a:xfrm>
            <a:off x="10771632" y="1984248"/>
            <a:ext cx="685800" cy="320040"/>
          </a:xfrm>
          <a:prstGeom prst="rect">
            <a:avLst/>
          </a:prstGeom>
          <a:noFill/>
        </p:spPr>
        <p:txBody>
          <a:bodyPr wrap="square" lIns="0" rIns="0" tIns="0" bIns="0" anchor="t">
            <a:spAutoFit/>
          </a:bodyPr>
          <a:lstStyle/>
          <a:p>
            <a:pPr algn="r"/>
            <a:r>
              <a:rPr sz="1200" b="1" i="0">
                <a:solidFill>
                  <a:srgbClr val="17161C"/>
                </a:solidFill>
                <a:latin typeface="Verdana"/>
              </a:rPr>
              <a:t>60 s</a:t>
            </a:r>
          </a:p>
        </p:txBody>
      </p:sp>
      <p:sp>
        <p:nvSpPr>
          <p:cNvPr id="15" name="TextBox 14"/>
          <p:cNvSpPr txBox="1"/>
          <p:nvPr/>
        </p:nvSpPr>
        <p:spPr>
          <a:xfrm>
            <a:off x="8330925" y="2468880"/>
            <a:ext cx="3080786" cy="685800"/>
          </a:xfrm>
          <a:prstGeom prst="rect">
            <a:avLst/>
          </a:prstGeom>
          <a:noFill/>
        </p:spPr>
        <p:txBody>
          <a:bodyPr wrap="square" lIns="0" rIns="0" tIns="0" bIns="0" anchor="t">
            <a:spAutoFit/>
          </a:bodyPr>
          <a:lstStyle/>
          <a:p>
            <a:pPr algn="l"/>
            <a:r>
              <a:rPr sz="1267" b="0" i="0">
                <a:solidFill>
                  <a:srgbClr val="17161C"/>
                </a:solidFill>
                <a:latin typeface="Verdana"/>
              </a:rPr>
              <a:t>Was hat nicht geklappt? Was würdet ihr anders bauen?</a:t>
            </a:r>
          </a:p>
        </p:txBody>
      </p:sp>
      <p:sp>
        <p:nvSpPr>
          <p:cNvPr id="16" name="TextBox 15"/>
          <p:cNvSpPr txBox="1"/>
          <p:nvPr/>
        </p:nvSpPr>
        <p:spPr>
          <a:xfrm>
            <a:off x="548640" y="3566160"/>
            <a:ext cx="8229600" cy="274320"/>
          </a:xfrm>
          <a:prstGeom prst="rect">
            <a:avLst/>
          </a:prstGeom>
          <a:noFill/>
        </p:spPr>
        <p:txBody>
          <a:bodyPr wrap="square" lIns="0" rIns="0" tIns="0" bIns="0" anchor="ctr">
            <a:spAutoFit/>
          </a:bodyPr>
          <a:lstStyle/>
          <a:p>
            <a:pPr algn="l"/>
            <a:r>
              <a:rPr sz="1067" b="1" i="0" spc="467">
                <a:solidFill>
                  <a:srgbClr val="F6A800"/>
                </a:solidFill>
                <a:latin typeface="Verdana"/>
              </a:rPr>
              <a:t>LEITFRAGEN FÜRS PUBLIKUM</a:t>
            </a:r>
          </a:p>
        </p:txBody>
      </p:sp>
      <p:sp>
        <p:nvSpPr>
          <p:cNvPr id="17" name="Rectangle 16"/>
          <p:cNvSpPr/>
          <p:nvPr/>
        </p:nvSpPr>
        <p:spPr>
          <a:xfrm>
            <a:off x="548640" y="3977639"/>
            <a:ext cx="3575304" cy="1051560"/>
          </a:xfrm>
          <a:prstGeom prst="rect">
            <a:avLst/>
          </a:prstGeom>
          <a:solidFill>
            <a:srgbClr val="24232E"/>
          </a:solidFill>
          <a:ln w="9525">
            <a:solidFill>
              <a:srgbClr val="3A3948"/>
            </a:solidFill>
          </a:ln>
        </p:spPr>
        <p:txBody>
          <a:bodyPr rtlCol="0" anchor="ctr"/>
          <a:lstStyle/>
          <a:p>
            <a:pPr algn="ctr"/>
          </a:p>
        </p:txBody>
      </p:sp>
      <p:sp>
        <p:nvSpPr>
          <p:cNvPr id="18" name="Oval 17"/>
          <p:cNvSpPr/>
          <p:nvPr/>
        </p:nvSpPr>
        <p:spPr>
          <a:xfrm>
            <a:off x="777240" y="4224528"/>
            <a:ext cx="548640" cy="548640"/>
          </a:xfrm>
          <a:prstGeom prst="ellipse">
            <a:avLst/>
          </a:prstGeom>
          <a:solidFill>
            <a:srgbClr val="DC640D"/>
          </a:solidFill>
          <a:ln>
            <a:noFill/>
          </a:ln>
        </p:spPr>
        <p:txBody>
          <a:bodyPr rtlCol="0" anchor="ctr"/>
          <a:lstStyle/>
          <a:p>
            <a:pPr algn="ctr"/>
          </a:p>
        </p:txBody>
      </p:sp>
      <p:pic>
        <p:nvPicPr>
          <p:cNvPr id="19" name="Picture 18" descr="LuTarget_w.png"/>
          <p:cNvPicPr>
            <a:picLocks noChangeAspect="1"/>
          </p:cNvPicPr>
          <p:nvPr/>
        </p:nvPicPr>
        <p:blipFill>
          <a:blip r:embed="rId3"/>
          <a:stretch>
            <a:fillRect/>
          </a:stretch>
        </p:blipFill>
        <p:spPr>
          <a:xfrm>
            <a:off x="897940" y="4345228"/>
            <a:ext cx="307238" cy="307238"/>
          </a:xfrm>
          <a:prstGeom prst="rect">
            <a:avLst/>
          </a:prstGeom>
        </p:spPr>
      </p:pic>
      <p:sp>
        <p:nvSpPr>
          <p:cNvPr id="20" name="TextBox 19"/>
          <p:cNvSpPr txBox="1"/>
          <p:nvPr/>
        </p:nvSpPr>
        <p:spPr>
          <a:xfrm>
            <a:off x="1508760" y="3977639"/>
            <a:ext cx="2386584" cy="1051560"/>
          </a:xfrm>
          <a:prstGeom prst="rect">
            <a:avLst/>
          </a:prstGeom>
          <a:noFill/>
        </p:spPr>
        <p:txBody>
          <a:bodyPr wrap="square" lIns="0" rIns="0" tIns="0" bIns="0" anchor="ctr">
            <a:spAutoFit/>
          </a:bodyPr>
          <a:lstStyle/>
          <a:p>
            <a:pPr algn="l"/>
            <a:r>
              <a:rPr sz="1333" b="0" i="0">
                <a:solidFill>
                  <a:srgbClr val="FFFFFF"/>
                </a:solidFill>
                <a:latin typeface="Verdana"/>
              </a:rPr>
              <a:t>Würde ich das im Alltag nutzen?</a:t>
            </a:r>
          </a:p>
        </p:txBody>
      </p:sp>
      <p:sp>
        <p:nvSpPr>
          <p:cNvPr id="21" name="Rectangle 20"/>
          <p:cNvSpPr/>
          <p:nvPr/>
        </p:nvSpPr>
        <p:spPr>
          <a:xfrm>
            <a:off x="4306824" y="3977639"/>
            <a:ext cx="3575304" cy="1051560"/>
          </a:xfrm>
          <a:prstGeom prst="rect">
            <a:avLst/>
          </a:prstGeom>
          <a:solidFill>
            <a:srgbClr val="24232E"/>
          </a:solidFill>
          <a:ln w="9525">
            <a:solidFill>
              <a:srgbClr val="3A3948"/>
            </a:solidFill>
          </a:ln>
        </p:spPr>
        <p:txBody>
          <a:bodyPr rtlCol="0" anchor="ctr"/>
          <a:lstStyle/>
          <a:p>
            <a:pPr algn="ctr"/>
          </a:p>
        </p:txBody>
      </p:sp>
      <p:sp>
        <p:nvSpPr>
          <p:cNvPr id="22" name="Oval 21"/>
          <p:cNvSpPr/>
          <p:nvPr/>
        </p:nvSpPr>
        <p:spPr>
          <a:xfrm>
            <a:off x="4535424" y="4224528"/>
            <a:ext cx="548640" cy="548640"/>
          </a:xfrm>
          <a:prstGeom prst="ellipse">
            <a:avLst/>
          </a:prstGeom>
          <a:solidFill>
            <a:srgbClr val="DC640D"/>
          </a:solidFill>
          <a:ln>
            <a:noFill/>
          </a:ln>
        </p:spPr>
        <p:txBody>
          <a:bodyPr rtlCol="0" anchor="ctr"/>
          <a:lstStyle/>
          <a:p>
            <a:pPr algn="ctr"/>
          </a:p>
        </p:txBody>
      </p:sp>
      <p:pic>
        <p:nvPicPr>
          <p:cNvPr id="23" name="Picture 22" descr="LuSearchCheck_w.png"/>
          <p:cNvPicPr>
            <a:picLocks noChangeAspect="1"/>
          </p:cNvPicPr>
          <p:nvPr/>
        </p:nvPicPr>
        <p:blipFill>
          <a:blip r:embed="rId4"/>
          <a:stretch>
            <a:fillRect/>
          </a:stretch>
        </p:blipFill>
        <p:spPr>
          <a:xfrm>
            <a:off x="4656124" y="4345228"/>
            <a:ext cx="307238" cy="307238"/>
          </a:xfrm>
          <a:prstGeom prst="rect">
            <a:avLst/>
          </a:prstGeom>
        </p:spPr>
      </p:pic>
      <p:sp>
        <p:nvSpPr>
          <p:cNvPr id="24" name="TextBox 23"/>
          <p:cNvSpPr txBox="1"/>
          <p:nvPr/>
        </p:nvSpPr>
        <p:spPr>
          <a:xfrm>
            <a:off x="5266944" y="3977639"/>
            <a:ext cx="2386584" cy="1051560"/>
          </a:xfrm>
          <a:prstGeom prst="rect">
            <a:avLst/>
          </a:prstGeom>
          <a:noFill/>
        </p:spPr>
        <p:txBody>
          <a:bodyPr wrap="square" lIns="0" rIns="0" tIns="0" bIns="0" anchor="ctr">
            <a:spAutoFit/>
          </a:bodyPr>
          <a:lstStyle/>
          <a:p>
            <a:pPr algn="l"/>
            <a:r>
              <a:rPr sz="1333" b="0" i="0">
                <a:solidFill>
                  <a:srgbClr val="FFFFFF"/>
                </a:solidFill>
                <a:latin typeface="Verdana"/>
              </a:rPr>
              <a:t>Wo prüft der Flow, statt zu raten?</a:t>
            </a:r>
          </a:p>
        </p:txBody>
      </p:sp>
      <p:sp>
        <p:nvSpPr>
          <p:cNvPr id="25" name="Rectangle 24"/>
          <p:cNvSpPr/>
          <p:nvPr/>
        </p:nvSpPr>
        <p:spPr>
          <a:xfrm>
            <a:off x="8065008" y="3977639"/>
            <a:ext cx="3575304" cy="1051560"/>
          </a:xfrm>
          <a:prstGeom prst="rect">
            <a:avLst/>
          </a:prstGeom>
          <a:solidFill>
            <a:srgbClr val="24232E"/>
          </a:solidFill>
          <a:ln w="9525">
            <a:solidFill>
              <a:srgbClr val="3A3948"/>
            </a:solidFill>
          </a:ln>
        </p:spPr>
        <p:txBody>
          <a:bodyPr rtlCol="0" anchor="ctr"/>
          <a:lstStyle/>
          <a:p>
            <a:pPr algn="ctr"/>
          </a:p>
        </p:txBody>
      </p:sp>
      <p:sp>
        <p:nvSpPr>
          <p:cNvPr id="26" name="Oval 25"/>
          <p:cNvSpPr/>
          <p:nvPr/>
        </p:nvSpPr>
        <p:spPr>
          <a:xfrm>
            <a:off x="8293608" y="4224528"/>
            <a:ext cx="548640" cy="548640"/>
          </a:xfrm>
          <a:prstGeom prst="ellipse">
            <a:avLst/>
          </a:prstGeom>
          <a:solidFill>
            <a:srgbClr val="DC640D"/>
          </a:solidFill>
          <a:ln>
            <a:noFill/>
          </a:ln>
        </p:spPr>
        <p:txBody>
          <a:bodyPr rtlCol="0" anchor="ctr"/>
          <a:lstStyle/>
          <a:p>
            <a:pPr algn="ctr"/>
          </a:p>
        </p:txBody>
      </p:sp>
      <p:pic>
        <p:nvPicPr>
          <p:cNvPr id="27" name="Picture 26" descr="LuShieldCheck_w.png"/>
          <p:cNvPicPr>
            <a:picLocks noChangeAspect="1"/>
          </p:cNvPicPr>
          <p:nvPr/>
        </p:nvPicPr>
        <p:blipFill>
          <a:blip r:embed="rId5"/>
          <a:stretch>
            <a:fillRect/>
          </a:stretch>
        </p:blipFill>
        <p:spPr>
          <a:xfrm>
            <a:off x="8414308" y="4345228"/>
            <a:ext cx="307238" cy="307238"/>
          </a:xfrm>
          <a:prstGeom prst="rect">
            <a:avLst/>
          </a:prstGeom>
        </p:spPr>
      </p:pic>
      <p:sp>
        <p:nvSpPr>
          <p:cNvPr id="28" name="TextBox 27"/>
          <p:cNvSpPr txBox="1"/>
          <p:nvPr/>
        </p:nvSpPr>
        <p:spPr>
          <a:xfrm>
            <a:off x="9025128" y="3977639"/>
            <a:ext cx="2386584" cy="1051560"/>
          </a:xfrm>
          <a:prstGeom prst="rect">
            <a:avLst/>
          </a:prstGeom>
          <a:noFill/>
        </p:spPr>
        <p:txBody>
          <a:bodyPr wrap="square" lIns="0" rIns="0" tIns="0" bIns="0" anchor="ctr">
            <a:spAutoFit/>
          </a:bodyPr>
          <a:lstStyle/>
          <a:p>
            <a:pPr algn="l"/>
            <a:r>
              <a:rPr sz="1333" b="0" i="0">
                <a:solidFill>
                  <a:srgbClr val="FFFFFF"/>
                </a:solidFill>
                <a:latin typeface="Verdana"/>
              </a:rPr>
              <a:t>Was ist mit Datenschutz und Urheberrecht?</a:t>
            </a:r>
          </a:p>
        </p:txBody>
      </p:sp>
      <p:sp>
        <p:nvSpPr>
          <p:cNvPr id="29" name="TextBox 28"/>
          <p:cNvSpPr txBox="1"/>
          <p:nvPr/>
        </p:nvSpPr>
        <p:spPr>
          <a:xfrm>
            <a:off x="548640" y="5303520"/>
            <a:ext cx="11091672" cy="457200"/>
          </a:xfrm>
          <a:prstGeom prst="rect">
            <a:avLst/>
          </a:prstGeom>
          <a:noFill/>
        </p:spPr>
        <p:txBody>
          <a:bodyPr wrap="square" lIns="0" rIns="0" tIns="0" bIns="0" anchor="t">
            <a:spAutoFit/>
          </a:bodyPr>
          <a:lstStyle/>
          <a:p>
            <a:pPr algn="l"/>
            <a:r>
              <a:rPr sz="1267" b="0" i="1">
                <a:solidFill>
                  <a:srgbClr val="9A9AAA"/>
                </a:solidFill>
                <a:latin typeface="Verdana"/>
              </a:rPr>
              <a:t>Vorher den Flow exportieren: drei Punkte beim Flow, dann Export.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Stimmt das? Die Auflösung.</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RÜCKBLICK</a:t>
            </a:r>
          </a:p>
        </p:txBody>
      </p:sp>
      <p:sp>
        <p:nvSpPr>
          <p:cNvPr id="4" name="Rectangle 3"/>
          <p:cNvSpPr/>
          <p:nvPr/>
        </p:nvSpPr>
        <p:spPr>
          <a:xfrm>
            <a:off x="548640" y="1783080"/>
            <a:ext cx="5431536" cy="1874519"/>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31536" cy="64008"/>
          </a:xfrm>
          <a:prstGeom prst="rect">
            <a:avLst/>
          </a:prstGeom>
          <a:solidFill>
            <a:srgbClr val="18E979"/>
          </a:solidFill>
          <a:ln>
            <a:noFill/>
          </a:ln>
        </p:spPr>
        <p:txBody>
          <a:bodyPr rtlCol="0" anchor="ctr"/>
          <a:lstStyle/>
          <a:p>
            <a:pPr algn="ctr"/>
          </a:p>
        </p:txBody>
      </p:sp>
      <p:sp>
        <p:nvSpPr>
          <p:cNvPr id="6" name="TextBox 5"/>
          <p:cNvSpPr txBox="1"/>
          <p:nvPr/>
        </p:nvSpPr>
        <p:spPr>
          <a:xfrm>
            <a:off x="822959" y="2011680"/>
            <a:ext cx="4882896" cy="640080"/>
          </a:xfrm>
          <a:prstGeom prst="rect">
            <a:avLst/>
          </a:prstGeom>
          <a:noFill/>
        </p:spPr>
        <p:txBody>
          <a:bodyPr wrap="square" lIns="0" rIns="0" tIns="0" bIns="0" anchor="t">
            <a:spAutoFit/>
          </a:bodyPr>
          <a:lstStyle/>
          <a:p>
            <a:pPr algn="l"/>
            <a:r>
              <a:rPr sz="1333" b="0" i="1">
                <a:solidFill>
                  <a:srgbClr val="9A9AAA"/>
                </a:solidFill>
                <a:latin typeface="Verdana"/>
              </a:rPr>
              <a:t>„Ein Sprachmodell schlägt Fakten nach, bevor es antwortet.“</a:t>
            </a:r>
          </a:p>
        </p:txBody>
      </p:sp>
      <p:cxnSp>
        <p:nvCxnSpPr>
          <p:cNvPr id="7" name="Connector 6"/>
          <p:cNvCxnSpPr/>
          <p:nvPr/>
        </p:nvCxnSpPr>
        <p:spPr>
          <a:xfrm>
            <a:off x="822959" y="2679191"/>
            <a:ext cx="4882897" cy="0"/>
          </a:xfrm>
          <a:prstGeom prst="line">
            <a:avLst/>
          </a:prstGeom>
          <a:ln w="6350">
            <a:solidFill>
              <a:srgbClr val="3A3948"/>
            </a:solidFill>
          </a:ln>
        </p:spPr>
      </p:cxnSp>
      <p:sp>
        <p:nvSpPr>
          <p:cNvPr id="8" name="TextBox 7"/>
          <p:cNvSpPr txBox="1"/>
          <p:nvPr/>
        </p:nvSpPr>
        <p:spPr>
          <a:xfrm>
            <a:off x="822959" y="2788920"/>
            <a:ext cx="4882896" cy="777240"/>
          </a:xfrm>
          <a:prstGeom prst="rect">
            <a:avLst/>
          </a:prstGeom>
          <a:noFill/>
        </p:spPr>
        <p:txBody>
          <a:bodyPr wrap="square" lIns="0" rIns="0" tIns="0" bIns="0" anchor="t">
            <a:spAutoFit/>
          </a:bodyPr>
          <a:lstStyle/>
          <a:p>
            <a:pPr algn="l"/>
            <a:r>
              <a:rPr sz="1333" b="0" i="0">
                <a:solidFill>
                  <a:srgbClr val="FFFFFF"/>
                </a:solidFill>
                <a:latin typeface="Verdana"/>
              </a:rPr>
              <a:t>Nein. Es setzt Text nach Wahrscheinlichkeit fort. Fakten kommen über Bausteine in den Prompt.</a:t>
            </a:r>
          </a:p>
        </p:txBody>
      </p:sp>
      <p:sp>
        <p:nvSpPr>
          <p:cNvPr id="9" name="Rectangle 8"/>
          <p:cNvSpPr/>
          <p:nvPr/>
        </p:nvSpPr>
        <p:spPr>
          <a:xfrm>
            <a:off x="6208776" y="1783080"/>
            <a:ext cx="5431536" cy="1874519"/>
          </a:xfrm>
          <a:prstGeom prst="rect">
            <a:avLst/>
          </a:prstGeom>
          <a:solidFill>
            <a:srgbClr val="24232E"/>
          </a:solidFill>
          <a:ln w="9525">
            <a:solidFill>
              <a:srgbClr val="3A3948"/>
            </a:solidFill>
          </a:ln>
        </p:spPr>
        <p:txBody>
          <a:bodyPr rtlCol="0" anchor="ctr"/>
          <a:lstStyle/>
          <a:p>
            <a:pPr algn="ctr"/>
          </a:p>
        </p:txBody>
      </p:sp>
      <p:sp>
        <p:nvSpPr>
          <p:cNvPr id="10" name="Rectangle 9"/>
          <p:cNvSpPr/>
          <p:nvPr/>
        </p:nvSpPr>
        <p:spPr>
          <a:xfrm>
            <a:off x="6208776" y="1783080"/>
            <a:ext cx="5431536" cy="64008"/>
          </a:xfrm>
          <a:prstGeom prst="rect">
            <a:avLst/>
          </a:prstGeom>
          <a:solidFill>
            <a:srgbClr val="18E979"/>
          </a:solidFill>
          <a:ln>
            <a:noFill/>
          </a:ln>
        </p:spPr>
        <p:txBody>
          <a:bodyPr rtlCol="0" anchor="ctr"/>
          <a:lstStyle/>
          <a:p>
            <a:pPr algn="ctr"/>
          </a:p>
        </p:txBody>
      </p:sp>
      <p:sp>
        <p:nvSpPr>
          <p:cNvPr id="11" name="TextBox 10"/>
          <p:cNvSpPr txBox="1"/>
          <p:nvPr/>
        </p:nvSpPr>
        <p:spPr>
          <a:xfrm>
            <a:off x="6483096" y="2011680"/>
            <a:ext cx="4882896" cy="640080"/>
          </a:xfrm>
          <a:prstGeom prst="rect">
            <a:avLst/>
          </a:prstGeom>
          <a:noFill/>
        </p:spPr>
        <p:txBody>
          <a:bodyPr wrap="square" lIns="0" rIns="0" tIns="0" bIns="0" anchor="t">
            <a:spAutoFit/>
          </a:bodyPr>
          <a:lstStyle/>
          <a:p>
            <a:pPr algn="l"/>
            <a:r>
              <a:rPr sz="1333" b="0" i="1">
                <a:solidFill>
                  <a:srgbClr val="9A9AAA"/>
                </a:solidFill>
                <a:latin typeface="Verdana"/>
              </a:rPr>
              <a:t>„Für eigene KI-Werkzeuge muss man programmieren können.“</a:t>
            </a:r>
          </a:p>
        </p:txBody>
      </p:sp>
      <p:cxnSp>
        <p:nvCxnSpPr>
          <p:cNvPr id="12" name="Connector 11"/>
          <p:cNvCxnSpPr/>
          <p:nvPr/>
        </p:nvCxnSpPr>
        <p:spPr>
          <a:xfrm>
            <a:off x="6483096" y="2679191"/>
            <a:ext cx="4882896" cy="0"/>
          </a:xfrm>
          <a:prstGeom prst="line">
            <a:avLst/>
          </a:prstGeom>
          <a:ln w="6350">
            <a:solidFill>
              <a:srgbClr val="3A3948"/>
            </a:solidFill>
          </a:ln>
        </p:spPr>
      </p:cxnSp>
      <p:sp>
        <p:nvSpPr>
          <p:cNvPr id="13" name="TextBox 12"/>
          <p:cNvSpPr txBox="1"/>
          <p:nvPr/>
        </p:nvSpPr>
        <p:spPr>
          <a:xfrm>
            <a:off x="6483096" y="2788920"/>
            <a:ext cx="4882896" cy="777240"/>
          </a:xfrm>
          <a:prstGeom prst="rect">
            <a:avLst/>
          </a:prstGeom>
          <a:noFill/>
        </p:spPr>
        <p:txBody>
          <a:bodyPr wrap="square" lIns="0" rIns="0" tIns="0" bIns="0" anchor="t">
            <a:spAutoFit/>
          </a:bodyPr>
          <a:lstStyle/>
          <a:p>
            <a:pPr algn="l"/>
            <a:r>
              <a:rPr sz="1333" b="0" i="0">
                <a:solidFill>
                  <a:srgbClr val="FFFFFF"/>
                </a:solidFill>
                <a:latin typeface="Verdana"/>
              </a:rPr>
              <a:t>Nein. Ihr habt heute Workflows, Agenten und eine Weiche gebaut, ohne eine Zeile Code.</a:t>
            </a:r>
          </a:p>
        </p:txBody>
      </p:sp>
      <p:sp>
        <p:nvSpPr>
          <p:cNvPr id="14" name="Rectangle 13"/>
          <p:cNvSpPr/>
          <p:nvPr/>
        </p:nvSpPr>
        <p:spPr>
          <a:xfrm>
            <a:off x="548640" y="3840480"/>
            <a:ext cx="5431536" cy="1874519"/>
          </a:xfrm>
          <a:prstGeom prst="rect">
            <a:avLst/>
          </a:prstGeom>
          <a:solidFill>
            <a:srgbClr val="24232E"/>
          </a:solidFill>
          <a:ln w="9525">
            <a:solidFill>
              <a:srgbClr val="3A3948"/>
            </a:solidFill>
          </a:ln>
        </p:spPr>
        <p:txBody>
          <a:bodyPr rtlCol="0" anchor="ctr"/>
          <a:lstStyle/>
          <a:p>
            <a:pPr algn="ctr"/>
          </a:p>
        </p:txBody>
      </p:sp>
      <p:sp>
        <p:nvSpPr>
          <p:cNvPr id="15" name="Rectangle 14"/>
          <p:cNvSpPr/>
          <p:nvPr/>
        </p:nvSpPr>
        <p:spPr>
          <a:xfrm>
            <a:off x="548640" y="3840480"/>
            <a:ext cx="5431536" cy="64008"/>
          </a:xfrm>
          <a:prstGeom prst="rect">
            <a:avLst/>
          </a:prstGeom>
          <a:solidFill>
            <a:srgbClr val="18E979"/>
          </a:solidFill>
          <a:ln>
            <a:noFill/>
          </a:ln>
        </p:spPr>
        <p:txBody>
          <a:bodyPr rtlCol="0" anchor="ctr"/>
          <a:lstStyle/>
          <a:p>
            <a:pPr algn="ctr"/>
          </a:p>
        </p:txBody>
      </p:sp>
      <p:sp>
        <p:nvSpPr>
          <p:cNvPr id="16" name="TextBox 15"/>
          <p:cNvSpPr txBox="1"/>
          <p:nvPr/>
        </p:nvSpPr>
        <p:spPr>
          <a:xfrm>
            <a:off x="822959" y="4069080"/>
            <a:ext cx="4882896" cy="640080"/>
          </a:xfrm>
          <a:prstGeom prst="rect">
            <a:avLst/>
          </a:prstGeom>
          <a:noFill/>
        </p:spPr>
        <p:txBody>
          <a:bodyPr wrap="square" lIns="0" rIns="0" tIns="0" bIns="0" anchor="t">
            <a:spAutoFit/>
          </a:bodyPr>
          <a:lstStyle/>
          <a:p>
            <a:pPr algn="l"/>
            <a:r>
              <a:rPr sz="1333" b="0" i="1">
                <a:solidFill>
                  <a:srgbClr val="9A9AAA"/>
                </a:solidFill>
                <a:latin typeface="Verdana"/>
              </a:rPr>
              <a:t>„Ein Agent ist ein Chatbot mit mehr Rechenleistung.“</a:t>
            </a:r>
          </a:p>
        </p:txBody>
      </p:sp>
      <p:cxnSp>
        <p:nvCxnSpPr>
          <p:cNvPr id="17" name="Connector 16"/>
          <p:cNvCxnSpPr/>
          <p:nvPr/>
        </p:nvCxnSpPr>
        <p:spPr>
          <a:xfrm>
            <a:off x="822959" y="4736592"/>
            <a:ext cx="4882897" cy="0"/>
          </a:xfrm>
          <a:prstGeom prst="line">
            <a:avLst/>
          </a:prstGeom>
          <a:ln w="6350">
            <a:solidFill>
              <a:srgbClr val="3A3948"/>
            </a:solidFill>
          </a:ln>
        </p:spPr>
      </p:cxnSp>
      <p:sp>
        <p:nvSpPr>
          <p:cNvPr id="18" name="TextBox 17"/>
          <p:cNvSpPr txBox="1"/>
          <p:nvPr/>
        </p:nvSpPr>
        <p:spPr>
          <a:xfrm>
            <a:off x="822959" y="4846320"/>
            <a:ext cx="4882896" cy="777240"/>
          </a:xfrm>
          <a:prstGeom prst="rect">
            <a:avLst/>
          </a:prstGeom>
          <a:noFill/>
        </p:spPr>
        <p:txBody>
          <a:bodyPr wrap="square" lIns="0" rIns="0" tIns="0" bIns="0" anchor="t">
            <a:spAutoFit/>
          </a:bodyPr>
          <a:lstStyle/>
          <a:p>
            <a:pPr algn="l"/>
            <a:r>
              <a:rPr sz="1333" b="0" i="0">
                <a:solidFill>
                  <a:srgbClr val="FFFFFF"/>
                </a:solidFill>
                <a:latin typeface="Verdana"/>
              </a:rPr>
              <a:t>Nein. Ein Agent nutzt Werkzeuge und entscheidet selbst über seinen Weg.</a:t>
            </a:r>
          </a:p>
        </p:txBody>
      </p:sp>
      <p:sp>
        <p:nvSpPr>
          <p:cNvPr id="19" name="Rectangle 18"/>
          <p:cNvSpPr/>
          <p:nvPr/>
        </p:nvSpPr>
        <p:spPr>
          <a:xfrm>
            <a:off x="6208776" y="3840480"/>
            <a:ext cx="5431536" cy="1874519"/>
          </a:xfrm>
          <a:prstGeom prst="rect">
            <a:avLst/>
          </a:prstGeom>
          <a:solidFill>
            <a:srgbClr val="24232E"/>
          </a:solidFill>
          <a:ln w="9525">
            <a:solidFill>
              <a:srgbClr val="3A3948"/>
            </a:solidFill>
          </a:ln>
        </p:spPr>
        <p:txBody>
          <a:bodyPr rtlCol="0" anchor="ctr"/>
          <a:lstStyle/>
          <a:p>
            <a:pPr algn="ctr"/>
          </a:p>
        </p:txBody>
      </p:sp>
      <p:sp>
        <p:nvSpPr>
          <p:cNvPr id="20" name="Rectangle 19"/>
          <p:cNvSpPr/>
          <p:nvPr/>
        </p:nvSpPr>
        <p:spPr>
          <a:xfrm>
            <a:off x="6208776" y="3840480"/>
            <a:ext cx="5431536" cy="64008"/>
          </a:xfrm>
          <a:prstGeom prst="rect">
            <a:avLst/>
          </a:prstGeom>
          <a:solidFill>
            <a:srgbClr val="F6A800"/>
          </a:solidFill>
          <a:ln>
            <a:noFill/>
          </a:ln>
        </p:spPr>
        <p:txBody>
          <a:bodyPr rtlCol="0" anchor="ctr"/>
          <a:lstStyle/>
          <a:p>
            <a:pPr algn="ctr"/>
          </a:p>
        </p:txBody>
      </p:sp>
      <p:sp>
        <p:nvSpPr>
          <p:cNvPr id="21" name="TextBox 20"/>
          <p:cNvSpPr txBox="1"/>
          <p:nvPr/>
        </p:nvSpPr>
        <p:spPr>
          <a:xfrm>
            <a:off x="6483096" y="4069080"/>
            <a:ext cx="4882896" cy="640080"/>
          </a:xfrm>
          <a:prstGeom prst="rect">
            <a:avLst/>
          </a:prstGeom>
          <a:noFill/>
        </p:spPr>
        <p:txBody>
          <a:bodyPr wrap="square" lIns="0" rIns="0" tIns="0" bIns="0" anchor="t">
            <a:spAutoFit/>
          </a:bodyPr>
          <a:lstStyle/>
          <a:p>
            <a:pPr algn="l"/>
            <a:r>
              <a:rPr sz="1333" b="0" i="1">
                <a:solidFill>
                  <a:srgbClr val="9A9AAA"/>
                </a:solidFill>
                <a:latin typeface="Verdana"/>
              </a:rPr>
              <a:t>„Je mehr die KI selbst entscheidet, desto besser.“</a:t>
            </a:r>
          </a:p>
        </p:txBody>
      </p:sp>
      <p:cxnSp>
        <p:nvCxnSpPr>
          <p:cNvPr id="22" name="Connector 21"/>
          <p:cNvCxnSpPr/>
          <p:nvPr/>
        </p:nvCxnSpPr>
        <p:spPr>
          <a:xfrm>
            <a:off x="6483096" y="4736592"/>
            <a:ext cx="4882896" cy="0"/>
          </a:xfrm>
          <a:prstGeom prst="line">
            <a:avLst/>
          </a:prstGeom>
          <a:ln w="6350">
            <a:solidFill>
              <a:srgbClr val="3A3948"/>
            </a:solidFill>
          </a:ln>
        </p:spPr>
      </p:cxnSp>
      <p:sp>
        <p:nvSpPr>
          <p:cNvPr id="23" name="TextBox 22"/>
          <p:cNvSpPr txBox="1"/>
          <p:nvPr/>
        </p:nvSpPr>
        <p:spPr>
          <a:xfrm>
            <a:off x="6483096" y="4846320"/>
            <a:ext cx="4882896" cy="777240"/>
          </a:xfrm>
          <a:prstGeom prst="rect">
            <a:avLst/>
          </a:prstGeom>
          <a:noFill/>
        </p:spPr>
        <p:txBody>
          <a:bodyPr wrap="square" lIns="0" rIns="0" tIns="0" bIns="0" anchor="t">
            <a:spAutoFit/>
          </a:bodyPr>
          <a:lstStyle/>
          <a:p>
            <a:pPr algn="l"/>
            <a:r>
              <a:rPr sz="1333" b="0" i="0">
                <a:solidFill>
                  <a:srgbClr val="FFFFFF"/>
                </a:solidFill>
                <a:latin typeface="Verdana"/>
              </a:rPr>
              <a:t>Kommt darauf an. Autonomie bringt Flexibilität und kostet Kontrolle. Darum Weichen und Freigaben.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67512"/>
            <a:ext cx="9509760" cy="795528"/>
          </a:xfrm>
        </p:spPr>
        <p:txBody>
          <a:bodyPr wrap="square" anchor="ctr" lIns="0" rIns="0" tIns="0" bIns="0"/>
          <a:lstStyle/>
          <a:p>
            <a:pPr algn="l"/>
            <a:r>
              <a:rPr sz="3467" b="1" i="0">
                <a:solidFill>
                  <a:srgbClr val="FFFFFF"/>
                </a:solidFill>
                <a:latin typeface="Verdana"/>
              </a:rPr>
              <a:t>So macht ihr zu Hause weiter.</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AUSBLICK</a:t>
            </a:r>
          </a:p>
        </p:txBody>
      </p:sp>
      <p:sp>
        <p:nvSpPr>
          <p:cNvPr id="4" name="Rectangle 3"/>
          <p:cNvSpPr/>
          <p:nvPr/>
        </p:nvSpPr>
        <p:spPr>
          <a:xfrm>
            <a:off x="548640" y="1783080"/>
            <a:ext cx="5431536" cy="1280160"/>
          </a:xfrm>
          <a:prstGeom prst="rect">
            <a:avLst/>
          </a:prstGeom>
          <a:solidFill>
            <a:srgbClr val="24232E"/>
          </a:solidFill>
          <a:ln w="9525">
            <a:solidFill>
              <a:srgbClr val="3A3948"/>
            </a:solidFill>
          </a:ln>
        </p:spPr>
        <p:txBody>
          <a:bodyPr rtlCol="0" anchor="ctr"/>
          <a:lstStyle/>
          <a:p>
            <a:pPr algn="ctr"/>
          </a:p>
        </p:txBody>
      </p:sp>
      <p:sp>
        <p:nvSpPr>
          <p:cNvPr id="5" name="Rectangle 4"/>
          <p:cNvSpPr/>
          <p:nvPr/>
        </p:nvSpPr>
        <p:spPr>
          <a:xfrm>
            <a:off x="548640" y="1783080"/>
            <a:ext cx="5431536" cy="64008"/>
          </a:xfrm>
          <a:prstGeom prst="rect">
            <a:avLst/>
          </a:prstGeom>
          <a:solidFill>
            <a:srgbClr val="DC640D"/>
          </a:solidFill>
          <a:ln>
            <a:noFill/>
          </a:ln>
        </p:spPr>
        <p:txBody>
          <a:bodyPr rtlCol="0" anchor="ctr"/>
          <a:lstStyle/>
          <a:p>
            <a:pPr algn="ctr"/>
          </a:p>
        </p:txBody>
      </p:sp>
      <p:sp>
        <p:nvSpPr>
          <p:cNvPr id="6" name="Oval 5"/>
          <p:cNvSpPr/>
          <p:nvPr/>
        </p:nvSpPr>
        <p:spPr>
          <a:xfrm>
            <a:off x="822959" y="2103120"/>
            <a:ext cx="640080" cy="640080"/>
          </a:xfrm>
          <a:prstGeom prst="ellipse">
            <a:avLst/>
          </a:prstGeom>
          <a:solidFill>
            <a:srgbClr val="DC640D"/>
          </a:solidFill>
          <a:ln>
            <a:noFill/>
          </a:ln>
        </p:spPr>
        <p:txBody>
          <a:bodyPr rtlCol="0" anchor="ctr"/>
          <a:lstStyle/>
          <a:p>
            <a:pPr algn="ctr"/>
          </a:p>
        </p:txBody>
      </p:sp>
      <p:pic>
        <p:nvPicPr>
          <p:cNvPr id="7" name="Picture 6" descr="LuLaptop_w.png"/>
          <p:cNvPicPr>
            <a:picLocks noChangeAspect="1"/>
          </p:cNvPicPr>
          <p:nvPr/>
        </p:nvPicPr>
        <p:blipFill>
          <a:blip r:embed="rId3"/>
          <a:stretch>
            <a:fillRect/>
          </a:stretch>
        </p:blipFill>
        <p:spPr>
          <a:xfrm>
            <a:off x="963777" y="2243937"/>
            <a:ext cx="358444" cy="358444"/>
          </a:xfrm>
          <a:prstGeom prst="rect">
            <a:avLst/>
          </a:prstGeom>
        </p:spPr>
      </p:pic>
      <p:sp>
        <p:nvSpPr>
          <p:cNvPr id="8" name="TextBox 7"/>
          <p:cNvSpPr txBox="1"/>
          <p:nvPr/>
        </p:nvSpPr>
        <p:spPr>
          <a:xfrm>
            <a:off x="1691640" y="2011680"/>
            <a:ext cx="4059936" cy="320040"/>
          </a:xfrm>
          <a:prstGeom prst="rect">
            <a:avLst/>
          </a:prstGeom>
          <a:noFill/>
        </p:spPr>
        <p:txBody>
          <a:bodyPr wrap="square" lIns="0" rIns="0" tIns="0" bIns="0" anchor="t">
            <a:spAutoFit/>
          </a:bodyPr>
          <a:lstStyle/>
          <a:p>
            <a:pPr algn="l"/>
            <a:r>
              <a:rPr sz="1467" b="1" i="0">
                <a:solidFill>
                  <a:srgbClr val="FFFFFF"/>
                </a:solidFill>
                <a:latin typeface="Verdana"/>
              </a:rPr>
              <a:t>Langflow starten</a:t>
            </a:r>
          </a:p>
        </p:txBody>
      </p:sp>
      <p:sp>
        <p:nvSpPr>
          <p:cNvPr id="9" name="TextBox 8"/>
          <p:cNvSpPr txBox="1"/>
          <p:nvPr/>
        </p:nvSpPr>
        <p:spPr>
          <a:xfrm>
            <a:off x="1691640" y="2377440"/>
            <a:ext cx="4059936" cy="640080"/>
          </a:xfrm>
          <a:prstGeom prst="rect">
            <a:avLst/>
          </a:prstGeom>
          <a:noFill/>
        </p:spPr>
        <p:txBody>
          <a:bodyPr wrap="square" lIns="0" rIns="0" tIns="0" bIns="0" anchor="t">
            <a:spAutoFit/>
          </a:bodyPr>
          <a:lstStyle/>
          <a:p>
            <a:pPr algn="l"/>
            <a:r>
              <a:rPr sz="1200" b="0" i="0">
                <a:solidFill>
                  <a:srgbClr val="9A9AAA"/>
                </a:solidFill>
                <a:latin typeface="Verdana"/>
              </a:rPr>
              <a:t>Docker Desktop öffnen, dann starten.bat oder starten.command. Eure Flows bleiben erhalten.</a:t>
            </a:r>
          </a:p>
        </p:txBody>
      </p:sp>
      <p:sp>
        <p:nvSpPr>
          <p:cNvPr id="10" name="Rectangle 9"/>
          <p:cNvSpPr/>
          <p:nvPr/>
        </p:nvSpPr>
        <p:spPr>
          <a:xfrm>
            <a:off x="6208776" y="1783080"/>
            <a:ext cx="5431536" cy="1280160"/>
          </a:xfrm>
          <a:prstGeom prst="rect">
            <a:avLst/>
          </a:prstGeom>
          <a:solidFill>
            <a:srgbClr val="24232E"/>
          </a:solidFill>
          <a:ln w="9525">
            <a:solidFill>
              <a:srgbClr val="3A3948"/>
            </a:solidFill>
          </a:ln>
        </p:spPr>
        <p:txBody>
          <a:bodyPr rtlCol="0" anchor="ctr"/>
          <a:lstStyle/>
          <a:p>
            <a:pPr algn="ctr"/>
          </a:p>
        </p:txBody>
      </p:sp>
      <p:sp>
        <p:nvSpPr>
          <p:cNvPr id="11" name="Rectangle 10"/>
          <p:cNvSpPr/>
          <p:nvPr/>
        </p:nvSpPr>
        <p:spPr>
          <a:xfrm>
            <a:off x="6208776" y="1783080"/>
            <a:ext cx="5431536" cy="64008"/>
          </a:xfrm>
          <a:prstGeom prst="rect">
            <a:avLst/>
          </a:prstGeom>
          <a:solidFill>
            <a:srgbClr val="DC640D"/>
          </a:solidFill>
          <a:ln>
            <a:noFill/>
          </a:ln>
        </p:spPr>
        <p:txBody>
          <a:bodyPr rtlCol="0" anchor="ctr"/>
          <a:lstStyle/>
          <a:p>
            <a:pPr algn="ctr"/>
          </a:p>
        </p:txBody>
      </p:sp>
      <p:sp>
        <p:nvSpPr>
          <p:cNvPr id="12" name="Oval 11"/>
          <p:cNvSpPr/>
          <p:nvPr/>
        </p:nvSpPr>
        <p:spPr>
          <a:xfrm>
            <a:off x="6483096" y="2103120"/>
            <a:ext cx="640080" cy="640080"/>
          </a:xfrm>
          <a:prstGeom prst="ellipse">
            <a:avLst/>
          </a:prstGeom>
          <a:solidFill>
            <a:srgbClr val="DC640D"/>
          </a:solidFill>
          <a:ln>
            <a:noFill/>
          </a:ln>
        </p:spPr>
        <p:txBody>
          <a:bodyPr rtlCol="0" anchor="ctr"/>
          <a:lstStyle/>
          <a:p>
            <a:pPr algn="ctr"/>
          </a:p>
        </p:txBody>
      </p:sp>
      <p:pic>
        <p:nvPicPr>
          <p:cNvPr id="13" name="Picture 12" descr="LuDownload_w.png"/>
          <p:cNvPicPr>
            <a:picLocks noChangeAspect="1"/>
          </p:cNvPicPr>
          <p:nvPr/>
        </p:nvPicPr>
        <p:blipFill>
          <a:blip r:embed="rId4"/>
          <a:stretch>
            <a:fillRect/>
          </a:stretch>
        </p:blipFill>
        <p:spPr>
          <a:xfrm>
            <a:off x="6623913" y="2243937"/>
            <a:ext cx="358444" cy="358444"/>
          </a:xfrm>
          <a:prstGeom prst="rect">
            <a:avLst/>
          </a:prstGeom>
        </p:spPr>
      </p:pic>
      <p:sp>
        <p:nvSpPr>
          <p:cNvPr id="14" name="TextBox 13"/>
          <p:cNvSpPr txBox="1"/>
          <p:nvPr/>
        </p:nvSpPr>
        <p:spPr>
          <a:xfrm>
            <a:off x="7351775" y="2011680"/>
            <a:ext cx="4059936" cy="320040"/>
          </a:xfrm>
          <a:prstGeom prst="rect">
            <a:avLst/>
          </a:prstGeom>
          <a:noFill/>
        </p:spPr>
        <p:txBody>
          <a:bodyPr wrap="square" lIns="0" rIns="0" tIns="0" bIns="0" anchor="t">
            <a:spAutoFit/>
          </a:bodyPr>
          <a:lstStyle/>
          <a:p>
            <a:pPr algn="l"/>
            <a:r>
              <a:rPr sz="1467" b="1" i="0">
                <a:solidFill>
                  <a:srgbClr val="FFFFFF"/>
                </a:solidFill>
                <a:latin typeface="Verdana"/>
              </a:rPr>
              <a:t>Flows sichern</a:t>
            </a:r>
          </a:p>
        </p:txBody>
      </p:sp>
      <p:sp>
        <p:nvSpPr>
          <p:cNvPr id="15" name="TextBox 14"/>
          <p:cNvSpPr txBox="1"/>
          <p:nvPr/>
        </p:nvSpPr>
        <p:spPr>
          <a:xfrm>
            <a:off x="7351775" y="2377440"/>
            <a:ext cx="4059936" cy="640080"/>
          </a:xfrm>
          <a:prstGeom prst="rect">
            <a:avLst/>
          </a:prstGeom>
          <a:noFill/>
        </p:spPr>
        <p:txBody>
          <a:bodyPr wrap="square" lIns="0" rIns="0" tIns="0" bIns="0" anchor="t">
            <a:spAutoFit/>
          </a:bodyPr>
          <a:lstStyle/>
          <a:p>
            <a:pPr algn="l"/>
            <a:r>
              <a:rPr sz="1200" b="0" i="0">
                <a:solidFill>
                  <a:srgbClr val="9A9AAA"/>
                </a:solidFill>
                <a:latin typeface="Verdana"/>
              </a:rPr>
              <a:t>Drei Punkte beim Flow, dann Export. Mit Upload wieder einlesen, auch auf anderen Rechnern.</a:t>
            </a:r>
          </a:p>
        </p:txBody>
      </p:sp>
      <p:sp>
        <p:nvSpPr>
          <p:cNvPr id="16" name="Rectangle 15"/>
          <p:cNvSpPr/>
          <p:nvPr/>
        </p:nvSpPr>
        <p:spPr>
          <a:xfrm>
            <a:off x="548640" y="3246120"/>
            <a:ext cx="5431536" cy="1280160"/>
          </a:xfrm>
          <a:prstGeom prst="rect">
            <a:avLst/>
          </a:prstGeom>
          <a:solidFill>
            <a:srgbClr val="24232E"/>
          </a:solidFill>
          <a:ln w="9525">
            <a:solidFill>
              <a:srgbClr val="3A3948"/>
            </a:solidFill>
          </a:ln>
        </p:spPr>
        <p:txBody>
          <a:bodyPr rtlCol="0" anchor="ctr"/>
          <a:lstStyle/>
          <a:p>
            <a:pPr algn="ctr"/>
          </a:p>
        </p:txBody>
      </p:sp>
      <p:sp>
        <p:nvSpPr>
          <p:cNvPr id="17" name="Rectangle 16"/>
          <p:cNvSpPr/>
          <p:nvPr/>
        </p:nvSpPr>
        <p:spPr>
          <a:xfrm>
            <a:off x="548640" y="3246120"/>
            <a:ext cx="5431536" cy="64008"/>
          </a:xfrm>
          <a:prstGeom prst="rect">
            <a:avLst/>
          </a:prstGeom>
          <a:solidFill>
            <a:srgbClr val="DC640D"/>
          </a:solidFill>
          <a:ln>
            <a:noFill/>
          </a:ln>
        </p:spPr>
        <p:txBody>
          <a:bodyPr rtlCol="0" anchor="ctr"/>
          <a:lstStyle/>
          <a:p>
            <a:pPr algn="ctr"/>
          </a:p>
        </p:txBody>
      </p:sp>
      <p:sp>
        <p:nvSpPr>
          <p:cNvPr id="18" name="Oval 17"/>
          <p:cNvSpPr/>
          <p:nvPr/>
        </p:nvSpPr>
        <p:spPr>
          <a:xfrm>
            <a:off x="822959" y="3566160"/>
            <a:ext cx="640080" cy="640080"/>
          </a:xfrm>
          <a:prstGeom prst="ellipse">
            <a:avLst/>
          </a:prstGeom>
          <a:solidFill>
            <a:srgbClr val="DC640D"/>
          </a:solidFill>
          <a:ln>
            <a:noFill/>
          </a:ln>
        </p:spPr>
        <p:txBody>
          <a:bodyPr rtlCol="0" anchor="ctr"/>
          <a:lstStyle/>
          <a:p>
            <a:pPr algn="ctr"/>
          </a:p>
        </p:txBody>
      </p:sp>
      <p:pic>
        <p:nvPicPr>
          <p:cNvPr id="19" name="Picture 18" descr="LuKey_w.png"/>
          <p:cNvPicPr>
            <a:picLocks noChangeAspect="1"/>
          </p:cNvPicPr>
          <p:nvPr/>
        </p:nvPicPr>
        <p:blipFill>
          <a:blip r:embed="rId5"/>
          <a:stretch>
            <a:fillRect/>
          </a:stretch>
        </p:blipFill>
        <p:spPr>
          <a:xfrm>
            <a:off x="963777" y="3706977"/>
            <a:ext cx="358444" cy="358444"/>
          </a:xfrm>
          <a:prstGeom prst="rect">
            <a:avLst/>
          </a:prstGeom>
        </p:spPr>
      </p:pic>
      <p:sp>
        <p:nvSpPr>
          <p:cNvPr id="20" name="TextBox 19"/>
          <p:cNvSpPr txBox="1"/>
          <p:nvPr/>
        </p:nvSpPr>
        <p:spPr>
          <a:xfrm>
            <a:off x="1691640" y="3474720"/>
            <a:ext cx="4059936" cy="320040"/>
          </a:xfrm>
          <a:prstGeom prst="rect">
            <a:avLst/>
          </a:prstGeom>
          <a:noFill/>
        </p:spPr>
        <p:txBody>
          <a:bodyPr wrap="square" lIns="0" rIns="0" tIns="0" bIns="0" anchor="t">
            <a:spAutoFit/>
          </a:bodyPr>
          <a:lstStyle/>
          <a:p>
            <a:pPr algn="l"/>
            <a:r>
              <a:rPr sz="1467" b="1" i="0">
                <a:solidFill>
                  <a:srgbClr val="FFFFFF"/>
                </a:solidFill>
                <a:latin typeface="Verdana"/>
              </a:rPr>
              <a:t>KI-Zugang</a:t>
            </a:r>
          </a:p>
        </p:txBody>
      </p:sp>
      <p:sp>
        <p:nvSpPr>
          <p:cNvPr id="21" name="TextBox 20"/>
          <p:cNvSpPr txBox="1"/>
          <p:nvPr/>
        </p:nvSpPr>
        <p:spPr>
          <a:xfrm>
            <a:off x="1691640" y="3840480"/>
            <a:ext cx="4059936" cy="640080"/>
          </a:xfrm>
          <a:prstGeom prst="rect">
            <a:avLst/>
          </a:prstGeom>
          <a:noFill/>
        </p:spPr>
        <p:txBody>
          <a:bodyPr wrap="square" lIns="0" rIns="0" tIns="0" bIns="0" anchor="t">
            <a:spAutoFit/>
          </a:bodyPr>
          <a:lstStyle/>
          <a:p>
            <a:pPr algn="l"/>
            <a:r>
              <a:rPr sz="1200" b="0" i="0">
                <a:solidFill>
                  <a:srgbClr val="9A9AAA"/>
                </a:solidFill>
                <a:latin typeface="Verdana"/>
              </a:rPr>
              <a:t>Euer Cluster-Schlüssel gilt bis zum 17.10.2026. Danach: lokal mit Ollama oder ein Zugang eurer Einrichtung.</a:t>
            </a:r>
          </a:p>
        </p:txBody>
      </p:sp>
      <p:sp>
        <p:nvSpPr>
          <p:cNvPr id="22" name="Rectangle 21"/>
          <p:cNvSpPr/>
          <p:nvPr/>
        </p:nvSpPr>
        <p:spPr>
          <a:xfrm>
            <a:off x="6208776" y="3246120"/>
            <a:ext cx="5431536" cy="1280160"/>
          </a:xfrm>
          <a:prstGeom prst="rect">
            <a:avLst/>
          </a:prstGeom>
          <a:solidFill>
            <a:srgbClr val="24232E"/>
          </a:solidFill>
          <a:ln w="9525">
            <a:solidFill>
              <a:srgbClr val="3A3948"/>
            </a:solidFill>
          </a:ln>
        </p:spPr>
        <p:txBody>
          <a:bodyPr rtlCol="0" anchor="ctr"/>
          <a:lstStyle/>
          <a:p>
            <a:pPr algn="ctr"/>
          </a:p>
        </p:txBody>
      </p:sp>
      <p:sp>
        <p:nvSpPr>
          <p:cNvPr id="23" name="Rectangle 22"/>
          <p:cNvSpPr/>
          <p:nvPr/>
        </p:nvSpPr>
        <p:spPr>
          <a:xfrm>
            <a:off x="6208776" y="3246120"/>
            <a:ext cx="5431536" cy="64008"/>
          </a:xfrm>
          <a:prstGeom prst="rect">
            <a:avLst/>
          </a:prstGeom>
          <a:solidFill>
            <a:srgbClr val="DC640D"/>
          </a:solidFill>
          <a:ln>
            <a:noFill/>
          </a:ln>
        </p:spPr>
        <p:txBody>
          <a:bodyPr rtlCol="0" anchor="ctr"/>
          <a:lstStyle/>
          <a:p>
            <a:pPr algn="ctr"/>
          </a:p>
        </p:txBody>
      </p:sp>
      <p:sp>
        <p:nvSpPr>
          <p:cNvPr id="24" name="Oval 23"/>
          <p:cNvSpPr/>
          <p:nvPr/>
        </p:nvSpPr>
        <p:spPr>
          <a:xfrm>
            <a:off x="6483096" y="3566160"/>
            <a:ext cx="640080" cy="640080"/>
          </a:xfrm>
          <a:prstGeom prst="ellipse">
            <a:avLst/>
          </a:prstGeom>
          <a:solidFill>
            <a:srgbClr val="DC640D"/>
          </a:solidFill>
          <a:ln>
            <a:noFill/>
          </a:ln>
        </p:spPr>
        <p:txBody>
          <a:bodyPr rtlCol="0" anchor="ctr"/>
          <a:lstStyle/>
          <a:p>
            <a:pPr algn="ctr"/>
          </a:p>
        </p:txBody>
      </p:sp>
      <p:pic>
        <p:nvPicPr>
          <p:cNvPr id="25" name="Picture 24" descr="LuBookOpen_w.png"/>
          <p:cNvPicPr>
            <a:picLocks noChangeAspect="1"/>
          </p:cNvPicPr>
          <p:nvPr/>
        </p:nvPicPr>
        <p:blipFill>
          <a:blip r:embed="rId6"/>
          <a:stretch>
            <a:fillRect/>
          </a:stretch>
        </p:blipFill>
        <p:spPr>
          <a:xfrm>
            <a:off x="6623913" y="3706977"/>
            <a:ext cx="358444" cy="358444"/>
          </a:xfrm>
          <a:prstGeom prst="rect">
            <a:avLst/>
          </a:prstGeom>
        </p:spPr>
      </p:pic>
      <p:sp>
        <p:nvSpPr>
          <p:cNvPr id="26" name="TextBox 25"/>
          <p:cNvSpPr txBox="1"/>
          <p:nvPr/>
        </p:nvSpPr>
        <p:spPr>
          <a:xfrm>
            <a:off x="7351775" y="3474720"/>
            <a:ext cx="4059936" cy="320040"/>
          </a:xfrm>
          <a:prstGeom prst="rect">
            <a:avLst/>
          </a:prstGeom>
          <a:noFill/>
        </p:spPr>
        <p:txBody>
          <a:bodyPr wrap="square" lIns="0" rIns="0" tIns="0" bIns="0" anchor="t">
            <a:spAutoFit/>
          </a:bodyPr>
          <a:lstStyle/>
          <a:p>
            <a:pPr algn="l"/>
            <a:r>
              <a:rPr sz="1467" b="1" i="0">
                <a:solidFill>
                  <a:srgbClr val="FFFFFF"/>
                </a:solidFill>
                <a:latin typeface="Verdana"/>
              </a:rPr>
              <a:t>Nachlesen</a:t>
            </a:r>
          </a:p>
        </p:txBody>
      </p:sp>
      <p:sp>
        <p:nvSpPr>
          <p:cNvPr id="27" name="TextBox 26"/>
          <p:cNvSpPr txBox="1"/>
          <p:nvPr/>
        </p:nvSpPr>
        <p:spPr>
          <a:xfrm>
            <a:off x="7351775" y="3840480"/>
            <a:ext cx="4059936" cy="640080"/>
          </a:xfrm>
          <a:prstGeom prst="rect">
            <a:avLst/>
          </a:prstGeom>
          <a:noFill/>
        </p:spPr>
        <p:txBody>
          <a:bodyPr wrap="square" lIns="0" rIns="0" tIns="0" bIns="0" anchor="t">
            <a:spAutoFit/>
          </a:bodyPr>
          <a:lstStyle/>
          <a:p>
            <a:pPr algn="l"/>
            <a:r>
              <a:rPr sz="1200" b="0" i="0">
                <a:solidFill>
                  <a:srgbClr val="9A9AAA"/>
                </a:solidFill>
                <a:latin typeface="Verdana"/>
              </a:rPr>
              <a:t>Anleitungen, Bausteine-Übersicht und Challenges im Repository. Dazu docs.langflow.org.</a:t>
            </a:r>
          </a:p>
        </p:txBody>
      </p:sp>
      <p:sp>
        <p:nvSpPr>
          <p:cNvPr id="28" name="Rectangle 27"/>
          <p:cNvSpPr/>
          <p:nvPr/>
        </p:nvSpPr>
        <p:spPr>
          <a:xfrm>
            <a:off x="548640" y="4800600"/>
            <a:ext cx="11091672" cy="960120"/>
          </a:xfrm>
          <a:prstGeom prst="rect">
            <a:avLst/>
          </a:prstGeom>
          <a:noFill/>
          <a:ln w="12700">
            <a:solidFill>
              <a:srgbClr val="DC640D"/>
            </a:solidFill>
          </a:ln>
        </p:spPr>
        <p:txBody>
          <a:bodyPr rtlCol="0" anchor="ctr"/>
          <a:lstStyle/>
          <a:p>
            <a:pPr algn="ctr"/>
          </a:p>
        </p:txBody>
      </p:sp>
      <p:pic>
        <p:nvPicPr>
          <p:cNvPr id="29" name="Picture 28" descr="LuListTodo_o.png"/>
          <p:cNvPicPr>
            <a:picLocks noChangeAspect="1"/>
          </p:cNvPicPr>
          <p:nvPr/>
        </p:nvPicPr>
        <p:blipFill>
          <a:blip r:embed="rId7"/>
          <a:stretch>
            <a:fillRect/>
          </a:stretch>
        </p:blipFill>
        <p:spPr>
          <a:xfrm>
            <a:off x="777240" y="5047488"/>
            <a:ext cx="457200" cy="457200"/>
          </a:xfrm>
          <a:prstGeom prst="rect">
            <a:avLst/>
          </a:prstGeom>
        </p:spPr>
      </p:pic>
      <p:sp>
        <p:nvSpPr>
          <p:cNvPr id="30" name="TextBox 29"/>
          <p:cNvSpPr txBox="1"/>
          <p:nvPr/>
        </p:nvSpPr>
        <p:spPr>
          <a:xfrm>
            <a:off x="1417319" y="4800600"/>
            <a:ext cx="9994392" cy="960120"/>
          </a:xfrm>
          <a:prstGeom prst="rect">
            <a:avLst/>
          </a:prstGeom>
          <a:noFill/>
        </p:spPr>
        <p:txBody>
          <a:bodyPr wrap="square" lIns="0" rIns="0" tIns="0" bIns="0" anchor="ctr">
            <a:spAutoFit/>
          </a:bodyPr>
          <a:lstStyle/>
          <a:p>
            <a:pPr algn="l"/>
            <a:r>
              <a:rPr sz="1400" b="1" i="0">
                <a:solidFill>
                  <a:srgbClr val="FFFFFF"/>
                </a:solidFill>
                <a:latin typeface="Verdana"/>
              </a:rPr>
              <a:t>Und für jedes neue Vorhaben der Bauplan: </a:t>
            </a:r>
            <a:r>
              <a:rPr sz="1400" b="1" i="0">
                <a:solidFill>
                  <a:srgbClr val="DC640D"/>
                </a:solidFill>
                <a:latin typeface="Verdana"/>
              </a:rPr>
              <a:t>zerlegen, zuordnen, wählen, klein bauen, absichern.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58952"/>
            <a:ext cx="10972800" cy="1737360"/>
          </a:xfrm>
        </p:spPr>
        <p:txBody>
          <a:bodyPr wrap="square" lIns="0" rIns="0" tIns="0" bIns="0"/>
          <a:lstStyle/>
          <a:p>
            <a:pPr algn="ctr"/>
            <a:r>
              <a:rPr sz="4533" b="1" i="0">
                <a:solidFill>
                  <a:srgbClr val="FFFFFF"/>
                </a:solidFill>
                <a:latin typeface="Verdana"/>
              </a:rPr>
              <a:t>Danke fürs</a:t>
            </a:r>
          </a:p>
          <a:p>
            <a:pPr algn="ctr"/>
            <a:r>
              <a:rPr sz="4533" b="1" i="0">
                <a:solidFill>
                  <a:srgbClr val="DC640D"/>
                </a:solidFill>
                <a:latin typeface="Verdana"/>
              </a:rPr>
              <a:t>Mitbauen.</a:t>
            </a:r>
          </a:p>
        </p:txBody>
      </p:sp>
      <p:sp>
        <p:nvSpPr>
          <p:cNvPr id="3" name="TextBox 2"/>
          <p:cNvSpPr txBox="1"/>
          <p:nvPr/>
        </p:nvSpPr>
        <p:spPr>
          <a:xfrm>
            <a:off x="548640" y="246888"/>
            <a:ext cx="8531352" cy="274320"/>
          </a:xfrm>
          <a:prstGeom prst="rect">
            <a:avLst/>
          </a:prstGeom>
          <a:noFill/>
        </p:spPr>
        <p:txBody>
          <a:bodyPr wrap="square" lIns="0" rIns="0" tIns="0" bIns="0" anchor="ctr">
            <a:spAutoFit/>
          </a:bodyPr>
          <a:lstStyle/>
          <a:p>
            <a:pPr algn="l"/>
            <a:r>
              <a:rPr sz="1067" b="1" i="0" spc="467">
                <a:solidFill>
                  <a:srgbClr val="F6A800"/>
                </a:solidFill>
                <a:latin typeface="Verdana"/>
              </a:rPr>
              <a:t>DANKE</a:t>
            </a:r>
          </a:p>
        </p:txBody>
      </p:sp>
      <p:sp>
        <p:nvSpPr>
          <p:cNvPr id="4" name="TextBox 3"/>
          <p:cNvSpPr txBox="1"/>
          <p:nvPr/>
        </p:nvSpPr>
        <p:spPr>
          <a:xfrm>
            <a:off x="1216152" y="2743200"/>
            <a:ext cx="9756648" cy="429768"/>
          </a:xfrm>
          <a:prstGeom prst="rect">
            <a:avLst/>
          </a:prstGeom>
          <a:noFill/>
        </p:spPr>
        <p:txBody>
          <a:bodyPr wrap="square" lIns="0" rIns="0" tIns="0" bIns="0" anchor="t">
            <a:spAutoFit/>
          </a:bodyPr>
          <a:lstStyle/>
          <a:p>
            <a:pPr algn="ctr"/>
            <a:r>
              <a:rPr sz="1600" b="0" i="1">
                <a:solidFill>
                  <a:srgbClr val="9A9AAA"/>
                </a:solidFill>
                <a:latin typeface="Verdana"/>
              </a:rPr>
              <a:t>Ihr könnt jetzt Workflows, Agenten und agentische Workflows bauen.</a:t>
            </a:r>
          </a:p>
        </p:txBody>
      </p:sp>
      <p:cxnSp>
        <p:nvCxnSpPr>
          <p:cNvPr id="5" name="Connector 4"/>
          <p:cNvCxnSpPr/>
          <p:nvPr/>
        </p:nvCxnSpPr>
        <p:spPr>
          <a:xfrm>
            <a:off x="3657600" y="3310128"/>
            <a:ext cx="4873752" cy="0"/>
          </a:xfrm>
          <a:prstGeom prst="line">
            <a:avLst/>
          </a:prstGeom>
          <a:ln w="9525">
            <a:solidFill>
              <a:srgbClr val="3A3948"/>
            </a:solidFill>
          </a:ln>
        </p:spPr>
      </p:cxnSp>
      <p:sp>
        <p:nvSpPr>
          <p:cNvPr id="6" name="Rectangle 5"/>
          <p:cNvSpPr/>
          <p:nvPr/>
        </p:nvSpPr>
        <p:spPr>
          <a:xfrm>
            <a:off x="1188720" y="3566160"/>
            <a:ext cx="4663440" cy="2194560"/>
          </a:xfrm>
          <a:prstGeom prst="rect">
            <a:avLst/>
          </a:prstGeom>
          <a:solidFill>
            <a:srgbClr val="DC640D"/>
          </a:solidFill>
          <a:ln>
            <a:noFill/>
          </a:ln>
        </p:spPr>
        <p:txBody>
          <a:bodyPr rtlCol="0" anchor="ctr"/>
          <a:lstStyle/>
          <a:p>
            <a:pPr algn="ctr"/>
          </a:p>
        </p:txBody>
      </p:sp>
      <p:pic>
        <p:nvPicPr>
          <p:cNvPr id="7" name="Picture 6" descr="LuBookOpen_w.png"/>
          <p:cNvPicPr>
            <a:picLocks noChangeAspect="1"/>
          </p:cNvPicPr>
          <p:nvPr/>
        </p:nvPicPr>
        <p:blipFill>
          <a:blip r:embed="rId2"/>
          <a:stretch>
            <a:fillRect/>
          </a:stretch>
        </p:blipFill>
        <p:spPr>
          <a:xfrm>
            <a:off x="1463040" y="3776472"/>
            <a:ext cx="548640" cy="548640"/>
          </a:xfrm>
          <a:prstGeom prst="rect">
            <a:avLst/>
          </a:prstGeom>
        </p:spPr>
      </p:pic>
      <p:sp>
        <p:nvSpPr>
          <p:cNvPr id="8" name="TextBox 7"/>
          <p:cNvSpPr txBox="1"/>
          <p:nvPr/>
        </p:nvSpPr>
        <p:spPr>
          <a:xfrm>
            <a:off x="1463040" y="4480560"/>
            <a:ext cx="4206240" cy="457200"/>
          </a:xfrm>
          <a:prstGeom prst="rect">
            <a:avLst/>
          </a:prstGeom>
          <a:noFill/>
        </p:spPr>
        <p:txBody>
          <a:bodyPr wrap="square" lIns="0" rIns="0" tIns="0" bIns="0" anchor="t">
            <a:spAutoFit/>
          </a:bodyPr>
          <a:lstStyle/>
          <a:p>
            <a:pPr algn="l"/>
            <a:r>
              <a:rPr sz="1867" b="1" i="0">
                <a:solidFill>
                  <a:srgbClr val="FFFFFF"/>
                </a:solidFill>
                <a:latin typeface="Verdana"/>
              </a:rPr>
              <a:t>Alles zum Nachlesen</a:t>
            </a:r>
          </a:p>
        </p:txBody>
      </p:sp>
      <p:sp>
        <p:nvSpPr>
          <p:cNvPr id="9" name="TextBox 8"/>
          <p:cNvSpPr txBox="1"/>
          <p:nvPr/>
        </p:nvSpPr>
        <p:spPr>
          <a:xfrm>
            <a:off x="1463040" y="4983480"/>
            <a:ext cx="4206240" cy="731520"/>
          </a:xfrm>
          <a:prstGeom prst="rect">
            <a:avLst/>
          </a:prstGeom>
          <a:noFill/>
        </p:spPr>
        <p:txBody>
          <a:bodyPr wrap="square" lIns="0" rIns="0" tIns="0" bIns="0" anchor="t">
            <a:spAutoFit/>
          </a:bodyPr>
          <a:lstStyle/>
          <a:p>
            <a:pPr algn="l"/>
            <a:r>
              <a:rPr sz="1200" b="0" i="0">
                <a:solidFill>
                  <a:srgbClr val="FFFFFF"/>
                </a:solidFill>
                <a:latin typeface="Verdana"/>
              </a:rPr>
              <a:t>Anleitungen, Challenges, Beispiel-Flows:</a:t>
            </a:r>
          </a:p>
          <a:p>
            <a:pPr algn="l"/>
            <a:r>
              <a:rPr sz="1200" b="1" i="0">
                <a:solidFill>
                  <a:srgbClr val="FFFFFF"/>
                </a:solidFill>
                <a:latin typeface="Verdana"/>
              </a:rPr>
              <a:t>github.com/aihpi/demo-bibliothekshackaton</a:t>
            </a:r>
          </a:p>
        </p:txBody>
      </p:sp>
      <p:sp>
        <p:nvSpPr>
          <p:cNvPr id="10" name="Rectangle 9"/>
          <p:cNvSpPr/>
          <p:nvPr/>
        </p:nvSpPr>
        <p:spPr>
          <a:xfrm>
            <a:off x="6336792" y="3566160"/>
            <a:ext cx="4663440" cy="2194560"/>
          </a:xfrm>
          <a:prstGeom prst="rect">
            <a:avLst/>
          </a:prstGeom>
          <a:solidFill>
            <a:srgbClr val="17161C"/>
          </a:solidFill>
          <a:ln w="19050">
            <a:solidFill>
              <a:srgbClr val="DC640D"/>
            </a:solidFill>
          </a:ln>
        </p:spPr>
        <p:txBody>
          <a:bodyPr rtlCol="0" anchor="ctr"/>
          <a:lstStyle/>
          <a:p>
            <a:pPr algn="ctr"/>
          </a:p>
        </p:txBody>
      </p:sp>
      <p:pic>
        <p:nvPicPr>
          <p:cNvPr id="11" name="Picture 10" descr="LuMessageCircleQuestion_o.png"/>
          <p:cNvPicPr>
            <a:picLocks noChangeAspect="1"/>
          </p:cNvPicPr>
          <p:nvPr/>
        </p:nvPicPr>
        <p:blipFill>
          <a:blip r:embed="rId3"/>
          <a:stretch>
            <a:fillRect/>
          </a:stretch>
        </p:blipFill>
        <p:spPr>
          <a:xfrm>
            <a:off x="6611112" y="3776472"/>
            <a:ext cx="548640" cy="548640"/>
          </a:xfrm>
          <a:prstGeom prst="rect">
            <a:avLst/>
          </a:prstGeom>
        </p:spPr>
      </p:pic>
      <p:sp>
        <p:nvSpPr>
          <p:cNvPr id="12" name="TextBox 11"/>
          <p:cNvSpPr txBox="1"/>
          <p:nvPr/>
        </p:nvSpPr>
        <p:spPr>
          <a:xfrm>
            <a:off x="6611112" y="4480560"/>
            <a:ext cx="4206240" cy="457200"/>
          </a:xfrm>
          <a:prstGeom prst="rect">
            <a:avLst/>
          </a:prstGeom>
          <a:noFill/>
        </p:spPr>
        <p:txBody>
          <a:bodyPr wrap="square" lIns="0" rIns="0" tIns="0" bIns="0" anchor="t">
            <a:spAutoFit/>
          </a:bodyPr>
          <a:lstStyle/>
          <a:p>
            <a:pPr algn="l"/>
            <a:r>
              <a:rPr sz="1867" b="1" i="0">
                <a:solidFill>
                  <a:srgbClr val="DC640D"/>
                </a:solidFill>
                <a:latin typeface="Verdana"/>
              </a:rPr>
              <a:t>Euer Feedback</a:t>
            </a:r>
          </a:p>
        </p:txBody>
      </p:sp>
      <p:sp>
        <p:nvSpPr>
          <p:cNvPr id="13" name="TextBox 12"/>
          <p:cNvSpPr txBox="1"/>
          <p:nvPr/>
        </p:nvSpPr>
        <p:spPr>
          <a:xfrm>
            <a:off x="6611112" y="4983480"/>
            <a:ext cx="4206240" cy="731520"/>
          </a:xfrm>
          <a:prstGeom prst="rect">
            <a:avLst/>
          </a:prstGeom>
          <a:noFill/>
        </p:spPr>
        <p:txBody>
          <a:bodyPr wrap="square" lIns="0" rIns="0" tIns="0" bIns="0" anchor="t">
            <a:spAutoFit/>
          </a:bodyPr>
          <a:lstStyle/>
          <a:p>
            <a:pPr algn="l"/>
            <a:r>
              <a:rPr sz="1200" b="0" i="0">
                <a:solidFill>
                  <a:srgbClr val="9A9AAA"/>
                </a:solidFill>
                <a:latin typeface="Verdana"/>
              </a:rPr>
              <a:t>Eine Sache, die ihr mitnehmt. Eine Frage, die offen geblieben ist.</a:t>
            </a:r>
          </a:p>
        </p:txBody>
      </p:sp>
    </p:spTree>
  </p:cSld>
  <p:clrMapOvr>
    <a:masterClrMapping/>
  </p:clrMapOvr>
</p:sld>
</file>

<file path=ppt/theme/theme1.xml><?xml version="1.0" encoding="utf-8"?>
<a:theme xmlns:a="http://schemas.openxmlformats.org/drawingml/2006/main" name="HPI">
  <a:themeElements>
    <a:clrScheme name="Benutzerdefiniert 4">
      <a:dk1>
        <a:srgbClr val="5A6065"/>
      </a:dk1>
      <a:lt1>
        <a:srgbClr val="FFFFFF"/>
      </a:lt1>
      <a:dk2>
        <a:srgbClr val="5A6065"/>
      </a:dk2>
      <a:lt2>
        <a:srgbClr val="FFFFFF"/>
      </a:lt2>
      <a:accent1>
        <a:srgbClr val="B1063A"/>
      </a:accent1>
      <a:accent2>
        <a:srgbClr val="DD6108"/>
      </a:accent2>
      <a:accent3>
        <a:srgbClr val="F6A800"/>
      </a:accent3>
      <a:accent4>
        <a:srgbClr val="DDDFE0"/>
      </a:accent4>
      <a:accent5>
        <a:srgbClr val="007A9E"/>
      </a:accent5>
      <a:accent6>
        <a:srgbClr val="18E979"/>
      </a:accent6>
      <a:hlink>
        <a:srgbClr val="B1063A"/>
      </a:hlink>
      <a:folHlink>
        <a:srgbClr val="B1063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562</Words>
  <Application>Microsoft Office PowerPoint</Application>
  <PresentationFormat>Breitbild</PresentationFormat>
  <Paragraphs>119</Paragraphs>
  <Slides>10</Slides>
  <Notes>6</Notes>
  <HiddenSlides>7</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10</vt:i4>
      </vt:variant>
    </vt:vector>
  </HeadingPairs>
  <TitlesOfParts>
    <vt:vector size="17" baseType="lpstr">
      <vt:lpstr>Arial</vt:lpstr>
      <vt:lpstr>Calibri</vt:lpstr>
      <vt:lpstr>Code Pro Bold</vt:lpstr>
      <vt:lpstr>Codec Pro Bold</vt:lpstr>
      <vt:lpstr>Verdana</vt:lpstr>
      <vt:lpstr>Wingdings</vt:lpstr>
      <vt:lpstr>HPI</vt:lpstr>
      <vt:lpstr>PowerPoint-Präsentation</vt:lpstr>
      <vt:lpstr>Vier KI-Servicezentren.</vt:lpstr>
      <vt:lpstr>PowerPoint-Präsentation</vt:lpstr>
      <vt:lpstr>„Wir wissen, dass KI hilft – aber wo fangen wir an?“</vt:lpstr>
      <vt:lpstr>PowerPoint-Präsentation</vt:lpstr>
      <vt:lpstr>PowerPoint-Präsentation</vt:lpstr>
      <vt:lpstr>Recreategoods: Upcycling-Vorschläge</vt:lpstr>
      <vt:lpstr>2 Seiten von KI: Voice Cloning</vt:lpstr>
      <vt:lpstr>Haltungserkennung.</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Bibliothekshackathon: KI-Workflows ohne Code</dc:title>
  <dc:creator>Mario Tormo Romero</dc:creator>
  <cp:lastModifiedBy>Kohlmeyer, Lasse</cp:lastModifiedBy>
  <cp:revision>238</cp:revision>
  <dcterms:modified xsi:type="dcterms:W3CDTF">2026-07-10T14:09:03Z</dcterms:modified>
</cp:coreProperties>
</file>